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思源宋体" charset="-122" pitchFamily="34"/>
      <p:regular r:id="rId19"/>
    </p:embeddedFont>
    <p:embeddedFont>
      <p:font typeface="Liter" charset="-122" pitchFamily="34"/>
      <p:regular r:id="rId20"/>
    </p:embeddedFont>
    <p:embeddedFont>
      <p:font typeface="MiSans" charset="-122" pitchFamily="34"/>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pic>
        <p:nvPicPr>
          <p:cNvPr id="2" name="Image 0" descr="https://kimi-web-img.moonshot.cn/img/thumbs.dreamstime.com/c2ed51230af048d25bce147ce0bf936c4a79a1f1.jpg">    </p:cNvPr>
          <p:cNvPicPr>
            <a:picLocks noChangeAspect="1"/>
          </p:cNvPicPr>
          <p:nvPr/>
        </p:nvPicPr>
        <p:blipFill>
          <a:blip r:embed="rId1">
            <a:alphaModFix amt="15000"/>
          </a:blip>
          <a:srcRect l="0" r="0" t="12687" b="1268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alpha val="90000"/>
                </a:srgbClr>
              </a:gs>
              <a:gs pos="50000">
                <a:srgbClr val="FAF9F6">
                  <a:alpha val="70000"/>
                </a:srgbClr>
              </a:gs>
              <a:gs pos="100000">
                <a:srgbClr val="000000">
                  <a:alpha val="0"/>
                </a:srgbClr>
              </a:gs>
            </a:gsLst>
            <a:lin ang="2700000" scaled="1"/>
          </a:gradFill>
          <a:ln/>
        </p:spPr>
      </p:sp>
      <p:sp>
        <p:nvSpPr>
          <p:cNvPr id="4" name="Shape 1"/>
          <p:cNvSpPr/>
          <p:nvPr/>
        </p:nvSpPr>
        <p:spPr>
          <a:xfrm>
            <a:off x="381000" y="16097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8680"/>
          </a:solidFill>
          <a:ln/>
        </p:spPr>
      </p:sp>
      <p:sp>
        <p:nvSpPr>
          <p:cNvPr id="5" name="Text 2"/>
          <p:cNvSpPr/>
          <p:nvPr/>
        </p:nvSpPr>
        <p:spPr>
          <a:xfrm>
            <a:off x="381000" y="1952625"/>
            <a:ext cx="11772900" cy="1714500"/>
          </a:xfrm>
          <a:prstGeom prst="rect">
            <a:avLst/>
          </a:prstGeom>
          <a:noFill/>
          <a:ln/>
        </p:spPr>
        <p:txBody>
          <a:bodyPr wrap="square" lIns="0" tIns="0" rIns="0" bIns="0" rtlCol="0" anchor="ctr"/>
          <a:lstStyle/>
          <a:p>
            <a:pPr>
              <a:lnSpc>
                <a:spcPct val="100000"/>
              </a:lnSpc>
            </a:pPr>
            <a:r>
              <a:rPr lang="en-US" sz="5400" b="1" dirty="0">
                <a:solidFill>
                  <a:srgbClr val="1A1A1A"/>
                </a:solidFill>
                <a:latin typeface="思源宋体" pitchFamily="34" charset="0"/>
                <a:ea typeface="思源宋体" pitchFamily="34" charset="-122"/>
                <a:cs typeface="思源宋体" pitchFamily="34" charset="-120"/>
              </a:rPr>
              <a:t>Cơ sở lập trình</a:t>
            </a:r>
            <a:endParaRPr lang="en-US" sz="1600" dirty="0"/>
          </a:p>
          <a:p>
            <a:pPr>
              <a:lnSpc>
                <a:spcPct val="100000"/>
              </a:lnSpc>
            </a:pPr>
            <a:r>
              <a:rPr lang="en-US" sz="5400" b="1" dirty="0">
                <a:solidFill>
                  <a:srgbClr val="1A1A1A"/>
                </a:solidFill>
                <a:latin typeface="思源宋体" pitchFamily="34" charset="0"/>
                <a:ea typeface="思源宋体" pitchFamily="34" charset="-122"/>
                <a:cs typeface="思源宋体" pitchFamily="34" charset="-120"/>
              </a:rPr>
              <a:t>với Generative AI</a:t>
            </a:r>
            <a:endParaRPr lang="en-US" sz="1600" dirty="0"/>
          </a:p>
        </p:txBody>
      </p:sp>
      <p:sp>
        <p:nvSpPr>
          <p:cNvPr id="6" name="Shape 3"/>
          <p:cNvSpPr/>
          <p:nvPr/>
        </p:nvSpPr>
        <p:spPr>
          <a:xfrm>
            <a:off x="381000" y="39719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C4B7A6"/>
          </a:solidFill>
          <a:ln/>
        </p:spPr>
      </p:sp>
      <p:sp>
        <p:nvSpPr>
          <p:cNvPr id="7" name="Text 4"/>
          <p:cNvSpPr/>
          <p:nvPr/>
        </p:nvSpPr>
        <p:spPr>
          <a:xfrm>
            <a:off x="381000" y="4600575"/>
            <a:ext cx="11515725"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Nhóm thực hiện:</a:t>
            </a:r>
            <a:pPr>
              <a:lnSpc>
                <a:spcPct val="130000"/>
              </a:lnSpc>
            </a:pPr>
            <a:r>
              <a:rPr lang="en-US" sz="1350" dirty="0">
                <a:solidFill>
                  <a:srgbClr val="3D3D3D"/>
                </a:solidFill>
                <a:latin typeface="思源宋体" pitchFamily="34" charset="0"/>
                <a:ea typeface="思源宋体" pitchFamily="34" charset="-122"/>
                <a:cs typeface="思源宋体" pitchFamily="34" charset="-120"/>
              </a:rPr>
              <a:t> Nguyễn Võ Minh Hiếu, Trần Đoàn Minh Trí</a:t>
            </a:r>
            <a:endParaRPr lang="en-US" sz="1600" dirty="0"/>
          </a:p>
        </p:txBody>
      </p:sp>
      <p:sp>
        <p:nvSpPr>
          <p:cNvPr id="8" name="Text 5"/>
          <p:cNvSpPr/>
          <p:nvPr/>
        </p:nvSpPr>
        <p:spPr>
          <a:xfrm>
            <a:off x="381000" y="4981575"/>
            <a:ext cx="11515725"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Giảng viên hướng dẫn:</a:t>
            </a:r>
            <a:pPr>
              <a:lnSpc>
                <a:spcPct val="130000"/>
              </a:lnSpc>
            </a:pPr>
            <a:r>
              <a:rPr lang="en-US" sz="1350" dirty="0">
                <a:solidFill>
                  <a:srgbClr val="3D3D3D"/>
                </a:solidFill>
                <a:latin typeface="思源宋体" pitchFamily="34" charset="0"/>
                <a:ea typeface="思源宋体" pitchFamily="34" charset="-122"/>
                <a:cs typeface="思源宋体" pitchFamily="34" charset="-120"/>
              </a:rPr>
              <a:t> TS. Đỗ Như Tài</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10287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8680"/>
          </a:solidFill>
          <a:ln/>
        </p:spPr>
      </p:sp>
      <p:sp>
        <p:nvSpPr>
          <p:cNvPr id="3" name="Text 1"/>
          <p:cNvSpPr/>
          <p:nvPr/>
        </p:nvSpPr>
        <p:spPr>
          <a:xfrm>
            <a:off x="381000" y="1219200"/>
            <a:ext cx="11658600" cy="457200"/>
          </a:xfrm>
          <a:prstGeom prst="rect">
            <a:avLst/>
          </a:prstGeom>
          <a:noFill/>
          <a:ln/>
        </p:spPr>
        <p:txBody>
          <a:bodyPr wrap="square" lIns="0" tIns="0" rIns="0" bIns="0" rtlCol="0" anchor="ctr"/>
          <a:lstStyle/>
          <a:p>
            <a:pPr>
              <a:lnSpc>
                <a:spcPct val="80000"/>
              </a:lnSpc>
            </a:pPr>
            <a:r>
              <a:rPr lang="en-US" sz="3600" b="1" dirty="0">
                <a:solidFill>
                  <a:srgbClr val="1A1A1A"/>
                </a:solidFill>
                <a:latin typeface="思源宋体" pitchFamily="34" charset="0"/>
                <a:ea typeface="思源宋体" pitchFamily="34" charset="-122"/>
                <a:cs typeface="思源宋体" pitchFamily="34" charset="-120"/>
              </a:rPr>
              <a:t>Nội dung chính</a:t>
            </a:r>
            <a:endParaRPr lang="en-US" sz="1600" dirty="0"/>
          </a:p>
        </p:txBody>
      </p:sp>
      <p:sp>
        <p:nvSpPr>
          <p:cNvPr id="4" name="Shape 2"/>
          <p:cNvSpPr/>
          <p:nvPr/>
        </p:nvSpPr>
        <p:spPr>
          <a:xfrm>
            <a:off x="400050" y="2057400"/>
            <a:ext cx="38100" cy="1238250"/>
          </a:xfrm>
          <a:custGeom>
            <a:avLst/>
            <a:gdLst/>
            <a:ahLst/>
            <a:cxnLst/>
            <a:rect l="l" t="t" r="r" b="b"/>
            <a:pathLst>
              <a:path w="38100" h="1238250">
                <a:moveTo>
                  <a:pt x="0" y="0"/>
                </a:moveTo>
                <a:lnTo>
                  <a:pt x="38100" y="0"/>
                </a:lnTo>
                <a:lnTo>
                  <a:pt x="38100" y="1238250"/>
                </a:lnTo>
                <a:lnTo>
                  <a:pt x="0" y="1238250"/>
                </a:lnTo>
                <a:lnTo>
                  <a:pt x="0" y="0"/>
                </a:lnTo>
                <a:close/>
              </a:path>
            </a:pathLst>
          </a:custGeom>
          <a:solidFill>
            <a:srgbClr val="8B8680"/>
          </a:solidFill>
          <a:ln/>
        </p:spPr>
      </p:sp>
      <p:sp>
        <p:nvSpPr>
          <p:cNvPr id="5" name="Text 3"/>
          <p:cNvSpPr/>
          <p:nvPr/>
        </p:nvSpPr>
        <p:spPr>
          <a:xfrm>
            <a:off x="647700" y="2133600"/>
            <a:ext cx="733425" cy="457200"/>
          </a:xfrm>
          <a:prstGeom prst="rect">
            <a:avLst/>
          </a:prstGeom>
          <a:noFill/>
          <a:ln/>
        </p:spPr>
        <p:txBody>
          <a:bodyPr wrap="square" lIns="0" tIns="0" rIns="0" bIns="0" rtlCol="0" anchor="ctr"/>
          <a:lstStyle/>
          <a:p>
            <a:pPr>
              <a:lnSpc>
                <a:spcPct val="80000"/>
              </a:lnSpc>
            </a:pPr>
            <a:r>
              <a:rPr lang="en-US" sz="3600" b="1" dirty="0">
                <a:solidFill>
                  <a:srgbClr val="C4B7A6"/>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1300163" y="2257425"/>
            <a:ext cx="2209800" cy="295275"/>
          </a:xfrm>
          <a:prstGeom prst="rect">
            <a:avLst/>
          </a:prstGeom>
          <a:noFill/>
          <a:ln/>
        </p:spPr>
        <p:txBody>
          <a:bodyPr wrap="square" lIns="0" tIns="0" rIns="0" bIns="0" rtlCol="0" anchor="ctr"/>
          <a:lstStyle/>
          <a:p>
            <a:pPr>
              <a:lnSpc>
                <a:spcPct val="110000"/>
              </a:lnSpc>
            </a:pPr>
            <a:r>
              <a:rPr lang="en-US" sz="1800" b="1" dirty="0">
                <a:solidFill>
                  <a:srgbClr val="1A1A1A"/>
                </a:solidFill>
                <a:latin typeface="思源宋体" pitchFamily="34" charset="0"/>
                <a:ea typeface="思源宋体" pitchFamily="34" charset="-122"/>
                <a:cs typeface="思源宋体" pitchFamily="34" charset="-120"/>
              </a:rPr>
              <a:t>Tổng quan GenAI</a:t>
            </a:r>
            <a:endParaRPr lang="en-US" sz="1600" dirty="0"/>
          </a:p>
        </p:txBody>
      </p:sp>
      <p:sp>
        <p:nvSpPr>
          <p:cNvPr id="7" name="Text 5"/>
          <p:cNvSpPr/>
          <p:nvPr/>
        </p:nvSpPr>
        <p:spPr>
          <a:xfrm>
            <a:off x="1257300" y="2667000"/>
            <a:ext cx="4695825" cy="552450"/>
          </a:xfrm>
          <a:prstGeom prst="rect">
            <a:avLst/>
          </a:prstGeom>
          <a:noFill/>
          <a:ln/>
        </p:spPr>
        <p:txBody>
          <a:bodyPr wrap="square" lIns="0" tIns="0" rIns="0" bIns="0" rtlCol="0" anchor="ctr"/>
          <a:lstStyle/>
          <a:p>
            <a:pPr>
              <a:lnSpc>
                <a:spcPct val="140000"/>
              </a:lnSpc>
            </a:pPr>
            <a:r>
              <a:rPr lang="en-US" sz="1350" dirty="0">
                <a:solidFill>
                  <a:srgbClr val="3D3D3D"/>
                </a:solidFill>
                <a:latin typeface="思源宋体" pitchFamily="34" charset="0"/>
                <a:ea typeface="思源宋体" pitchFamily="34" charset="-122"/>
                <a:cs typeface="思源宋体" pitchFamily="34" charset="-120"/>
              </a:rPr>
              <a:t>Sự tiến hóa của AI và tác động đến vòng đờI phát triển phần mềm (SDLC)</a:t>
            </a:r>
            <a:endParaRPr lang="en-US" sz="1600" dirty="0"/>
          </a:p>
        </p:txBody>
      </p:sp>
      <p:sp>
        <p:nvSpPr>
          <p:cNvPr id="8" name="Shape 6"/>
          <p:cNvSpPr/>
          <p:nvPr/>
        </p:nvSpPr>
        <p:spPr>
          <a:xfrm>
            <a:off x="6343650" y="2057400"/>
            <a:ext cx="38100" cy="1238250"/>
          </a:xfrm>
          <a:custGeom>
            <a:avLst/>
            <a:gdLst/>
            <a:ahLst/>
            <a:cxnLst/>
            <a:rect l="l" t="t" r="r" b="b"/>
            <a:pathLst>
              <a:path w="38100" h="1238250">
                <a:moveTo>
                  <a:pt x="0" y="0"/>
                </a:moveTo>
                <a:lnTo>
                  <a:pt x="38100" y="0"/>
                </a:lnTo>
                <a:lnTo>
                  <a:pt x="38100" y="1238250"/>
                </a:lnTo>
                <a:lnTo>
                  <a:pt x="0" y="1238250"/>
                </a:lnTo>
                <a:lnTo>
                  <a:pt x="0" y="0"/>
                </a:lnTo>
                <a:close/>
              </a:path>
            </a:pathLst>
          </a:custGeom>
          <a:solidFill>
            <a:srgbClr val="C4B7A6"/>
          </a:solidFill>
          <a:ln/>
        </p:spPr>
      </p:sp>
      <p:sp>
        <p:nvSpPr>
          <p:cNvPr id="9" name="Text 7"/>
          <p:cNvSpPr/>
          <p:nvPr/>
        </p:nvSpPr>
        <p:spPr>
          <a:xfrm>
            <a:off x="6591300" y="2133600"/>
            <a:ext cx="809625" cy="457200"/>
          </a:xfrm>
          <a:prstGeom prst="rect">
            <a:avLst/>
          </a:prstGeom>
          <a:noFill/>
          <a:ln/>
        </p:spPr>
        <p:txBody>
          <a:bodyPr wrap="square" lIns="0" tIns="0" rIns="0" bIns="0" rtlCol="0" anchor="ctr"/>
          <a:lstStyle/>
          <a:p>
            <a:pPr>
              <a:lnSpc>
                <a:spcPct val="80000"/>
              </a:lnSpc>
            </a:pPr>
            <a:r>
              <a:rPr lang="en-US" sz="3600" b="1" dirty="0">
                <a:solidFill>
                  <a:srgbClr val="C4B7A6"/>
                </a:solidFill>
                <a:latin typeface="Liter" pitchFamily="34" charset="0"/>
                <a:ea typeface="Liter" pitchFamily="34" charset="-122"/>
                <a:cs typeface="Liter" pitchFamily="34" charset="-120"/>
              </a:rPr>
              <a:t>02</a:t>
            </a:r>
            <a:endParaRPr lang="en-US" sz="1600" dirty="0"/>
          </a:p>
        </p:txBody>
      </p:sp>
      <p:sp>
        <p:nvSpPr>
          <p:cNvPr id="10" name="Text 8"/>
          <p:cNvSpPr/>
          <p:nvPr/>
        </p:nvSpPr>
        <p:spPr>
          <a:xfrm>
            <a:off x="7326511" y="2257425"/>
            <a:ext cx="1524000" cy="295275"/>
          </a:xfrm>
          <a:prstGeom prst="rect">
            <a:avLst/>
          </a:prstGeom>
          <a:noFill/>
          <a:ln/>
        </p:spPr>
        <p:txBody>
          <a:bodyPr wrap="square" lIns="0" tIns="0" rIns="0" bIns="0" rtlCol="0" anchor="ctr"/>
          <a:lstStyle/>
          <a:p>
            <a:pPr>
              <a:lnSpc>
                <a:spcPct val="110000"/>
              </a:lnSpc>
            </a:pPr>
            <a:r>
              <a:rPr lang="en-US" sz="1800" b="1" dirty="0">
                <a:solidFill>
                  <a:srgbClr val="1A1A1A"/>
                </a:solidFill>
                <a:latin typeface="思源宋体" pitchFamily="34" charset="0"/>
                <a:ea typeface="思源宋体" pitchFamily="34" charset="-122"/>
                <a:cs typeface="思源宋体" pitchFamily="34" charset="-120"/>
              </a:rPr>
              <a:t>OpenAI API</a:t>
            </a:r>
            <a:endParaRPr lang="en-US" sz="1600" dirty="0"/>
          </a:p>
        </p:txBody>
      </p:sp>
      <p:sp>
        <p:nvSpPr>
          <p:cNvPr id="11" name="Text 9"/>
          <p:cNvSpPr/>
          <p:nvPr/>
        </p:nvSpPr>
        <p:spPr>
          <a:xfrm>
            <a:off x="7200900" y="2667000"/>
            <a:ext cx="4695825" cy="276225"/>
          </a:xfrm>
          <a:prstGeom prst="rect">
            <a:avLst/>
          </a:prstGeom>
          <a:noFill/>
          <a:ln/>
        </p:spPr>
        <p:txBody>
          <a:bodyPr wrap="square" lIns="0" tIns="0" rIns="0" bIns="0" rtlCol="0" anchor="ctr"/>
          <a:lstStyle/>
          <a:p>
            <a:pPr>
              <a:lnSpc>
                <a:spcPct val="140000"/>
              </a:lnSpc>
            </a:pPr>
            <a:r>
              <a:rPr lang="en-US" sz="1350" dirty="0">
                <a:solidFill>
                  <a:srgbClr val="3D3D3D"/>
                </a:solidFill>
                <a:latin typeface="思源宋体" pitchFamily="34" charset="0"/>
                <a:ea typeface="思源宋体" pitchFamily="34" charset="-122"/>
                <a:cs typeface="思源宋体" pitchFamily="34" charset="-120"/>
              </a:rPr>
              <a:t>Kiến trúc tương tác và cấu trúc Request/Response</a:t>
            </a:r>
            <a:endParaRPr lang="en-US" sz="1600" dirty="0"/>
          </a:p>
        </p:txBody>
      </p:sp>
      <p:sp>
        <p:nvSpPr>
          <p:cNvPr id="12" name="Shape 10"/>
          <p:cNvSpPr/>
          <p:nvPr/>
        </p:nvSpPr>
        <p:spPr>
          <a:xfrm>
            <a:off x="400050" y="3600450"/>
            <a:ext cx="38100" cy="962025"/>
          </a:xfrm>
          <a:custGeom>
            <a:avLst/>
            <a:gdLst/>
            <a:ahLst/>
            <a:cxnLst/>
            <a:rect l="l" t="t" r="r" b="b"/>
            <a:pathLst>
              <a:path w="38100" h="962025">
                <a:moveTo>
                  <a:pt x="0" y="0"/>
                </a:moveTo>
                <a:lnTo>
                  <a:pt x="38100" y="0"/>
                </a:lnTo>
                <a:lnTo>
                  <a:pt x="38100" y="962025"/>
                </a:lnTo>
                <a:lnTo>
                  <a:pt x="0" y="962025"/>
                </a:lnTo>
                <a:lnTo>
                  <a:pt x="0" y="0"/>
                </a:lnTo>
                <a:close/>
              </a:path>
            </a:pathLst>
          </a:custGeom>
          <a:solidFill>
            <a:srgbClr val="8B8680"/>
          </a:solidFill>
          <a:ln/>
        </p:spPr>
      </p:sp>
      <p:sp>
        <p:nvSpPr>
          <p:cNvPr id="13" name="Text 11"/>
          <p:cNvSpPr/>
          <p:nvPr/>
        </p:nvSpPr>
        <p:spPr>
          <a:xfrm>
            <a:off x="647700" y="3676650"/>
            <a:ext cx="819150" cy="457200"/>
          </a:xfrm>
          <a:prstGeom prst="rect">
            <a:avLst/>
          </a:prstGeom>
          <a:noFill/>
          <a:ln/>
        </p:spPr>
        <p:txBody>
          <a:bodyPr wrap="square" lIns="0" tIns="0" rIns="0" bIns="0" rtlCol="0" anchor="ctr"/>
          <a:lstStyle/>
          <a:p>
            <a:pPr>
              <a:lnSpc>
                <a:spcPct val="80000"/>
              </a:lnSpc>
            </a:pPr>
            <a:r>
              <a:rPr lang="en-US" sz="3600" b="1" dirty="0">
                <a:solidFill>
                  <a:srgbClr val="C4B7A6"/>
                </a:solidFill>
                <a:latin typeface="Liter" pitchFamily="34" charset="0"/>
                <a:ea typeface="Liter" pitchFamily="34" charset="-122"/>
                <a:cs typeface="Liter" pitchFamily="34" charset="-120"/>
              </a:rPr>
              <a:t>03</a:t>
            </a:r>
            <a:endParaRPr lang="en-US" sz="1600" dirty="0"/>
          </a:p>
        </p:txBody>
      </p:sp>
      <p:sp>
        <p:nvSpPr>
          <p:cNvPr id="14" name="Text 12"/>
          <p:cNvSpPr/>
          <p:nvPr/>
        </p:nvSpPr>
        <p:spPr>
          <a:xfrm>
            <a:off x="1387078" y="3800475"/>
            <a:ext cx="1933575" cy="295275"/>
          </a:xfrm>
          <a:prstGeom prst="rect">
            <a:avLst/>
          </a:prstGeom>
          <a:noFill/>
          <a:ln/>
        </p:spPr>
        <p:txBody>
          <a:bodyPr wrap="square" lIns="0" tIns="0" rIns="0" bIns="0" rtlCol="0" anchor="ctr"/>
          <a:lstStyle/>
          <a:p>
            <a:pPr>
              <a:lnSpc>
                <a:spcPct val="110000"/>
              </a:lnSpc>
            </a:pPr>
            <a:r>
              <a:rPr lang="en-US" sz="1800" b="1" dirty="0">
                <a:solidFill>
                  <a:srgbClr val="1A1A1A"/>
                </a:solidFill>
                <a:latin typeface="思源宋体" pitchFamily="34" charset="0"/>
                <a:ea typeface="思源宋体" pitchFamily="34" charset="-122"/>
                <a:cs typeface="思源宋体" pitchFamily="34" charset="-120"/>
              </a:rPr>
              <a:t>GitHub Copilot</a:t>
            </a:r>
            <a:endParaRPr lang="en-US" sz="1600" dirty="0"/>
          </a:p>
        </p:txBody>
      </p:sp>
      <p:sp>
        <p:nvSpPr>
          <p:cNvPr id="15" name="Text 13"/>
          <p:cNvSpPr/>
          <p:nvPr/>
        </p:nvSpPr>
        <p:spPr>
          <a:xfrm>
            <a:off x="1257300" y="4210050"/>
            <a:ext cx="4695825" cy="276225"/>
          </a:xfrm>
          <a:prstGeom prst="rect">
            <a:avLst/>
          </a:prstGeom>
          <a:noFill/>
          <a:ln/>
        </p:spPr>
        <p:txBody>
          <a:bodyPr wrap="square" lIns="0" tIns="0" rIns="0" bIns="0" rtlCol="0" anchor="ctr"/>
          <a:lstStyle/>
          <a:p>
            <a:pPr>
              <a:lnSpc>
                <a:spcPct val="140000"/>
              </a:lnSpc>
            </a:pPr>
            <a:r>
              <a:rPr lang="en-US" sz="1350" dirty="0">
                <a:solidFill>
                  <a:srgbClr val="3D3D3D"/>
                </a:solidFill>
                <a:latin typeface="思源宋体" pitchFamily="34" charset="0"/>
                <a:ea typeface="思源宋体" pitchFamily="34" charset="-122"/>
                <a:cs typeface="思源宋体" pitchFamily="34" charset="-120"/>
              </a:rPr>
              <a:t>Trợ lý lập trình AI và quy trình Pair-Programming</a:t>
            </a:r>
            <a:endParaRPr lang="en-US" sz="1600" dirty="0"/>
          </a:p>
        </p:txBody>
      </p:sp>
      <p:sp>
        <p:nvSpPr>
          <p:cNvPr id="16" name="Shape 14"/>
          <p:cNvSpPr/>
          <p:nvPr/>
        </p:nvSpPr>
        <p:spPr>
          <a:xfrm>
            <a:off x="6343650" y="3600450"/>
            <a:ext cx="38100" cy="962025"/>
          </a:xfrm>
          <a:custGeom>
            <a:avLst/>
            <a:gdLst/>
            <a:ahLst/>
            <a:cxnLst/>
            <a:rect l="l" t="t" r="r" b="b"/>
            <a:pathLst>
              <a:path w="38100" h="962025">
                <a:moveTo>
                  <a:pt x="0" y="0"/>
                </a:moveTo>
                <a:lnTo>
                  <a:pt x="38100" y="0"/>
                </a:lnTo>
                <a:lnTo>
                  <a:pt x="38100" y="962025"/>
                </a:lnTo>
                <a:lnTo>
                  <a:pt x="0" y="962025"/>
                </a:lnTo>
                <a:lnTo>
                  <a:pt x="0" y="0"/>
                </a:lnTo>
                <a:close/>
              </a:path>
            </a:pathLst>
          </a:custGeom>
          <a:solidFill>
            <a:srgbClr val="C4B7A6"/>
          </a:solidFill>
          <a:ln/>
        </p:spPr>
      </p:sp>
      <p:sp>
        <p:nvSpPr>
          <p:cNvPr id="17" name="Text 15"/>
          <p:cNvSpPr/>
          <p:nvPr/>
        </p:nvSpPr>
        <p:spPr>
          <a:xfrm>
            <a:off x="6591300" y="3676650"/>
            <a:ext cx="819150" cy="457200"/>
          </a:xfrm>
          <a:prstGeom prst="rect">
            <a:avLst/>
          </a:prstGeom>
          <a:noFill/>
          <a:ln/>
        </p:spPr>
        <p:txBody>
          <a:bodyPr wrap="square" lIns="0" tIns="0" rIns="0" bIns="0" rtlCol="0" anchor="ctr"/>
          <a:lstStyle/>
          <a:p>
            <a:pPr>
              <a:lnSpc>
                <a:spcPct val="80000"/>
              </a:lnSpc>
            </a:pPr>
            <a:r>
              <a:rPr lang="en-US" sz="3600" b="1" dirty="0">
                <a:solidFill>
                  <a:srgbClr val="C4B7A6"/>
                </a:solidFill>
                <a:latin typeface="Liter" pitchFamily="34" charset="0"/>
                <a:ea typeface="Liter" pitchFamily="34" charset="-122"/>
                <a:cs typeface="Liter" pitchFamily="34" charset="-120"/>
              </a:rPr>
              <a:t>04</a:t>
            </a:r>
            <a:endParaRPr lang="en-US" sz="1600" dirty="0"/>
          </a:p>
        </p:txBody>
      </p:sp>
      <p:sp>
        <p:nvSpPr>
          <p:cNvPr id="18" name="Text 16"/>
          <p:cNvSpPr/>
          <p:nvPr/>
        </p:nvSpPr>
        <p:spPr>
          <a:xfrm>
            <a:off x="7330232" y="3800475"/>
            <a:ext cx="2552700" cy="295275"/>
          </a:xfrm>
          <a:prstGeom prst="rect">
            <a:avLst/>
          </a:prstGeom>
          <a:noFill/>
          <a:ln/>
        </p:spPr>
        <p:txBody>
          <a:bodyPr wrap="square" lIns="0" tIns="0" rIns="0" bIns="0" rtlCol="0" anchor="ctr"/>
          <a:lstStyle/>
          <a:p>
            <a:pPr>
              <a:lnSpc>
                <a:spcPct val="110000"/>
              </a:lnSpc>
            </a:pPr>
            <a:r>
              <a:rPr lang="en-US" sz="1800" b="1" dirty="0">
                <a:solidFill>
                  <a:srgbClr val="1A1A1A"/>
                </a:solidFill>
                <a:latin typeface="思源宋体" pitchFamily="34" charset="0"/>
                <a:ea typeface="思源宋体" pitchFamily="34" charset="-122"/>
                <a:cs typeface="思源宋体" pitchFamily="34" charset="-120"/>
              </a:rPr>
              <a:t>Prompt Engineering</a:t>
            </a:r>
            <a:endParaRPr lang="en-US" sz="1600" dirty="0"/>
          </a:p>
        </p:txBody>
      </p:sp>
      <p:sp>
        <p:nvSpPr>
          <p:cNvPr id="19" name="Text 17"/>
          <p:cNvSpPr/>
          <p:nvPr/>
        </p:nvSpPr>
        <p:spPr>
          <a:xfrm>
            <a:off x="7200900" y="4210050"/>
            <a:ext cx="4695825" cy="276225"/>
          </a:xfrm>
          <a:prstGeom prst="rect">
            <a:avLst/>
          </a:prstGeom>
          <a:noFill/>
          <a:ln/>
        </p:spPr>
        <p:txBody>
          <a:bodyPr wrap="square" lIns="0" tIns="0" rIns="0" bIns="0" rtlCol="0" anchor="ctr"/>
          <a:lstStyle/>
          <a:p>
            <a:pPr>
              <a:lnSpc>
                <a:spcPct val="140000"/>
              </a:lnSpc>
            </a:pPr>
            <a:r>
              <a:rPr lang="en-US" sz="1350" dirty="0">
                <a:solidFill>
                  <a:srgbClr val="3D3D3D"/>
                </a:solidFill>
                <a:latin typeface="思源宋体" pitchFamily="34" charset="0"/>
                <a:ea typeface="思源宋体" pitchFamily="34" charset="-122"/>
                <a:cs typeface="思源宋体" pitchFamily="34" charset="-120"/>
              </a:rPr>
              <a:t>Kỹ thuật viết prompt hiệu quả theo nguyên tắc 5S</a:t>
            </a:r>
            <a:endParaRPr lang="en-US" sz="1600" dirty="0"/>
          </a:p>
        </p:txBody>
      </p:sp>
      <p:sp>
        <p:nvSpPr>
          <p:cNvPr id="20" name="Shape 18"/>
          <p:cNvSpPr/>
          <p:nvPr/>
        </p:nvSpPr>
        <p:spPr>
          <a:xfrm>
            <a:off x="400050" y="4867275"/>
            <a:ext cx="38100" cy="962025"/>
          </a:xfrm>
          <a:custGeom>
            <a:avLst/>
            <a:gdLst/>
            <a:ahLst/>
            <a:cxnLst/>
            <a:rect l="l" t="t" r="r" b="b"/>
            <a:pathLst>
              <a:path w="38100" h="962025">
                <a:moveTo>
                  <a:pt x="0" y="0"/>
                </a:moveTo>
                <a:lnTo>
                  <a:pt x="38100" y="0"/>
                </a:lnTo>
                <a:lnTo>
                  <a:pt x="38100" y="962025"/>
                </a:lnTo>
                <a:lnTo>
                  <a:pt x="0" y="962025"/>
                </a:lnTo>
                <a:lnTo>
                  <a:pt x="0" y="0"/>
                </a:lnTo>
                <a:close/>
              </a:path>
            </a:pathLst>
          </a:custGeom>
          <a:solidFill>
            <a:srgbClr val="8B8680"/>
          </a:solidFill>
          <a:ln/>
        </p:spPr>
      </p:sp>
      <p:sp>
        <p:nvSpPr>
          <p:cNvPr id="21" name="Text 19"/>
          <p:cNvSpPr/>
          <p:nvPr/>
        </p:nvSpPr>
        <p:spPr>
          <a:xfrm>
            <a:off x="647700" y="4943475"/>
            <a:ext cx="809625" cy="457200"/>
          </a:xfrm>
          <a:prstGeom prst="rect">
            <a:avLst/>
          </a:prstGeom>
          <a:noFill/>
          <a:ln/>
        </p:spPr>
        <p:txBody>
          <a:bodyPr wrap="square" lIns="0" tIns="0" rIns="0" bIns="0" rtlCol="0" anchor="ctr"/>
          <a:lstStyle/>
          <a:p>
            <a:pPr>
              <a:lnSpc>
                <a:spcPct val="80000"/>
              </a:lnSpc>
            </a:pPr>
            <a:r>
              <a:rPr lang="en-US" sz="3600" b="1" dirty="0">
                <a:solidFill>
                  <a:srgbClr val="C4B7A6"/>
                </a:solidFill>
                <a:latin typeface="Liter" pitchFamily="34" charset="0"/>
                <a:ea typeface="Liter" pitchFamily="34" charset="-122"/>
                <a:cs typeface="Liter" pitchFamily="34" charset="-120"/>
              </a:rPr>
              <a:t>05</a:t>
            </a:r>
            <a:endParaRPr lang="en-US" sz="1600" dirty="0"/>
          </a:p>
        </p:txBody>
      </p:sp>
      <p:sp>
        <p:nvSpPr>
          <p:cNvPr id="22" name="Text 20"/>
          <p:cNvSpPr/>
          <p:nvPr/>
        </p:nvSpPr>
        <p:spPr>
          <a:xfrm>
            <a:off x="1380679" y="5067300"/>
            <a:ext cx="3600450" cy="295275"/>
          </a:xfrm>
          <a:prstGeom prst="rect">
            <a:avLst/>
          </a:prstGeom>
          <a:noFill/>
          <a:ln/>
        </p:spPr>
        <p:txBody>
          <a:bodyPr wrap="square" lIns="0" tIns="0" rIns="0" bIns="0" rtlCol="0" anchor="ctr"/>
          <a:lstStyle/>
          <a:p>
            <a:pPr>
              <a:lnSpc>
                <a:spcPct val="110000"/>
              </a:lnSpc>
            </a:pPr>
            <a:r>
              <a:rPr lang="en-US" sz="1800" b="1" dirty="0">
                <a:solidFill>
                  <a:srgbClr val="1A1A1A"/>
                </a:solidFill>
                <a:latin typeface="思源宋体" pitchFamily="34" charset="0"/>
                <a:ea typeface="思源宋体" pitchFamily="34" charset="-122"/>
                <a:cs typeface="思源宋体" pitchFamily="34" charset="-120"/>
              </a:rPr>
              <a:t>Kết luận và Hướng phát triển</a:t>
            </a:r>
            <a:endParaRPr lang="en-US" sz="1600" dirty="0"/>
          </a:p>
        </p:txBody>
      </p:sp>
      <p:sp>
        <p:nvSpPr>
          <p:cNvPr id="23" name="Text 21"/>
          <p:cNvSpPr/>
          <p:nvPr/>
        </p:nvSpPr>
        <p:spPr>
          <a:xfrm>
            <a:off x="1257300" y="5476875"/>
            <a:ext cx="10639425" cy="276225"/>
          </a:xfrm>
          <a:prstGeom prst="rect">
            <a:avLst/>
          </a:prstGeom>
          <a:noFill/>
          <a:ln/>
        </p:spPr>
        <p:txBody>
          <a:bodyPr wrap="square" lIns="0" tIns="0" rIns="0" bIns="0" rtlCol="0" anchor="ctr"/>
          <a:lstStyle/>
          <a:p>
            <a:pPr>
              <a:lnSpc>
                <a:spcPct val="140000"/>
              </a:lnSpc>
            </a:pPr>
            <a:r>
              <a:rPr lang="en-US" sz="1350" dirty="0">
                <a:solidFill>
                  <a:srgbClr val="3D3D3D"/>
                </a:solidFill>
                <a:latin typeface="思源宋体" pitchFamily="34" charset="0"/>
                <a:ea typeface="思源宋体" pitchFamily="34" charset="-122"/>
                <a:cs typeface="思源宋体" pitchFamily="34" charset="-120"/>
              </a:rPr>
              <a:t>Tổng kết và định hướng tương lai của GenAI trong lập trình</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pic>
        <p:nvPicPr>
          <p:cNvPr id="2" name="Image 0" descr="https://kimi-web-img.moonshot.cn/img/static.vecteezy.com/2becdaefabc9988b1142d542675b80e6c923240f.jpeg">    </p:cNvPr>
          <p:cNvPicPr>
            <a:picLocks noChangeAspect="1"/>
          </p:cNvPicPr>
          <p:nvPr/>
        </p:nvPicPr>
        <p:blipFill>
          <a:blip r:embed="rId1">
            <a:alphaModFix amt="10000"/>
          </a:blip>
          <a:srcRect l="5556" r="5556" t="0" b="0"/>
          <a:stretch/>
        </p:blipFill>
        <p:spPr>
          <a:xfrm>
            <a:off x="6096000" y="0"/>
            <a:ext cx="6096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gs>
              <a:gs pos="50000">
                <a:srgbClr val="FAF9F6">
                  <a:alpha val="95000"/>
                </a:srgbClr>
              </a:gs>
              <a:gs pos="100000">
                <a:srgbClr val="FAF9F6">
                  <a:alpha val="70000"/>
                </a:srgbClr>
              </a:gs>
            </a:gsLst>
            <a:lin ang="0" scaled="1"/>
          </a:gradFill>
          <a:ln/>
        </p:spPr>
      </p:sp>
      <p:sp>
        <p:nvSpPr>
          <p:cNvPr id="4" name="Shape 1"/>
          <p:cNvSpPr/>
          <p:nvPr/>
        </p:nvSpPr>
        <p:spPr>
          <a:xfrm>
            <a:off x="390525" y="1162050"/>
            <a:ext cx="1285875" cy="466725"/>
          </a:xfrm>
          <a:custGeom>
            <a:avLst/>
            <a:gdLst/>
            <a:ahLst/>
            <a:cxnLst/>
            <a:rect l="l" t="t" r="r" b="b"/>
            <a:pathLst>
              <a:path w="1285875" h="466725">
                <a:moveTo>
                  <a:pt x="0" y="0"/>
                </a:moveTo>
                <a:lnTo>
                  <a:pt x="1285875" y="0"/>
                </a:lnTo>
                <a:lnTo>
                  <a:pt x="1285875" y="466725"/>
                </a:lnTo>
                <a:lnTo>
                  <a:pt x="0" y="466725"/>
                </a:lnTo>
                <a:lnTo>
                  <a:pt x="0" y="0"/>
                </a:lnTo>
                <a:close/>
              </a:path>
            </a:pathLst>
          </a:custGeom>
          <a:solidFill>
            <a:srgbClr val="000000">
              <a:alpha val="0"/>
            </a:srgbClr>
          </a:solidFill>
          <a:ln w="25400">
            <a:solidFill>
              <a:srgbClr val="8B8680"/>
            </a:solidFill>
            <a:prstDash val="solid"/>
          </a:ln>
        </p:spPr>
      </p:sp>
      <p:sp>
        <p:nvSpPr>
          <p:cNvPr id="5" name="Text 2"/>
          <p:cNvSpPr/>
          <p:nvPr/>
        </p:nvSpPr>
        <p:spPr>
          <a:xfrm>
            <a:off x="628650" y="1228725"/>
            <a:ext cx="923971" cy="333375"/>
          </a:xfrm>
          <a:prstGeom prst="rect">
            <a:avLst/>
          </a:prstGeom>
          <a:noFill/>
          <a:ln/>
        </p:spPr>
        <p:txBody>
          <a:bodyPr wrap="square" lIns="0" tIns="0" rIns="0" bIns="0" rtlCol="0" anchor="ctr"/>
          <a:lstStyle/>
          <a:p>
            <a:pPr>
              <a:lnSpc>
                <a:spcPct val="110000"/>
              </a:lnSpc>
            </a:pPr>
            <a:r>
              <a:rPr lang="en-US" sz="1800" b="1" dirty="0">
                <a:solidFill>
                  <a:srgbClr val="8B8680"/>
                </a:solidFill>
                <a:latin typeface="Liter" pitchFamily="34" charset="0"/>
                <a:ea typeface="Liter" pitchFamily="34" charset="-122"/>
                <a:cs typeface="Liter" pitchFamily="34" charset="-120"/>
              </a:rPr>
              <a:t>PHẦN 1</a:t>
            </a:r>
            <a:endParaRPr lang="en-US" sz="1600" dirty="0"/>
          </a:p>
        </p:txBody>
      </p:sp>
      <p:sp>
        <p:nvSpPr>
          <p:cNvPr id="6" name="Text 3"/>
          <p:cNvSpPr/>
          <p:nvPr/>
        </p:nvSpPr>
        <p:spPr>
          <a:xfrm>
            <a:off x="381000" y="2171700"/>
            <a:ext cx="7905750" cy="2143125"/>
          </a:xfrm>
          <a:prstGeom prst="rect">
            <a:avLst/>
          </a:prstGeom>
          <a:noFill/>
          <a:ln/>
        </p:spPr>
        <p:txBody>
          <a:bodyPr wrap="square" lIns="0" tIns="0" rIns="0" bIns="0" rtlCol="0" anchor="ctr"/>
          <a:lstStyle/>
          <a:p>
            <a:pPr>
              <a:lnSpc>
                <a:spcPct val="100000"/>
              </a:lnSpc>
            </a:pPr>
            <a:r>
              <a:rPr lang="en-US" sz="4500" b="1" dirty="0">
                <a:solidFill>
                  <a:srgbClr val="1A1A1A"/>
                </a:solidFill>
                <a:latin typeface="思源宋体" pitchFamily="34" charset="0"/>
                <a:ea typeface="思源宋体" pitchFamily="34" charset="-122"/>
                <a:cs typeface="思源宋体" pitchFamily="34" charset="-120"/>
              </a:rPr>
              <a:t>Tổng quan GenAI</a:t>
            </a:r>
            <a:endParaRPr lang="en-US" sz="1600" dirty="0"/>
          </a:p>
          <a:p>
            <a:pPr>
              <a:lnSpc>
                <a:spcPct val="100000"/>
              </a:lnSpc>
            </a:pPr>
            <a:r>
              <a:rPr lang="en-US" sz="4500" b="1" dirty="0">
                <a:solidFill>
                  <a:srgbClr val="1A1A1A"/>
                </a:solidFill>
                <a:latin typeface="思源宋体" pitchFamily="34" charset="0"/>
                <a:ea typeface="思源宋体" pitchFamily="34" charset="-122"/>
                <a:cs typeface="思源宋体" pitchFamily="34" charset="-120"/>
              </a:rPr>
              <a:t>trong phát triển phần mềm</a:t>
            </a:r>
            <a:endParaRPr lang="en-US" sz="1600" dirty="0"/>
          </a:p>
        </p:txBody>
      </p:sp>
      <p:sp>
        <p:nvSpPr>
          <p:cNvPr id="7" name="Shape 4"/>
          <p:cNvSpPr/>
          <p:nvPr/>
        </p:nvSpPr>
        <p:spPr>
          <a:xfrm>
            <a:off x="381000" y="461962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solidFill>
            <a:srgbClr val="C4B7A6"/>
          </a:solidFill>
          <a:ln/>
        </p:spPr>
      </p:sp>
      <p:sp>
        <p:nvSpPr>
          <p:cNvPr id="8" name="Text 5"/>
          <p:cNvSpPr/>
          <p:nvPr/>
        </p:nvSpPr>
        <p:spPr>
          <a:xfrm>
            <a:off x="381000" y="4962525"/>
            <a:ext cx="7734300" cy="742950"/>
          </a:xfrm>
          <a:prstGeom prst="rect">
            <a:avLst/>
          </a:prstGeom>
          <a:noFill/>
          <a:ln/>
        </p:spPr>
        <p:txBody>
          <a:bodyPr wrap="square" lIns="0" tIns="0" rIns="0" bIns="0" rtlCol="0" anchor="ctr"/>
          <a:lstStyle/>
          <a:p>
            <a:pPr>
              <a:lnSpc>
                <a:spcPct val="140000"/>
              </a:lnSpc>
            </a:pPr>
            <a:r>
              <a:rPr lang="en-US" sz="1800" dirty="0">
                <a:solidFill>
                  <a:srgbClr val="3D3D3D"/>
                </a:solidFill>
                <a:latin typeface="思源宋体" pitchFamily="34" charset="0"/>
                <a:ea typeface="思源宋体" pitchFamily="34" charset="-122"/>
                <a:cs typeface="思源宋体" pitchFamily="34" charset="-120"/>
              </a:rPr>
              <a:t>Sự tiến hóa của AI và tác động đến</a:t>
            </a:r>
            <a:endParaRPr lang="en-US" sz="1600" dirty="0"/>
          </a:p>
          <a:p>
            <a:pPr>
              <a:lnSpc>
                <a:spcPct val="140000"/>
              </a:lnSpc>
            </a:pPr>
            <a:r>
              <a:rPr lang="en-US" sz="1800" dirty="0">
                <a:solidFill>
                  <a:srgbClr val="3D3D3D"/>
                </a:solidFill>
                <a:latin typeface="思源宋体" pitchFamily="34" charset="0"/>
                <a:ea typeface="思源宋体" pitchFamily="34" charset="-122"/>
                <a:cs typeface="思源宋体" pitchFamily="34" charset="-120"/>
              </a:rPr>
              <a:t>vòng đờI phát triển phần mềm</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3810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8B8680"/>
          </a:solidFill>
          <a:ln/>
        </p:spPr>
      </p:sp>
      <p:sp>
        <p:nvSpPr>
          <p:cNvPr id="3" name="Text 1"/>
          <p:cNvSpPr/>
          <p:nvPr/>
        </p:nvSpPr>
        <p:spPr>
          <a:xfrm>
            <a:off x="381000" y="533400"/>
            <a:ext cx="11601450" cy="381000"/>
          </a:xfrm>
          <a:prstGeom prst="rect">
            <a:avLst/>
          </a:prstGeom>
          <a:noFill/>
          <a:ln/>
        </p:spPr>
        <p:txBody>
          <a:bodyPr wrap="square" lIns="0" tIns="0" rIns="0" bIns="0" rtlCol="0" anchor="ctr"/>
          <a:lstStyle/>
          <a:p>
            <a:pPr>
              <a:lnSpc>
                <a:spcPct val="90000"/>
              </a:lnSpc>
            </a:pPr>
            <a:r>
              <a:rPr lang="en-US" sz="2700" b="1" dirty="0">
                <a:solidFill>
                  <a:srgbClr val="1A1A1A"/>
                </a:solidFill>
                <a:latin typeface="思源宋体" pitchFamily="34" charset="0"/>
                <a:ea typeface="思源宋体" pitchFamily="34" charset="-122"/>
                <a:cs typeface="思源宋体" pitchFamily="34" charset="-120"/>
              </a:rPr>
              <a:t>Cơ hội mới từ Generative AI</a:t>
            </a:r>
            <a:endParaRPr lang="en-US" sz="1600" dirty="0"/>
          </a:p>
        </p:txBody>
      </p:sp>
      <p:sp>
        <p:nvSpPr>
          <p:cNvPr id="4" name="Text 2"/>
          <p:cNvSpPr/>
          <p:nvPr/>
        </p:nvSpPr>
        <p:spPr>
          <a:xfrm>
            <a:off x="381000" y="1143000"/>
            <a:ext cx="76390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Sự tiến hóa của AI</a:t>
            </a:r>
            <a:endParaRPr lang="en-US" sz="1600" dirty="0"/>
          </a:p>
        </p:txBody>
      </p:sp>
      <p:sp>
        <p:nvSpPr>
          <p:cNvPr id="5" name="Text 3"/>
          <p:cNvSpPr/>
          <p:nvPr/>
        </p:nvSpPr>
        <p:spPr>
          <a:xfrm>
            <a:off x="571500" y="1485900"/>
            <a:ext cx="7429500" cy="748544"/>
          </a:xfrm>
          <a:prstGeom prst="rect">
            <a:avLst/>
          </a:prstGeom>
          <a:noFill/>
          <a:ln/>
        </p:spPr>
        <p:txBody>
          <a:bodyPr wrap="square" lIns="0" tIns="0" rIns="0" bIns="0" rtlCol="0" anchor="ctr"/>
          <a:lstStyle/>
          <a:p>
            <a:pPr>
              <a:lnSpc>
                <a:spcPct val="140000"/>
              </a:lnSpc>
            </a:pPr>
            <a:r>
              <a:rPr lang="en-US" sz="1200" b="1" dirty="0">
                <a:solidFill>
                  <a:srgbClr val="1A1A1A"/>
                </a:solidFill>
                <a:latin typeface="思源宋体" pitchFamily="34" charset="0"/>
                <a:ea typeface="思源宋体" pitchFamily="34" charset="-122"/>
                <a:cs typeface="思源宋体" pitchFamily="34" charset="-120"/>
              </a:rPr>
              <a:t>Rule-based Systems → Machine Learning → Deep Learning → Large Language Model → Generative AI.</a:t>
            </a:r>
            <a:pPr>
              <a:lnSpc>
                <a:spcPct val="140000"/>
              </a:lnSpc>
            </a:pPr>
            <a:r>
              <a:rPr lang="en-US" sz="1200" dirty="0">
                <a:solidFill>
                  <a:srgbClr val="3D3D3D"/>
                </a:solidFill>
                <a:latin typeface="思源宋体" pitchFamily="34" charset="0"/>
                <a:ea typeface="思源宋体" pitchFamily="34" charset="-122"/>
                <a:cs typeface="思源宋体" pitchFamily="34" charset="-120"/>
              </a:rPr>
              <a:t> GenAI không chỉ phân loại hay dự đoán mà còn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tạo ra nội dung mới </a:t>
            </a:r>
            <a:pPr>
              <a:lnSpc>
                <a:spcPct val="140000"/>
              </a:lnSpc>
            </a:pPr>
            <a:r>
              <a:rPr lang="en-US" sz="1200" dirty="0">
                <a:solidFill>
                  <a:srgbClr val="3D3D3D"/>
                </a:solidFill>
                <a:latin typeface="思源宋体" pitchFamily="34" charset="0"/>
                <a:ea typeface="思源宋体" pitchFamily="34" charset="-122"/>
                <a:cs typeface="思源宋体" pitchFamily="34" charset="-120"/>
              </a:rPr>
              <a:t>: code, văn bản, hình ảnh.</a:t>
            </a:r>
            <a:endParaRPr lang="en-US" sz="1600" dirty="0"/>
          </a:p>
        </p:txBody>
      </p:sp>
      <p:sp>
        <p:nvSpPr>
          <p:cNvPr id="6" name="Text 4"/>
          <p:cNvSpPr/>
          <p:nvPr/>
        </p:nvSpPr>
        <p:spPr>
          <a:xfrm>
            <a:off x="381000" y="2335287"/>
            <a:ext cx="7639050" cy="5080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Tự động hóa trong lập trình</a:t>
            </a:r>
            <a:endParaRPr lang="en-US" sz="1600" dirty="0"/>
          </a:p>
        </p:txBody>
      </p:sp>
      <p:sp>
        <p:nvSpPr>
          <p:cNvPr id="7" name="Text 5"/>
          <p:cNvSpPr/>
          <p:nvPr/>
        </p:nvSpPr>
        <p:spPr>
          <a:xfrm>
            <a:off x="571500" y="2742444"/>
            <a:ext cx="7429500" cy="835210"/>
          </a:xfrm>
          <a:prstGeom prst="rect">
            <a:avLst/>
          </a:prstGeom>
          <a:noFill/>
          <a:ln/>
        </p:spPr>
        <p:txBody>
          <a:bodyPr wrap="square" lIns="0" tIns="0" rIns="0" bIns="0" rtlCol="0" anchor="ctr"/>
          <a:lstStyle/>
          <a:p>
            <a:pPr>
              <a:lnSpc>
                <a:spcPct val="140000"/>
              </a:lnSpc>
            </a:pPr>
            <a:r>
              <a:rPr lang="en-US" sz="1200" b="1" dirty="0">
                <a:solidFill>
                  <a:srgbClr val="1A1A1A"/>
                </a:solidFill>
                <a:latin typeface="思源宋体" pitchFamily="34" charset="0"/>
                <a:ea typeface="思源宋体" pitchFamily="34" charset="-122"/>
                <a:cs typeface="思源宋体" pitchFamily="34" charset="-120"/>
              </a:rPr>
              <a:t>Manual Coding → </a:t>
            </a:r>
            <a:pPr>
              <a:lnSpc>
                <a:spcPct val="140000"/>
              </a:lnSpc>
            </a:pPr>
            <a:r>
              <a:rPr lang="en-US" sz="1200" b="1" dirty="0">
                <a:solidFill>
                  <a:srgbClr val="000000"/>
                </a:solidFill>
                <a:latin typeface="思源宋体" pitchFamily="34" charset="0"/>
                <a:ea typeface="思源宋体" pitchFamily="34" charset="-122"/>
                <a:cs typeface="思源宋体" pitchFamily="34" charset="-120"/>
              </a:rPr>
              <a:t>Code Snippets &amp; Libraries</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 → </a:t>
            </a:r>
            <a:pPr>
              <a:lnSpc>
                <a:spcPct val="140000"/>
              </a:lnSpc>
            </a:pPr>
            <a:r>
              <a:rPr lang="en-US" sz="1200" b="1" dirty="0">
                <a:solidFill>
                  <a:srgbClr val="000000"/>
                </a:solidFill>
                <a:latin typeface="思源宋体" pitchFamily="34" charset="0"/>
                <a:ea typeface="思源宋体" pitchFamily="34" charset="-122"/>
                <a:cs typeface="思源宋体" pitchFamily="34" charset="-120"/>
              </a:rPr>
              <a:t>Autocomplet</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e </a:t>
            </a:r>
            <a:pPr>
              <a:lnSpc>
                <a:spcPct val="140000"/>
              </a:lnSpc>
            </a:pPr>
            <a:r>
              <a:rPr lang="en-US" sz="1200" b="1" dirty="0">
                <a:solidFill>
                  <a:srgbClr val="000000"/>
                </a:solidFill>
                <a:latin typeface="思源宋体" pitchFamily="34" charset="0"/>
                <a:ea typeface="思源宋体" pitchFamily="34" charset="-122"/>
                <a:cs typeface="思源宋体" pitchFamily="34" charset="-120"/>
              </a:rPr>
              <a:t>AI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 </a:t>
            </a:r>
            <a:pPr>
              <a:lnSpc>
                <a:spcPct val="140000"/>
              </a:lnSpc>
            </a:pPr>
            <a:r>
              <a:rPr lang="en-US" sz="1200" b="1" dirty="0">
                <a:solidFill>
                  <a:srgbClr val="000000"/>
                </a:solidFill>
                <a:latin typeface="思源宋体" pitchFamily="34" charset="0"/>
                <a:ea typeface="思源宋体" pitchFamily="34" charset="-122"/>
                <a:cs typeface="思源宋体" pitchFamily="34" charset="-120"/>
              </a:rPr>
              <a:t>Code Suggestion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 </a:t>
            </a:r>
            <a:pPr>
              <a:lnSpc>
                <a:spcPct val="140000"/>
              </a:lnSpc>
            </a:pPr>
            <a:r>
              <a:rPr lang="en-US" sz="1200" b="1" dirty="0">
                <a:solidFill>
                  <a:srgbClr val="000000"/>
                </a:solidFill>
                <a:latin typeface="思源宋体" pitchFamily="34" charset="0"/>
                <a:ea typeface="思源宋体" pitchFamily="34" charset="-122"/>
                <a:cs typeface="思源宋体" pitchFamily="34" charset="-120"/>
              </a:rPr>
              <a:t>Generative AI</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a:t>
            </a:r>
            <a:pPr>
              <a:lnSpc>
                <a:spcPct val="140000"/>
              </a:lnSpc>
            </a:pPr>
            <a:r>
              <a:rPr lang="en-US" sz="1200" dirty="0">
                <a:solidFill>
                  <a:srgbClr val="3D3D3D"/>
                </a:solidFill>
                <a:latin typeface="思源宋体" pitchFamily="34" charset="0"/>
                <a:ea typeface="思源宋体" pitchFamily="34" charset="-122"/>
                <a:cs typeface="思源宋体" pitchFamily="34" charset="-120"/>
              </a:rPr>
              <a:t> Chuyển đổi từ viết code thủ công sang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đối tác AI hỗ trợ thông minh </a:t>
            </a:r>
            <a:pPr>
              <a:lnSpc>
                <a:spcPct val="140000"/>
              </a:lnSpc>
            </a:pPr>
            <a:r>
              <a:rPr lang="en-US" sz="1200" dirty="0">
                <a:solidFill>
                  <a:srgbClr val="3D3D3D"/>
                </a:solidFill>
                <a:latin typeface="思源宋体" pitchFamily="34" charset="0"/>
                <a:ea typeface="思源宋体" pitchFamily="34" charset="-122"/>
                <a:cs typeface="思源宋体" pitchFamily="34" charset="-120"/>
              </a:rPr>
              <a:t>, tăng tốc độ và chất lượng phát triển</a:t>
            </a:r>
            <a:pPr>
              <a:lnSpc>
                <a:spcPct val="140000"/>
              </a:lnSpc>
            </a:pPr>
            <a:r>
              <a:rPr lang="en-US" sz="1200" dirty="0">
                <a:solidFill>
                  <a:srgbClr val="000000"/>
                </a:solidFill>
                <a:latin typeface="思源宋体" pitchFamily="34" charset="0"/>
                <a:ea typeface="思源宋体" pitchFamily="34" charset="-122"/>
                <a:cs typeface="思源宋体" pitchFamily="34" charset="-120"/>
              </a:rPr>
              <a:t>.</a:t>
            </a:r>
            <a:endParaRPr lang="en-US" sz="1600" dirty="0"/>
          </a:p>
        </p:txBody>
      </p:sp>
      <p:sp>
        <p:nvSpPr>
          <p:cNvPr id="8" name="Text 6"/>
          <p:cNvSpPr/>
          <p:nvPr/>
        </p:nvSpPr>
        <p:spPr>
          <a:xfrm>
            <a:off x="381000" y="3577653"/>
            <a:ext cx="7639050" cy="5080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Vai trò trong SDLC</a:t>
            </a:r>
            <a:endParaRPr lang="en-US" sz="1600" dirty="0"/>
          </a:p>
        </p:txBody>
      </p:sp>
      <p:sp>
        <p:nvSpPr>
          <p:cNvPr id="9" name="Text 7"/>
          <p:cNvSpPr/>
          <p:nvPr/>
        </p:nvSpPr>
        <p:spPr>
          <a:xfrm>
            <a:off x="571500" y="3962400"/>
            <a:ext cx="7429500" cy="953556"/>
          </a:xfrm>
          <a:prstGeom prst="rect">
            <a:avLst/>
          </a:prstGeom>
          <a:noFill/>
          <a:ln/>
        </p:spPr>
        <p:txBody>
          <a:bodyPr wrap="square" lIns="0" tIns="0" rIns="0" bIns="0" rtlCol="0" anchor="ctr"/>
          <a:lstStyle/>
          <a:p>
            <a:pPr>
              <a:lnSpc>
                <a:spcPct val="140000"/>
              </a:lnSpc>
            </a:pPr>
            <a:r>
              <a:rPr lang="en-US" sz="1200" dirty="0">
                <a:solidFill>
                  <a:srgbClr val="3D3D3D"/>
                </a:solidFill>
                <a:latin typeface="思源宋体" pitchFamily="34" charset="0"/>
                <a:ea typeface="思源宋体" pitchFamily="34" charset="-122"/>
                <a:cs typeface="思源宋体" pitchFamily="34" charset="-120"/>
              </a:rPr>
              <a:t>GenAI tác động toàn diện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5 giai đoạn SDLC</a:t>
            </a:r>
            <a:pPr>
              <a:lnSpc>
                <a:spcPct val="140000"/>
              </a:lnSpc>
            </a:pPr>
            <a:r>
              <a:rPr lang="en-US" sz="1200" dirty="0">
                <a:solidFill>
                  <a:srgbClr val="3D3D3D"/>
                </a:solidFill>
                <a:latin typeface="思源宋体" pitchFamily="34" charset="0"/>
                <a:ea typeface="思源宋体" pitchFamily="34" charset="-122"/>
                <a:cs typeface="思源宋体" pitchFamily="34" charset="-120"/>
              </a:rPr>
              <a:t> : Planning (phân tích yêu cầu), Design (thiết kế kiến trúc), Development (viết code), Testing (kiểm thử), Deployment &amp; Maintenance (triển khai và bảo trì).</a:t>
            </a:r>
            <a:endParaRPr lang="en-US" sz="1600" dirty="0"/>
          </a:p>
        </p:txBody>
      </p:sp>
      <p:sp>
        <p:nvSpPr>
          <p:cNvPr id="10" name="Shape 8"/>
          <p:cNvSpPr/>
          <p:nvPr/>
        </p:nvSpPr>
        <p:spPr>
          <a:xfrm>
            <a:off x="8172450" y="11430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8B8680"/>
          </a:solidFill>
          <a:ln/>
        </p:spPr>
      </p:sp>
      <p:sp>
        <p:nvSpPr>
          <p:cNvPr id="11" name="Shape 9"/>
          <p:cNvSpPr/>
          <p:nvPr/>
        </p:nvSpPr>
        <p:spPr>
          <a:xfrm>
            <a:off x="8172450" y="25527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C4B7A6"/>
          </a:solidFill>
          <a:ln/>
        </p:spPr>
      </p:sp>
      <p:sp>
        <p:nvSpPr>
          <p:cNvPr id="12" name="Shape 10"/>
          <p:cNvSpPr/>
          <p:nvPr/>
        </p:nvSpPr>
        <p:spPr>
          <a:xfrm>
            <a:off x="8172450" y="39624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8B8680"/>
          </a:solidFill>
          <a:ln/>
        </p:spPr>
      </p:sp>
      <p:sp>
        <p:nvSpPr>
          <p:cNvPr id="13" name="Shape 11"/>
          <p:cNvSpPr/>
          <p:nvPr/>
        </p:nvSpPr>
        <p:spPr>
          <a:xfrm>
            <a:off x="381000" y="5457825"/>
            <a:ext cx="11430000" cy="19050"/>
          </a:xfrm>
          <a:custGeom>
            <a:avLst/>
            <a:gdLst/>
            <a:ahLst/>
            <a:cxnLst/>
            <a:rect l="l" t="t" r="r" b="b"/>
            <a:pathLst>
              <a:path w="11430000" h="19050">
                <a:moveTo>
                  <a:pt x="0" y="0"/>
                </a:moveTo>
                <a:lnTo>
                  <a:pt x="11430000" y="0"/>
                </a:lnTo>
                <a:lnTo>
                  <a:pt x="11430000" y="19050"/>
                </a:lnTo>
                <a:lnTo>
                  <a:pt x="0" y="19050"/>
                </a:lnTo>
                <a:lnTo>
                  <a:pt x="0" y="0"/>
                </a:lnTo>
                <a:close/>
              </a:path>
            </a:pathLst>
          </a:custGeom>
          <a:solidFill>
            <a:srgbClr val="C4B7A6">
              <a:alpha val="40000"/>
            </a:srgbClr>
          </a:solidFill>
          <a:ln/>
        </p:spPr>
      </p:sp>
      <p:sp>
        <p:nvSpPr>
          <p:cNvPr id="14" name="Text 12"/>
          <p:cNvSpPr/>
          <p:nvPr/>
        </p:nvSpPr>
        <p:spPr>
          <a:xfrm>
            <a:off x="381000" y="5619750"/>
            <a:ext cx="11506200" cy="495300"/>
          </a:xfrm>
          <a:prstGeom prst="rect">
            <a:avLst/>
          </a:prstGeom>
          <a:noFill/>
          <a:ln/>
        </p:spPr>
        <p:txBody>
          <a:bodyPr wrap="square" lIns="0" tIns="0" rIns="0" bIns="0" rtlCol="0" anchor="ctr"/>
          <a:lstStyle/>
          <a:p>
            <a:pPr>
              <a:lnSpc>
                <a:spcPct val="140000"/>
              </a:lnSpc>
            </a:pPr>
            <a:r>
              <a:rPr lang="en-US" sz="1200" b="1" dirty="0">
                <a:solidFill>
                  <a:srgbClr val="1A1A1A"/>
                </a:solidFill>
                <a:latin typeface="思源宋体" pitchFamily="34" charset="0"/>
                <a:ea typeface="思源宋体" pitchFamily="34" charset="-122"/>
                <a:cs typeface="思源宋体" pitchFamily="34" charset="-120"/>
              </a:rPr>
              <a:t>Tác động sâu rộng:</a:t>
            </a:r>
            <a:pPr>
              <a:lnSpc>
                <a:spcPct val="140000"/>
              </a:lnSpc>
            </a:pPr>
            <a:r>
              <a:rPr lang="en-US" sz="1200" dirty="0">
                <a:solidFill>
                  <a:srgbClr val="3D3D3D"/>
                </a:solidFill>
                <a:latin typeface="思源宋体" pitchFamily="34" charset="0"/>
                <a:ea typeface="思源宋体" pitchFamily="34" charset="-122"/>
                <a:cs typeface="思源宋体" pitchFamily="34" charset="-120"/>
              </a:rPr>
              <a:t> GenAI không chỉ tạo code mà còn giải thích code, viết tài liệu, tạo test case, refactor legacy code, và hỗ trợ quyết định kiến trúc. Theo nghiên cứu của IDC và KPMG, GenAI đang trở thành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đối tác chiến lược </a:t>
            </a:r>
            <a:pPr>
              <a:lnSpc>
                <a:spcPct val="140000"/>
              </a:lnSpc>
            </a:pPr>
            <a:r>
              <a:rPr lang="en-US" sz="1200" dirty="0">
                <a:solidFill>
                  <a:srgbClr val="3D3D3D"/>
                </a:solidFill>
                <a:latin typeface="思源宋体" pitchFamily="34" charset="0"/>
                <a:ea typeface="思源宋体" pitchFamily="34" charset="-122"/>
                <a:cs typeface="思源宋体" pitchFamily="34" charset="-120"/>
              </a:rPr>
              <a:t>trong mọi giai đoạn phát triển phần mềm.</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pic>
        <p:nvPicPr>
          <p:cNvPr id="2" name="Image 0" descr="https://kimi-web-img.moonshot.cn/img/i.pinimg.com/987b78ed87de6d1ccf7e6852701e496ae6cb30b8.jpg">    </p:cNvPr>
          <p:cNvPicPr>
            <a:picLocks noChangeAspect="1"/>
          </p:cNvPicPr>
          <p:nvPr/>
        </p:nvPicPr>
        <p:blipFill>
          <a:blip r:embed="rId1">
            <a:alphaModFix amt="10000"/>
          </a:blip>
          <a:srcRect l="26691" r="26691" t="0" b="0"/>
          <a:stretch/>
        </p:blipFill>
        <p:spPr>
          <a:xfrm>
            <a:off x="0" y="0"/>
            <a:ext cx="6096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gs>
              <a:gs pos="50000">
                <a:srgbClr val="FAF9F6">
                  <a:alpha val="95000"/>
                </a:srgbClr>
              </a:gs>
              <a:gs pos="100000">
                <a:srgbClr val="FAF9F6">
                  <a:alpha val="70000"/>
                </a:srgbClr>
              </a:gs>
            </a:gsLst>
            <a:lin ang="10800000" scaled="1"/>
          </a:gradFill>
          <a:ln/>
        </p:spPr>
      </p:sp>
      <p:sp>
        <p:nvSpPr>
          <p:cNvPr id="4" name="Shape 1"/>
          <p:cNvSpPr/>
          <p:nvPr/>
        </p:nvSpPr>
        <p:spPr>
          <a:xfrm>
            <a:off x="10474077" y="1519238"/>
            <a:ext cx="1323975" cy="466725"/>
          </a:xfrm>
          <a:custGeom>
            <a:avLst/>
            <a:gdLst/>
            <a:ahLst/>
            <a:cxnLst/>
            <a:rect l="l" t="t" r="r" b="b"/>
            <a:pathLst>
              <a:path w="1323975" h="466725">
                <a:moveTo>
                  <a:pt x="0" y="0"/>
                </a:moveTo>
                <a:lnTo>
                  <a:pt x="1323975" y="0"/>
                </a:lnTo>
                <a:lnTo>
                  <a:pt x="1323975" y="466725"/>
                </a:lnTo>
                <a:lnTo>
                  <a:pt x="0" y="466725"/>
                </a:lnTo>
                <a:lnTo>
                  <a:pt x="0" y="0"/>
                </a:lnTo>
                <a:close/>
              </a:path>
            </a:pathLst>
          </a:custGeom>
          <a:solidFill>
            <a:srgbClr val="000000">
              <a:alpha val="0"/>
            </a:srgbClr>
          </a:solidFill>
          <a:ln w="25400">
            <a:solidFill>
              <a:srgbClr val="8B8680"/>
            </a:solidFill>
            <a:prstDash val="solid"/>
          </a:ln>
        </p:spPr>
      </p:sp>
      <p:sp>
        <p:nvSpPr>
          <p:cNvPr id="5" name="Text 2"/>
          <p:cNvSpPr/>
          <p:nvPr/>
        </p:nvSpPr>
        <p:spPr>
          <a:xfrm>
            <a:off x="10598002" y="1585913"/>
            <a:ext cx="965348" cy="333375"/>
          </a:xfrm>
          <a:prstGeom prst="rect">
            <a:avLst/>
          </a:prstGeom>
          <a:noFill/>
          <a:ln/>
        </p:spPr>
        <p:txBody>
          <a:bodyPr wrap="square" lIns="0" tIns="0" rIns="0" bIns="0" rtlCol="0" anchor="ctr"/>
          <a:lstStyle/>
          <a:p>
            <a:pPr algn="r">
              <a:lnSpc>
                <a:spcPct val="110000"/>
              </a:lnSpc>
            </a:pPr>
            <a:r>
              <a:rPr lang="en-US" sz="1800" b="1" dirty="0">
                <a:solidFill>
                  <a:srgbClr val="8B8680"/>
                </a:solidFill>
                <a:latin typeface="Liter" pitchFamily="34" charset="0"/>
                <a:ea typeface="Liter" pitchFamily="34" charset="-122"/>
                <a:cs typeface="Liter" pitchFamily="34" charset="-120"/>
              </a:rPr>
              <a:t>PHẦN 2</a:t>
            </a:r>
            <a:endParaRPr lang="en-US" sz="1600" dirty="0"/>
          </a:p>
        </p:txBody>
      </p:sp>
      <p:sp>
        <p:nvSpPr>
          <p:cNvPr id="6" name="Text 3"/>
          <p:cNvSpPr/>
          <p:nvPr/>
        </p:nvSpPr>
        <p:spPr>
          <a:xfrm>
            <a:off x="3703563" y="2528888"/>
            <a:ext cx="8107437" cy="1428750"/>
          </a:xfrm>
          <a:prstGeom prst="rect">
            <a:avLst/>
          </a:prstGeom>
          <a:noFill/>
          <a:ln/>
        </p:spPr>
        <p:txBody>
          <a:bodyPr wrap="square" lIns="0" tIns="0" rIns="0" bIns="0" rtlCol="0" anchor="ctr"/>
          <a:lstStyle/>
          <a:p>
            <a:pPr>
              <a:lnSpc>
                <a:spcPct val="100000"/>
              </a:lnSpc>
            </a:pPr>
            <a:r>
              <a:rPr lang="en-US" sz="4500" b="1" dirty="0">
                <a:solidFill>
                  <a:srgbClr val="1A1A1A"/>
                </a:solidFill>
                <a:latin typeface="思源宋体" pitchFamily="34" charset="0"/>
                <a:ea typeface="思源宋体" pitchFamily="34" charset="-122"/>
                <a:cs typeface="思源宋体" pitchFamily="34" charset="-120"/>
              </a:rPr>
              <a:t>Làm việc với</a:t>
            </a:r>
            <a:endParaRPr lang="en-US" sz="1600" dirty="0"/>
          </a:p>
          <a:p>
            <a:pPr algn="ctr">
              <a:lnSpc>
                <a:spcPct val="100000"/>
              </a:lnSpc>
            </a:pPr>
            <a:r>
              <a:rPr lang="en-US" sz="4500" b="1" dirty="0">
                <a:solidFill>
                  <a:srgbClr val="1A1A1A"/>
                </a:solidFill>
                <a:latin typeface="思源宋体" pitchFamily="34" charset="0"/>
                <a:ea typeface="思源宋体" pitchFamily="34" charset="-122"/>
                <a:cs typeface="思源宋体" pitchFamily="34" charset="-120"/>
              </a:rPr>
              <a:t>OpenAI API</a:t>
            </a:r>
            <a:endParaRPr lang="en-US" sz="1600" dirty="0"/>
          </a:p>
        </p:txBody>
      </p:sp>
      <p:sp>
        <p:nvSpPr>
          <p:cNvPr id="7" name="Shape 4"/>
          <p:cNvSpPr/>
          <p:nvPr/>
        </p:nvSpPr>
        <p:spPr>
          <a:xfrm>
            <a:off x="10287000" y="4262438"/>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solidFill>
            <a:srgbClr val="C4B7A6"/>
          </a:solidFill>
          <a:ln/>
        </p:spPr>
      </p:sp>
      <p:sp>
        <p:nvSpPr>
          <p:cNvPr id="8" name="Text 5"/>
          <p:cNvSpPr/>
          <p:nvPr/>
        </p:nvSpPr>
        <p:spPr>
          <a:xfrm>
            <a:off x="4076700" y="4605338"/>
            <a:ext cx="7734300" cy="742950"/>
          </a:xfrm>
          <a:prstGeom prst="rect">
            <a:avLst/>
          </a:prstGeom>
          <a:noFill/>
          <a:ln/>
        </p:spPr>
        <p:txBody>
          <a:bodyPr wrap="square" lIns="0" tIns="0" rIns="0" bIns="0" rtlCol="0" anchor="ctr"/>
          <a:lstStyle/>
          <a:p>
            <a:pPr algn="r">
              <a:lnSpc>
                <a:spcPct val="140000"/>
              </a:lnSpc>
            </a:pPr>
            <a:r>
              <a:rPr lang="en-US" sz="1800" dirty="0">
                <a:solidFill>
                  <a:srgbClr val="3D3D3D"/>
                </a:solidFill>
                <a:latin typeface="思源宋体" pitchFamily="34" charset="0"/>
                <a:ea typeface="思源宋体" pitchFamily="34" charset="-122"/>
                <a:cs typeface="思源宋体" pitchFamily="34" charset="-120"/>
              </a:rPr>
              <a:t>Kiến trúc tương tác và</a:t>
            </a:r>
            <a:endParaRPr lang="en-US" sz="1600" dirty="0"/>
          </a:p>
          <a:p>
            <a:pPr algn="r">
              <a:lnSpc>
                <a:spcPct val="140000"/>
              </a:lnSpc>
            </a:pPr>
            <a:r>
              <a:rPr lang="en-US" sz="1800" dirty="0">
                <a:solidFill>
                  <a:srgbClr val="3D3D3D"/>
                </a:solidFill>
                <a:latin typeface="思源宋体" pitchFamily="34" charset="0"/>
                <a:ea typeface="思源宋体" pitchFamily="34" charset="-122"/>
                <a:cs typeface="思源宋体" pitchFamily="34" charset="-120"/>
              </a:rPr>
              <a:t>cấu trúc Request/Response</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3810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8B8680"/>
          </a:solidFill>
          <a:ln/>
        </p:spPr>
      </p:sp>
      <p:sp>
        <p:nvSpPr>
          <p:cNvPr id="3" name="Text 1"/>
          <p:cNvSpPr/>
          <p:nvPr/>
        </p:nvSpPr>
        <p:spPr>
          <a:xfrm>
            <a:off x="381000" y="533400"/>
            <a:ext cx="11601450" cy="381000"/>
          </a:xfrm>
          <a:prstGeom prst="rect">
            <a:avLst/>
          </a:prstGeom>
          <a:noFill/>
          <a:ln/>
        </p:spPr>
        <p:txBody>
          <a:bodyPr wrap="square" lIns="0" tIns="0" rIns="0" bIns="0" rtlCol="0" anchor="ctr"/>
          <a:lstStyle/>
          <a:p>
            <a:pPr>
              <a:lnSpc>
                <a:spcPct val="90000"/>
              </a:lnSpc>
            </a:pPr>
            <a:r>
              <a:rPr lang="en-US" sz="2700" b="1" dirty="0">
                <a:solidFill>
                  <a:srgbClr val="1A1A1A"/>
                </a:solidFill>
                <a:latin typeface="思源宋体" pitchFamily="34" charset="0"/>
                <a:ea typeface="思源宋体" pitchFamily="34" charset="-122"/>
                <a:cs typeface="思源宋体" pitchFamily="34" charset="-120"/>
              </a:rPr>
              <a:t>Kiến trúc và Tích hợp OpenAI API</a:t>
            </a:r>
            <a:endParaRPr lang="en-US" sz="1600" dirty="0"/>
          </a:p>
        </p:txBody>
      </p:sp>
      <p:sp>
        <p:nvSpPr>
          <p:cNvPr id="4" name="Text 2"/>
          <p:cNvSpPr/>
          <p:nvPr/>
        </p:nvSpPr>
        <p:spPr>
          <a:xfrm>
            <a:off x="381000" y="1104900"/>
            <a:ext cx="685800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Luồng tương tác API</a:t>
            </a:r>
            <a:endParaRPr lang="en-US" sz="1600" dirty="0"/>
          </a:p>
        </p:txBody>
      </p:sp>
      <p:sp>
        <p:nvSpPr>
          <p:cNvPr id="5" name="Shape 3"/>
          <p:cNvSpPr/>
          <p:nvPr/>
        </p:nvSpPr>
        <p:spPr>
          <a:xfrm>
            <a:off x="381000" y="1485900"/>
            <a:ext cx="828675" cy="266700"/>
          </a:xfrm>
          <a:custGeom>
            <a:avLst/>
            <a:gdLst/>
            <a:ahLst/>
            <a:cxnLst/>
            <a:rect l="l" t="t" r="r" b="b"/>
            <a:pathLst>
              <a:path w="828675" h="266700">
                <a:moveTo>
                  <a:pt x="38101" y="0"/>
                </a:moveTo>
                <a:lnTo>
                  <a:pt x="790574" y="0"/>
                </a:lnTo>
                <a:cubicBezTo>
                  <a:pt x="811617" y="0"/>
                  <a:pt x="828675" y="17058"/>
                  <a:pt x="828675" y="38101"/>
                </a:cubicBezTo>
                <a:lnTo>
                  <a:pt x="828675" y="228599"/>
                </a:lnTo>
                <a:cubicBezTo>
                  <a:pt x="828675" y="249628"/>
                  <a:pt x="811603" y="266700"/>
                  <a:pt x="790574" y="266700"/>
                </a:cubicBezTo>
                <a:lnTo>
                  <a:pt x="38101" y="266700"/>
                </a:lnTo>
                <a:cubicBezTo>
                  <a:pt x="17058" y="266700"/>
                  <a:pt x="0" y="249642"/>
                  <a:pt x="0" y="228599"/>
                </a:cubicBezTo>
                <a:lnTo>
                  <a:pt x="0" y="38101"/>
                </a:lnTo>
                <a:cubicBezTo>
                  <a:pt x="0" y="17072"/>
                  <a:pt x="17072" y="0"/>
                  <a:pt x="38101" y="0"/>
                </a:cubicBezTo>
                <a:close/>
              </a:path>
            </a:pathLst>
          </a:custGeom>
          <a:solidFill>
            <a:srgbClr val="8B8680"/>
          </a:solidFill>
          <a:ln/>
        </p:spPr>
      </p:sp>
      <p:sp>
        <p:nvSpPr>
          <p:cNvPr id="6" name="Text 4"/>
          <p:cNvSpPr/>
          <p:nvPr/>
        </p:nvSpPr>
        <p:spPr>
          <a:xfrm>
            <a:off x="381000" y="1485900"/>
            <a:ext cx="895350" cy="266700"/>
          </a:xfrm>
          <a:prstGeom prst="rect">
            <a:avLst/>
          </a:prstGeom>
          <a:noFill/>
          <a:ln/>
        </p:spPr>
        <p:txBody>
          <a:bodyPr wrap="square" lIns="114300" tIns="38100" rIns="1143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User App</a:t>
            </a:r>
            <a:endParaRPr lang="en-US" sz="1600" dirty="0"/>
          </a:p>
        </p:txBody>
      </p:sp>
      <p:sp>
        <p:nvSpPr>
          <p:cNvPr id="7" name="Shape 5"/>
          <p:cNvSpPr/>
          <p:nvPr/>
        </p:nvSpPr>
        <p:spPr>
          <a:xfrm>
            <a:off x="1308795" y="15525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C4B7A6"/>
          </a:solidFill>
          <a:ln/>
        </p:spPr>
      </p:sp>
      <p:sp>
        <p:nvSpPr>
          <p:cNvPr id="8" name="Shape 6"/>
          <p:cNvSpPr/>
          <p:nvPr/>
        </p:nvSpPr>
        <p:spPr>
          <a:xfrm>
            <a:off x="1532632" y="1485900"/>
            <a:ext cx="1114425" cy="266700"/>
          </a:xfrm>
          <a:custGeom>
            <a:avLst/>
            <a:gdLst/>
            <a:ahLst/>
            <a:cxnLst/>
            <a:rect l="l" t="t" r="r" b="b"/>
            <a:pathLst>
              <a:path w="1114425" h="266700">
                <a:moveTo>
                  <a:pt x="38101" y="0"/>
                </a:moveTo>
                <a:lnTo>
                  <a:pt x="1076324" y="0"/>
                </a:lnTo>
                <a:cubicBezTo>
                  <a:pt x="1097367" y="0"/>
                  <a:pt x="1114425" y="17058"/>
                  <a:pt x="1114425" y="38101"/>
                </a:cubicBezTo>
                <a:lnTo>
                  <a:pt x="1114425" y="228599"/>
                </a:lnTo>
                <a:cubicBezTo>
                  <a:pt x="1114425" y="249642"/>
                  <a:pt x="1097367" y="266700"/>
                  <a:pt x="1076324" y="266700"/>
                </a:cubicBezTo>
                <a:lnTo>
                  <a:pt x="38101" y="266700"/>
                </a:lnTo>
                <a:cubicBezTo>
                  <a:pt x="17058" y="266700"/>
                  <a:pt x="0" y="249642"/>
                  <a:pt x="0" y="228599"/>
                </a:cubicBezTo>
                <a:lnTo>
                  <a:pt x="0" y="38101"/>
                </a:lnTo>
                <a:cubicBezTo>
                  <a:pt x="0" y="17072"/>
                  <a:pt x="17072" y="0"/>
                  <a:pt x="38101" y="0"/>
                </a:cubicBezTo>
                <a:close/>
              </a:path>
            </a:pathLst>
          </a:custGeom>
          <a:solidFill>
            <a:srgbClr val="C4B7A6"/>
          </a:solidFill>
          <a:ln/>
        </p:spPr>
      </p:sp>
      <p:sp>
        <p:nvSpPr>
          <p:cNvPr id="9" name="Text 7"/>
          <p:cNvSpPr/>
          <p:nvPr/>
        </p:nvSpPr>
        <p:spPr>
          <a:xfrm>
            <a:off x="1532632" y="1485900"/>
            <a:ext cx="1181100" cy="266700"/>
          </a:xfrm>
          <a:prstGeom prst="rect">
            <a:avLst/>
          </a:prstGeom>
          <a:noFill/>
          <a:ln/>
        </p:spPr>
        <p:txBody>
          <a:bodyPr wrap="square" lIns="114300" tIns="38100" rIns="1143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Python Script</a:t>
            </a:r>
            <a:endParaRPr lang="en-US" sz="1600" dirty="0"/>
          </a:p>
        </p:txBody>
      </p:sp>
      <p:sp>
        <p:nvSpPr>
          <p:cNvPr id="10" name="Shape 8"/>
          <p:cNvSpPr/>
          <p:nvPr/>
        </p:nvSpPr>
        <p:spPr>
          <a:xfrm>
            <a:off x="2742009" y="15525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C4B7A6"/>
          </a:solidFill>
          <a:ln/>
        </p:spPr>
      </p:sp>
      <p:sp>
        <p:nvSpPr>
          <p:cNvPr id="11" name="Shape 9"/>
          <p:cNvSpPr/>
          <p:nvPr/>
        </p:nvSpPr>
        <p:spPr>
          <a:xfrm>
            <a:off x="2965847" y="1485900"/>
            <a:ext cx="1000125" cy="266700"/>
          </a:xfrm>
          <a:custGeom>
            <a:avLst/>
            <a:gdLst/>
            <a:ahLst/>
            <a:cxnLst/>
            <a:rect l="l" t="t" r="r" b="b"/>
            <a:pathLst>
              <a:path w="1000125" h="266700">
                <a:moveTo>
                  <a:pt x="38101" y="0"/>
                </a:moveTo>
                <a:lnTo>
                  <a:pt x="962024" y="0"/>
                </a:lnTo>
                <a:cubicBezTo>
                  <a:pt x="983067" y="0"/>
                  <a:pt x="1000125" y="17058"/>
                  <a:pt x="1000125" y="38101"/>
                </a:cubicBezTo>
                <a:lnTo>
                  <a:pt x="1000125" y="228599"/>
                </a:lnTo>
                <a:cubicBezTo>
                  <a:pt x="1000125" y="249642"/>
                  <a:pt x="983067" y="266700"/>
                  <a:pt x="962024" y="266700"/>
                </a:cubicBezTo>
                <a:lnTo>
                  <a:pt x="38101" y="266700"/>
                </a:lnTo>
                <a:cubicBezTo>
                  <a:pt x="17058" y="266700"/>
                  <a:pt x="0" y="249642"/>
                  <a:pt x="0" y="228599"/>
                </a:cubicBezTo>
                <a:lnTo>
                  <a:pt x="0" y="38101"/>
                </a:lnTo>
                <a:cubicBezTo>
                  <a:pt x="0" y="17072"/>
                  <a:pt x="17072" y="0"/>
                  <a:pt x="38101" y="0"/>
                </a:cubicBezTo>
                <a:close/>
              </a:path>
            </a:pathLst>
          </a:custGeom>
          <a:solidFill>
            <a:srgbClr val="8B8680"/>
          </a:solidFill>
          <a:ln/>
        </p:spPr>
      </p:sp>
      <p:sp>
        <p:nvSpPr>
          <p:cNvPr id="12" name="Text 10"/>
          <p:cNvSpPr/>
          <p:nvPr/>
        </p:nvSpPr>
        <p:spPr>
          <a:xfrm>
            <a:off x="2965847" y="1485900"/>
            <a:ext cx="1066800" cy="266700"/>
          </a:xfrm>
          <a:prstGeom prst="rect">
            <a:avLst/>
          </a:prstGeom>
          <a:noFill/>
          <a:ln/>
        </p:spPr>
        <p:txBody>
          <a:bodyPr wrap="square" lIns="114300" tIns="38100" rIns="1143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OpenAI API</a:t>
            </a:r>
            <a:endParaRPr lang="en-US" sz="1600" dirty="0"/>
          </a:p>
        </p:txBody>
      </p:sp>
      <p:sp>
        <p:nvSpPr>
          <p:cNvPr id="13" name="Shape 11"/>
          <p:cNvSpPr/>
          <p:nvPr/>
        </p:nvSpPr>
        <p:spPr>
          <a:xfrm>
            <a:off x="4057204" y="15525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C4B7A6"/>
          </a:solidFill>
          <a:ln/>
        </p:spPr>
      </p:sp>
      <p:sp>
        <p:nvSpPr>
          <p:cNvPr id="14" name="Shape 12"/>
          <p:cNvSpPr/>
          <p:nvPr/>
        </p:nvSpPr>
        <p:spPr>
          <a:xfrm>
            <a:off x="4281041" y="1485900"/>
            <a:ext cx="971550" cy="266700"/>
          </a:xfrm>
          <a:custGeom>
            <a:avLst/>
            <a:gdLst/>
            <a:ahLst/>
            <a:cxnLst/>
            <a:rect l="l" t="t" r="r" b="b"/>
            <a:pathLst>
              <a:path w="971550" h="266700">
                <a:moveTo>
                  <a:pt x="38101" y="0"/>
                </a:moveTo>
                <a:lnTo>
                  <a:pt x="933449" y="0"/>
                </a:lnTo>
                <a:cubicBezTo>
                  <a:pt x="954492" y="0"/>
                  <a:pt x="971550" y="17058"/>
                  <a:pt x="971550" y="38101"/>
                </a:cubicBezTo>
                <a:lnTo>
                  <a:pt x="971550" y="228599"/>
                </a:lnTo>
                <a:cubicBezTo>
                  <a:pt x="971550" y="249642"/>
                  <a:pt x="954492" y="266700"/>
                  <a:pt x="933449" y="266700"/>
                </a:cubicBezTo>
                <a:lnTo>
                  <a:pt x="38101" y="266700"/>
                </a:lnTo>
                <a:cubicBezTo>
                  <a:pt x="17058" y="266700"/>
                  <a:pt x="0" y="249642"/>
                  <a:pt x="0" y="228599"/>
                </a:cubicBezTo>
                <a:lnTo>
                  <a:pt x="0" y="38101"/>
                </a:lnTo>
                <a:cubicBezTo>
                  <a:pt x="0" y="17072"/>
                  <a:pt x="17072" y="0"/>
                  <a:pt x="38101" y="0"/>
                </a:cubicBezTo>
                <a:close/>
              </a:path>
            </a:pathLst>
          </a:custGeom>
          <a:solidFill>
            <a:srgbClr val="C4B7A6"/>
          </a:solidFill>
          <a:ln/>
        </p:spPr>
      </p:sp>
      <p:sp>
        <p:nvSpPr>
          <p:cNvPr id="15" name="Text 13"/>
          <p:cNvSpPr/>
          <p:nvPr/>
        </p:nvSpPr>
        <p:spPr>
          <a:xfrm>
            <a:off x="4281041" y="1485900"/>
            <a:ext cx="1038225" cy="266700"/>
          </a:xfrm>
          <a:prstGeom prst="rect">
            <a:avLst/>
          </a:prstGeom>
          <a:noFill/>
          <a:ln/>
        </p:spPr>
        <p:txBody>
          <a:bodyPr wrap="square" lIns="114300" tIns="38100" rIns="1143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LLM Model</a:t>
            </a:r>
            <a:endParaRPr lang="en-US" sz="1600" dirty="0"/>
          </a:p>
        </p:txBody>
      </p:sp>
      <p:sp>
        <p:nvSpPr>
          <p:cNvPr id="16" name="Text 14"/>
          <p:cNvSpPr/>
          <p:nvPr/>
        </p:nvSpPr>
        <p:spPr>
          <a:xfrm>
            <a:off x="381000" y="1828800"/>
            <a:ext cx="6838950" cy="495300"/>
          </a:xfrm>
          <a:prstGeom prst="rect">
            <a:avLst/>
          </a:prstGeom>
          <a:noFill/>
          <a:ln/>
        </p:spPr>
        <p:txBody>
          <a:bodyPr wrap="square" lIns="0" tIns="0" rIns="0" bIns="0" rtlCol="0" anchor="ctr"/>
          <a:lstStyle/>
          <a:p>
            <a:pPr>
              <a:lnSpc>
                <a:spcPct val="140000"/>
              </a:lnSpc>
            </a:pPr>
            <a:r>
              <a:rPr lang="en-US" sz="1200" dirty="0">
                <a:solidFill>
                  <a:srgbClr val="3D3D3D"/>
                </a:solidFill>
                <a:latin typeface="思源宋体" pitchFamily="34" charset="0"/>
                <a:ea typeface="思源宋体" pitchFamily="34" charset="-122"/>
                <a:cs typeface="思源宋体" pitchFamily="34" charset="-120"/>
              </a:rPr>
              <a:t>Backend proxy pattern đảm bảo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bảo mật API key</a:t>
            </a:r>
            <a:pPr>
              <a:lnSpc>
                <a:spcPct val="140000"/>
              </a:lnSpc>
            </a:pPr>
            <a:r>
              <a:rPr lang="en-US" sz="1200" dirty="0">
                <a:solidFill>
                  <a:srgbClr val="3D3D3D"/>
                </a:solidFill>
                <a:latin typeface="思源宋体" pitchFamily="34" charset="0"/>
                <a:ea typeface="思源宋体" pitchFamily="34" charset="-122"/>
                <a:cs typeface="思源宋体" pitchFamily="34" charset="-120"/>
              </a:rPr>
              <a:t>, kiểm soát rate limit và tracking usage. Frontend không bao giờ gọi API trực tiếp.</a:t>
            </a:r>
            <a:endParaRPr lang="en-US" sz="1600" dirty="0"/>
          </a:p>
        </p:txBody>
      </p:sp>
      <p:sp>
        <p:nvSpPr>
          <p:cNvPr id="17" name="Text 15"/>
          <p:cNvSpPr/>
          <p:nvPr/>
        </p:nvSpPr>
        <p:spPr>
          <a:xfrm>
            <a:off x="381000" y="2476500"/>
            <a:ext cx="685800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Cấu trúc Request/Response</a:t>
            </a:r>
            <a:endParaRPr lang="en-US" sz="1600" dirty="0"/>
          </a:p>
        </p:txBody>
      </p:sp>
      <p:sp>
        <p:nvSpPr>
          <p:cNvPr id="18" name="Shape 16"/>
          <p:cNvSpPr/>
          <p:nvPr/>
        </p:nvSpPr>
        <p:spPr>
          <a:xfrm>
            <a:off x="400050" y="2857500"/>
            <a:ext cx="38100" cy="428625"/>
          </a:xfrm>
          <a:custGeom>
            <a:avLst/>
            <a:gdLst/>
            <a:ahLst/>
            <a:cxnLst/>
            <a:rect l="l" t="t" r="r" b="b"/>
            <a:pathLst>
              <a:path w="38100" h="428625">
                <a:moveTo>
                  <a:pt x="0" y="0"/>
                </a:moveTo>
                <a:lnTo>
                  <a:pt x="38100" y="0"/>
                </a:lnTo>
                <a:lnTo>
                  <a:pt x="38100" y="428625"/>
                </a:lnTo>
                <a:lnTo>
                  <a:pt x="0" y="428625"/>
                </a:lnTo>
                <a:lnTo>
                  <a:pt x="0" y="0"/>
                </a:lnTo>
                <a:close/>
              </a:path>
            </a:pathLst>
          </a:custGeom>
          <a:solidFill>
            <a:srgbClr val="8B8680"/>
          </a:solidFill>
          <a:ln/>
        </p:spPr>
      </p:sp>
      <p:sp>
        <p:nvSpPr>
          <p:cNvPr id="19" name="Text 17"/>
          <p:cNvSpPr/>
          <p:nvPr/>
        </p:nvSpPr>
        <p:spPr>
          <a:xfrm>
            <a:off x="571500" y="2857500"/>
            <a:ext cx="664845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Body Parameters</a:t>
            </a:r>
            <a:endParaRPr lang="en-US" sz="1600" dirty="0"/>
          </a:p>
        </p:txBody>
      </p:sp>
      <p:sp>
        <p:nvSpPr>
          <p:cNvPr id="20" name="Text 18"/>
          <p:cNvSpPr/>
          <p:nvPr/>
        </p:nvSpPr>
        <p:spPr>
          <a:xfrm>
            <a:off x="571500" y="3086100"/>
            <a:ext cx="6638925" cy="200025"/>
          </a:xfrm>
          <a:prstGeom prst="rect">
            <a:avLst/>
          </a:prstGeom>
          <a:noFill/>
          <a:ln/>
        </p:spPr>
        <p:txBody>
          <a:bodyPr wrap="square" lIns="0" tIns="0" rIns="0" bIns="0" rtlCol="0" anchor="ctr"/>
          <a:lstStyle/>
          <a:p>
            <a:pPr>
              <a:lnSpc>
                <a:spcPct val="120000"/>
              </a:lnSpc>
            </a:pPr>
            <a:r>
              <a:rPr lang="en-US" sz="1050" dirty="0">
                <a:solidFill>
                  <a:srgbClr val="3D3D3D"/>
                </a:solidFill>
                <a:highlight>
                  <a:srgbClr val="C4B7A6">
                    <a:alpha val="20000"/>
                  </a:srgbClr>
                </a:highlight>
                <a:latin typeface="MiSans" pitchFamily="34" charset="0"/>
                <a:ea typeface="MiSans" pitchFamily="34" charset="-122"/>
                <a:cs typeface="MiSans" pitchFamily="34" charset="-120"/>
              </a:rPr>
              <a:t>model </a:t>
            </a:r>
            <a:pPr>
              <a:lnSpc>
                <a:spcPct val="120000"/>
              </a:lnSpc>
            </a:pPr>
            <a:r>
              <a:rPr lang="en-US" sz="1050" dirty="0">
                <a:solidFill>
                  <a:srgbClr val="3D3D3D"/>
                </a:solidFill>
                <a:latin typeface="思源宋体" pitchFamily="34" charset="0"/>
                <a:ea typeface="思源宋体" pitchFamily="34" charset="-122"/>
                <a:cs typeface="思源宋体" pitchFamily="34" charset="-120"/>
              </a:rPr>
              <a:t>: gpt-4, gpt-3.5-turbo | </a:t>
            </a:r>
            <a:pPr>
              <a:lnSpc>
                <a:spcPct val="120000"/>
              </a:lnSpc>
            </a:pPr>
            <a:r>
              <a:rPr lang="en-US" sz="1050" dirty="0">
                <a:solidFill>
                  <a:srgbClr val="3D3D3D"/>
                </a:solidFill>
                <a:highlight>
                  <a:srgbClr val="C4B7A6">
                    <a:alpha val="20000"/>
                  </a:srgbClr>
                </a:highlight>
                <a:latin typeface="MiSans" pitchFamily="34" charset="0"/>
                <a:ea typeface="MiSans" pitchFamily="34" charset="-122"/>
                <a:cs typeface="MiSans" pitchFamily="34" charset="-120"/>
              </a:rPr>
              <a:t>messages </a:t>
            </a:r>
            <a:pPr>
              <a:lnSpc>
                <a:spcPct val="120000"/>
              </a:lnSpc>
            </a:pPr>
            <a:r>
              <a:rPr lang="en-US" sz="1050" dirty="0">
                <a:solidFill>
                  <a:srgbClr val="3D3D3D"/>
                </a:solidFill>
                <a:latin typeface="思源宋体" pitchFamily="34" charset="0"/>
                <a:ea typeface="思源宋体" pitchFamily="34" charset="-122"/>
                <a:cs typeface="思源宋体" pitchFamily="34" charset="-120"/>
              </a:rPr>
              <a:t>: system, user, assistant</a:t>
            </a:r>
            <a:endParaRPr lang="en-US" sz="1600" dirty="0"/>
          </a:p>
        </p:txBody>
      </p:sp>
      <p:sp>
        <p:nvSpPr>
          <p:cNvPr id="21" name="Shape 19"/>
          <p:cNvSpPr/>
          <p:nvPr/>
        </p:nvSpPr>
        <p:spPr>
          <a:xfrm>
            <a:off x="400050" y="3362325"/>
            <a:ext cx="38100" cy="428625"/>
          </a:xfrm>
          <a:custGeom>
            <a:avLst/>
            <a:gdLst/>
            <a:ahLst/>
            <a:cxnLst/>
            <a:rect l="l" t="t" r="r" b="b"/>
            <a:pathLst>
              <a:path w="38100" h="428625">
                <a:moveTo>
                  <a:pt x="0" y="0"/>
                </a:moveTo>
                <a:lnTo>
                  <a:pt x="38100" y="0"/>
                </a:lnTo>
                <a:lnTo>
                  <a:pt x="38100" y="428625"/>
                </a:lnTo>
                <a:lnTo>
                  <a:pt x="0" y="428625"/>
                </a:lnTo>
                <a:lnTo>
                  <a:pt x="0" y="0"/>
                </a:lnTo>
                <a:close/>
              </a:path>
            </a:pathLst>
          </a:custGeom>
          <a:solidFill>
            <a:srgbClr val="C4B7A6"/>
          </a:solidFill>
          <a:ln/>
        </p:spPr>
      </p:sp>
      <p:sp>
        <p:nvSpPr>
          <p:cNvPr id="22" name="Text 20"/>
          <p:cNvSpPr/>
          <p:nvPr/>
        </p:nvSpPr>
        <p:spPr>
          <a:xfrm>
            <a:off x="571500" y="3362325"/>
            <a:ext cx="664845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Control Parameters</a:t>
            </a:r>
            <a:endParaRPr lang="en-US" sz="1600" dirty="0"/>
          </a:p>
        </p:txBody>
      </p:sp>
      <p:sp>
        <p:nvSpPr>
          <p:cNvPr id="23" name="Text 21"/>
          <p:cNvSpPr/>
          <p:nvPr/>
        </p:nvSpPr>
        <p:spPr>
          <a:xfrm>
            <a:off x="571500" y="3590925"/>
            <a:ext cx="6638925" cy="200025"/>
          </a:xfrm>
          <a:prstGeom prst="rect">
            <a:avLst/>
          </a:prstGeom>
          <a:noFill/>
          <a:ln/>
        </p:spPr>
        <p:txBody>
          <a:bodyPr wrap="square" lIns="0" tIns="0" rIns="0" bIns="0" rtlCol="0" anchor="ctr"/>
          <a:lstStyle/>
          <a:p>
            <a:pPr>
              <a:lnSpc>
                <a:spcPct val="120000"/>
              </a:lnSpc>
            </a:pPr>
            <a:r>
              <a:rPr lang="en-US" sz="1050" dirty="0">
                <a:solidFill>
                  <a:srgbClr val="3D3D3D"/>
                </a:solidFill>
                <a:highlight>
                  <a:srgbClr val="C4B7A6">
                    <a:alpha val="20000"/>
                  </a:srgbClr>
                </a:highlight>
                <a:latin typeface="MiSans" pitchFamily="34" charset="0"/>
                <a:ea typeface="MiSans" pitchFamily="34" charset="-122"/>
                <a:cs typeface="MiSans" pitchFamily="34" charset="-120"/>
              </a:rPr>
              <a:t>temperature </a:t>
            </a:r>
            <a:pPr>
              <a:lnSpc>
                <a:spcPct val="120000"/>
              </a:lnSpc>
            </a:pPr>
            <a:r>
              <a:rPr lang="en-US" sz="1050" dirty="0">
                <a:solidFill>
                  <a:srgbClr val="3D3D3D"/>
                </a:solidFill>
                <a:latin typeface="思源宋体" pitchFamily="34" charset="0"/>
                <a:ea typeface="思源宋体" pitchFamily="34" charset="-122"/>
                <a:cs typeface="思源宋体" pitchFamily="34" charset="-120"/>
              </a:rPr>
              <a:t>(0-2): độ sáng tạo | </a:t>
            </a:r>
            <a:pPr>
              <a:lnSpc>
                <a:spcPct val="120000"/>
              </a:lnSpc>
            </a:pPr>
            <a:r>
              <a:rPr lang="en-US" sz="1050" dirty="0">
                <a:solidFill>
                  <a:srgbClr val="3D3D3D"/>
                </a:solidFill>
                <a:highlight>
                  <a:srgbClr val="C4B7A6">
                    <a:alpha val="20000"/>
                  </a:srgbClr>
                </a:highlight>
                <a:latin typeface="MiSans" pitchFamily="34" charset="0"/>
                <a:ea typeface="MiSans" pitchFamily="34" charset="-122"/>
                <a:cs typeface="MiSans" pitchFamily="34" charset="-120"/>
              </a:rPr>
              <a:t>max_tokens </a:t>
            </a:r>
            <a:pPr>
              <a:lnSpc>
                <a:spcPct val="120000"/>
              </a:lnSpc>
            </a:pPr>
            <a:r>
              <a:rPr lang="en-US" sz="1050" dirty="0">
                <a:solidFill>
                  <a:srgbClr val="3D3D3D"/>
                </a:solidFill>
                <a:latin typeface="思源宋体" pitchFamily="34" charset="0"/>
                <a:ea typeface="思源宋体" pitchFamily="34" charset="-122"/>
                <a:cs typeface="思源宋体" pitchFamily="34" charset="-120"/>
              </a:rPr>
              <a:t>: giới hạn độ dài</a:t>
            </a:r>
            <a:endParaRPr lang="en-US" sz="1600" dirty="0"/>
          </a:p>
        </p:txBody>
      </p:sp>
      <p:sp>
        <p:nvSpPr>
          <p:cNvPr id="24" name="Text 22"/>
          <p:cNvSpPr/>
          <p:nvPr/>
        </p:nvSpPr>
        <p:spPr>
          <a:xfrm>
            <a:off x="381000" y="3943350"/>
            <a:ext cx="685800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Xử lý qua Transformer Layers</a:t>
            </a:r>
            <a:endParaRPr lang="en-US" sz="1600" dirty="0"/>
          </a:p>
        </p:txBody>
      </p:sp>
      <p:sp>
        <p:nvSpPr>
          <p:cNvPr id="25" name="Text 23"/>
          <p:cNvSpPr/>
          <p:nvPr/>
        </p:nvSpPr>
        <p:spPr>
          <a:xfrm>
            <a:off x="381000" y="4324350"/>
            <a:ext cx="6838950" cy="495300"/>
          </a:xfrm>
          <a:prstGeom prst="rect">
            <a:avLst/>
          </a:prstGeom>
          <a:noFill/>
          <a:ln/>
        </p:spPr>
        <p:txBody>
          <a:bodyPr wrap="square" lIns="0" tIns="0" rIns="0" bIns="0" rtlCol="0" anchor="ctr"/>
          <a:lstStyle/>
          <a:p>
            <a:pPr>
              <a:lnSpc>
                <a:spcPct val="140000"/>
              </a:lnSpc>
            </a:pPr>
            <a:r>
              <a:rPr lang="en-US" sz="1200" dirty="0">
                <a:solidFill>
                  <a:srgbClr val="3D3D3D"/>
                </a:solidFill>
                <a:latin typeface="思源宋体" pitchFamily="34" charset="0"/>
                <a:ea typeface="思源宋体" pitchFamily="34" charset="-122"/>
                <a:cs typeface="思源宋体" pitchFamily="34" charset="-120"/>
              </a:rPr>
              <a:t>Input →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Tokenization</a:t>
            </a:r>
            <a:pPr>
              <a:lnSpc>
                <a:spcPct val="140000"/>
              </a:lnSpc>
            </a:pPr>
            <a:r>
              <a:rPr lang="en-US" sz="1200" dirty="0">
                <a:solidFill>
                  <a:srgbClr val="3D3D3D"/>
                </a:solidFill>
                <a:latin typeface="思源宋体" pitchFamily="34" charset="0"/>
                <a:ea typeface="思源宋体" pitchFamily="34" charset="-122"/>
                <a:cs typeface="思源宋体" pitchFamily="34" charset="-120"/>
              </a:rPr>
              <a:t> → Embedding → Multi-Head Attention → Feed Forward → Layer Norm →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Output Generation</a:t>
            </a:r>
            <a:endParaRPr lang="en-US" sz="1600" dirty="0"/>
          </a:p>
        </p:txBody>
      </p:sp>
      <p:sp>
        <p:nvSpPr>
          <p:cNvPr id="26" name="Shape 24"/>
          <p:cNvSpPr/>
          <p:nvPr/>
        </p:nvSpPr>
        <p:spPr>
          <a:xfrm>
            <a:off x="7395121" y="3733800"/>
            <a:ext cx="38100" cy="952500"/>
          </a:xfrm>
          <a:custGeom>
            <a:avLst/>
            <a:gdLst/>
            <a:ahLst/>
            <a:cxnLst/>
            <a:rect l="l" t="t" r="r" b="b"/>
            <a:pathLst>
              <a:path w="38100" h="952500">
                <a:moveTo>
                  <a:pt x="0" y="0"/>
                </a:moveTo>
                <a:lnTo>
                  <a:pt x="38100" y="0"/>
                </a:lnTo>
                <a:lnTo>
                  <a:pt x="38100" y="952500"/>
                </a:lnTo>
                <a:lnTo>
                  <a:pt x="0" y="952500"/>
                </a:lnTo>
                <a:lnTo>
                  <a:pt x="0" y="0"/>
                </a:lnTo>
                <a:close/>
              </a:path>
            </a:pathLst>
          </a:custGeom>
          <a:solidFill>
            <a:srgbClr val="8B8680"/>
          </a:solidFill>
          <a:ln/>
        </p:spPr>
      </p:sp>
      <p:sp>
        <p:nvSpPr>
          <p:cNvPr id="27" name="Shape 25"/>
          <p:cNvSpPr/>
          <p:nvPr/>
        </p:nvSpPr>
        <p:spPr>
          <a:xfrm>
            <a:off x="7395121" y="4838700"/>
            <a:ext cx="38100" cy="952500"/>
          </a:xfrm>
          <a:custGeom>
            <a:avLst/>
            <a:gdLst/>
            <a:ahLst/>
            <a:cxnLst/>
            <a:rect l="l" t="t" r="r" b="b"/>
            <a:pathLst>
              <a:path w="38100" h="952500">
                <a:moveTo>
                  <a:pt x="0" y="0"/>
                </a:moveTo>
                <a:lnTo>
                  <a:pt x="38100" y="0"/>
                </a:lnTo>
                <a:lnTo>
                  <a:pt x="38100" y="952500"/>
                </a:lnTo>
                <a:lnTo>
                  <a:pt x="0" y="952500"/>
                </a:lnTo>
                <a:lnTo>
                  <a:pt x="0" y="0"/>
                </a:lnTo>
                <a:close/>
              </a:path>
            </a:pathLst>
          </a:custGeom>
          <a:solidFill>
            <a:srgbClr val="C4B7A6"/>
          </a:solidFill>
          <a:ln/>
        </p:spPr>
      </p:sp>
      <p:pic>
        <p:nvPicPr>
          <p:cNvPr id="28" name="Image 0" descr="https://kimi-img.moonshot.cn/pub/slides/26-03-12-22:30:34-d6pcs2no7p5td31uglag.png">    </p:cNvPr>
          <p:cNvPicPr>
            <a:picLocks noChangeAspect="1"/>
          </p:cNvPicPr>
          <p:nvPr/>
        </p:nvPicPr>
        <p:blipFill>
          <a:blip r:embed="rId1"/>
          <a:stretch>
            <a:fillRect/>
          </a:stretch>
        </p:blipFill>
        <p:spPr>
          <a:xfrm>
            <a:off x="7395121" y="1104900"/>
            <a:ext cx="4719241" cy="4819650"/>
          </a:xfrm>
          <a:prstGeom prst="rect">
            <a:avLst/>
          </a:prstGeom>
        </p:spPr>
      </p:pic>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pic>
        <p:nvPicPr>
          <p:cNvPr id="2" name="Image 0" descr="https://kimi-web-img.moonshot.cn/img/w0.peakpx.com/30329e5397c13852f935552b7bfbfff7bf887b2b.jpg">    </p:cNvPr>
          <p:cNvPicPr>
            <a:picLocks noChangeAspect="1"/>
          </p:cNvPicPr>
          <p:nvPr/>
        </p:nvPicPr>
        <p:blipFill>
          <a:blip r:embed="rId1">
            <a:alphaModFix amt="10000"/>
          </a:blip>
          <a:srcRect l="25000" r="25000" t="0" b="0"/>
          <a:stretch/>
        </p:blipFill>
        <p:spPr>
          <a:xfrm>
            <a:off x="6096000" y="0"/>
            <a:ext cx="6096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gs>
              <a:gs pos="50000">
                <a:srgbClr val="FAF9F6">
                  <a:alpha val="95000"/>
                </a:srgbClr>
              </a:gs>
              <a:gs pos="100000">
                <a:srgbClr val="FAF9F6">
                  <a:alpha val="70000"/>
                </a:srgbClr>
              </a:gs>
            </a:gsLst>
            <a:lin ang="0" scaled="1"/>
          </a:gradFill>
          <a:ln/>
        </p:spPr>
      </p:sp>
      <p:sp>
        <p:nvSpPr>
          <p:cNvPr id="4" name="Shape 1"/>
          <p:cNvSpPr/>
          <p:nvPr/>
        </p:nvSpPr>
        <p:spPr>
          <a:xfrm>
            <a:off x="390525" y="1519238"/>
            <a:ext cx="1333500" cy="466725"/>
          </a:xfrm>
          <a:custGeom>
            <a:avLst/>
            <a:gdLst/>
            <a:ahLst/>
            <a:cxnLst/>
            <a:rect l="l" t="t" r="r" b="b"/>
            <a:pathLst>
              <a:path w="1333500" h="466725">
                <a:moveTo>
                  <a:pt x="0" y="0"/>
                </a:moveTo>
                <a:lnTo>
                  <a:pt x="1333500" y="0"/>
                </a:lnTo>
                <a:lnTo>
                  <a:pt x="1333500" y="466725"/>
                </a:lnTo>
                <a:lnTo>
                  <a:pt x="0" y="466725"/>
                </a:lnTo>
                <a:lnTo>
                  <a:pt x="0" y="0"/>
                </a:lnTo>
                <a:close/>
              </a:path>
            </a:pathLst>
          </a:custGeom>
          <a:solidFill>
            <a:srgbClr val="000000">
              <a:alpha val="0"/>
            </a:srgbClr>
          </a:solidFill>
          <a:ln w="25400">
            <a:solidFill>
              <a:srgbClr val="8B8680"/>
            </a:solidFill>
            <a:prstDash val="solid"/>
          </a:ln>
        </p:spPr>
      </p:sp>
      <p:sp>
        <p:nvSpPr>
          <p:cNvPr id="5" name="Text 2"/>
          <p:cNvSpPr/>
          <p:nvPr/>
        </p:nvSpPr>
        <p:spPr>
          <a:xfrm>
            <a:off x="628650" y="1585913"/>
            <a:ext cx="967405" cy="333375"/>
          </a:xfrm>
          <a:prstGeom prst="rect">
            <a:avLst/>
          </a:prstGeom>
          <a:noFill/>
          <a:ln/>
        </p:spPr>
        <p:txBody>
          <a:bodyPr wrap="square" lIns="0" tIns="0" rIns="0" bIns="0" rtlCol="0" anchor="ctr"/>
          <a:lstStyle/>
          <a:p>
            <a:pPr>
              <a:lnSpc>
                <a:spcPct val="110000"/>
              </a:lnSpc>
            </a:pPr>
            <a:r>
              <a:rPr lang="en-US" sz="1800" b="1" dirty="0">
                <a:solidFill>
                  <a:srgbClr val="8B8680"/>
                </a:solidFill>
                <a:latin typeface="Liter" pitchFamily="34" charset="0"/>
                <a:ea typeface="Liter" pitchFamily="34" charset="-122"/>
                <a:cs typeface="Liter" pitchFamily="34" charset="-120"/>
              </a:rPr>
              <a:t>PHẦN 3</a:t>
            </a:r>
            <a:endParaRPr lang="en-US" sz="1600" dirty="0"/>
          </a:p>
        </p:txBody>
      </p:sp>
      <p:sp>
        <p:nvSpPr>
          <p:cNvPr id="6" name="Text 3"/>
          <p:cNvSpPr/>
          <p:nvPr/>
        </p:nvSpPr>
        <p:spPr>
          <a:xfrm>
            <a:off x="381000" y="2528888"/>
            <a:ext cx="7905750" cy="1428750"/>
          </a:xfrm>
          <a:prstGeom prst="rect">
            <a:avLst/>
          </a:prstGeom>
          <a:noFill/>
          <a:ln/>
        </p:spPr>
        <p:txBody>
          <a:bodyPr wrap="square" lIns="0" tIns="0" rIns="0" bIns="0" rtlCol="0" anchor="ctr"/>
          <a:lstStyle/>
          <a:p>
            <a:pPr>
              <a:lnSpc>
                <a:spcPct val="100000"/>
              </a:lnSpc>
            </a:pPr>
            <a:r>
              <a:rPr lang="en-US" sz="4500" b="1" dirty="0">
                <a:solidFill>
                  <a:srgbClr val="1A1A1A"/>
                </a:solidFill>
                <a:latin typeface="思源宋体" pitchFamily="34" charset="0"/>
                <a:ea typeface="思源宋体" pitchFamily="34" charset="-122"/>
                <a:cs typeface="思源宋体" pitchFamily="34" charset="-120"/>
              </a:rPr>
              <a:t>GitHub Copilot</a:t>
            </a:r>
            <a:endParaRPr lang="en-US" sz="1600" dirty="0"/>
          </a:p>
          <a:p>
            <a:pPr>
              <a:lnSpc>
                <a:spcPct val="100000"/>
              </a:lnSpc>
            </a:pPr>
            <a:r>
              <a:rPr lang="en-US" sz="4500" b="1" dirty="0">
                <a:solidFill>
                  <a:srgbClr val="1A1A1A"/>
                </a:solidFill>
                <a:latin typeface="思源宋体" pitchFamily="34" charset="0"/>
                <a:ea typeface="思源宋体" pitchFamily="34" charset="-122"/>
                <a:cs typeface="思源宋体" pitchFamily="34" charset="-120"/>
              </a:rPr>
              <a:t>trong IDE</a:t>
            </a:r>
            <a:endParaRPr lang="en-US" sz="1600" dirty="0"/>
          </a:p>
        </p:txBody>
      </p:sp>
      <p:sp>
        <p:nvSpPr>
          <p:cNvPr id="7" name="Shape 4"/>
          <p:cNvSpPr/>
          <p:nvPr/>
        </p:nvSpPr>
        <p:spPr>
          <a:xfrm>
            <a:off x="381000" y="4262438"/>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solidFill>
            <a:srgbClr val="C4B7A6"/>
          </a:solidFill>
          <a:ln/>
        </p:spPr>
      </p:sp>
      <p:sp>
        <p:nvSpPr>
          <p:cNvPr id="8" name="Text 5"/>
          <p:cNvSpPr/>
          <p:nvPr/>
        </p:nvSpPr>
        <p:spPr>
          <a:xfrm>
            <a:off x="381000" y="4605338"/>
            <a:ext cx="7734300" cy="742950"/>
          </a:xfrm>
          <a:prstGeom prst="rect">
            <a:avLst/>
          </a:prstGeom>
          <a:noFill/>
          <a:ln/>
        </p:spPr>
        <p:txBody>
          <a:bodyPr wrap="square" lIns="0" tIns="0" rIns="0" bIns="0" rtlCol="0" anchor="ctr"/>
          <a:lstStyle/>
          <a:p>
            <a:pPr>
              <a:lnSpc>
                <a:spcPct val="140000"/>
              </a:lnSpc>
            </a:pPr>
            <a:r>
              <a:rPr lang="en-US" sz="1800" dirty="0">
                <a:solidFill>
                  <a:srgbClr val="3D3D3D"/>
                </a:solidFill>
                <a:latin typeface="思源宋体" pitchFamily="34" charset="0"/>
                <a:ea typeface="思源宋体" pitchFamily="34" charset="-122"/>
                <a:cs typeface="思源宋体" pitchFamily="34" charset="-120"/>
              </a:rPr>
              <a:t>Quy trình hoạt động và</a:t>
            </a:r>
            <a:endParaRPr lang="en-US" sz="1600" dirty="0"/>
          </a:p>
          <a:p>
            <a:pPr>
              <a:lnSpc>
                <a:spcPct val="140000"/>
              </a:lnSpc>
            </a:pPr>
            <a:r>
              <a:rPr lang="en-US" sz="1800" dirty="0">
                <a:solidFill>
                  <a:srgbClr val="3D3D3D"/>
                </a:solidFill>
                <a:latin typeface="思源宋体" pitchFamily="34" charset="0"/>
                <a:ea typeface="思源宋体" pitchFamily="34" charset="-122"/>
                <a:cs typeface="思源宋体" pitchFamily="34" charset="-120"/>
              </a:rPr>
              <a:t>AI Pair-Programming</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3810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8B8680"/>
          </a:solidFill>
          <a:ln/>
        </p:spPr>
      </p:sp>
      <p:sp>
        <p:nvSpPr>
          <p:cNvPr id="3" name="Text 1"/>
          <p:cNvSpPr/>
          <p:nvPr/>
        </p:nvSpPr>
        <p:spPr>
          <a:xfrm>
            <a:off x="381000" y="533400"/>
            <a:ext cx="11601450" cy="381000"/>
          </a:xfrm>
          <a:prstGeom prst="rect">
            <a:avLst/>
          </a:prstGeom>
          <a:noFill/>
          <a:ln/>
        </p:spPr>
        <p:txBody>
          <a:bodyPr wrap="square" lIns="0" tIns="0" rIns="0" bIns="0" rtlCol="0" anchor="ctr"/>
          <a:lstStyle/>
          <a:p>
            <a:pPr>
              <a:lnSpc>
                <a:spcPct val="90000"/>
              </a:lnSpc>
            </a:pPr>
            <a:r>
              <a:rPr lang="en-US" sz="2700" b="1" dirty="0">
                <a:solidFill>
                  <a:srgbClr val="1A1A1A"/>
                </a:solidFill>
                <a:latin typeface="思源宋体" pitchFamily="34" charset="0"/>
                <a:ea typeface="思源宋体" pitchFamily="34" charset="-122"/>
                <a:cs typeface="思源宋体" pitchFamily="34" charset="-120"/>
              </a:rPr>
              <a:t>Tích hợp Copilot vào môi trường lập trình</a:t>
            </a:r>
            <a:endParaRPr lang="en-US" sz="1600" dirty="0"/>
          </a:p>
        </p:txBody>
      </p:sp>
      <p:sp>
        <p:nvSpPr>
          <p:cNvPr id="4" name="Text 2"/>
          <p:cNvSpPr/>
          <p:nvPr/>
        </p:nvSpPr>
        <p:spPr>
          <a:xfrm>
            <a:off x="381000" y="1104900"/>
            <a:ext cx="56959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Thu thập ngữ cảnh từ IDE</a:t>
            </a:r>
            <a:endParaRPr lang="en-US" sz="1600" dirty="0"/>
          </a:p>
        </p:txBody>
      </p:sp>
      <p:sp>
        <p:nvSpPr>
          <p:cNvPr id="5" name="Text 3"/>
          <p:cNvSpPr/>
          <p:nvPr/>
        </p:nvSpPr>
        <p:spPr>
          <a:xfrm>
            <a:off x="381000" y="1485900"/>
            <a:ext cx="5676900" cy="742950"/>
          </a:xfrm>
          <a:prstGeom prst="rect">
            <a:avLst/>
          </a:prstGeom>
          <a:noFill/>
          <a:ln/>
        </p:spPr>
        <p:txBody>
          <a:bodyPr wrap="square" lIns="0" tIns="0" rIns="0" bIns="0" rtlCol="0" anchor="ctr"/>
          <a:lstStyle/>
          <a:p>
            <a:pPr>
              <a:lnSpc>
                <a:spcPct val="140000"/>
              </a:lnSpc>
            </a:pPr>
            <a:r>
              <a:rPr lang="en-US" sz="1200" dirty="0">
                <a:solidFill>
                  <a:srgbClr val="3D3D3D"/>
                </a:solidFill>
                <a:latin typeface="思源宋体" pitchFamily="34" charset="0"/>
                <a:ea typeface="思源宋体" pitchFamily="34" charset="-122"/>
                <a:cs typeface="思源宋体" pitchFamily="34" charset="-120"/>
              </a:rPr>
              <a:t>Copilot plugin thu thập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context từ editor</a:t>
            </a:r>
            <a:pPr>
              <a:lnSpc>
                <a:spcPct val="140000"/>
              </a:lnSpc>
            </a:pPr>
            <a:r>
              <a:rPr lang="en-US" sz="1200" dirty="0">
                <a:solidFill>
                  <a:srgbClr val="3D3D3D"/>
                </a:solidFill>
                <a:latin typeface="思源宋体" pitchFamily="34" charset="0"/>
                <a:ea typeface="思源宋体" pitchFamily="34" charset="-122"/>
                <a:cs typeface="思源宋体" pitchFamily="34" charset="-120"/>
              </a:rPr>
              <a:t>: file hiện tại, vị trí con trỏ, code xung quanh, các file đang mở, comment và lịch sử chỉnh sửa. Dữ liệu được gửi lên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GitHub Cloud Service </a:t>
            </a:r>
            <a:pPr>
              <a:lnSpc>
                <a:spcPct val="140000"/>
              </a:lnSpc>
            </a:pPr>
            <a:r>
              <a:rPr lang="en-US" sz="1200" dirty="0">
                <a:solidFill>
                  <a:srgbClr val="3D3D3D"/>
                </a:solidFill>
                <a:latin typeface="思源宋体" pitchFamily="34" charset="0"/>
                <a:ea typeface="思源宋体" pitchFamily="34" charset="-122"/>
                <a:cs typeface="思源宋体" pitchFamily="34" charset="-120"/>
              </a:rPr>
              <a:t>qua kết nối bảo mật.</a:t>
            </a:r>
            <a:endParaRPr lang="en-US" sz="1600" dirty="0"/>
          </a:p>
        </p:txBody>
      </p:sp>
      <p:sp>
        <p:nvSpPr>
          <p:cNvPr id="6" name="Shape 4"/>
          <p:cNvSpPr/>
          <p:nvPr/>
        </p:nvSpPr>
        <p:spPr>
          <a:xfrm>
            <a:off x="381000" y="2343150"/>
            <a:ext cx="685800" cy="266700"/>
          </a:xfrm>
          <a:custGeom>
            <a:avLst/>
            <a:gdLst/>
            <a:ahLst/>
            <a:cxnLst/>
            <a:rect l="l" t="t" r="r" b="b"/>
            <a:pathLst>
              <a:path w="685800" h="266700">
                <a:moveTo>
                  <a:pt x="38101" y="0"/>
                </a:moveTo>
                <a:lnTo>
                  <a:pt x="647699" y="0"/>
                </a:lnTo>
                <a:cubicBezTo>
                  <a:pt x="668742" y="0"/>
                  <a:pt x="685800" y="17058"/>
                  <a:pt x="685800" y="38101"/>
                </a:cubicBezTo>
                <a:lnTo>
                  <a:pt x="685800" y="228599"/>
                </a:lnTo>
                <a:cubicBezTo>
                  <a:pt x="685800" y="249628"/>
                  <a:pt x="668728" y="266700"/>
                  <a:pt x="647699" y="266700"/>
                </a:cubicBezTo>
                <a:lnTo>
                  <a:pt x="38101" y="266700"/>
                </a:lnTo>
                <a:cubicBezTo>
                  <a:pt x="17058" y="266700"/>
                  <a:pt x="0" y="249642"/>
                  <a:pt x="0" y="228599"/>
                </a:cubicBezTo>
                <a:lnTo>
                  <a:pt x="0" y="38101"/>
                </a:lnTo>
                <a:cubicBezTo>
                  <a:pt x="0" y="17072"/>
                  <a:pt x="17072" y="0"/>
                  <a:pt x="38101" y="0"/>
                </a:cubicBezTo>
                <a:close/>
              </a:path>
            </a:pathLst>
          </a:custGeom>
          <a:solidFill>
            <a:srgbClr val="8B8680"/>
          </a:solidFill>
          <a:ln/>
        </p:spPr>
      </p:sp>
      <p:sp>
        <p:nvSpPr>
          <p:cNvPr id="7" name="Text 5"/>
          <p:cNvSpPr/>
          <p:nvPr/>
        </p:nvSpPr>
        <p:spPr>
          <a:xfrm>
            <a:off x="381000" y="2343150"/>
            <a:ext cx="752475" cy="266700"/>
          </a:xfrm>
          <a:prstGeom prst="rect">
            <a:avLst/>
          </a:prstGeom>
          <a:noFill/>
          <a:ln/>
        </p:spPr>
        <p:txBody>
          <a:bodyPr wrap="square" lIns="76200" tIns="38100" rIns="762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VS Code</a:t>
            </a:r>
            <a:endParaRPr lang="en-US" sz="1600" dirty="0"/>
          </a:p>
        </p:txBody>
      </p:sp>
      <p:sp>
        <p:nvSpPr>
          <p:cNvPr id="8" name="Shape 6"/>
          <p:cNvSpPr/>
          <p:nvPr/>
        </p:nvSpPr>
        <p:spPr>
          <a:xfrm>
            <a:off x="1143000" y="2343150"/>
            <a:ext cx="752475" cy="266700"/>
          </a:xfrm>
          <a:custGeom>
            <a:avLst/>
            <a:gdLst/>
            <a:ahLst/>
            <a:cxnLst/>
            <a:rect l="l" t="t" r="r" b="b"/>
            <a:pathLst>
              <a:path w="752475" h="266700">
                <a:moveTo>
                  <a:pt x="38101" y="0"/>
                </a:moveTo>
                <a:lnTo>
                  <a:pt x="714374" y="0"/>
                </a:lnTo>
                <a:cubicBezTo>
                  <a:pt x="735417" y="0"/>
                  <a:pt x="752475" y="17058"/>
                  <a:pt x="752475" y="38101"/>
                </a:cubicBezTo>
                <a:lnTo>
                  <a:pt x="752475" y="228599"/>
                </a:lnTo>
                <a:cubicBezTo>
                  <a:pt x="752475" y="249628"/>
                  <a:pt x="735403" y="266700"/>
                  <a:pt x="714374" y="266700"/>
                </a:cubicBezTo>
                <a:lnTo>
                  <a:pt x="38101" y="266700"/>
                </a:lnTo>
                <a:cubicBezTo>
                  <a:pt x="17058" y="266700"/>
                  <a:pt x="0" y="249642"/>
                  <a:pt x="0" y="228599"/>
                </a:cubicBezTo>
                <a:lnTo>
                  <a:pt x="0" y="38101"/>
                </a:lnTo>
                <a:cubicBezTo>
                  <a:pt x="0" y="17072"/>
                  <a:pt x="17072" y="0"/>
                  <a:pt x="38101" y="0"/>
                </a:cubicBezTo>
                <a:close/>
              </a:path>
            </a:pathLst>
          </a:custGeom>
          <a:solidFill>
            <a:srgbClr val="C4B7A6"/>
          </a:solidFill>
          <a:ln/>
        </p:spPr>
      </p:sp>
      <p:sp>
        <p:nvSpPr>
          <p:cNvPr id="9" name="Text 7"/>
          <p:cNvSpPr/>
          <p:nvPr/>
        </p:nvSpPr>
        <p:spPr>
          <a:xfrm>
            <a:off x="1143000" y="2343150"/>
            <a:ext cx="819150" cy="266700"/>
          </a:xfrm>
          <a:prstGeom prst="rect">
            <a:avLst/>
          </a:prstGeom>
          <a:noFill/>
          <a:ln/>
        </p:spPr>
        <p:txBody>
          <a:bodyPr wrap="square" lIns="76200" tIns="38100" rIns="762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JetBrains</a:t>
            </a:r>
            <a:endParaRPr lang="en-US" sz="1600" dirty="0"/>
          </a:p>
        </p:txBody>
      </p:sp>
      <p:sp>
        <p:nvSpPr>
          <p:cNvPr id="10" name="Shape 8"/>
          <p:cNvSpPr/>
          <p:nvPr/>
        </p:nvSpPr>
        <p:spPr>
          <a:xfrm>
            <a:off x="1967805" y="2343150"/>
            <a:ext cx="657225" cy="266700"/>
          </a:xfrm>
          <a:custGeom>
            <a:avLst/>
            <a:gdLst/>
            <a:ahLst/>
            <a:cxnLst/>
            <a:rect l="l" t="t" r="r" b="b"/>
            <a:pathLst>
              <a:path w="657225" h="266700">
                <a:moveTo>
                  <a:pt x="38101" y="0"/>
                </a:moveTo>
                <a:lnTo>
                  <a:pt x="619124" y="0"/>
                </a:lnTo>
                <a:cubicBezTo>
                  <a:pt x="640167" y="0"/>
                  <a:pt x="657225" y="17058"/>
                  <a:pt x="657225" y="38101"/>
                </a:cubicBezTo>
                <a:lnTo>
                  <a:pt x="657225" y="228599"/>
                </a:lnTo>
                <a:cubicBezTo>
                  <a:pt x="657225" y="249628"/>
                  <a:pt x="640153" y="266700"/>
                  <a:pt x="619124" y="266700"/>
                </a:cubicBezTo>
                <a:lnTo>
                  <a:pt x="38101" y="266700"/>
                </a:lnTo>
                <a:cubicBezTo>
                  <a:pt x="17058" y="266700"/>
                  <a:pt x="0" y="249642"/>
                  <a:pt x="0" y="228599"/>
                </a:cubicBezTo>
                <a:lnTo>
                  <a:pt x="0" y="38101"/>
                </a:lnTo>
                <a:cubicBezTo>
                  <a:pt x="0" y="17072"/>
                  <a:pt x="17072" y="0"/>
                  <a:pt x="38101" y="0"/>
                </a:cubicBezTo>
                <a:close/>
              </a:path>
            </a:pathLst>
          </a:custGeom>
          <a:solidFill>
            <a:srgbClr val="8B8680"/>
          </a:solidFill>
          <a:ln/>
        </p:spPr>
      </p:sp>
      <p:sp>
        <p:nvSpPr>
          <p:cNvPr id="11" name="Text 9"/>
          <p:cNvSpPr/>
          <p:nvPr/>
        </p:nvSpPr>
        <p:spPr>
          <a:xfrm>
            <a:off x="1967805" y="2343150"/>
            <a:ext cx="723900" cy="266700"/>
          </a:xfrm>
          <a:prstGeom prst="rect">
            <a:avLst/>
          </a:prstGeom>
          <a:noFill/>
          <a:ln/>
        </p:spPr>
        <p:txBody>
          <a:bodyPr wrap="square" lIns="76200" tIns="38100" rIns="762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Neovim</a:t>
            </a:r>
            <a:endParaRPr lang="en-US" sz="1600" dirty="0"/>
          </a:p>
        </p:txBody>
      </p:sp>
      <p:sp>
        <p:nvSpPr>
          <p:cNvPr id="12" name="Shape 10"/>
          <p:cNvSpPr/>
          <p:nvPr/>
        </p:nvSpPr>
        <p:spPr>
          <a:xfrm>
            <a:off x="2702272" y="2343150"/>
            <a:ext cx="1009650" cy="266700"/>
          </a:xfrm>
          <a:custGeom>
            <a:avLst/>
            <a:gdLst/>
            <a:ahLst/>
            <a:cxnLst/>
            <a:rect l="l" t="t" r="r" b="b"/>
            <a:pathLst>
              <a:path w="1009650" h="266700">
                <a:moveTo>
                  <a:pt x="38101" y="0"/>
                </a:moveTo>
                <a:lnTo>
                  <a:pt x="971549" y="0"/>
                </a:lnTo>
                <a:cubicBezTo>
                  <a:pt x="992592" y="0"/>
                  <a:pt x="1009650" y="17058"/>
                  <a:pt x="1009650" y="38101"/>
                </a:cubicBezTo>
                <a:lnTo>
                  <a:pt x="1009650" y="228599"/>
                </a:lnTo>
                <a:cubicBezTo>
                  <a:pt x="1009650" y="249642"/>
                  <a:pt x="992592" y="266700"/>
                  <a:pt x="971549" y="266700"/>
                </a:cubicBezTo>
                <a:lnTo>
                  <a:pt x="38101" y="266700"/>
                </a:lnTo>
                <a:cubicBezTo>
                  <a:pt x="17058" y="266700"/>
                  <a:pt x="0" y="249642"/>
                  <a:pt x="0" y="228599"/>
                </a:cubicBezTo>
                <a:lnTo>
                  <a:pt x="0" y="38101"/>
                </a:lnTo>
                <a:cubicBezTo>
                  <a:pt x="0" y="17072"/>
                  <a:pt x="17072" y="0"/>
                  <a:pt x="38101" y="0"/>
                </a:cubicBezTo>
                <a:close/>
              </a:path>
            </a:pathLst>
          </a:custGeom>
          <a:solidFill>
            <a:srgbClr val="C4B7A6"/>
          </a:solidFill>
          <a:ln/>
        </p:spPr>
      </p:sp>
      <p:sp>
        <p:nvSpPr>
          <p:cNvPr id="13" name="Text 11"/>
          <p:cNvSpPr/>
          <p:nvPr/>
        </p:nvSpPr>
        <p:spPr>
          <a:xfrm>
            <a:off x="2702272" y="2343150"/>
            <a:ext cx="1076325" cy="266700"/>
          </a:xfrm>
          <a:prstGeom prst="rect">
            <a:avLst/>
          </a:prstGeom>
          <a:noFill/>
          <a:ln/>
        </p:spPr>
        <p:txBody>
          <a:bodyPr wrap="square" lIns="76200" tIns="38100" rIns="76200" bIns="38100" rtlCol="0" anchor="ctr"/>
          <a:lstStyle/>
          <a:p>
            <a:pPr>
              <a:lnSpc>
                <a:spcPct val="120000"/>
              </a:lnSpc>
            </a:pPr>
            <a:r>
              <a:rPr lang="en-US" sz="1050" dirty="0">
                <a:solidFill>
                  <a:srgbClr val="FAF9F6"/>
                </a:solidFill>
                <a:latin typeface="思源宋体" pitchFamily="34" charset="0"/>
                <a:ea typeface="思源宋体" pitchFamily="34" charset="-122"/>
                <a:cs typeface="思源宋体" pitchFamily="34" charset="-120"/>
              </a:rPr>
              <a:t>Visual Studio</a:t>
            </a:r>
            <a:endParaRPr lang="en-US" sz="1600" dirty="0"/>
          </a:p>
        </p:txBody>
      </p:sp>
      <p:sp>
        <p:nvSpPr>
          <p:cNvPr id="14" name="Text 12"/>
          <p:cNvSpPr/>
          <p:nvPr/>
        </p:nvSpPr>
        <p:spPr>
          <a:xfrm>
            <a:off x="381000" y="2762250"/>
            <a:ext cx="56959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Quy trình AI Pair-Programming</a:t>
            </a:r>
            <a:endParaRPr lang="en-US" sz="1600" dirty="0"/>
          </a:p>
        </p:txBody>
      </p:sp>
      <p:sp>
        <p:nvSpPr>
          <p:cNvPr id="15" name="Shape 13"/>
          <p:cNvSpPr/>
          <p:nvPr/>
        </p:nvSpPr>
        <p:spPr>
          <a:xfrm>
            <a:off x="381000" y="31432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8680"/>
          </a:solidFill>
          <a:ln/>
        </p:spPr>
      </p:sp>
      <p:sp>
        <p:nvSpPr>
          <p:cNvPr id="16" name="Text 14"/>
          <p:cNvSpPr/>
          <p:nvPr/>
        </p:nvSpPr>
        <p:spPr>
          <a:xfrm>
            <a:off x="342900" y="3143250"/>
            <a:ext cx="381000" cy="304800"/>
          </a:xfrm>
          <a:prstGeom prst="rect">
            <a:avLst/>
          </a:prstGeom>
          <a:noFill/>
          <a:ln/>
        </p:spPr>
        <p:txBody>
          <a:bodyPr wrap="square" lIns="0" tIns="0" rIns="0" bIns="0" rtlCol="0" anchor="ctr"/>
          <a:lstStyle/>
          <a:p>
            <a:pPr algn="ctr">
              <a:lnSpc>
                <a:spcPct val="130000"/>
              </a:lnSpc>
            </a:pPr>
            <a:r>
              <a:rPr lang="en-US" sz="1200" b="1" dirty="0">
                <a:solidFill>
                  <a:srgbClr val="FAF9F6"/>
                </a:solidFill>
                <a:latin typeface="思源宋体" pitchFamily="34" charset="0"/>
                <a:ea typeface="思源宋体" pitchFamily="34" charset="-122"/>
                <a:cs typeface="思源宋体" pitchFamily="34" charset="-120"/>
              </a:rPr>
              <a:t>1</a:t>
            </a:r>
            <a:endParaRPr lang="en-US" sz="1600" dirty="0"/>
          </a:p>
        </p:txBody>
      </p:sp>
      <p:sp>
        <p:nvSpPr>
          <p:cNvPr id="17" name="Text 15"/>
          <p:cNvSpPr/>
          <p:nvPr/>
        </p:nvSpPr>
        <p:spPr>
          <a:xfrm>
            <a:off x="800100" y="3143250"/>
            <a:ext cx="27813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Ngữ cảnh hóa (Contextualization)</a:t>
            </a:r>
            <a:endParaRPr lang="en-US" sz="1600" dirty="0"/>
          </a:p>
        </p:txBody>
      </p:sp>
      <p:sp>
        <p:nvSpPr>
          <p:cNvPr id="18" name="Text 16"/>
          <p:cNvSpPr/>
          <p:nvPr/>
        </p:nvSpPr>
        <p:spPr>
          <a:xfrm>
            <a:off x="800100" y="3371850"/>
            <a:ext cx="2771775"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Thu thập và phân tích context từ IDE</a:t>
            </a:r>
            <a:endParaRPr lang="en-US" sz="1600" dirty="0"/>
          </a:p>
        </p:txBody>
      </p:sp>
      <p:sp>
        <p:nvSpPr>
          <p:cNvPr id="19" name="Shape 17"/>
          <p:cNvSpPr/>
          <p:nvPr/>
        </p:nvSpPr>
        <p:spPr>
          <a:xfrm>
            <a:off x="381000" y="36385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4B7A6"/>
          </a:solidFill>
          <a:ln/>
        </p:spPr>
      </p:sp>
      <p:sp>
        <p:nvSpPr>
          <p:cNvPr id="20" name="Text 18"/>
          <p:cNvSpPr/>
          <p:nvPr/>
        </p:nvSpPr>
        <p:spPr>
          <a:xfrm>
            <a:off x="342900" y="3638550"/>
            <a:ext cx="381000" cy="304800"/>
          </a:xfrm>
          <a:prstGeom prst="rect">
            <a:avLst/>
          </a:prstGeom>
          <a:noFill/>
          <a:ln/>
        </p:spPr>
        <p:txBody>
          <a:bodyPr wrap="square" lIns="0" tIns="0" rIns="0" bIns="0" rtlCol="0" anchor="ctr"/>
          <a:lstStyle/>
          <a:p>
            <a:pPr algn="ctr">
              <a:lnSpc>
                <a:spcPct val="130000"/>
              </a:lnSpc>
            </a:pPr>
            <a:r>
              <a:rPr lang="en-US" sz="1200" b="1" dirty="0">
                <a:solidFill>
                  <a:srgbClr val="FAF9F6"/>
                </a:solidFill>
                <a:latin typeface="思源宋体" pitchFamily="34" charset="0"/>
                <a:ea typeface="思源宋体" pitchFamily="34" charset="-122"/>
                <a:cs typeface="思源宋体" pitchFamily="34" charset="-120"/>
              </a:rPr>
              <a:t>2</a:t>
            </a:r>
            <a:endParaRPr lang="en-US" sz="1600" dirty="0"/>
          </a:p>
        </p:txBody>
      </p:sp>
      <p:sp>
        <p:nvSpPr>
          <p:cNvPr id="21" name="Text 19"/>
          <p:cNvSpPr/>
          <p:nvPr/>
        </p:nvSpPr>
        <p:spPr>
          <a:xfrm>
            <a:off x="800100" y="3638550"/>
            <a:ext cx="27813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Sinh mã (Generation)</a:t>
            </a:r>
            <a:endParaRPr lang="en-US" sz="1600" dirty="0"/>
          </a:p>
        </p:txBody>
      </p:sp>
      <p:sp>
        <p:nvSpPr>
          <p:cNvPr id="22" name="Text 20"/>
          <p:cNvSpPr/>
          <p:nvPr/>
        </p:nvSpPr>
        <p:spPr>
          <a:xfrm>
            <a:off x="800100" y="3867150"/>
            <a:ext cx="2771775"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LLM tạo code suggestion dựa trên context</a:t>
            </a:r>
            <a:endParaRPr lang="en-US" sz="1600" dirty="0"/>
          </a:p>
        </p:txBody>
      </p:sp>
      <p:sp>
        <p:nvSpPr>
          <p:cNvPr id="23" name="Shape 21"/>
          <p:cNvSpPr/>
          <p:nvPr/>
        </p:nvSpPr>
        <p:spPr>
          <a:xfrm>
            <a:off x="381000" y="41338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8680"/>
          </a:solidFill>
          <a:ln/>
        </p:spPr>
      </p:sp>
      <p:sp>
        <p:nvSpPr>
          <p:cNvPr id="24" name="Text 22"/>
          <p:cNvSpPr/>
          <p:nvPr/>
        </p:nvSpPr>
        <p:spPr>
          <a:xfrm>
            <a:off x="342900" y="4133850"/>
            <a:ext cx="381000" cy="304800"/>
          </a:xfrm>
          <a:prstGeom prst="rect">
            <a:avLst/>
          </a:prstGeom>
          <a:noFill/>
          <a:ln/>
        </p:spPr>
        <p:txBody>
          <a:bodyPr wrap="square" lIns="0" tIns="0" rIns="0" bIns="0" rtlCol="0" anchor="ctr"/>
          <a:lstStyle/>
          <a:p>
            <a:pPr algn="ctr">
              <a:lnSpc>
                <a:spcPct val="130000"/>
              </a:lnSpc>
            </a:pPr>
            <a:r>
              <a:rPr lang="en-US" sz="1200" b="1" dirty="0">
                <a:solidFill>
                  <a:srgbClr val="FAF9F6"/>
                </a:solidFill>
                <a:latin typeface="思源宋体" pitchFamily="34" charset="0"/>
                <a:ea typeface="思源宋体" pitchFamily="34" charset="-122"/>
                <a:cs typeface="思源宋体" pitchFamily="34" charset="-120"/>
              </a:rPr>
              <a:t>3</a:t>
            </a:r>
            <a:endParaRPr lang="en-US" sz="1600" dirty="0"/>
          </a:p>
        </p:txBody>
      </p:sp>
      <p:sp>
        <p:nvSpPr>
          <p:cNvPr id="25" name="Text 23"/>
          <p:cNvSpPr/>
          <p:nvPr/>
        </p:nvSpPr>
        <p:spPr>
          <a:xfrm>
            <a:off x="800100" y="4133850"/>
            <a:ext cx="2181225"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Hiển thị Ghost Text</a:t>
            </a:r>
            <a:endParaRPr lang="en-US" sz="1600" dirty="0"/>
          </a:p>
        </p:txBody>
      </p:sp>
      <p:sp>
        <p:nvSpPr>
          <p:cNvPr id="26" name="Text 24"/>
          <p:cNvSpPr/>
          <p:nvPr/>
        </p:nvSpPr>
        <p:spPr>
          <a:xfrm>
            <a:off x="800100" y="4362450"/>
            <a:ext cx="2171700"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Gợi ý hiển thị inline trong editor</a:t>
            </a:r>
            <a:endParaRPr lang="en-US" sz="1600" dirty="0"/>
          </a:p>
        </p:txBody>
      </p:sp>
      <p:sp>
        <p:nvSpPr>
          <p:cNvPr id="27" name="Shape 25"/>
          <p:cNvSpPr/>
          <p:nvPr/>
        </p:nvSpPr>
        <p:spPr>
          <a:xfrm>
            <a:off x="381000" y="46291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4B7A6"/>
          </a:solidFill>
          <a:ln/>
        </p:spPr>
      </p:sp>
      <p:sp>
        <p:nvSpPr>
          <p:cNvPr id="28" name="Text 26"/>
          <p:cNvSpPr/>
          <p:nvPr/>
        </p:nvSpPr>
        <p:spPr>
          <a:xfrm>
            <a:off x="342900" y="4629150"/>
            <a:ext cx="381000" cy="304800"/>
          </a:xfrm>
          <a:prstGeom prst="rect">
            <a:avLst/>
          </a:prstGeom>
          <a:noFill/>
          <a:ln/>
        </p:spPr>
        <p:txBody>
          <a:bodyPr wrap="square" lIns="0" tIns="0" rIns="0" bIns="0" rtlCol="0" anchor="ctr"/>
          <a:lstStyle/>
          <a:p>
            <a:pPr algn="ctr">
              <a:lnSpc>
                <a:spcPct val="130000"/>
              </a:lnSpc>
            </a:pPr>
            <a:r>
              <a:rPr lang="en-US" sz="1200" b="1" dirty="0">
                <a:solidFill>
                  <a:srgbClr val="FAF9F6"/>
                </a:solidFill>
                <a:latin typeface="思源宋体" pitchFamily="34" charset="0"/>
                <a:ea typeface="思源宋体" pitchFamily="34" charset="-122"/>
                <a:cs typeface="思源宋体" pitchFamily="34" charset="-120"/>
              </a:rPr>
              <a:t>4</a:t>
            </a:r>
            <a:endParaRPr lang="en-US" sz="1600" dirty="0"/>
          </a:p>
        </p:txBody>
      </p:sp>
      <p:sp>
        <p:nvSpPr>
          <p:cNvPr id="29" name="Text 27"/>
          <p:cNvSpPr/>
          <p:nvPr/>
        </p:nvSpPr>
        <p:spPr>
          <a:xfrm>
            <a:off x="800100" y="4629150"/>
            <a:ext cx="3324225"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Developer Review</a:t>
            </a:r>
            <a:endParaRPr lang="en-US" sz="1600" dirty="0"/>
          </a:p>
        </p:txBody>
      </p:sp>
      <p:sp>
        <p:nvSpPr>
          <p:cNvPr id="30" name="Text 28"/>
          <p:cNvSpPr/>
          <p:nvPr/>
        </p:nvSpPr>
        <p:spPr>
          <a:xfrm>
            <a:off x="800100" y="4857750"/>
            <a:ext cx="3314700"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Lập trình viên xem xét, chấp nhận hoặc chỉnh sửa</a:t>
            </a:r>
            <a:endParaRPr lang="en-US" sz="1600" dirty="0"/>
          </a:p>
        </p:txBody>
      </p:sp>
      <p:pic>
        <p:nvPicPr>
          <p:cNvPr id="31" name="Image 0" descr="https://kimi-img.moonshot.cn/pub/slides/26-03-12-22:33:36-d6pctg227jo9hj6goesg.png">    </p:cNvPr>
          <p:cNvPicPr>
            <a:picLocks noChangeAspect="1"/>
          </p:cNvPicPr>
          <p:nvPr/>
        </p:nvPicPr>
        <p:blipFill>
          <a:blip r:embed="rId1"/>
          <a:stretch>
            <a:fillRect/>
          </a:stretch>
        </p:blipFill>
        <p:spPr>
          <a:xfrm>
            <a:off x="7110682" y="1371600"/>
            <a:ext cx="2273300" cy="4419600"/>
          </a:xfrm>
          <a:prstGeom prst="rect">
            <a:avLst/>
          </a:prstGeom>
        </p:spPr>
      </p:pic>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pic>
        <p:nvPicPr>
          <p:cNvPr id="2" name="Image 0" descr="https://kimi-web-img.moonshot.cn/img/i.etsystatic.com/f6bc30c2f74a79648bf87f5082632726359debb8.jpg">    </p:cNvPr>
          <p:cNvPicPr>
            <a:picLocks noChangeAspect="1"/>
          </p:cNvPicPr>
          <p:nvPr/>
        </p:nvPicPr>
        <p:blipFill>
          <a:blip r:embed="rId1">
            <a:alphaModFix amt="10000"/>
          </a:blip>
          <a:srcRect l="7895" r="7895" t="0" b="0"/>
          <a:stretch/>
        </p:blipFill>
        <p:spPr>
          <a:xfrm>
            <a:off x="0" y="0"/>
            <a:ext cx="6096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gs>
              <a:gs pos="50000">
                <a:srgbClr val="FAF9F6">
                  <a:alpha val="95000"/>
                </a:srgbClr>
              </a:gs>
              <a:gs pos="100000">
                <a:srgbClr val="FAF9F6">
                  <a:alpha val="70000"/>
                </a:srgbClr>
              </a:gs>
            </a:gsLst>
            <a:lin ang="10800000" scaled="1"/>
          </a:gradFill>
          <a:ln/>
        </p:spPr>
      </p:sp>
      <p:sp>
        <p:nvSpPr>
          <p:cNvPr id="4" name="Shape 1"/>
          <p:cNvSpPr/>
          <p:nvPr/>
        </p:nvSpPr>
        <p:spPr>
          <a:xfrm>
            <a:off x="10472291" y="1519238"/>
            <a:ext cx="1333500" cy="466725"/>
          </a:xfrm>
          <a:custGeom>
            <a:avLst/>
            <a:gdLst/>
            <a:ahLst/>
            <a:cxnLst/>
            <a:rect l="l" t="t" r="r" b="b"/>
            <a:pathLst>
              <a:path w="1333500" h="466725">
                <a:moveTo>
                  <a:pt x="0" y="0"/>
                </a:moveTo>
                <a:lnTo>
                  <a:pt x="1333500" y="0"/>
                </a:lnTo>
                <a:lnTo>
                  <a:pt x="1333500" y="466725"/>
                </a:lnTo>
                <a:lnTo>
                  <a:pt x="0" y="466725"/>
                </a:lnTo>
                <a:lnTo>
                  <a:pt x="0" y="0"/>
                </a:lnTo>
                <a:close/>
              </a:path>
            </a:pathLst>
          </a:custGeom>
          <a:solidFill>
            <a:srgbClr val="000000">
              <a:alpha val="0"/>
            </a:srgbClr>
          </a:solidFill>
          <a:ln w="25400">
            <a:solidFill>
              <a:srgbClr val="8B8680"/>
            </a:solidFill>
            <a:prstDash val="solid"/>
          </a:ln>
        </p:spPr>
      </p:sp>
      <p:sp>
        <p:nvSpPr>
          <p:cNvPr id="5" name="Text 2"/>
          <p:cNvSpPr/>
          <p:nvPr/>
        </p:nvSpPr>
        <p:spPr>
          <a:xfrm>
            <a:off x="10596173" y="1585913"/>
            <a:ext cx="967177" cy="333375"/>
          </a:xfrm>
          <a:prstGeom prst="rect">
            <a:avLst/>
          </a:prstGeom>
          <a:noFill/>
          <a:ln/>
        </p:spPr>
        <p:txBody>
          <a:bodyPr wrap="square" lIns="0" tIns="0" rIns="0" bIns="0" rtlCol="0" anchor="ctr"/>
          <a:lstStyle/>
          <a:p>
            <a:pPr algn="r">
              <a:lnSpc>
                <a:spcPct val="110000"/>
              </a:lnSpc>
            </a:pPr>
            <a:r>
              <a:rPr lang="en-US" sz="1800" b="1" dirty="0">
                <a:solidFill>
                  <a:srgbClr val="8B8680"/>
                </a:solidFill>
                <a:latin typeface="Liter" pitchFamily="34" charset="0"/>
                <a:ea typeface="Liter" pitchFamily="34" charset="-122"/>
                <a:cs typeface="Liter" pitchFamily="34" charset="-120"/>
              </a:rPr>
              <a:t>PHẦN 4</a:t>
            </a:r>
            <a:endParaRPr lang="en-US" sz="1600" dirty="0"/>
          </a:p>
        </p:txBody>
      </p:sp>
      <p:sp>
        <p:nvSpPr>
          <p:cNvPr id="6" name="Text 3"/>
          <p:cNvSpPr/>
          <p:nvPr/>
        </p:nvSpPr>
        <p:spPr>
          <a:xfrm>
            <a:off x="3905250" y="2528888"/>
            <a:ext cx="7905750" cy="1428750"/>
          </a:xfrm>
          <a:prstGeom prst="rect">
            <a:avLst/>
          </a:prstGeom>
          <a:noFill/>
          <a:ln/>
        </p:spPr>
        <p:txBody>
          <a:bodyPr wrap="square" lIns="0" tIns="0" rIns="0" bIns="0" rtlCol="0" anchor="ctr"/>
          <a:lstStyle/>
          <a:p>
            <a:pPr algn="r">
              <a:lnSpc>
                <a:spcPct val="100000"/>
              </a:lnSpc>
            </a:pPr>
            <a:r>
              <a:rPr lang="en-US" sz="4500" b="1" dirty="0">
                <a:solidFill>
                  <a:srgbClr val="1A1A1A"/>
                </a:solidFill>
                <a:latin typeface="思源宋体" pitchFamily="34" charset="0"/>
                <a:ea typeface="思源宋体" pitchFamily="34" charset="-122"/>
                <a:cs typeface="思源宋体" pitchFamily="34" charset="-120"/>
              </a:rPr>
              <a:t>Kỹ thuật</a:t>
            </a:r>
            <a:endParaRPr lang="en-US" sz="1600" dirty="0"/>
          </a:p>
          <a:p>
            <a:pPr algn="r">
              <a:lnSpc>
                <a:spcPct val="100000"/>
              </a:lnSpc>
            </a:pPr>
            <a:r>
              <a:rPr lang="en-US" sz="4500" b="1" dirty="0">
                <a:solidFill>
                  <a:srgbClr val="1A1A1A"/>
                </a:solidFill>
                <a:latin typeface="思源宋体" pitchFamily="34" charset="0"/>
                <a:ea typeface="思源宋体" pitchFamily="34" charset="-122"/>
                <a:cs typeface="思源宋体" pitchFamily="34" charset="-120"/>
              </a:rPr>
              <a:t>Prompt Engineering</a:t>
            </a:r>
            <a:endParaRPr lang="en-US" sz="1600" dirty="0"/>
          </a:p>
        </p:txBody>
      </p:sp>
      <p:sp>
        <p:nvSpPr>
          <p:cNvPr id="7" name="Shape 4"/>
          <p:cNvSpPr/>
          <p:nvPr/>
        </p:nvSpPr>
        <p:spPr>
          <a:xfrm>
            <a:off x="10287000" y="4262438"/>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solidFill>
            <a:srgbClr val="C4B7A6"/>
          </a:solidFill>
          <a:ln/>
        </p:spPr>
      </p:sp>
      <p:sp>
        <p:nvSpPr>
          <p:cNvPr id="8" name="Text 5"/>
          <p:cNvSpPr/>
          <p:nvPr/>
        </p:nvSpPr>
        <p:spPr>
          <a:xfrm>
            <a:off x="4076700" y="4605338"/>
            <a:ext cx="7734300" cy="742950"/>
          </a:xfrm>
          <a:prstGeom prst="rect">
            <a:avLst/>
          </a:prstGeom>
          <a:noFill/>
          <a:ln/>
        </p:spPr>
        <p:txBody>
          <a:bodyPr wrap="square" lIns="0" tIns="0" rIns="0" bIns="0" rtlCol="0" anchor="ctr"/>
          <a:lstStyle/>
          <a:p>
            <a:pPr algn="r">
              <a:lnSpc>
                <a:spcPct val="140000"/>
              </a:lnSpc>
            </a:pPr>
            <a:r>
              <a:rPr lang="en-US" sz="1800" dirty="0">
                <a:solidFill>
                  <a:srgbClr val="3D3D3D"/>
                </a:solidFill>
                <a:latin typeface="思源宋体" pitchFamily="34" charset="0"/>
                <a:ea typeface="思源宋体" pitchFamily="34" charset="-122"/>
                <a:cs typeface="思源宋体" pitchFamily="34" charset="-120"/>
              </a:rPr>
              <a:t>Nguyên tắc 5S cho việc</a:t>
            </a:r>
            <a:endParaRPr lang="en-US" sz="1600" dirty="0"/>
          </a:p>
          <a:p>
            <a:pPr algn="r">
              <a:lnSpc>
                <a:spcPct val="140000"/>
              </a:lnSpc>
            </a:pPr>
            <a:r>
              <a:rPr lang="en-US" sz="1800" dirty="0">
                <a:solidFill>
                  <a:srgbClr val="3D3D3D"/>
                </a:solidFill>
                <a:latin typeface="思源宋体" pitchFamily="34" charset="0"/>
                <a:ea typeface="思源宋体" pitchFamily="34" charset="-122"/>
                <a:cs typeface="思源宋体" pitchFamily="34" charset="-120"/>
              </a:rPr>
              <a:t>viết prompt hiệu quả</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3810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8B8680"/>
          </a:solidFill>
          <a:ln/>
        </p:spPr>
      </p:sp>
      <p:sp>
        <p:nvSpPr>
          <p:cNvPr id="3" name="Text 1"/>
          <p:cNvSpPr/>
          <p:nvPr/>
        </p:nvSpPr>
        <p:spPr>
          <a:xfrm>
            <a:off x="381000" y="533400"/>
            <a:ext cx="11601450" cy="381000"/>
          </a:xfrm>
          <a:prstGeom prst="rect">
            <a:avLst/>
          </a:prstGeom>
          <a:noFill/>
          <a:ln/>
        </p:spPr>
        <p:txBody>
          <a:bodyPr wrap="square" lIns="0" tIns="0" rIns="0" bIns="0" rtlCol="0" anchor="ctr"/>
          <a:lstStyle/>
          <a:p>
            <a:pPr>
              <a:lnSpc>
                <a:spcPct val="90000"/>
              </a:lnSpc>
            </a:pPr>
            <a:r>
              <a:rPr lang="en-US" sz="2700" b="1" dirty="0">
                <a:solidFill>
                  <a:srgbClr val="1A1A1A"/>
                </a:solidFill>
                <a:latin typeface="思源宋体" pitchFamily="34" charset="0"/>
                <a:ea typeface="思源宋体" pitchFamily="34" charset="-122"/>
                <a:cs typeface="思源宋体" pitchFamily="34" charset="-120"/>
              </a:rPr>
              <a:t>Nguyên tắc 5S trong Prompt Engineering</a:t>
            </a:r>
            <a:endParaRPr lang="en-US" sz="1600" dirty="0"/>
          </a:p>
        </p:txBody>
      </p:sp>
      <p:sp>
        <p:nvSpPr>
          <p:cNvPr id="4" name="Text 2"/>
          <p:cNvSpPr/>
          <p:nvPr/>
        </p:nvSpPr>
        <p:spPr>
          <a:xfrm>
            <a:off x="381000" y="2014538"/>
            <a:ext cx="115252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Tại sao Prompt Engineering quan trọng?</a:t>
            </a:r>
            <a:endParaRPr lang="en-US" sz="1600" dirty="0"/>
          </a:p>
        </p:txBody>
      </p:sp>
      <p:sp>
        <p:nvSpPr>
          <p:cNvPr id="5" name="Text 3"/>
          <p:cNvSpPr/>
          <p:nvPr/>
        </p:nvSpPr>
        <p:spPr>
          <a:xfrm>
            <a:off x="381000" y="2357438"/>
            <a:ext cx="11506200" cy="495300"/>
          </a:xfrm>
          <a:prstGeom prst="rect">
            <a:avLst/>
          </a:prstGeom>
          <a:noFill/>
          <a:ln/>
        </p:spPr>
        <p:txBody>
          <a:bodyPr wrap="square" lIns="0" tIns="0" rIns="0" bIns="0" rtlCol="0" anchor="ctr"/>
          <a:lstStyle/>
          <a:p>
            <a:pPr>
              <a:lnSpc>
                <a:spcPct val="140000"/>
              </a:lnSpc>
            </a:pPr>
            <a:r>
              <a:rPr lang="en-US" sz="1200" dirty="0">
                <a:solidFill>
                  <a:srgbClr val="3D3D3D"/>
                </a:solidFill>
                <a:latin typeface="思源宋体" pitchFamily="34" charset="0"/>
                <a:ea typeface="思源宋体" pitchFamily="34" charset="-122"/>
                <a:cs typeface="思源宋体" pitchFamily="34" charset="-120"/>
              </a:rPr>
              <a:t>Chất lượng đầu ra của LLM </a:t>
            </a:r>
            <a:pPr>
              <a:lnSpc>
                <a:spcPct val="140000"/>
              </a:lnSpc>
            </a:pPr>
            <a:r>
              <a:rPr lang="en-US" sz="1200" b="1" dirty="0">
                <a:solidFill>
                  <a:srgbClr val="1A1A1A"/>
                </a:solidFill>
                <a:latin typeface="思源宋体" pitchFamily="34" charset="0"/>
                <a:ea typeface="思源宋体" pitchFamily="34" charset="-122"/>
                <a:cs typeface="思源宋体" pitchFamily="34" charset="-120"/>
              </a:rPr>
              <a:t>phụ thuộc trực tiếp vào chất lượng đầu vào</a:t>
            </a:r>
            <a:pPr>
              <a:lnSpc>
                <a:spcPct val="140000"/>
              </a:lnSpc>
            </a:pPr>
            <a:r>
              <a:rPr lang="en-US" sz="1200" dirty="0">
                <a:solidFill>
                  <a:srgbClr val="3D3D3D"/>
                </a:solidFill>
                <a:latin typeface="思源宋体" pitchFamily="34" charset="0"/>
                <a:ea typeface="思源宋体" pitchFamily="34" charset="-122"/>
                <a:cs typeface="思源宋体" pitchFamily="34" charset="-120"/>
              </a:rPr>
              <a:t> . Prompt tốt giúp AI hiểu đúng ý định, giảm thiểu hallucination, và tăng độ chính xác.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Prompt Engineering là kỹ năng then chốt </a:t>
            </a:r>
            <a:pPr>
              <a:lnSpc>
                <a:spcPct val="140000"/>
              </a:lnSpc>
            </a:pPr>
            <a:r>
              <a:rPr lang="en-US" sz="1200" dirty="0">
                <a:solidFill>
                  <a:srgbClr val="3D3D3D"/>
                </a:solidFill>
                <a:latin typeface="思源宋体" pitchFamily="34" charset="0"/>
                <a:ea typeface="思源宋体" pitchFamily="34" charset="-122"/>
                <a:cs typeface="思源宋体" pitchFamily="34" charset="-120"/>
              </a:rPr>
              <a:t>khi làm việc với GenAI.</a:t>
            </a:r>
            <a:endParaRPr lang="en-US" sz="1600" dirty="0"/>
          </a:p>
        </p:txBody>
      </p:sp>
      <p:sp>
        <p:nvSpPr>
          <p:cNvPr id="6" name="Shape 4"/>
          <p:cNvSpPr/>
          <p:nvPr/>
        </p:nvSpPr>
        <p:spPr>
          <a:xfrm>
            <a:off x="381000" y="3100388"/>
            <a:ext cx="2162175" cy="38100"/>
          </a:xfrm>
          <a:custGeom>
            <a:avLst/>
            <a:gdLst/>
            <a:ahLst/>
            <a:cxnLst/>
            <a:rect l="l" t="t" r="r" b="b"/>
            <a:pathLst>
              <a:path w="2162175" h="38100">
                <a:moveTo>
                  <a:pt x="0" y="0"/>
                </a:moveTo>
                <a:lnTo>
                  <a:pt x="2162175" y="0"/>
                </a:lnTo>
                <a:lnTo>
                  <a:pt x="2162175" y="38100"/>
                </a:lnTo>
                <a:lnTo>
                  <a:pt x="0" y="38100"/>
                </a:lnTo>
                <a:lnTo>
                  <a:pt x="0" y="0"/>
                </a:lnTo>
                <a:close/>
              </a:path>
            </a:pathLst>
          </a:custGeom>
          <a:solidFill>
            <a:srgbClr val="8B8680"/>
          </a:solidFill>
          <a:ln/>
        </p:spPr>
      </p:sp>
      <p:sp>
        <p:nvSpPr>
          <p:cNvPr id="7" name="Text 5"/>
          <p:cNvSpPr/>
          <p:nvPr/>
        </p:nvSpPr>
        <p:spPr>
          <a:xfrm>
            <a:off x="381000" y="3271838"/>
            <a:ext cx="2333625" cy="381000"/>
          </a:xfrm>
          <a:prstGeom prst="rect">
            <a:avLst/>
          </a:prstGeom>
          <a:noFill/>
          <a:ln/>
        </p:spPr>
        <p:txBody>
          <a:bodyPr wrap="square" lIns="0" tIns="0" rIns="0" bIns="0" rtlCol="0" anchor="ctr"/>
          <a:lstStyle/>
          <a:p>
            <a:pPr>
              <a:lnSpc>
                <a:spcPct val="90000"/>
              </a:lnSpc>
            </a:pPr>
            <a:r>
              <a:rPr lang="en-US" sz="2700" b="1" dirty="0">
                <a:solidFill>
                  <a:srgbClr val="8B8680"/>
                </a:solidFill>
                <a:latin typeface="Liter" pitchFamily="34" charset="0"/>
                <a:ea typeface="Liter" pitchFamily="34" charset="-122"/>
                <a:cs typeface="Liter" pitchFamily="34" charset="-120"/>
              </a:rPr>
              <a:t>S</a:t>
            </a:r>
            <a:endParaRPr lang="en-US" sz="1600" dirty="0"/>
          </a:p>
        </p:txBody>
      </p:sp>
      <p:sp>
        <p:nvSpPr>
          <p:cNvPr id="8" name="Text 6"/>
          <p:cNvSpPr/>
          <p:nvPr/>
        </p:nvSpPr>
        <p:spPr>
          <a:xfrm>
            <a:off x="381000" y="3729038"/>
            <a:ext cx="2247900"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Structured</a:t>
            </a:r>
            <a:endParaRPr lang="en-US" sz="1600" dirty="0"/>
          </a:p>
        </p:txBody>
      </p:sp>
      <p:sp>
        <p:nvSpPr>
          <p:cNvPr id="9" name="Text 7"/>
          <p:cNvSpPr/>
          <p:nvPr/>
        </p:nvSpPr>
        <p:spPr>
          <a:xfrm>
            <a:off x="381000" y="4033837"/>
            <a:ext cx="2238375" cy="419100"/>
          </a:xfrm>
          <a:prstGeom prst="rect">
            <a:avLst/>
          </a:prstGeom>
          <a:noFill/>
          <a:ln/>
        </p:spPr>
        <p:txBody>
          <a:bodyPr wrap="square" lIns="0" tIns="0" rIns="0" bIns="0" rtlCol="0" anchor="ctr"/>
          <a:lstStyle/>
          <a:p>
            <a:pPr>
              <a:lnSpc>
                <a:spcPct val="110000"/>
              </a:lnSpc>
            </a:pPr>
            <a:r>
              <a:rPr lang="en-US" sz="1200" dirty="0">
                <a:solidFill>
                  <a:srgbClr val="3D3D3D"/>
                </a:solidFill>
                <a:latin typeface="思源宋体" pitchFamily="34" charset="0"/>
                <a:ea typeface="思源宋体" pitchFamily="34" charset="-122"/>
                <a:cs typeface="思源宋体" pitchFamily="34" charset="-120"/>
              </a:rPr>
              <a:t>Cấu trúc rõ ràng, tách biệt hướng dẫn và dữ liệu</a:t>
            </a:r>
            <a:endParaRPr lang="en-US" sz="1600" dirty="0"/>
          </a:p>
        </p:txBody>
      </p:sp>
      <p:sp>
        <p:nvSpPr>
          <p:cNvPr id="10" name="Text 8"/>
          <p:cNvSpPr/>
          <p:nvPr/>
        </p:nvSpPr>
        <p:spPr>
          <a:xfrm>
            <a:off x="381000" y="4529138"/>
            <a:ext cx="221932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"Act as... Task:... Input:..."</a:t>
            </a:r>
            <a:endParaRPr lang="en-US" sz="1600" dirty="0"/>
          </a:p>
        </p:txBody>
      </p:sp>
      <p:sp>
        <p:nvSpPr>
          <p:cNvPr id="11" name="Shape 9"/>
          <p:cNvSpPr/>
          <p:nvPr/>
        </p:nvSpPr>
        <p:spPr>
          <a:xfrm>
            <a:off x="2697361" y="3100388"/>
            <a:ext cx="2162175" cy="38100"/>
          </a:xfrm>
          <a:custGeom>
            <a:avLst/>
            <a:gdLst/>
            <a:ahLst/>
            <a:cxnLst/>
            <a:rect l="l" t="t" r="r" b="b"/>
            <a:pathLst>
              <a:path w="2162175" h="38100">
                <a:moveTo>
                  <a:pt x="0" y="0"/>
                </a:moveTo>
                <a:lnTo>
                  <a:pt x="2162175" y="0"/>
                </a:lnTo>
                <a:lnTo>
                  <a:pt x="2162175" y="38100"/>
                </a:lnTo>
                <a:lnTo>
                  <a:pt x="0" y="38100"/>
                </a:lnTo>
                <a:lnTo>
                  <a:pt x="0" y="0"/>
                </a:lnTo>
                <a:close/>
              </a:path>
            </a:pathLst>
          </a:custGeom>
          <a:solidFill>
            <a:srgbClr val="C4B7A6"/>
          </a:solidFill>
          <a:ln/>
        </p:spPr>
      </p:sp>
      <p:sp>
        <p:nvSpPr>
          <p:cNvPr id="12" name="Text 10"/>
          <p:cNvSpPr/>
          <p:nvPr/>
        </p:nvSpPr>
        <p:spPr>
          <a:xfrm>
            <a:off x="2697361" y="3271838"/>
            <a:ext cx="2333625" cy="381000"/>
          </a:xfrm>
          <a:prstGeom prst="rect">
            <a:avLst/>
          </a:prstGeom>
          <a:noFill/>
          <a:ln/>
        </p:spPr>
        <p:txBody>
          <a:bodyPr wrap="square" lIns="0" tIns="0" rIns="0" bIns="0" rtlCol="0" anchor="ctr"/>
          <a:lstStyle/>
          <a:p>
            <a:pPr>
              <a:lnSpc>
                <a:spcPct val="90000"/>
              </a:lnSpc>
            </a:pPr>
            <a:r>
              <a:rPr lang="en-US" sz="2700" b="1" dirty="0">
                <a:solidFill>
                  <a:srgbClr val="C4B7A6"/>
                </a:solidFill>
                <a:latin typeface="Liter" pitchFamily="34" charset="0"/>
                <a:ea typeface="Liter" pitchFamily="34" charset="-122"/>
                <a:cs typeface="Liter" pitchFamily="34" charset="-120"/>
              </a:rPr>
              <a:t>S</a:t>
            </a:r>
            <a:endParaRPr lang="en-US" sz="1600" dirty="0"/>
          </a:p>
        </p:txBody>
      </p:sp>
      <p:sp>
        <p:nvSpPr>
          <p:cNvPr id="13" name="Text 11"/>
          <p:cNvSpPr/>
          <p:nvPr/>
        </p:nvSpPr>
        <p:spPr>
          <a:xfrm>
            <a:off x="2697361" y="3729038"/>
            <a:ext cx="2247900"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Surrounding</a:t>
            </a:r>
            <a:endParaRPr lang="en-US" sz="1600" dirty="0"/>
          </a:p>
        </p:txBody>
      </p:sp>
      <p:sp>
        <p:nvSpPr>
          <p:cNvPr id="14" name="Text 12"/>
          <p:cNvSpPr/>
          <p:nvPr/>
        </p:nvSpPr>
        <p:spPr>
          <a:xfrm>
            <a:off x="2697361" y="4033837"/>
            <a:ext cx="2238375" cy="419100"/>
          </a:xfrm>
          <a:prstGeom prst="rect">
            <a:avLst/>
          </a:prstGeom>
          <a:noFill/>
          <a:ln/>
        </p:spPr>
        <p:txBody>
          <a:bodyPr wrap="square" lIns="0" tIns="0" rIns="0" bIns="0" rtlCol="0" anchor="ctr"/>
          <a:lstStyle/>
          <a:p>
            <a:pPr>
              <a:lnSpc>
                <a:spcPct val="110000"/>
              </a:lnSpc>
            </a:pPr>
            <a:r>
              <a:rPr lang="en-US" sz="1200" dirty="0">
                <a:solidFill>
                  <a:srgbClr val="3D3D3D"/>
                </a:solidFill>
                <a:latin typeface="思源宋体" pitchFamily="34" charset="0"/>
                <a:ea typeface="思源宋体" pitchFamily="34" charset="-122"/>
                <a:cs typeface="思源宋体" pitchFamily="34" charset="-120"/>
              </a:rPr>
              <a:t>Cung cấp bối cảnh tổng quát để AI hiểu rõ hơn</a:t>
            </a:r>
            <a:endParaRPr lang="en-US" sz="1600" dirty="0"/>
          </a:p>
        </p:txBody>
      </p:sp>
      <p:sp>
        <p:nvSpPr>
          <p:cNvPr id="15" name="Text 13"/>
          <p:cNvSpPr/>
          <p:nvPr/>
        </p:nvSpPr>
        <p:spPr>
          <a:xfrm>
            <a:off x="2697361" y="4529138"/>
            <a:ext cx="221932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"In the context of..."</a:t>
            </a:r>
            <a:endParaRPr lang="en-US" sz="1600" dirty="0"/>
          </a:p>
        </p:txBody>
      </p:sp>
      <p:sp>
        <p:nvSpPr>
          <p:cNvPr id="16" name="Shape 14"/>
          <p:cNvSpPr/>
          <p:nvPr/>
        </p:nvSpPr>
        <p:spPr>
          <a:xfrm>
            <a:off x="5013871" y="3100388"/>
            <a:ext cx="2162175" cy="38100"/>
          </a:xfrm>
          <a:custGeom>
            <a:avLst/>
            <a:gdLst/>
            <a:ahLst/>
            <a:cxnLst/>
            <a:rect l="l" t="t" r="r" b="b"/>
            <a:pathLst>
              <a:path w="2162175" h="38100">
                <a:moveTo>
                  <a:pt x="0" y="0"/>
                </a:moveTo>
                <a:lnTo>
                  <a:pt x="2162175" y="0"/>
                </a:lnTo>
                <a:lnTo>
                  <a:pt x="2162175" y="38100"/>
                </a:lnTo>
                <a:lnTo>
                  <a:pt x="0" y="38100"/>
                </a:lnTo>
                <a:lnTo>
                  <a:pt x="0" y="0"/>
                </a:lnTo>
                <a:close/>
              </a:path>
            </a:pathLst>
          </a:custGeom>
          <a:solidFill>
            <a:srgbClr val="8B8680"/>
          </a:solidFill>
          <a:ln/>
        </p:spPr>
      </p:sp>
      <p:sp>
        <p:nvSpPr>
          <p:cNvPr id="17" name="Text 15"/>
          <p:cNvSpPr/>
          <p:nvPr/>
        </p:nvSpPr>
        <p:spPr>
          <a:xfrm>
            <a:off x="5013871" y="3271838"/>
            <a:ext cx="2333625" cy="381000"/>
          </a:xfrm>
          <a:prstGeom prst="rect">
            <a:avLst/>
          </a:prstGeom>
          <a:noFill/>
          <a:ln/>
        </p:spPr>
        <p:txBody>
          <a:bodyPr wrap="square" lIns="0" tIns="0" rIns="0" bIns="0" rtlCol="0" anchor="ctr"/>
          <a:lstStyle/>
          <a:p>
            <a:pPr>
              <a:lnSpc>
                <a:spcPct val="90000"/>
              </a:lnSpc>
            </a:pPr>
            <a:r>
              <a:rPr lang="en-US" sz="2700" b="1" dirty="0">
                <a:solidFill>
                  <a:srgbClr val="8B8680"/>
                </a:solidFill>
                <a:latin typeface="Liter" pitchFamily="34" charset="0"/>
                <a:ea typeface="Liter" pitchFamily="34" charset="-122"/>
                <a:cs typeface="Liter" pitchFamily="34" charset="-120"/>
              </a:rPr>
              <a:t>S</a:t>
            </a:r>
            <a:endParaRPr lang="en-US" sz="1600" dirty="0"/>
          </a:p>
        </p:txBody>
      </p:sp>
      <p:sp>
        <p:nvSpPr>
          <p:cNvPr id="18" name="Text 16"/>
          <p:cNvSpPr/>
          <p:nvPr/>
        </p:nvSpPr>
        <p:spPr>
          <a:xfrm>
            <a:off x="5013871" y="3729038"/>
            <a:ext cx="2247900"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Single Task</a:t>
            </a:r>
            <a:endParaRPr lang="en-US" sz="1600" dirty="0"/>
          </a:p>
        </p:txBody>
      </p:sp>
      <p:sp>
        <p:nvSpPr>
          <p:cNvPr id="19" name="Text 17"/>
          <p:cNvSpPr/>
          <p:nvPr/>
        </p:nvSpPr>
        <p:spPr>
          <a:xfrm>
            <a:off x="5013871" y="4033837"/>
            <a:ext cx="2238375" cy="419100"/>
          </a:xfrm>
          <a:prstGeom prst="rect">
            <a:avLst/>
          </a:prstGeom>
          <a:noFill/>
          <a:ln/>
        </p:spPr>
        <p:txBody>
          <a:bodyPr wrap="square" lIns="0" tIns="0" rIns="0" bIns="0" rtlCol="0" anchor="ctr"/>
          <a:lstStyle/>
          <a:p>
            <a:pPr>
              <a:lnSpc>
                <a:spcPct val="110000"/>
              </a:lnSpc>
            </a:pPr>
            <a:r>
              <a:rPr lang="en-US" sz="1200" dirty="0">
                <a:solidFill>
                  <a:srgbClr val="3D3D3D"/>
                </a:solidFill>
                <a:latin typeface="思源宋体" pitchFamily="34" charset="0"/>
                <a:ea typeface="思源宋体" pitchFamily="34" charset="-122"/>
                <a:cs typeface="思源宋体" pitchFamily="34" charset="-120"/>
              </a:rPr>
              <a:t>Mỗi prompt một mục tiêu duy nhất, tránh phức tạp</a:t>
            </a:r>
            <a:endParaRPr lang="en-US" sz="1600" dirty="0"/>
          </a:p>
        </p:txBody>
      </p:sp>
      <p:sp>
        <p:nvSpPr>
          <p:cNvPr id="20" name="Text 18"/>
          <p:cNvSpPr/>
          <p:nvPr/>
        </p:nvSpPr>
        <p:spPr>
          <a:xfrm>
            <a:off x="5013871" y="4529138"/>
            <a:ext cx="221932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"Write a function..."</a:t>
            </a:r>
            <a:endParaRPr lang="en-US" sz="1600" dirty="0"/>
          </a:p>
        </p:txBody>
      </p:sp>
      <p:sp>
        <p:nvSpPr>
          <p:cNvPr id="21" name="Shape 19"/>
          <p:cNvSpPr/>
          <p:nvPr/>
        </p:nvSpPr>
        <p:spPr>
          <a:xfrm>
            <a:off x="7330380" y="3100388"/>
            <a:ext cx="2162175" cy="38100"/>
          </a:xfrm>
          <a:custGeom>
            <a:avLst/>
            <a:gdLst/>
            <a:ahLst/>
            <a:cxnLst/>
            <a:rect l="l" t="t" r="r" b="b"/>
            <a:pathLst>
              <a:path w="2162175" h="38100">
                <a:moveTo>
                  <a:pt x="0" y="0"/>
                </a:moveTo>
                <a:lnTo>
                  <a:pt x="2162175" y="0"/>
                </a:lnTo>
                <a:lnTo>
                  <a:pt x="2162175" y="38100"/>
                </a:lnTo>
                <a:lnTo>
                  <a:pt x="0" y="38100"/>
                </a:lnTo>
                <a:lnTo>
                  <a:pt x="0" y="0"/>
                </a:lnTo>
                <a:close/>
              </a:path>
            </a:pathLst>
          </a:custGeom>
          <a:solidFill>
            <a:srgbClr val="C4B7A6"/>
          </a:solidFill>
          <a:ln/>
        </p:spPr>
      </p:sp>
      <p:sp>
        <p:nvSpPr>
          <p:cNvPr id="22" name="Text 20"/>
          <p:cNvSpPr/>
          <p:nvPr/>
        </p:nvSpPr>
        <p:spPr>
          <a:xfrm>
            <a:off x="7330380" y="3271838"/>
            <a:ext cx="2333625" cy="381000"/>
          </a:xfrm>
          <a:prstGeom prst="rect">
            <a:avLst/>
          </a:prstGeom>
          <a:noFill/>
          <a:ln/>
        </p:spPr>
        <p:txBody>
          <a:bodyPr wrap="square" lIns="0" tIns="0" rIns="0" bIns="0" rtlCol="0" anchor="ctr"/>
          <a:lstStyle/>
          <a:p>
            <a:pPr>
              <a:lnSpc>
                <a:spcPct val="90000"/>
              </a:lnSpc>
            </a:pPr>
            <a:r>
              <a:rPr lang="en-US" sz="2700" b="1" dirty="0">
                <a:solidFill>
                  <a:srgbClr val="C4B7A6"/>
                </a:solidFill>
                <a:latin typeface="Liter" pitchFamily="34" charset="0"/>
                <a:ea typeface="Liter" pitchFamily="34" charset="-122"/>
                <a:cs typeface="Liter" pitchFamily="34" charset="-120"/>
              </a:rPr>
              <a:t>S</a:t>
            </a:r>
            <a:endParaRPr lang="en-US" sz="1600" dirty="0"/>
          </a:p>
        </p:txBody>
      </p:sp>
      <p:sp>
        <p:nvSpPr>
          <p:cNvPr id="23" name="Text 21"/>
          <p:cNvSpPr/>
          <p:nvPr/>
        </p:nvSpPr>
        <p:spPr>
          <a:xfrm>
            <a:off x="7330380" y="3729038"/>
            <a:ext cx="2247900"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Specific</a:t>
            </a:r>
            <a:endParaRPr lang="en-US" sz="1600" dirty="0"/>
          </a:p>
        </p:txBody>
      </p:sp>
      <p:sp>
        <p:nvSpPr>
          <p:cNvPr id="24" name="Text 22"/>
          <p:cNvSpPr/>
          <p:nvPr/>
        </p:nvSpPr>
        <p:spPr>
          <a:xfrm>
            <a:off x="7330380" y="4033837"/>
            <a:ext cx="2238375" cy="419100"/>
          </a:xfrm>
          <a:prstGeom prst="rect">
            <a:avLst/>
          </a:prstGeom>
          <a:noFill/>
          <a:ln/>
        </p:spPr>
        <p:txBody>
          <a:bodyPr wrap="square" lIns="0" tIns="0" rIns="0" bIns="0" rtlCol="0" anchor="ctr"/>
          <a:lstStyle/>
          <a:p>
            <a:pPr>
              <a:lnSpc>
                <a:spcPct val="110000"/>
              </a:lnSpc>
            </a:pPr>
            <a:r>
              <a:rPr lang="en-US" sz="1200" dirty="0">
                <a:solidFill>
                  <a:srgbClr val="3D3D3D"/>
                </a:solidFill>
                <a:latin typeface="思源宋体" pitchFamily="34" charset="0"/>
                <a:ea typeface="思源宋体" pitchFamily="34" charset="-122"/>
                <a:cs typeface="思源宋体" pitchFamily="34" charset="-120"/>
              </a:rPr>
              <a:t>Rõ ràng, cụ thể, không dùng từ mơ hồ</a:t>
            </a:r>
            <a:endParaRPr lang="en-US" sz="1600" dirty="0"/>
          </a:p>
        </p:txBody>
      </p:sp>
      <p:sp>
        <p:nvSpPr>
          <p:cNvPr id="25" name="Text 23"/>
          <p:cNvSpPr/>
          <p:nvPr/>
        </p:nvSpPr>
        <p:spPr>
          <a:xfrm>
            <a:off x="7330380" y="4529138"/>
            <a:ext cx="221932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"Explain in 3 steps..."</a:t>
            </a:r>
            <a:endParaRPr lang="en-US" sz="1600" dirty="0"/>
          </a:p>
        </p:txBody>
      </p:sp>
      <p:sp>
        <p:nvSpPr>
          <p:cNvPr id="26" name="Shape 24"/>
          <p:cNvSpPr/>
          <p:nvPr/>
        </p:nvSpPr>
        <p:spPr>
          <a:xfrm>
            <a:off x="9646890" y="3100388"/>
            <a:ext cx="2162175" cy="38100"/>
          </a:xfrm>
          <a:custGeom>
            <a:avLst/>
            <a:gdLst/>
            <a:ahLst/>
            <a:cxnLst/>
            <a:rect l="l" t="t" r="r" b="b"/>
            <a:pathLst>
              <a:path w="2162175" h="38100">
                <a:moveTo>
                  <a:pt x="0" y="0"/>
                </a:moveTo>
                <a:lnTo>
                  <a:pt x="2162175" y="0"/>
                </a:lnTo>
                <a:lnTo>
                  <a:pt x="2162175" y="38100"/>
                </a:lnTo>
                <a:lnTo>
                  <a:pt x="0" y="38100"/>
                </a:lnTo>
                <a:lnTo>
                  <a:pt x="0" y="0"/>
                </a:lnTo>
                <a:close/>
              </a:path>
            </a:pathLst>
          </a:custGeom>
          <a:solidFill>
            <a:srgbClr val="8B8680"/>
          </a:solidFill>
          <a:ln/>
        </p:spPr>
      </p:sp>
      <p:sp>
        <p:nvSpPr>
          <p:cNvPr id="27" name="Text 25"/>
          <p:cNvSpPr/>
          <p:nvPr/>
        </p:nvSpPr>
        <p:spPr>
          <a:xfrm>
            <a:off x="9646890" y="3271838"/>
            <a:ext cx="2333625" cy="381000"/>
          </a:xfrm>
          <a:prstGeom prst="rect">
            <a:avLst/>
          </a:prstGeom>
          <a:noFill/>
          <a:ln/>
        </p:spPr>
        <p:txBody>
          <a:bodyPr wrap="square" lIns="0" tIns="0" rIns="0" bIns="0" rtlCol="0" anchor="ctr"/>
          <a:lstStyle/>
          <a:p>
            <a:pPr>
              <a:lnSpc>
                <a:spcPct val="90000"/>
              </a:lnSpc>
            </a:pPr>
            <a:r>
              <a:rPr lang="en-US" sz="2700" b="1" dirty="0">
                <a:solidFill>
                  <a:srgbClr val="8B8680"/>
                </a:solidFill>
                <a:latin typeface="Liter" pitchFamily="34" charset="0"/>
                <a:ea typeface="Liter" pitchFamily="34" charset="-122"/>
                <a:cs typeface="Liter" pitchFamily="34" charset="-120"/>
              </a:rPr>
              <a:t>S</a:t>
            </a:r>
            <a:endParaRPr lang="en-US" sz="1600" dirty="0"/>
          </a:p>
        </p:txBody>
      </p:sp>
      <p:sp>
        <p:nvSpPr>
          <p:cNvPr id="28" name="Text 26"/>
          <p:cNvSpPr/>
          <p:nvPr/>
        </p:nvSpPr>
        <p:spPr>
          <a:xfrm>
            <a:off x="9646890" y="3729038"/>
            <a:ext cx="2247900"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Short</a:t>
            </a:r>
            <a:endParaRPr lang="en-US" sz="1600" dirty="0"/>
          </a:p>
        </p:txBody>
      </p:sp>
      <p:sp>
        <p:nvSpPr>
          <p:cNvPr id="29" name="Text 27"/>
          <p:cNvSpPr/>
          <p:nvPr/>
        </p:nvSpPr>
        <p:spPr>
          <a:xfrm>
            <a:off x="9646890" y="4033837"/>
            <a:ext cx="2238375" cy="419100"/>
          </a:xfrm>
          <a:prstGeom prst="rect">
            <a:avLst/>
          </a:prstGeom>
          <a:noFill/>
          <a:ln/>
        </p:spPr>
        <p:txBody>
          <a:bodyPr wrap="square" lIns="0" tIns="0" rIns="0" bIns="0" rtlCol="0" anchor="ctr"/>
          <a:lstStyle/>
          <a:p>
            <a:pPr>
              <a:lnSpc>
                <a:spcPct val="110000"/>
              </a:lnSpc>
            </a:pPr>
            <a:r>
              <a:rPr lang="en-US" sz="1200" dirty="0">
                <a:solidFill>
                  <a:srgbClr val="3D3D3D"/>
                </a:solidFill>
                <a:latin typeface="思源宋体" pitchFamily="34" charset="0"/>
                <a:ea typeface="思源宋体" pitchFamily="34" charset="-122"/>
                <a:cs typeface="思源宋体" pitchFamily="34" charset="-120"/>
              </a:rPr>
              <a:t>Ngắn gọn, bỏ câu chữ dư thừa, tiết kiệm token</a:t>
            </a:r>
            <a:endParaRPr lang="en-US" sz="1600" dirty="0"/>
          </a:p>
        </p:txBody>
      </p:sp>
      <p:sp>
        <p:nvSpPr>
          <p:cNvPr id="30" name="Text 28"/>
          <p:cNvSpPr/>
          <p:nvPr/>
        </p:nvSpPr>
        <p:spPr>
          <a:xfrm>
            <a:off x="9646890" y="4529138"/>
            <a:ext cx="221932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"Be concise"</a:t>
            </a:r>
            <a:endParaRPr lang="en-US" sz="1600" dirty="0"/>
          </a:p>
        </p:txBody>
      </p:sp>
      <p:sp>
        <p:nvSpPr>
          <p:cNvPr id="31" name="Shape 29"/>
          <p:cNvSpPr/>
          <p:nvPr/>
        </p:nvSpPr>
        <p:spPr>
          <a:xfrm>
            <a:off x="381000" y="4910138"/>
            <a:ext cx="11430000" cy="19050"/>
          </a:xfrm>
          <a:custGeom>
            <a:avLst/>
            <a:gdLst/>
            <a:ahLst/>
            <a:cxnLst/>
            <a:rect l="l" t="t" r="r" b="b"/>
            <a:pathLst>
              <a:path w="11430000" h="19050">
                <a:moveTo>
                  <a:pt x="0" y="0"/>
                </a:moveTo>
                <a:lnTo>
                  <a:pt x="11430000" y="0"/>
                </a:lnTo>
                <a:lnTo>
                  <a:pt x="11430000" y="19050"/>
                </a:lnTo>
                <a:lnTo>
                  <a:pt x="0" y="19050"/>
                </a:lnTo>
                <a:lnTo>
                  <a:pt x="0" y="0"/>
                </a:lnTo>
                <a:close/>
              </a:path>
            </a:pathLst>
          </a:custGeom>
          <a:solidFill>
            <a:srgbClr val="C4B7A6">
              <a:alpha val="40000"/>
            </a:srgbClr>
          </a:solidFill>
          <a:ln/>
        </p:spPr>
      </p:sp>
      <p:sp>
        <p:nvSpPr>
          <p:cNvPr id="32" name="Text 30"/>
          <p:cNvSpPr/>
          <p:nvPr/>
        </p:nvSpPr>
        <p:spPr>
          <a:xfrm>
            <a:off x="381000" y="5072063"/>
            <a:ext cx="11506200" cy="495300"/>
          </a:xfrm>
          <a:prstGeom prst="rect">
            <a:avLst/>
          </a:prstGeom>
          <a:noFill/>
          <a:ln/>
        </p:spPr>
        <p:txBody>
          <a:bodyPr wrap="square" lIns="0" tIns="0" rIns="0" bIns="0" rtlCol="0" anchor="ctr"/>
          <a:lstStyle/>
          <a:p>
            <a:pPr>
              <a:lnSpc>
                <a:spcPct val="140000"/>
              </a:lnSpc>
            </a:pPr>
            <a:r>
              <a:rPr lang="en-US" sz="1200" b="1" dirty="0">
                <a:solidFill>
                  <a:srgbClr val="1A1A1A"/>
                </a:solidFill>
                <a:latin typeface="思源宋体" pitchFamily="34" charset="0"/>
                <a:ea typeface="思源宋体" pitchFamily="34" charset="-122"/>
                <a:cs typeface="思源宋体" pitchFamily="34" charset="-120"/>
              </a:rPr>
              <a:t>Lợi ích của 5S:</a:t>
            </a:r>
            <a:pPr>
              <a:lnSpc>
                <a:spcPct val="140000"/>
              </a:lnSpc>
            </a:pPr>
            <a:r>
              <a:rPr lang="en-US" sz="1200" dirty="0">
                <a:solidFill>
                  <a:srgbClr val="3D3D3D"/>
                </a:solidFill>
                <a:latin typeface="思源宋体" pitchFamily="34" charset="0"/>
                <a:ea typeface="思源宋体" pitchFamily="34" charset="-122"/>
                <a:cs typeface="思源宋体" pitchFamily="34" charset="-120"/>
              </a:rPr>
              <a:t> Giảm 50% token usage, tăng 40% độ chính xác, giảm thờI gian chỉnh sửa. Các nguyên tắc này được áp dụng rộng rãi trong production systems và là </a:t>
            </a:r>
            <a:pPr>
              <a:lnSpc>
                <a:spcPct val="140000"/>
              </a:lnSpc>
            </a:pPr>
            <a:r>
              <a:rPr lang="en-US" sz="1200" dirty="0">
                <a:solidFill>
                  <a:srgbClr val="1A1A1A"/>
                </a:solidFill>
                <a:highlight>
                  <a:srgbClr val="C4B7A6">
                    <a:alpha val="30000"/>
                  </a:srgbClr>
                </a:highlight>
                <a:latin typeface="思源宋体" pitchFamily="34" charset="0"/>
                <a:ea typeface="思源宋体" pitchFamily="34" charset="-122"/>
                <a:cs typeface="思源宋体" pitchFamily="34" charset="-120"/>
              </a:rPr>
              <a:t>best practice </a:t>
            </a:r>
            <a:pPr>
              <a:lnSpc>
                <a:spcPct val="140000"/>
              </a:lnSpc>
            </a:pPr>
            <a:r>
              <a:rPr lang="en-US" sz="1200" dirty="0">
                <a:solidFill>
                  <a:srgbClr val="3D3D3D"/>
                </a:solidFill>
                <a:latin typeface="思源宋体" pitchFamily="34" charset="0"/>
                <a:ea typeface="思源宋体" pitchFamily="34" charset="-122"/>
                <a:cs typeface="思源宋体" pitchFamily="34" charset="-120"/>
              </a:rPr>
              <a:t>của các tổ chức hàng đầu.</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381000" y="3810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8B8680"/>
          </a:solidFill>
          <a:ln/>
        </p:spPr>
      </p:sp>
      <p:sp>
        <p:nvSpPr>
          <p:cNvPr id="3" name="Text 1"/>
          <p:cNvSpPr/>
          <p:nvPr/>
        </p:nvSpPr>
        <p:spPr>
          <a:xfrm>
            <a:off x="381000" y="533400"/>
            <a:ext cx="11601450" cy="381000"/>
          </a:xfrm>
          <a:prstGeom prst="rect">
            <a:avLst/>
          </a:prstGeom>
          <a:noFill/>
          <a:ln/>
        </p:spPr>
        <p:txBody>
          <a:bodyPr wrap="square" lIns="0" tIns="0" rIns="0" bIns="0" rtlCol="0" anchor="ctr"/>
          <a:lstStyle/>
          <a:p>
            <a:pPr>
              <a:lnSpc>
                <a:spcPct val="90000"/>
              </a:lnSpc>
            </a:pPr>
            <a:r>
              <a:rPr lang="en-US" sz="2700" b="1" dirty="0">
                <a:solidFill>
                  <a:srgbClr val="1A1A1A"/>
                </a:solidFill>
                <a:latin typeface="思源宋体" pitchFamily="34" charset="0"/>
                <a:ea typeface="思源宋体" pitchFamily="34" charset="-122"/>
                <a:cs typeface="思源宋体" pitchFamily="34" charset="-120"/>
              </a:rPr>
              <a:t>Minh họa thực tế: Áp dụng 5S</a:t>
            </a:r>
            <a:endParaRPr lang="en-US" sz="1600" dirty="0"/>
          </a:p>
        </p:txBody>
      </p:sp>
      <p:sp>
        <p:nvSpPr>
          <p:cNvPr id="4" name="Shape 2"/>
          <p:cNvSpPr/>
          <p:nvPr/>
        </p:nvSpPr>
        <p:spPr>
          <a:xfrm>
            <a:off x="390525" y="1076325"/>
            <a:ext cx="5581650" cy="2190750"/>
          </a:xfrm>
          <a:custGeom>
            <a:avLst/>
            <a:gdLst/>
            <a:ahLst/>
            <a:cxnLst/>
            <a:rect l="l" t="t" r="r" b="b"/>
            <a:pathLst>
              <a:path w="5581650" h="2190750">
                <a:moveTo>
                  <a:pt x="0" y="0"/>
                </a:moveTo>
                <a:lnTo>
                  <a:pt x="5581650" y="0"/>
                </a:lnTo>
                <a:lnTo>
                  <a:pt x="5581650" y="2190750"/>
                </a:lnTo>
                <a:lnTo>
                  <a:pt x="0" y="2190750"/>
                </a:lnTo>
                <a:lnTo>
                  <a:pt x="0" y="0"/>
                </a:lnTo>
                <a:close/>
              </a:path>
            </a:pathLst>
          </a:custGeom>
          <a:solidFill>
            <a:srgbClr val="000000">
              <a:alpha val="0"/>
            </a:srgbClr>
          </a:solidFill>
          <a:ln w="25400">
            <a:solidFill>
              <a:srgbClr val="FFA2A2"/>
            </a:solidFill>
            <a:prstDash val="solid"/>
          </a:ln>
        </p:spPr>
      </p:sp>
      <p:sp>
        <p:nvSpPr>
          <p:cNvPr id="5" name="Shape 3"/>
          <p:cNvSpPr/>
          <p:nvPr/>
        </p:nvSpPr>
        <p:spPr>
          <a:xfrm>
            <a:off x="576263" y="128587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C10007"/>
          </a:solidFill>
          <a:ln/>
        </p:spPr>
      </p:sp>
      <p:sp>
        <p:nvSpPr>
          <p:cNvPr id="6" name="Text 4"/>
          <p:cNvSpPr/>
          <p:nvPr/>
        </p:nvSpPr>
        <p:spPr>
          <a:xfrm>
            <a:off x="771525" y="1238250"/>
            <a:ext cx="5124450" cy="266700"/>
          </a:xfrm>
          <a:prstGeom prst="rect">
            <a:avLst/>
          </a:prstGeom>
          <a:noFill/>
          <a:ln/>
        </p:spPr>
        <p:txBody>
          <a:bodyPr wrap="square" lIns="0" tIns="0" rIns="0" bIns="0" rtlCol="0" anchor="ctr"/>
          <a:lstStyle/>
          <a:p>
            <a:pPr>
              <a:lnSpc>
                <a:spcPct val="130000"/>
              </a:lnSpc>
            </a:pPr>
            <a:r>
              <a:rPr lang="en-US" sz="1350" b="1" dirty="0">
                <a:solidFill>
                  <a:srgbClr val="C10007"/>
                </a:solidFill>
                <a:latin typeface="思源宋体" pitchFamily="34" charset="0"/>
                <a:ea typeface="思源宋体" pitchFamily="34" charset="-122"/>
                <a:cs typeface="思源宋体" pitchFamily="34" charset="-120"/>
              </a:rPr>
              <a:t>Prompt kém hiệu quả</a:t>
            </a:r>
            <a:endParaRPr lang="en-US" sz="1600" dirty="0"/>
          </a:p>
        </p:txBody>
      </p:sp>
      <p:sp>
        <p:nvSpPr>
          <p:cNvPr id="7" name="Shape 5"/>
          <p:cNvSpPr/>
          <p:nvPr/>
        </p:nvSpPr>
        <p:spPr>
          <a:xfrm>
            <a:off x="552450" y="1619250"/>
            <a:ext cx="5257800" cy="800100"/>
          </a:xfrm>
          <a:custGeom>
            <a:avLst/>
            <a:gdLst/>
            <a:ahLst/>
            <a:cxnLst/>
            <a:rect l="l" t="t" r="r" b="b"/>
            <a:pathLst>
              <a:path w="5257800" h="800100">
                <a:moveTo>
                  <a:pt x="38101" y="0"/>
                </a:moveTo>
                <a:lnTo>
                  <a:pt x="5219699" y="0"/>
                </a:lnTo>
                <a:cubicBezTo>
                  <a:pt x="5240742" y="0"/>
                  <a:pt x="5257800" y="17058"/>
                  <a:pt x="5257800" y="38101"/>
                </a:cubicBezTo>
                <a:lnTo>
                  <a:pt x="5257800" y="761999"/>
                </a:lnTo>
                <a:cubicBezTo>
                  <a:pt x="5257800" y="783042"/>
                  <a:pt x="5240742" y="800100"/>
                  <a:pt x="5219699" y="800100"/>
                </a:cubicBezTo>
                <a:lnTo>
                  <a:pt x="38101" y="800100"/>
                </a:lnTo>
                <a:cubicBezTo>
                  <a:pt x="17058" y="800100"/>
                  <a:pt x="0" y="783042"/>
                  <a:pt x="0" y="761999"/>
                </a:cubicBezTo>
                <a:lnTo>
                  <a:pt x="0" y="38101"/>
                </a:lnTo>
                <a:cubicBezTo>
                  <a:pt x="0" y="17072"/>
                  <a:pt x="17072" y="0"/>
                  <a:pt x="38101" y="0"/>
                </a:cubicBezTo>
                <a:close/>
              </a:path>
            </a:pathLst>
          </a:custGeom>
          <a:solidFill>
            <a:srgbClr val="F3F4F6"/>
          </a:solidFill>
          <a:ln/>
        </p:spPr>
      </p:sp>
      <p:sp>
        <p:nvSpPr>
          <p:cNvPr id="8" name="Text 6"/>
          <p:cNvSpPr/>
          <p:nvPr/>
        </p:nvSpPr>
        <p:spPr>
          <a:xfrm>
            <a:off x="552450" y="1619250"/>
            <a:ext cx="5324475" cy="800100"/>
          </a:xfrm>
          <a:prstGeom prst="rect">
            <a:avLst/>
          </a:prstGeom>
          <a:noFill/>
          <a:ln/>
        </p:spPr>
        <p:txBody>
          <a:bodyPr wrap="square" lIns="114300" tIns="114300" rIns="114300" bIns="114300" rtlCol="0" anchor="ctr"/>
          <a:lstStyle/>
          <a:p>
            <a:pPr>
              <a:lnSpc>
                <a:spcPct val="120000"/>
              </a:lnSpc>
            </a:pPr>
            <a:r>
              <a:rPr lang="en-US" sz="1050" dirty="0">
                <a:solidFill>
                  <a:srgbClr val="3D3D3D"/>
                </a:solidFill>
                <a:latin typeface="MiSans" pitchFamily="34" charset="0"/>
                <a:ea typeface="MiSans" pitchFamily="34" charset="-122"/>
                <a:cs typeface="MiSans" pitchFamily="34" charset="-120"/>
              </a:rPr>
              <a:t>"Fix my code. It's not working.</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def calculate(x, y):</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return x + y * 2"</a:t>
            </a:r>
            <a:endParaRPr lang="en-US" sz="1600" dirty="0"/>
          </a:p>
        </p:txBody>
      </p:sp>
      <p:sp>
        <p:nvSpPr>
          <p:cNvPr id="9" name="Text 7"/>
          <p:cNvSpPr/>
          <p:nvPr/>
        </p:nvSpPr>
        <p:spPr>
          <a:xfrm>
            <a:off x="552450" y="2533650"/>
            <a:ext cx="5324475" cy="190500"/>
          </a:xfrm>
          <a:prstGeom prst="rect">
            <a:avLst/>
          </a:prstGeom>
          <a:noFill/>
          <a:ln/>
        </p:spPr>
        <p:txBody>
          <a:bodyPr wrap="square" lIns="0" tIns="0" rIns="0" bIns="0" rtlCol="0" anchor="ctr"/>
          <a:lstStyle/>
          <a:p>
            <a:pPr>
              <a:lnSpc>
                <a:spcPct val="120000"/>
              </a:lnSpc>
            </a:pPr>
            <a:r>
              <a:rPr lang="en-US" sz="1050" b="1" dirty="0">
                <a:solidFill>
                  <a:srgbClr val="C10007"/>
                </a:solidFill>
                <a:latin typeface="思源宋体" pitchFamily="34" charset="0"/>
                <a:ea typeface="思源宋体" pitchFamily="34" charset="-122"/>
                <a:cs typeface="思源宋体" pitchFamily="34" charset="-120"/>
              </a:rPr>
              <a:t>Vấn đề:</a:t>
            </a:r>
            <a:pPr>
              <a:lnSpc>
                <a:spcPct val="120000"/>
              </a:lnSpc>
            </a:pPr>
            <a:r>
              <a:rPr lang="en-US" sz="1050" dirty="0">
                <a:solidFill>
                  <a:srgbClr val="3D3D3D"/>
                </a:solidFill>
                <a:latin typeface="思源宋体" pitchFamily="34" charset="0"/>
                <a:ea typeface="思源宋体" pitchFamily="34" charset="-122"/>
                <a:cs typeface="思源宋体" pitchFamily="34" charset="-120"/>
              </a:rPr>
              <a:t> Thiếu context, không rõ lỗi, không có yêu cầu cụ thể</a:t>
            </a:r>
            <a:endParaRPr lang="en-US" sz="1600" dirty="0"/>
          </a:p>
        </p:txBody>
      </p:sp>
      <p:sp>
        <p:nvSpPr>
          <p:cNvPr id="10" name="Shape 8"/>
          <p:cNvSpPr/>
          <p:nvPr/>
        </p:nvSpPr>
        <p:spPr>
          <a:xfrm>
            <a:off x="6219825" y="1076325"/>
            <a:ext cx="5581650" cy="2190750"/>
          </a:xfrm>
          <a:custGeom>
            <a:avLst/>
            <a:gdLst/>
            <a:ahLst/>
            <a:cxnLst/>
            <a:rect l="l" t="t" r="r" b="b"/>
            <a:pathLst>
              <a:path w="5581650" h="2190750">
                <a:moveTo>
                  <a:pt x="0" y="0"/>
                </a:moveTo>
                <a:lnTo>
                  <a:pt x="5581650" y="0"/>
                </a:lnTo>
                <a:lnTo>
                  <a:pt x="5581650" y="2190750"/>
                </a:lnTo>
                <a:lnTo>
                  <a:pt x="0" y="2190750"/>
                </a:lnTo>
                <a:lnTo>
                  <a:pt x="0" y="0"/>
                </a:lnTo>
                <a:close/>
              </a:path>
            </a:pathLst>
          </a:custGeom>
          <a:solidFill>
            <a:srgbClr val="000000">
              <a:alpha val="0"/>
            </a:srgbClr>
          </a:solidFill>
          <a:ln w="25400">
            <a:solidFill>
              <a:srgbClr val="7BF1A8"/>
            </a:solidFill>
            <a:prstDash val="solid"/>
          </a:ln>
        </p:spPr>
      </p:sp>
      <p:sp>
        <p:nvSpPr>
          <p:cNvPr id="11" name="Shape 9"/>
          <p:cNvSpPr/>
          <p:nvPr/>
        </p:nvSpPr>
        <p:spPr>
          <a:xfrm>
            <a:off x="6405563" y="128587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008236"/>
          </a:solidFill>
          <a:ln/>
        </p:spPr>
      </p:sp>
      <p:sp>
        <p:nvSpPr>
          <p:cNvPr id="12" name="Text 10"/>
          <p:cNvSpPr/>
          <p:nvPr/>
        </p:nvSpPr>
        <p:spPr>
          <a:xfrm>
            <a:off x="6600825" y="1238250"/>
            <a:ext cx="5124450" cy="266700"/>
          </a:xfrm>
          <a:prstGeom prst="rect">
            <a:avLst/>
          </a:prstGeom>
          <a:noFill/>
          <a:ln/>
        </p:spPr>
        <p:txBody>
          <a:bodyPr wrap="square" lIns="0" tIns="0" rIns="0" bIns="0" rtlCol="0" anchor="ctr"/>
          <a:lstStyle/>
          <a:p>
            <a:pPr>
              <a:lnSpc>
                <a:spcPct val="130000"/>
              </a:lnSpc>
            </a:pPr>
            <a:r>
              <a:rPr lang="en-US" sz="1350" b="1" dirty="0">
                <a:solidFill>
                  <a:srgbClr val="008236"/>
                </a:solidFill>
                <a:latin typeface="思源宋体" pitchFamily="34" charset="0"/>
                <a:ea typeface="思源宋体" pitchFamily="34" charset="-122"/>
                <a:cs typeface="思源宋体" pitchFamily="34" charset="-120"/>
              </a:rPr>
              <a:t>Prompt tối ưu (5S)</a:t>
            </a:r>
            <a:endParaRPr lang="en-US" sz="1600" dirty="0"/>
          </a:p>
        </p:txBody>
      </p:sp>
      <p:sp>
        <p:nvSpPr>
          <p:cNvPr id="13" name="Shape 11"/>
          <p:cNvSpPr/>
          <p:nvPr/>
        </p:nvSpPr>
        <p:spPr>
          <a:xfrm>
            <a:off x="6381750" y="1619250"/>
            <a:ext cx="5257800" cy="1181100"/>
          </a:xfrm>
          <a:custGeom>
            <a:avLst/>
            <a:gdLst/>
            <a:ahLst/>
            <a:cxnLst/>
            <a:rect l="l" t="t" r="r" b="b"/>
            <a:pathLst>
              <a:path w="5257800" h="1181100">
                <a:moveTo>
                  <a:pt x="38102" y="0"/>
                </a:moveTo>
                <a:lnTo>
                  <a:pt x="5219698" y="0"/>
                </a:lnTo>
                <a:cubicBezTo>
                  <a:pt x="5240727" y="0"/>
                  <a:pt x="5257800" y="17073"/>
                  <a:pt x="5257800" y="38102"/>
                </a:cubicBezTo>
                <a:lnTo>
                  <a:pt x="5257800" y="1142998"/>
                </a:lnTo>
                <a:cubicBezTo>
                  <a:pt x="5257800" y="1164027"/>
                  <a:pt x="5240727" y="1181100"/>
                  <a:pt x="5219698" y="1181100"/>
                </a:cubicBezTo>
                <a:lnTo>
                  <a:pt x="38102" y="1181100"/>
                </a:lnTo>
                <a:cubicBezTo>
                  <a:pt x="17073" y="1181100"/>
                  <a:pt x="0" y="1164027"/>
                  <a:pt x="0" y="1142998"/>
                </a:cubicBezTo>
                <a:lnTo>
                  <a:pt x="0" y="38102"/>
                </a:lnTo>
                <a:cubicBezTo>
                  <a:pt x="0" y="17073"/>
                  <a:pt x="17073" y="0"/>
                  <a:pt x="38102" y="0"/>
                </a:cubicBezTo>
                <a:close/>
              </a:path>
            </a:pathLst>
          </a:custGeom>
          <a:solidFill>
            <a:srgbClr val="F3F4F6"/>
          </a:solidFill>
          <a:ln/>
        </p:spPr>
      </p:sp>
      <p:sp>
        <p:nvSpPr>
          <p:cNvPr id="14" name="Text 12"/>
          <p:cNvSpPr/>
          <p:nvPr/>
        </p:nvSpPr>
        <p:spPr>
          <a:xfrm>
            <a:off x="6381750" y="1619250"/>
            <a:ext cx="5324475" cy="1181100"/>
          </a:xfrm>
          <a:prstGeom prst="rect">
            <a:avLst/>
          </a:prstGeom>
          <a:noFill/>
          <a:ln/>
        </p:spPr>
        <p:txBody>
          <a:bodyPr wrap="square" lIns="114300" tIns="114300" rIns="114300" bIns="114300" rtlCol="0" anchor="ctr"/>
          <a:lstStyle/>
          <a:p>
            <a:pPr>
              <a:lnSpc>
                <a:spcPct val="120000"/>
              </a:lnSpc>
            </a:pPr>
            <a:r>
              <a:rPr lang="en-US" sz="1050" dirty="0">
                <a:solidFill>
                  <a:srgbClr val="3D3D3D"/>
                </a:solidFill>
                <a:latin typeface="MiSans" pitchFamily="34" charset="0"/>
                <a:ea typeface="MiSans" pitchFamily="34" charset="-122"/>
                <a:cs typeface="MiSans" pitchFamily="34" charset="-120"/>
              </a:rPr>
              <a:t>"Role: Python expert.</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Task: Debug function.</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Issue: Unexpected output.</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Expected: (x + y) * 2</a:t>
            </a:r>
            <a:endParaRPr lang="en-US" sz="1600" dirty="0"/>
          </a:p>
          <a:p>
            <a:pPr>
              <a:lnSpc>
                <a:spcPct val="120000"/>
              </a:lnSpc>
            </a:pPr>
            <a:r>
              <a:rPr lang="en-US" sz="1050" dirty="0">
                <a:solidFill>
                  <a:srgbClr val="3D3D3D"/>
                </a:solidFill>
                <a:latin typeface="MiSans" pitchFamily="34" charset="0"/>
                <a:ea typeface="MiSans" pitchFamily="34" charset="-122"/>
                <a:cs typeface="MiSans" pitchFamily="34" charset="-120"/>
              </a:rPr>
              <a:t>Code: [function]"</a:t>
            </a:r>
            <a:endParaRPr lang="en-US" sz="1600" dirty="0"/>
          </a:p>
        </p:txBody>
      </p:sp>
      <p:sp>
        <p:nvSpPr>
          <p:cNvPr id="15" name="Text 13"/>
          <p:cNvSpPr/>
          <p:nvPr/>
        </p:nvSpPr>
        <p:spPr>
          <a:xfrm>
            <a:off x="6381750" y="2914650"/>
            <a:ext cx="5324475" cy="190500"/>
          </a:xfrm>
          <a:prstGeom prst="rect">
            <a:avLst/>
          </a:prstGeom>
          <a:noFill/>
          <a:ln/>
        </p:spPr>
        <p:txBody>
          <a:bodyPr wrap="square" lIns="0" tIns="0" rIns="0" bIns="0" rtlCol="0" anchor="ctr"/>
          <a:lstStyle/>
          <a:p>
            <a:pPr>
              <a:lnSpc>
                <a:spcPct val="120000"/>
              </a:lnSpc>
            </a:pPr>
            <a:r>
              <a:rPr lang="en-US" sz="1050" b="1" dirty="0">
                <a:solidFill>
                  <a:srgbClr val="008236"/>
                </a:solidFill>
                <a:latin typeface="思源宋体" pitchFamily="34" charset="0"/>
                <a:ea typeface="思源宋体" pitchFamily="34" charset="-122"/>
                <a:cs typeface="思源宋体" pitchFamily="34" charset="-120"/>
              </a:rPr>
              <a:t>Ưu điểm:</a:t>
            </a:r>
            <a:pPr>
              <a:lnSpc>
                <a:spcPct val="120000"/>
              </a:lnSpc>
            </a:pPr>
            <a:r>
              <a:rPr lang="en-US" sz="1050" dirty="0">
                <a:solidFill>
                  <a:srgbClr val="3D3D3D"/>
                </a:solidFill>
                <a:latin typeface="思源宋体" pitchFamily="34" charset="0"/>
                <a:ea typeface="思源宋体" pitchFamily="34" charset="-122"/>
                <a:cs typeface="思源宋体" pitchFamily="34" charset="-120"/>
              </a:rPr>
              <a:t> Structured, Specific, có Context rõ ràng</a:t>
            </a:r>
            <a:endParaRPr lang="en-US" sz="1600" dirty="0"/>
          </a:p>
        </p:txBody>
      </p:sp>
      <p:sp>
        <p:nvSpPr>
          <p:cNvPr id="16" name="Shape 14"/>
          <p:cNvSpPr/>
          <p:nvPr/>
        </p:nvSpPr>
        <p:spPr>
          <a:xfrm>
            <a:off x="390525" y="3438525"/>
            <a:ext cx="11410950" cy="1266825"/>
          </a:xfrm>
          <a:custGeom>
            <a:avLst/>
            <a:gdLst/>
            <a:ahLst/>
            <a:cxnLst/>
            <a:rect l="l" t="t" r="r" b="b"/>
            <a:pathLst>
              <a:path w="11410950" h="1266825">
                <a:moveTo>
                  <a:pt x="0" y="0"/>
                </a:moveTo>
                <a:lnTo>
                  <a:pt x="11410950" y="0"/>
                </a:lnTo>
                <a:lnTo>
                  <a:pt x="11410950" y="1266825"/>
                </a:lnTo>
                <a:lnTo>
                  <a:pt x="0" y="1266825"/>
                </a:lnTo>
                <a:lnTo>
                  <a:pt x="0" y="0"/>
                </a:lnTo>
                <a:close/>
              </a:path>
            </a:pathLst>
          </a:custGeom>
          <a:solidFill>
            <a:srgbClr val="000000">
              <a:alpha val="0"/>
            </a:srgbClr>
          </a:solidFill>
          <a:ln w="25400">
            <a:solidFill>
              <a:srgbClr val="8B8680"/>
            </a:solidFill>
            <a:prstDash val="solid"/>
          </a:ln>
        </p:spPr>
      </p:sp>
      <p:sp>
        <p:nvSpPr>
          <p:cNvPr id="17" name="Text 15"/>
          <p:cNvSpPr/>
          <p:nvPr/>
        </p:nvSpPr>
        <p:spPr>
          <a:xfrm>
            <a:off x="552450" y="3600450"/>
            <a:ext cx="11172825" cy="266700"/>
          </a:xfrm>
          <a:prstGeom prst="rect">
            <a:avLst/>
          </a:prstGeom>
          <a:noFill/>
          <a:ln/>
        </p:spPr>
        <p:txBody>
          <a:bodyPr wrap="square" lIns="0" tIns="0" rIns="0" bIns="0" rtlCol="0" anchor="ctr"/>
          <a:lstStyle/>
          <a:p>
            <a:pPr>
              <a:lnSpc>
                <a:spcPct val="130000"/>
              </a:lnSpc>
            </a:pPr>
            <a:r>
              <a:rPr lang="en-US" sz="1350" b="1" dirty="0">
                <a:solidFill>
                  <a:srgbClr val="1A1A1A"/>
                </a:solidFill>
                <a:latin typeface="思源宋体" pitchFamily="34" charset="0"/>
                <a:ea typeface="思源宋体" pitchFamily="34" charset="-122"/>
                <a:cs typeface="思源宋体" pitchFamily="34" charset="-120"/>
              </a:rPr>
              <a:t>Parameters tối ưu cho từng loại task</a:t>
            </a:r>
            <a:endParaRPr lang="en-US" sz="1600" dirty="0"/>
          </a:p>
        </p:txBody>
      </p:sp>
      <p:sp>
        <p:nvSpPr>
          <p:cNvPr id="18" name="Shape 16"/>
          <p:cNvSpPr/>
          <p:nvPr/>
        </p:nvSpPr>
        <p:spPr>
          <a:xfrm>
            <a:off x="571500" y="3981450"/>
            <a:ext cx="38100" cy="561975"/>
          </a:xfrm>
          <a:custGeom>
            <a:avLst/>
            <a:gdLst/>
            <a:ahLst/>
            <a:cxnLst/>
            <a:rect l="l" t="t" r="r" b="b"/>
            <a:pathLst>
              <a:path w="38100" h="561975">
                <a:moveTo>
                  <a:pt x="0" y="0"/>
                </a:moveTo>
                <a:lnTo>
                  <a:pt x="38100" y="0"/>
                </a:lnTo>
                <a:lnTo>
                  <a:pt x="38100" y="561975"/>
                </a:lnTo>
                <a:lnTo>
                  <a:pt x="0" y="561975"/>
                </a:lnTo>
                <a:lnTo>
                  <a:pt x="0" y="0"/>
                </a:lnTo>
                <a:close/>
              </a:path>
            </a:pathLst>
          </a:custGeom>
          <a:solidFill>
            <a:srgbClr val="8B8680"/>
          </a:solidFill>
          <a:ln/>
        </p:spPr>
      </p:sp>
      <p:sp>
        <p:nvSpPr>
          <p:cNvPr id="19" name="Text 17"/>
          <p:cNvSpPr/>
          <p:nvPr/>
        </p:nvSpPr>
        <p:spPr>
          <a:xfrm>
            <a:off x="704850" y="3981450"/>
            <a:ext cx="3505200" cy="190500"/>
          </a:xfrm>
          <a:prstGeom prst="rect">
            <a:avLst/>
          </a:prstGeom>
          <a:noFill/>
          <a:ln/>
        </p:spPr>
        <p:txBody>
          <a:bodyPr wrap="square" lIns="0" tIns="0" rIns="0" bIns="0" rtlCol="0" anchor="ctr"/>
          <a:lstStyle/>
          <a:p>
            <a:pPr>
              <a:lnSpc>
                <a:spcPct val="120000"/>
              </a:lnSpc>
            </a:pPr>
            <a:r>
              <a:rPr lang="en-US" sz="1050" b="1" dirty="0">
                <a:solidFill>
                  <a:srgbClr val="1A1A1A"/>
                </a:solidFill>
                <a:latin typeface="思源宋体" pitchFamily="34" charset="0"/>
                <a:ea typeface="思源宋体" pitchFamily="34" charset="-122"/>
                <a:cs typeface="思源宋体" pitchFamily="34" charset="-120"/>
              </a:rPr>
              <a:t>Creative Writing</a:t>
            </a:r>
            <a:endParaRPr lang="en-US" sz="1600" dirty="0"/>
          </a:p>
        </p:txBody>
      </p:sp>
      <p:sp>
        <p:nvSpPr>
          <p:cNvPr id="20" name="Text 18"/>
          <p:cNvSpPr/>
          <p:nvPr/>
        </p:nvSpPr>
        <p:spPr>
          <a:xfrm>
            <a:off x="704850" y="4210050"/>
            <a:ext cx="3505200"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temperature: </a:t>
            </a:r>
            <a:pPr>
              <a:lnSpc>
                <a:spcPct val="120000"/>
              </a:lnSpc>
            </a:pPr>
            <a:r>
              <a:rPr lang="en-US" sz="1050" b="1" dirty="0">
                <a:solidFill>
                  <a:srgbClr val="3D3D3D"/>
                </a:solidFill>
                <a:latin typeface="思源宋体" pitchFamily="34" charset="0"/>
                <a:ea typeface="思源宋体" pitchFamily="34" charset="-122"/>
                <a:cs typeface="思源宋体" pitchFamily="34" charset="-120"/>
              </a:rPr>
              <a:t>1.2</a:t>
            </a:r>
            <a:pPr>
              <a:lnSpc>
                <a:spcPct val="120000"/>
              </a:lnSpc>
            </a:pPr>
            <a:r>
              <a:rPr lang="en-US" sz="1050" dirty="0">
                <a:solidFill>
                  <a:srgbClr val="3D3D3D"/>
                </a:solidFill>
                <a:latin typeface="思源宋体" pitchFamily="34" charset="0"/>
                <a:ea typeface="思源宋体" pitchFamily="34" charset="-122"/>
                <a:cs typeface="思源宋体" pitchFamily="34" charset="-120"/>
              </a:rPr>
              <a:t>, top_p: 0.9</a:t>
            </a:r>
            <a:endParaRPr lang="en-US" sz="1600" dirty="0"/>
          </a:p>
        </p:txBody>
      </p:sp>
      <p:sp>
        <p:nvSpPr>
          <p:cNvPr id="21" name="Text 19"/>
          <p:cNvSpPr/>
          <p:nvPr/>
        </p:nvSpPr>
        <p:spPr>
          <a:xfrm>
            <a:off x="704850" y="4400550"/>
            <a:ext cx="349567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Tăng sáng tạo, đa dạng</a:t>
            </a:r>
            <a:endParaRPr lang="en-US" sz="1600" dirty="0"/>
          </a:p>
        </p:txBody>
      </p:sp>
      <p:sp>
        <p:nvSpPr>
          <p:cNvPr id="22" name="Shape 20"/>
          <p:cNvSpPr/>
          <p:nvPr/>
        </p:nvSpPr>
        <p:spPr>
          <a:xfrm>
            <a:off x="4317950" y="3981450"/>
            <a:ext cx="38100" cy="561975"/>
          </a:xfrm>
          <a:custGeom>
            <a:avLst/>
            <a:gdLst/>
            <a:ahLst/>
            <a:cxnLst/>
            <a:rect l="l" t="t" r="r" b="b"/>
            <a:pathLst>
              <a:path w="38100" h="561975">
                <a:moveTo>
                  <a:pt x="0" y="0"/>
                </a:moveTo>
                <a:lnTo>
                  <a:pt x="38100" y="0"/>
                </a:lnTo>
                <a:lnTo>
                  <a:pt x="38100" y="561975"/>
                </a:lnTo>
                <a:lnTo>
                  <a:pt x="0" y="561975"/>
                </a:lnTo>
                <a:lnTo>
                  <a:pt x="0" y="0"/>
                </a:lnTo>
                <a:close/>
              </a:path>
            </a:pathLst>
          </a:custGeom>
          <a:solidFill>
            <a:srgbClr val="C4B7A6"/>
          </a:solidFill>
          <a:ln/>
        </p:spPr>
      </p:sp>
      <p:sp>
        <p:nvSpPr>
          <p:cNvPr id="23" name="Text 21"/>
          <p:cNvSpPr/>
          <p:nvPr/>
        </p:nvSpPr>
        <p:spPr>
          <a:xfrm>
            <a:off x="4451300" y="3981450"/>
            <a:ext cx="3505200" cy="190500"/>
          </a:xfrm>
          <a:prstGeom prst="rect">
            <a:avLst/>
          </a:prstGeom>
          <a:noFill/>
          <a:ln/>
        </p:spPr>
        <p:txBody>
          <a:bodyPr wrap="square" lIns="0" tIns="0" rIns="0" bIns="0" rtlCol="0" anchor="ctr"/>
          <a:lstStyle/>
          <a:p>
            <a:pPr>
              <a:lnSpc>
                <a:spcPct val="120000"/>
              </a:lnSpc>
            </a:pPr>
            <a:r>
              <a:rPr lang="en-US" sz="1050" b="1" dirty="0">
                <a:solidFill>
                  <a:srgbClr val="1A1A1A"/>
                </a:solidFill>
                <a:latin typeface="思源宋体" pitchFamily="34" charset="0"/>
                <a:ea typeface="思源宋体" pitchFamily="34" charset="-122"/>
                <a:cs typeface="思源宋体" pitchFamily="34" charset="-120"/>
              </a:rPr>
              <a:t>Technical Code</a:t>
            </a:r>
            <a:endParaRPr lang="en-US" sz="1600" dirty="0"/>
          </a:p>
        </p:txBody>
      </p:sp>
      <p:sp>
        <p:nvSpPr>
          <p:cNvPr id="24" name="Text 22"/>
          <p:cNvSpPr/>
          <p:nvPr/>
        </p:nvSpPr>
        <p:spPr>
          <a:xfrm>
            <a:off x="4451300" y="4210050"/>
            <a:ext cx="3505200"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temperature: </a:t>
            </a:r>
            <a:pPr>
              <a:lnSpc>
                <a:spcPct val="120000"/>
              </a:lnSpc>
            </a:pPr>
            <a:r>
              <a:rPr lang="en-US" sz="1050" b="1" dirty="0">
                <a:solidFill>
                  <a:srgbClr val="3D3D3D"/>
                </a:solidFill>
                <a:latin typeface="思源宋体" pitchFamily="34" charset="0"/>
                <a:ea typeface="思源宋体" pitchFamily="34" charset="-122"/>
                <a:cs typeface="思源宋体" pitchFamily="34" charset="-120"/>
              </a:rPr>
              <a:t>0.3</a:t>
            </a:r>
            <a:pPr>
              <a:lnSpc>
                <a:spcPct val="120000"/>
              </a:lnSpc>
            </a:pPr>
            <a:r>
              <a:rPr lang="en-US" sz="1050" dirty="0">
                <a:solidFill>
                  <a:srgbClr val="3D3D3D"/>
                </a:solidFill>
                <a:latin typeface="思源宋体" pitchFamily="34" charset="0"/>
                <a:ea typeface="思源宋体" pitchFamily="34" charset="-122"/>
                <a:cs typeface="思源宋体" pitchFamily="34" charset="-120"/>
              </a:rPr>
              <a:t>, top_p: 1.0</a:t>
            </a:r>
            <a:endParaRPr lang="en-US" sz="1600" dirty="0"/>
          </a:p>
        </p:txBody>
      </p:sp>
      <p:sp>
        <p:nvSpPr>
          <p:cNvPr id="25" name="Text 23"/>
          <p:cNvSpPr/>
          <p:nvPr/>
        </p:nvSpPr>
        <p:spPr>
          <a:xfrm>
            <a:off x="4451300" y="4400550"/>
            <a:ext cx="349567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Chính xác, đáng tin cậy</a:t>
            </a:r>
            <a:endParaRPr lang="en-US" sz="1600" dirty="0"/>
          </a:p>
        </p:txBody>
      </p:sp>
      <p:sp>
        <p:nvSpPr>
          <p:cNvPr id="26" name="Shape 24"/>
          <p:cNvSpPr/>
          <p:nvPr/>
        </p:nvSpPr>
        <p:spPr>
          <a:xfrm>
            <a:off x="8064401" y="3981450"/>
            <a:ext cx="38100" cy="561975"/>
          </a:xfrm>
          <a:custGeom>
            <a:avLst/>
            <a:gdLst/>
            <a:ahLst/>
            <a:cxnLst/>
            <a:rect l="l" t="t" r="r" b="b"/>
            <a:pathLst>
              <a:path w="38100" h="561975">
                <a:moveTo>
                  <a:pt x="0" y="0"/>
                </a:moveTo>
                <a:lnTo>
                  <a:pt x="38100" y="0"/>
                </a:lnTo>
                <a:lnTo>
                  <a:pt x="38100" y="561975"/>
                </a:lnTo>
                <a:lnTo>
                  <a:pt x="0" y="561975"/>
                </a:lnTo>
                <a:lnTo>
                  <a:pt x="0" y="0"/>
                </a:lnTo>
                <a:close/>
              </a:path>
            </a:pathLst>
          </a:custGeom>
          <a:solidFill>
            <a:srgbClr val="8B8680"/>
          </a:solidFill>
          <a:ln/>
        </p:spPr>
      </p:sp>
      <p:sp>
        <p:nvSpPr>
          <p:cNvPr id="27" name="Text 25"/>
          <p:cNvSpPr/>
          <p:nvPr/>
        </p:nvSpPr>
        <p:spPr>
          <a:xfrm>
            <a:off x="8197751" y="3981450"/>
            <a:ext cx="3505200" cy="190500"/>
          </a:xfrm>
          <a:prstGeom prst="rect">
            <a:avLst/>
          </a:prstGeom>
          <a:noFill/>
          <a:ln/>
        </p:spPr>
        <p:txBody>
          <a:bodyPr wrap="square" lIns="0" tIns="0" rIns="0" bIns="0" rtlCol="0" anchor="ctr"/>
          <a:lstStyle/>
          <a:p>
            <a:pPr>
              <a:lnSpc>
                <a:spcPct val="120000"/>
              </a:lnSpc>
            </a:pPr>
            <a:r>
              <a:rPr lang="en-US" sz="1050" b="1" dirty="0">
                <a:solidFill>
                  <a:srgbClr val="1A1A1A"/>
                </a:solidFill>
                <a:latin typeface="思源宋体" pitchFamily="34" charset="0"/>
                <a:ea typeface="思源宋体" pitchFamily="34" charset="-122"/>
                <a:cs typeface="思源宋体" pitchFamily="34" charset="-120"/>
              </a:rPr>
              <a:t>Summarization</a:t>
            </a:r>
            <a:endParaRPr lang="en-US" sz="1600" dirty="0"/>
          </a:p>
        </p:txBody>
      </p:sp>
      <p:sp>
        <p:nvSpPr>
          <p:cNvPr id="28" name="Text 26"/>
          <p:cNvSpPr/>
          <p:nvPr/>
        </p:nvSpPr>
        <p:spPr>
          <a:xfrm>
            <a:off x="8197751" y="4210050"/>
            <a:ext cx="3505200" cy="190500"/>
          </a:xfrm>
          <a:prstGeom prst="rect">
            <a:avLst/>
          </a:prstGeom>
          <a:noFill/>
          <a:ln/>
        </p:spPr>
        <p:txBody>
          <a:bodyPr wrap="square" lIns="0" tIns="0" rIns="0" bIns="0" rtlCol="0" anchor="ctr"/>
          <a:lstStyle/>
          <a:p>
            <a:pPr>
              <a:lnSpc>
                <a:spcPct val="120000"/>
              </a:lnSpc>
            </a:pPr>
            <a:r>
              <a:rPr lang="en-US" sz="1050" dirty="0">
                <a:solidFill>
                  <a:srgbClr val="3D3D3D"/>
                </a:solidFill>
                <a:latin typeface="思源宋体" pitchFamily="34" charset="0"/>
                <a:ea typeface="思源宋体" pitchFamily="34" charset="-122"/>
                <a:cs typeface="思源宋体" pitchFamily="34" charset="-120"/>
              </a:rPr>
              <a:t>temperature: </a:t>
            </a:r>
            <a:pPr>
              <a:lnSpc>
                <a:spcPct val="120000"/>
              </a:lnSpc>
            </a:pPr>
            <a:r>
              <a:rPr lang="en-US" sz="1050" b="1" dirty="0">
                <a:solidFill>
                  <a:srgbClr val="3D3D3D"/>
                </a:solidFill>
                <a:latin typeface="思源宋体" pitchFamily="34" charset="0"/>
                <a:ea typeface="思源宋体" pitchFamily="34" charset="-122"/>
                <a:cs typeface="思源宋体" pitchFamily="34" charset="-120"/>
              </a:rPr>
              <a:t>0.7</a:t>
            </a:r>
            <a:pPr>
              <a:lnSpc>
                <a:spcPct val="120000"/>
              </a:lnSpc>
            </a:pPr>
            <a:r>
              <a:rPr lang="en-US" sz="1050" dirty="0">
                <a:solidFill>
                  <a:srgbClr val="3D3D3D"/>
                </a:solidFill>
                <a:latin typeface="思源宋体" pitchFamily="34" charset="0"/>
                <a:ea typeface="思源宋体" pitchFamily="34" charset="-122"/>
                <a:cs typeface="思源宋体" pitchFamily="34" charset="-120"/>
              </a:rPr>
              <a:t>, top_p: 0.9</a:t>
            </a:r>
            <a:endParaRPr lang="en-US" sz="1600" dirty="0"/>
          </a:p>
        </p:txBody>
      </p:sp>
      <p:sp>
        <p:nvSpPr>
          <p:cNvPr id="29" name="Text 27"/>
          <p:cNvSpPr/>
          <p:nvPr/>
        </p:nvSpPr>
        <p:spPr>
          <a:xfrm>
            <a:off x="8197751" y="4400550"/>
            <a:ext cx="3495675" cy="142875"/>
          </a:xfrm>
          <a:prstGeom prst="rect">
            <a:avLst/>
          </a:prstGeom>
          <a:noFill/>
          <a:ln/>
        </p:spPr>
        <p:txBody>
          <a:bodyPr wrap="square" lIns="0" tIns="0" rIns="0" bIns="0" rtlCol="0" anchor="ctr"/>
          <a:lstStyle/>
          <a:p>
            <a:pPr>
              <a:lnSpc>
                <a:spcPct val="110000"/>
              </a:lnSpc>
            </a:pPr>
            <a:r>
              <a:rPr lang="en-US" sz="900" dirty="0">
                <a:solidFill>
                  <a:srgbClr val="A8A29E"/>
                </a:solidFill>
                <a:latin typeface="思源宋体" pitchFamily="34" charset="0"/>
                <a:ea typeface="思源宋体" pitchFamily="34" charset="-122"/>
                <a:cs typeface="思源宋体" pitchFamily="34" charset="-120"/>
              </a:rPr>
              <a:t>Cân bằng giữa ngắn gọn và đầy đủ</a:t>
            </a:r>
            <a:endParaRPr lang="en-US" sz="1600" dirty="0"/>
          </a:p>
        </p:txBody>
      </p:sp>
      <p:sp>
        <p:nvSpPr>
          <p:cNvPr id="30" name="Shape 28"/>
          <p:cNvSpPr/>
          <p:nvPr/>
        </p:nvSpPr>
        <p:spPr>
          <a:xfrm>
            <a:off x="400050" y="486727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8B8680"/>
          </a:solidFill>
          <a:ln/>
        </p:spPr>
      </p:sp>
      <p:sp>
        <p:nvSpPr>
          <p:cNvPr id="31" name="Text 29"/>
          <p:cNvSpPr/>
          <p:nvPr/>
        </p:nvSpPr>
        <p:spPr>
          <a:xfrm>
            <a:off x="461963" y="4943475"/>
            <a:ext cx="3695700" cy="342900"/>
          </a:xfrm>
          <a:prstGeom prst="rect">
            <a:avLst/>
          </a:prstGeom>
          <a:noFill/>
          <a:ln/>
        </p:spPr>
        <p:txBody>
          <a:bodyPr wrap="square" lIns="0" tIns="0" rIns="0" bIns="0" rtlCol="0" anchor="ctr"/>
          <a:lstStyle/>
          <a:p>
            <a:pPr algn="ctr">
              <a:lnSpc>
                <a:spcPct val="100000"/>
              </a:lnSpc>
            </a:pPr>
            <a:r>
              <a:rPr lang="en-US" sz="2250" b="1" dirty="0">
                <a:solidFill>
                  <a:srgbClr val="8B8680"/>
                </a:solidFill>
                <a:latin typeface="Liter" pitchFamily="34" charset="0"/>
                <a:ea typeface="Liter" pitchFamily="34" charset="-122"/>
                <a:cs typeface="Liter" pitchFamily="34" charset="-120"/>
              </a:rPr>
              <a:t>50%</a:t>
            </a:r>
            <a:endParaRPr lang="en-US" sz="1600" dirty="0"/>
          </a:p>
        </p:txBody>
      </p:sp>
      <p:sp>
        <p:nvSpPr>
          <p:cNvPr id="32" name="Text 30"/>
          <p:cNvSpPr/>
          <p:nvPr/>
        </p:nvSpPr>
        <p:spPr>
          <a:xfrm>
            <a:off x="500063" y="5324475"/>
            <a:ext cx="3619500" cy="381000"/>
          </a:xfrm>
          <a:prstGeom prst="rect">
            <a:avLst/>
          </a:prstGeom>
          <a:noFill/>
          <a:ln/>
        </p:spPr>
        <p:txBody>
          <a:bodyPr wrap="square" lIns="0" tIns="0" rIns="0" bIns="0" rtlCol="0" anchor="ctr"/>
          <a:lstStyle/>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Giảm token</a:t>
            </a:r>
            <a:endParaRPr lang="en-US" sz="1600" dirty="0"/>
          </a:p>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usage</a:t>
            </a:r>
            <a:endParaRPr lang="en-US" sz="1600" dirty="0"/>
          </a:p>
        </p:txBody>
      </p:sp>
      <p:sp>
        <p:nvSpPr>
          <p:cNvPr id="33" name="Shape 31"/>
          <p:cNvSpPr/>
          <p:nvPr/>
        </p:nvSpPr>
        <p:spPr>
          <a:xfrm>
            <a:off x="4260800" y="486727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C4B7A6"/>
          </a:solidFill>
          <a:ln/>
        </p:spPr>
      </p:sp>
      <p:sp>
        <p:nvSpPr>
          <p:cNvPr id="34" name="Text 32"/>
          <p:cNvSpPr/>
          <p:nvPr/>
        </p:nvSpPr>
        <p:spPr>
          <a:xfrm>
            <a:off x="4322713" y="4943475"/>
            <a:ext cx="3695700" cy="342900"/>
          </a:xfrm>
          <a:prstGeom prst="rect">
            <a:avLst/>
          </a:prstGeom>
          <a:noFill/>
          <a:ln/>
        </p:spPr>
        <p:txBody>
          <a:bodyPr wrap="square" lIns="0" tIns="0" rIns="0" bIns="0" rtlCol="0" anchor="ctr"/>
          <a:lstStyle/>
          <a:p>
            <a:pPr algn="ctr">
              <a:lnSpc>
                <a:spcPct val="100000"/>
              </a:lnSpc>
            </a:pPr>
            <a:r>
              <a:rPr lang="en-US" sz="2250" b="1" dirty="0">
                <a:solidFill>
                  <a:srgbClr val="C4B7A6"/>
                </a:solidFill>
                <a:latin typeface="Liter" pitchFamily="34" charset="0"/>
                <a:ea typeface="Liter" pitchFamily="34" charset="-122"/>
                <a:cs typeface="Liter" pitchFamily="34" charset="-120"/>
              </a:rPr>
              <a:t>40%</a:t>
            </a:r>
            <a:endParaRPr lang="en-US" sz="1600" dirty="0"/>
          </a:p>
        </p:txBody>
      </p:sp>
      <p:sp>
        <p:nvSpPr>
          <p:cNvPr id="35" name="Text 33"/>
          <p:cNvSpPr/>
          <p:nvPr/>
        </p:nvSpPr>
        <p:spPr>
          <a:xfrm>
            <a:off x="4360813" y="5324475"/>
            <a:ext cx="3619500" cy="381000"/>
          </a:xfrm>
          <a:prstGeom prst="rect">
            <a:avLst/>
          </a:prstGeom>
          <a:noFill/>
          <a:ln/>
        </p:spPr>
        <p:txBody>
          <a:bodyPr wrap="square" lIns="0" tIns="0" rIns="0" bIns="0" rtlCol="0" anchor="ctr"/>
          <a:lstStyle/>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Tăng độ</a:t>
            </a:r>
            <a:endParaRPr lang="en-US" sz="1600" dirty="0"/>
          </a:p>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chính xác</a:t>
            </a:r>
            <a:endParaRPr lang="en-US" sz="1600" dirty="0"/>
          </a:p>
        </p:txBody>
      </p:sp>
      <p:sp>
        <p:nvSpPr>
          <p:cNvPr id="36" name="Shape 34"/>
          <p:cNvSpPr/>
          <p:nvPr/>
        </p:nvSpPr>
        <p:spPr>
          <a:xfrm>
            <a:off x="8121551" y="486727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8B8680"/>
          </a:solidFill>
          <a:ln/>
        </p:spPr>
      </p:sp>
      <p:sp>
        <p:nvSpPr>
          <p:cNvPr id="37" name="Text 35"/>
          <p:cNvSpPr/>
          <p:nvPr/>
        </p:nvSpPr>
        <p:spPr>
          <a:xfrm>
            <a:off x="8183463" y="4943475"/>
            <a:ext cx="3695700" cy="342900"/>
          </a:xfrm>
          <a:prstGeom prst="rect">
            <a:avLst/>
          </a:prstGeom>
          <a:noFill/>
          <a:ln/>
        </p:spPr>
        <p:txBody>
          <a:bodyPr wrap="square" lIns="0" tIns="0" rIns="0" bIns="0" rtlCol="0" anchor="ctr"/>
          <a:lstStyle/>
          <a:p>
            <a:pPr algn="ctr">
              <a:lnSpc>
                <a:spcPct val="100000"/>
              </a:lnSpc>
            </a:pPr>
            <a:r>
              <a:rPr lang="en-US" sz="2250" b="1" dirty="0">
                <a:solidFill>
                  <a:srgbClr val="8B8680"/>
                </a:solidFill>
                <a:latin typeface="Liter" pitchFamily="34" charset="0"/>
                <a:ea typeface="Liter" pitchFamily="34" charset="-122"/>
                <a:cs typeface="Liter" pitchFamily="34" charset="-120"/>
              </a:rPr>
              <a:t>60%</a:t>
            </a:r>
            <a:endParaRPr lang="en-US" sz="1600" dirty="0"/>
          </a:p>
        </p:txBody>
      </p:sp>
      <p:sp>
        <p:nvSpPr>
          <p:cNvPr id="38" name="Text 36"/>
          <p:cNvSpPr/>
          <p:nvPr/>
        </p:nvSpPr>
        <p:spPr>
          <a:xfrm>
            <a:off x="8221563" y="5324475"/>
            <a:ext cx="3619500" cy="381000"/>
          </a:xfrm>
          <a:prstGeom prst="rect">
            <a:avLst/>
          </a:prstGeom>
          <a:noFill/>
          <a:ln/>
        </p:spPr>
        <p:txBody>
          <a:bodyPr wrap="square" lIns="0" tIns="0" rIns="0" bIns="0" rtlCol="0" anchor="ctr"/>
          <a:lstStyle/>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Giảm thờI gian</a:t>
            </a:r>
            <a:endParaRPr lang="en-US" sz="1600" dirty="0"/>
          </a:p>
          <a:p>
            <a:pPr algn="ctr">
              <a:lnSpc>
                <a:spcPct val="120000"/>
              </a:lnSpc>
            </a:pPr>
            <a:r>
              <a:rPr lang="en-US" sz="1050" dirty="0">
                <a:solidFill>
                  <a:srgbClr val="3D3D3D"/>
                </a:solidFill>
                <a:latin typeface="思源宋体" pitchFamily="34" charset="0"/>
                <a:ea typeface="思源宋体" pitchFamily="34" charset="-122"/>
                <a:cs typeface="思源宋体" pitchFamily="34" charset="-120"/>
              </a:rPr>
              <a:t>chỉnh sửa</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pic>
        <p:nvPicPr>
          <p:cNvPr id="2" name="Image 0" descr="https://kimi-web-img.moonshot.cn/img/static.wixstatic.com/fbf9add9ff1d4e66173073c729fdfe03add2db5f.jpeg">    </p:cNvPr>
          <p:cNvPicPr>
            <a:picLocks noChangeAspect="1"/>
          </p:cNvPicPr>
          <p:nvPr/>
        </p:nvPicPr>
        <p:blipFill>
          <a:blip r:embed="rId1">
            <a:alphaModFix amt="1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AF9F6">
                  <a:alpha val="95000"/>
                </a:srgbClr>
              </a:gs>
              <a:gs pos="50000">
                <a:srgbClr val="FAF9F6">
                  <a:alpha val="90000"/>
                </a:srgbClr>
              </a:gs>
              <a:gs pos="100000">
                <a:srgbClr val="FAF9F6">
                  <a:alpha val="85000"/>
                </a:srgbClr>
              </a:gs>
            </a:gsLst>
            <a:lin ang="2700000" scaled="1"/>
          </a:gradFill>
          <a:ln/>
        </p:spPr>
      </p:sp>
      <p:sp>
        <p:nvSpPr>
          <p:cNvPr id="4" name="Shape 1"/>
          <p:cNvSpPr/>
          <p:nvPr/>
        </p:nvSpPr>
        <p:spPr>
          <a:xfrm>
            <a:off x="381000" y="12668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8680"/>
          </a:solidFill>
          <a:ln/>
        </p:spPr>
      </p:sp>
      <p:sp>
        <p:nvSpPr>
          <p:cNvPr id="5" name="Text 2"/>
          <p:cNvSpPr/>
          <p:nvPr/>
        </p:nvSpPr>
        <p:spPr>
          <a:xfrm>
            <a:off x="381000" y="1533525"/>
            <a:ext cx="11658600" cy="457200"/>
          </a:xfrm>
          <a:prstGeom prst="rect">
            <a:avLst/>
          </a:prstGeom>
          <a:noFill/>
          <a:ln/>
        </p:spPr>
        <p:txBody>
          <a:bodyPr wrap="square" lIns="0" tIns="0" rIns="0" bIns="0" rtlCol="0" anchor="ctr"/>
          <a:lstStyle/>
          <a:p>
            <a:pPr>
              <a:lnSpc>
                <a:spcPct val="80000"/>
              </a:lnSpc>
            </a:pPr>
            <a:r>
              <a:rPr lang="en-US" sz="3600" b="1" dirty="0">
                <a:solidFill>
                  <a:srgbClr val="1A1A1A"/>
                </a:solidFill>
                <a:latin typeface="思源宋体" pitchFamily="34" charset="0"/>
                <a:ea typeface="思源宋体" pitchFamily="34" charset="-122"/>
                <a:cs typeface="思源宋体" pitchFamily="34" charset="-120"/>
              </a:rPr>
              <a:t>Kết luận và Hướng phát triển</a:t>
            </a:r>
            <a:endParaRPr lang="en-US" sz="1600" dirty="0"/>
          </a:p>
        </p:txBody>
      </p:sp>
      <p:sp>
        <p:nvSpPr>
          <p:cNvPr id="6" name="Text 3"/>
          <p:cNvSpPr/>
          <p:nvPr/>
        </p:nvSpPr>
        <p:spPr>
          <a:xfrm>
            <a:off x="381000" y="2524125"/>
            <a:ext cx="56578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Tổng kết</a:t>
            </a:r>
            <a:endParaRPr lang="en-US" sz="1600" dirty="0"/>
          </a:p>
        </p:txBody>
      </p:sp>
      <p:sp>
        <p:nvSpPr>
          <p:cNvPr id="7" name="Shape 4"/>
          <p:cNvSpPr/>
          <p:nvPr/>
        </p:nvSpPr>
        <p:spPr>
          <a:xfrm>
            <a:off x="409575" y="29813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8680"/>
          </a:solidFill>
          <a:ln/>
        </p:spPr>
      </p:sp>
      <p:sp>
        <p:nvSpPr>
          <p:cNvPr id="8" name="Text 5"/>
          <p:cNvSpPr/>
          <p:nvPr/>
        </p:nvSpPr>
        <p:spPr>
          <a:xfrm>
            <a:off x="647700" y="2943225"/>
            <a:ext cx="51435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GenAI</a:t>
            </a:r>
            <a:pPr>
              <a:lnSpc>
                <a:spcPct val="130000"/>
              </a:lnSpc>
            </a:pPr>
            <a:r>
              <a:rPr lang="en-US" sz="1200" dirty="0">
                <a:solidFill>
                  <a:srgbClr val="3D3D3D"/>
                </a:solidFill>
                <a:latin typeface="思源宋体" pitchFamily="34" charset="0"/>
                <a:ea typeface="思源宋体" pitchFamily="34" charset="-122"/>
                <a:cs typeface="思源宋体" pitchFamily="34" charset="-120"/>
              </a:rPr>
              <a:t> đang trở thành xu thế trong lập trình</a:t>
            </a:r>
            <a:endParaRPr lang="en-US" sz="1600" dirty="0"/>
          </a:p>
        </p:txBody>
      </p:sp>
      <p:sp>
        <p:nvSpPr>
          <p:cNvPr id="9" name="Shape 6"/>
          <p:cNvSpPr/>
          <p:nvPr/>
        </p:nvSpPr>
        <p:spPr>
          <a:xfrm>
            <a:off x="409575" y="32861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C4B7A6"/>
          </a:solidFill>
          <a:ln/>
        </p:spPr>
      </p:sp>
      <p:sp>
        <p:nvSpPr>
          <p:cNvPr id="10" name="Text 7"/>
          <p:cNvSpPr/>
          <p:nvPr/>
        </p:nvSpPr>
        <p:spPr>
          <a:xfrm>
            <a:off x="645319" y="3248025"/>
            <a:ext cx="5372100" cy="4572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OpenAI API</a:t>
            </a:r>
            <a:pPr>
              <a:lnSpc>
                <a:spcPct val="130000"/>
              </a:lnSpc>
            </a:pPr>
            <a:r>
              <a:rPr lang="en-US" sz="1200" dirty="0">
                <a:solidFill>
                  <a:srgbClr val="3D3D3D"/>
                </a:solidFill>
                <a:latin typeface="思源宋体" pitchFamily="34" charset="0"/>
                <a:ea typeface="思源宋体" pitchFamily="34" charset="-122"/>
                <a:cs typeface="思源宋体" pitchFamily="34" charset="-120"/>
              </a:rPr>
              <a:t> cung cấp nền tảng tích hợp mạnh mẽ với kiến trúc bảo mật</a:t>
            </a:r>
            <a:endParaRPr lang="en-US" sz="1600" dirty="0"/>
          </a:p>
        </p:txBody>
      </p:sp>
      <p:sp>
        <p:nvSpPr>
          <p:cNvPr id="11" name="Shape 8"/>
          <p:cNvSpPr/>
          <p:nvPr/>
        </p:nvSpPr>
        <p:spPr>
          <a:xfrm>
            <a:off x="409575" y="38195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8680"/>
          </a:solidFill>
          <a:ln/>
        </p:spPr>
      </p:sp>
      <p:sp>
        <p:nvSpPr>
          <p:cNvPr id="12" name="Text 9"/>
          <p:cNvSpPr/>
          <p:nvPr/>
        </p:nvSpPr>
        <p:spPr>
          <a:xfrm>
            <a:off x="647700" y="3781425"/>
            <a:ext cx="49911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GitHub Copilot</a:t>
            </a:r>
            <a:pPr>
              <a:lnSpc>
                <a:spcPct val="130000"/>
              </a:lnSpc>
            </a:pPr>
            <a:r>
              <a:rPr lang="en-US" sz="1200" dirty="0">
                <a:solidFill>
                  <a:srgbClr val="3D3D3D"/>
                </a:solidFill>
                <a:latin typeface="思源宋体" pitchFamily="34" charset="0"/>
                <a:ea typeface="思源宋体" pitchFamily="34" charset="-122"/>
                <a:cs typeface="思源宋体" pitchFamily="34" charset="-120"/>
              </a:rPr>
              <a:t> là trợ lý pair-programming thông minh trong IDE</a:t>
            </a:r>
            <a:endParaRPr lang="en-US" sz="1600" dirty="0"/>
          </a:p>
        </p:txBody>
      </p:sp>
      <p:sp>
        <p:nvSpPr>
          <p:cNvPr id="13" name="Shape 10"/>
          <p:cNvSpPr/>
          <p:nvPr/>
        </p:nvSpPr>
        <p:spPr>
          <a:xfrm>
            <a:off x="409575" y="41243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C4B7A6"/>
          </a:solidFill>
          <a:ln/>
        </p:spPr>
      </p:sp>
      <p:sp>
        <p:nvSpPr>
          <p:cNvPr id="14" name="Text 11"/>
          <p:cNvSpPr/>
          <p:nvPr/>
        </p:nvSpPr>
        <p:spPr>
          <a:xfrm>
            <a:off x="647700" y="4086225"/>
            <a:ext cx="4657725"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Prompt Engineering</a:t>
            </a:r>
            <a:pPr>
              <a:lnSpc>
                <a:spcPct val="130000"/>
              </a:lnSpc>
            </a:pPr>
            <a:r>
              <a:rPr lang="en-US" sz="1200" dirty="0">
                <a:solidFill>
                  <a:srgbClr val="3D3D3D"/>
                </a:solidFill>
                <a:latin typeface="思源宋体" pitchFamily="34" charset="0"/>
                <a:ea typeface="思源宋体" pitchFamily="34" charset="-122"/>
                <a:cs typeface="思源宋体" pitchFamily="34" charset="-120"/>
              </a:rPr>
              <a:t> là kỹ năng then chốt để tối ưu hiệu quả</a:t>
            </a:r>
            <a:endParaRPr lang="en-US" sz="1600" dirty="0"/>
          </a:p>
        </p:txBody>
      </p:sp>
      <p:sp>
        <p:nvSpPr>
          <p:cNvPr id="15" name="Text 12"/>
          <p:cNvSpPr/>
          <p:nvPr/>
        </p:nvSpPr>
        <p:spPr>
          <a:xfrm>
            <a:off x="6248400" y="2524125"/>
            <a:ext cx="5657850" cy="266700"/>
          </a:xfrm>
          <a:prstGeom prst="rect">
            <a:avLst/>
          </a:prstGeom>
          <a:noFill/>
          <a:ln/>
        </p:spPr>
        <p:txBody>
          <a:bodyPr wrap="square" lIns="0" tIns="0" rIns="0" bIns="0" rtlCol="0" anchor="ctr"/>
          <a:lstStyle/>
          <a:p>
            <a:pPr>
              <a:lnSpc>
                <a:spcPct val="120000"/>
              </a:lnSpc>
            </a:pPr>
            <a:r>
              <a:rPr lang="en-US" sz="1500" b="1" dirty="0">
                <a:solidFill>
                  <a:srgbClr val="1A1A1A"/>
                </a:solidFill>
                <a:latin typeface="思源宋体" pitchFamily="34" charset="0"/>
                <a:ea typeface="思源宋体" pitchFamily="34" charset="-122"/>
                <a:cs typeface="思源宋体" pitchFamily="34" charset="-120"/>
              </a:rPr>
              <a:t>Hướng phát triển</a:t>
            </a:r>
            <a:endParaRPr lang="en-US" sz="1600" dirty="0"/>
          </a:p>
        </p:txBody>
      </p:sp>
      <p:sp>
        <p:nvSpPr>
          <p:cNvPr id="16" name="Shape 13"/>
          <p:cNvSpPr/>
          <p:nvPr/>
        </p:nvSpPr>
        <p:spPr>
          <a:xfrm>
            <a:off x="6267450" y="2981325"/>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8B8680"/>
          </a:solidFill>
          <a:ln/>
        </p:spPr>
      </p:sp>
      <p:sp>
        <p:nvSpPr>
          <p:cNvPr id="17" name="Text 14"/>
          <p:cNvSpPr/>
          <p:nvPr/>
        </p:nvSpPr>
        <p:spPr>
          <a:xfrm>
            <a:off x="6515100" y="2943225"/>
            <a:ext cx="47244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Tích hợp GenAI vào CI/CD</a:t>
            </a:r>
            <a:pPr>
              <a:lnSpc>
                <a:spcPct val="130000"/>
              </a:lnSpc>
            </a:pPr>
            <a:r>
              <a:rPr lang="en-US" sz="1200" dirty="0">
                <a:solidFill>
                  <a:srgbClr val="3D3D3D"/>
                </a:solidFill>
                <a:latin typeface="思源宋体" pitchFamily="34" charset="0"/>
                <a:ea typeface="思源宋体" pitchFamily="34" charset="-122"/>
                <a:cs typeface="思源宋体" pitchFamily="34" charset="-120"/>
              </a:rPr>
              <a:t>: Tự động hóa testing, deployment</a:t>
            </a:r>
            <a:endParaRPr lang="en-US" sz="1600" dirty="0"/>
          </a:p>
        </p:txBody>
      </p:sp>
      <p:sp>
        <p:nvSpPr>
          <p:cNvPr id="18" name="Shape 15"/>
          <p:cNvSpPr/>
          <p:nvPr/>
        </p:nvSpPr>
        <p:spPr>
          <a:xfrm>
            <a:off x="6267450" y="3286125"/>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4B7A6"/>
          </a:solidFill>
          <a:ln/>
        </p:spPr>
      </p:sp>
      <p:sp>
        <p:nvSpPr>
          <p:cNvPr id="19" name="Text 16"/>
          <p:cNvSpPr/>
          <p:nvPr/>
        </p:nvSpPr>
        <p:spPr>
          <a:xfrm>
            <a:off x="6515100" y="3248025"/>
            <a:ext cx="44577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Fine-tuning mô hình nội bộ</a:t>
            </a:r>
            <a:pPr>
              <a:lnSpc>
                <a:spcPct val="130000"/>
              </a:lnSpc>
            </a:pPr>
            <a:r>
              <a:rPr lang="en-US" sz="1200" dirty="0">
                <a:solidFill>
                  <a:srgbClr val="3D3D3D"/>
                </a:solidFill>
                <a:latin typeface="思源宋体" pitchFamily="34" charset="0"/>
                <a:ea typeface="思源宋体" pitchFamily="34" charset="-122"/>
                <a:cs typeface="思源宋体" pitchFamily="34" charset="-120"/>
              </a:rPr>
              <a:t>: Custom models cho tổ chức</a:t>
            </a:r>
            <a:endParaRPr lang="en-US" sz="1600" dirty="0"/>
          </a:p>
        </p:txBody>
      </p:sp>
      <p:sp>
        <p:nvSpPr>
          <p:cNvPr id="20" name="Shape 17"/>
          <p:cNvSpPr/>
          <p:nvPr/>
        </p:nvSpPr>
        <p:spPr>
          <a:xfrm>
            <a:off x="6267450" y="3590925"/>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8B8680"/>
          </a:solidFill>
          <a:ln/>
        </p:spPr>
      </p:sp>
      <p:sp>
        <p:nvSpPr>
          <p:cNvPr id="21" name="Text 18"/>
          <p:cNvSpPr/>
          <p:nvPr/>
        </p:nvSpPr>
        <p:spPr>
          <a:xfrm>
            <a:off x="6515100" y="3552825"/>
            <a:ext cx="46863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DevSecOps với AI</a:t>
            </a:r>
            <a:pPr>
              <a:lnSpc>
                <a:spcPct val="130000"/>
              </a:lnSpc>
            </a:pPr>
            <a:r>
              <a:rPr lang="en-US" sz="1200" dirty="0">
                <a:solidFill>
                  <a:srgbClr val="3D3D3D"/>
                </a:solidFill>
                <a:latin typeface="思源宋体" pitchFamily="34" charset="0"/>
                <a:ea typeface="思源宋体" pitchFamily="34" charset="-122"/>
                <a:cs typeface="思源宋体" pitchFamily="34" charset="-120"/>
              </a:rPr>
              <a:t>: Security scanning, vulnerability detection</a:t>
            </a:r>
            <a:endParaRPr lang="en-US" sz="1600" dirty="0"/>
          </a:p>
        </p:txBody>
      </p:sp>
      <p:sp>
        <p:nvSpPr>
          <p:cNvPr id="22" name="Shape 19"/>
          <p:cNvSpPr/>
          <p:nvPr/>
        </p:nvSpPr>
        <p:spPr>
          <a:xfrm>
            <a:off x="6267450" y="3895725"/>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4B7A6"/>
          </a:solidFill>
          <a:ln/>
        </p:spPr>
      </p:sp>
      <p:sp>
        <p:nvSpPr>
          <p:cNvPr id="23" name="Text 20"/>
          <p:cNvSpPr/>
          <p:nvPr/>
        </p:nvSpPr>
        <p:spPr>
          <a:xfrm>
            <a:off x="6515100" y="3857625"/>
            <a:ext cx="5067300" cy="228600"/>
          </a:xfrm>
          <a:prstGeom prst="rect">
            <a:avLst/>
          </a:prstGeom>
          <a:noFill/>
          <a:ln/>
        </p:spPr>
        <p:txBody>
          <a:bodyPr wrap="square" lIns="0" tIns="0" rIns="0" bIns="0" rtlCol="0" anchor="ctr"/>
          <a:lstStyle/>
          <a:p>
            <a:pPr>
              <a:lnSpc>
                <a:spcPct val="130000"/>
              </a:lnSpc>
            </a:pPr>
            <a:r>
              <a:rPr lang="en-US" sz="1200" b="1" dirty="0">
                <a:solidFill>
                  <a:srgbClr val="1A1A1A"/>
                </a:solidFill>
                <a:latin typeface="思源宋体" pitchFamily="34" charset="0"/>
                <a:ea typeface="思源宋体" pitchFamily="34" charset="-122"/>
                <a:cs typeface="思源宋体" pitchFamily="34" charset="-120"/>
              </a:rPr>
              <a:t>AI-Native Development</a:t>
            </a:r>
            <a:pPr>
              <a:lnSpc>
                <a:spcPct val="130000"/>
              </a:lnSpc>
            </a:pPr>
            <a:r>
              <a:rPr lang="en-US" sz="1200" dirty="0">
                <a:solidFill>
                  <a:srgbClr val="3D3D3D"/>
                </a:solidFill>
                <a:latin typeface="思源宋体" pitchFamily="34" charset="0"/>
                <a:ea typeface="思源宋体" pitchFamily="34" charset="-122"/>
                <a:cs typeface="思源宋体" pitchFamily="34" charset="-120"/>
              </a:rPr>
              <a:t>: Quy trình phát triển hoàn toàn AI-driven</a:t>
            </a:r>
            <a:endParaRPr lang="en-US" sz="1600" dirty="0"/>
          </a:p>
        </p:txBody>
      </p:sp>
      <p:sp>
        <p:nvSpPr>
          <p:cNvPr id="24" name="Shape 21"/>
          <p:cNvSpPr/>
          <p:nvPr/>
        </p:nvSpPr>
        <p:spPr>
          <a:xfrm>
            <a:off x="381000" y="4629150"/>
            <a:ext cx="11430000" cy="19050"/>
          </a:xfrm>
          <a:custGeom>
            <a:avLst/>
            <a:gdLst/>
            <a:ahLst/>
            <a:cxnLst/>
            <a:rect l="l" t="t" r="r" b="b"/>
            <a:pathLst>
              <a:path w="11430000" h="19050">
                <a:moveTo>
                  <a:pt x="0" y="0"/>
                </a:moveTo>
                <a:lnTo>
                  <a:pt x="11430000" y="0"/>
                </a:lnTo>
                <a:lnTo>
                  <a:pt x="11430000" y="19050"/>
                </a:lnTo>
                <a:lnTo>
                  <a:pt x="0" y="19050"/>
                </a:lnTo>
                <a:lnTo>
                  <a:pt x="0" y="0"/>
                </a:lnTo>
                <a:close/>
              </a:path>
            </a:pathLst>
          </a:custGeom>
          <a:solidFill>
            <a:srgbClr val="C4B7A6">
              <a:alpha val="40000"/>
            </a:srgbClr>
          </a:solidFill>
          <a:ln/>
        </p:spPr>
      </p:sp>
      <p:sp>
        <p:nvSpPr>
          <p:cNvPr id="25" name="Text 22"/>
          <p:cNvSpPr/>
          <p:nvPr/>
        </p:nvSpPr>
        <p:spPr>
          <a:xfrm>
            <a:off x="309563" y="4867275"/>
            <a:ext cx="11572875" cy="342900"/>
          </a:xfrm>
          <a:prstGeom prst="rect">
            <a:avLst/>
          </a:prstGeom>
          <a:noFill/>
          <a:ln/>
        </p:spPr>
        <p:txBody>
          <a:bodyPr wrap="square" lIns="0" tIns="0" rIns="0" bIns="0" rtlCol="0" anchor="ctr"/>
          <a:lstStyle/>
          <a:p>
            <a:pPr algn="ctr">
              <a:lnSpc>
                <a:spcPct val="100000"/>
              </a:lnSpc>
            </a:pPr>
            <a:r>
              <a:rPr lang="en-US" sz="2250" b="1" dirty="0">
                <a:solidFill>
                  <a:srgbClr val="1A1A1A"/>
                </a:solidFill>
                <a:latin typeface="思源宋体" pitchFamily="34" charset="0"/>
                <a:ea typeface="思源宋体" pitchFamily="34" charset="-122"/>
                <a:cs typeface="思源宋体" pitchFamily="34" charset="-120"/>
              </a:rPr>
              <a:t>Cảm ơn thầy và các bạn đã lắng nghe!</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với Generative AI</dc:title>
  <dc:subject>Cơ sở lập trình với Generative AI</dc:subject>
  <dc:creator>Kimi</dc:creator>
  <cp:lastModifiedBy>Kimi</cp:lastModifiedBy>
  <cp:revision>1</cp:revision>
  <dcterms:created xsi:type="dcterms:W3CDTF">2026-03-12T14:50:48Z</dcterms:created>
  <dcterms:modified xsi:type="dcterms:W3CDTF">2026-03-12T14:50:48Z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{"Label":"Cơ sở lập trình với Generative AI","ContentProducer":"001191110108MACG2KBH8F10000","ProduceID":"19ce2706-f1e2-8040-8000-0000639ee4e2","ReservedCode1":"","ContentPropagator":"001191110108MACG2KBH8F20000","PropagateID":"19ce2706-f1e2-8040-8000-0000639ee4e2","ReservedCode2":""}</vt:lpwstr>
  </property>
</Properties>
</file>