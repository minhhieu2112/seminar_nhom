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x="18288000" cy="10287000"/>
  <p:notesSz cx="6858000" cy="9144000"/>
  <p:embeddedFontLst>
    <p:embeddedFont>
      <p:font typeface="Arimo" charset="1" panose="020B0604020202020204"/>
      <p:regular r:id="rId55"/>
    </p:embeddedFont>
    <p:embeddedFont>
      <p:font typeface="Poppins" charset="1" panose="00000500000000000000"/>
      <p:regular r:id="rId56"/>
    </p:embeddedFont>
    <p:embeddedFont>
      <p:font typeface="Inter" charset="1" panose="02000503000000020004"/>
      <p:regular r:id="rId82"/>
    </p:embeddedFont>
    <p:embeddedFont>
      <p:font typeface="Inter Bold" charset="1" panose="02000503000000020004"/>
      <p:regular r:id="rId8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43.xml" Type="http://schemas.openxmlformats.org/officeDocument/2006/relationships/notesSlide"/><Relationship Id="rId101" Target="notesSlides/notesSlide44.xml" Type="http://schemas.openxmlformats.org/officeDocument/2006/relationships/notesSlide"/><Relationship Id="rId102" Target="notesSlides/notesSlide45.xml" Type="http://schemas.openxmlformats.org/officeDocument/2006/relationships/notesSlide"/><Relationship Id="rId103" Target="notesSlides/notesSlide46.xml" Type="http://schemas.openxmlformats.org/officeDocument/2006/relationships/note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notesMasters/notesMaster1.xml" Type="http://schemas.openxmlformats.org/officeDocument/2006/relationships/notesMaster"/><Relationship Id="rId53" Target="theme/theme2.xml" Type="http://schemas.openxmlformats.org/officeDocument/2006/relationships/theme"/><Relationship Id="rId54" Target="notesSlides/notesSlide1.xml" Type="http://schemas.openxmlformats.org/officeDocument/2006/relationships/notesSlide"/><Relationship Id="rId55" Target="fonts/font55.fntdata" Type="http://schemas.openxmlformats.org/officeDocument/2006/relationships/font"/><Relationship Id="rId56" Target="fonts/font56.fntdata" Type="http://schemas.openxmlformats.org/officeDocument/2006/relationships/font"/><Relationship Id="rId57" Target="notesSlides/notesSlide2.xml" Type="http://schemas.openxmlformats.org/officeDocument/2006/relationships/notesSlide"/><Relationship Id="rId58" Target="notesSlides/notesSlide3.xml" Type="http://schemas.openxmlformats.org/officeDocument/2006/relationships/notesSlide"/><Relationship Id="rId59" Target="notesSlides/notesSlide4.xml" Type="http://schemas.openxmlformats.org/officeDocument/2006/relationships/notesSlide"/><Relationship Id="rId6" Target="slides/slide1.xml" Type="http://schemas.openxmlformats.org/officeDocument/2006/relationships/slide"/><Relationship Id="rId60" Target="notesSlides/notesSlide5.xml" Type="http://schemas.openxmlformats.org/officeDocument/2006/relationships/notesSlide"/><Relationship Id="rId61" Target="notesSlides/notesSlide6.xml" Type="http://schemas.openxmlformats.org/officeDocument/2006/relationships/notesSlide"/><Relationship Id="rId62" Target="notesSlides/notesSlide7.xml" Type="http://schemas.openxmlformats.org/officeDocument/2006/relationships/notesSlide"/><Relationship Id="rId63" Target="notesSlides/notesSlide8.xml" Type="http://schemas.openxmlformats.org/officeDocument/2006/relationships/notesSlide"/><Relationship Id="rId64" Target="notesSlides/notesSlide9.xml" Type="http://schemas.openxmlformats.org/officeDocument/2006/relationships/notesSlide"/><Relationship Id="rId65" Target="notesSlides/notesSlide10.xml" Type="http://schemas.openxmlformats.org/officeDocument/2006/relationships/notesSlide"/><Relationship Id="rId66" Target="notesSlides/notesSlide11.xml" Type="http://schemas.openxmlformats.org/officeDocument/2006/relationships/notesSlide"/><Relationship Id="rId67" Target="notesSlides/notesSlide12.xml" Type="http://schemas.openxmlformats.org/officeDocument/2006/relationships/notesSlide"/><Relationship Id="rId68" Target="notesSlides/notesSlide13.xml" Type="http://schemas.openxmlformats.org/officeDocument/2006/relationships/notesSlide"/><Relationship Id="rId69" Target="notesSlides/notesSlide14.xml" Type="http://schemas.openxmlformats.org/officeDocument/2006/relationships/notesSlide"/><Relationship Id="rId7" Target="slides/slide2.xml" Type="http://schemas.openxmlformats.org/officeDocument/2006/relationships/slide"/><Relationship Id="rId70" Target="notesSlides/notesSlide15.xml" Type="http://schemas.openxmlformats.org/officeDocument/2006/relationships/notesSlide"/><Relationship Id="rId71" Target="notesSlides/notesSlide16.xml" Type="http://schemas.openxmlformats.org/officeDocument/2006/relationships/notesSlide"/><Relationship Id="rId72" Target="notesSlides/notesSlide17.xml" Type="http://schemas.openxmlformats.org/officeDocument/2006/relationships/notesSlide"/><Relationship Id="rId73" Target="notesSlides/notesSlide18.xml" Type="http://schemas.openxmlformats.org/officeDocument/2006/relationships/notesSlide"/><Relationship Id="rId74" Target="notesSlides/notesSlide19.xml" Type="http://schemas.openxmlformats.org/officeDocument/2006/relationships/notesSlide"/><Relationship Id="rId75" Target="notesSlides/notesSlide20.xml" Type="http://schemas.openxmlformats.org/officeDocument/2006/relationships/notesSlide"/><Relationship Id="rId76" Target="notesSlides/notesSlide21.xml" Type="http://schemas.openxmlformats.org/officeDocument/2006/relationships/notesSlide"/><Relationship Id="rId77" Target="notesSlides/notesSlide22.xml" Type="http://schemas.openxmlformats.org/officeDocument/2006/relationships/notesSlide"/><Relationship Id="rId78" Target="notesSlides/notesSlide23.xml" Type="http://schemas.openxmlformats.org/officeDocument/2006/relationships/notesSlide"/><Relationship Id="rId79" Target="notesSlides/notesSlide24.xml" Type="http://schemas.openxmlformats.org/officeDocument/2006/relationships/notesSlide"/><Relationship Id="rId8" Target="slides/slide3.xml" Type="http://schemas.openxmlformats.org/officeDocument/2006/relationships/slide"/><Relationship Id="rId80" Target="notesSlides/notesSlide25.xml" Type="http://schemas.openxmlformats.org/officeDocument/2006/relationships/notesSlide"/><Relationship Id="rId81" Target="notesSlides/notesSlide26.xml" Type="http://schemas.openxmlformats.org/officeDocument/2006/relationships/notesSlide"/><Relationship Id="rId82" Target="fonts/font82.fntdata" Type="http://schemas.openxmlformats.org/officeDocument/2006/relationships/font"/><Relationship Id="rId83" Target="fonts/font83.fntdata" Type="http://schemas.openxmlformats.org/officeDocument/2006/relationships/font"/><Relationship Id="rId84" Target="notesSlides/notesSlide27.xml" Type="http://schemas.openxmlformats.org/officeDocument/2006/relationships/notesSlide"/><Relationship Id="rId85" Target="notesSlides/notesSlide28.xml" Type="http://schemas.openxmlformats.org/officeDocument/2006/relationships/notesSlide"/><Relationship Id="rId86" Target="notesSlides/notesSlide29.xml" Type="http://schemas.openxmlformats.org/officeDocument/2006/relationships/notesSlide"/><Relationship Id="rId87" Target="notesSlides/notesSlide30.xml" Type="http://schemas.openxmlformats.org/officeDocument/2006/relationships/notesSlide"/><Relationship Id="rId88" Target="notesSlides/notesSlide31.xml" Type="http://schemas.openxmlformats.org/officeDocument/2006/relationships/notesSlide"/><Relationship Id="rId89" Target="notesSlides/notesSlide32.xml" Type="http://schemas.openxmlformats.org/officeDocument/2006/relationships/notesSlide"/><Relationship Id="rId9" Target="slides/slide4.xml" Type="http://schemas.openxmlformats.org/officeDocument/2006/relationships/slide"/><Relationship Id="rId90" Target="notesSlides/notesSlide33.xml" Type="http://schemas.openxmlformats.org/officeDocument/2006/relationships/notesSlide"/><Relationship Id="rId91" Target="notesSlides/notesSlide34.xml" Type="http://schemas.openxmlformats.org/officeDocument/2006/relationships/notesSlide"/><Relationship Id="rId92" Target="notesSlides/notesSlide35.xml" Type="http://schemas.openxmlformats.org/officeDocument/2006/relationships/notesSlide"/><Relationship Id="rId93" Target="notesSlides/notesSlide36.xml" Type="http://schemas.openxmlformats.org/officeDocument/2006/relationships/notesSlide"/><Relationship Id="rId94" Target="notesSlides/notesSlide37.xml" Type="http://schemas.openxmlformats.org/officeDocument/2006/relationships/notesSlide"/><Relationship Id="rId95" Target="notesSlides/notesSlide38.xml" Type="http://schemas.openxmlformats.org/officeDocument/2006/relationships/notesSlide"/><Relationship Id="rId96" Target="notesSlides/notesSlide39.xml" Type="http://schemas.openxmlformats.org/officeDocument/2006/relationships/notesSlide"/><Relationship Id="rId97" Target="notesSlides/notesSlide40.xml" Type="http://schemas.openxmlformats.org/officeDocument/2006/relationships/notesSlide"/><Relationship Id="rId98" Target="notesSlides/notesSlide41.xml" Type="http://schemas.openxmlformats.org/officeDocument/2006/relationships/notesSlide"/><Relationship Id="rId99" Target="notesSlides/notesSlide42.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notesSlides/notesSlide4.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7.png" Type="http://schemas.openxmlformats.org/officeDocument/2006/relationships/image"/><Relationship Id="rId4"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4.png" Type="http://schemas.openxmlformats.org/officeDocument/2006/relationships/image"/><Relationship Id="rId4" Target="../media/image2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3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3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3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4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41.pn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 Id="rId6" Target="../media/image4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4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4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4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48.png" Type="http://schemas.openxmlformats.org/officeDocument/2006/relationships/image"/><Relationship Id="rId4" Target="../embeddings/oleObject1.bin" Type="http://schemas.openxmlformats.org/officeDocument/2006/relationships/oleObjec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4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50.pn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53.png" Type="http://schemas.openxmlformats.org/officeDocument/2006/relationships/image"/><Relationship Id="rId4" Target="../media/image54.png" Type="http://schemas.openxmlformats.org/officeDocument/2006/relationships/image"/><Relationship Id="rId5" Target="../media/image55.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svg" Type="http://schemas.openxmlformats.org/officeDocument/2006/relationships/image"/><Relationship Id="rId11" Target="../media/image64.png" Type="http://schemas.openxmlformats.org/officeDocument/2006/relationships/image"/><Relationship Id="rId12" Target="../media/image65.svg" Type="http://schemas.openxmlformats.org/officeDocument/2006/relationships/image"/><Relationship Id="rId2" Target="../notesSlides/notesSlide46.xml" Type="http://schemas.openxmlformats.org/officeDocument/2006/relationships/notesSlide"/><Relationship Id="rId3" Target="../media/image56.png" Type="http://schemas.openxmlformats.org/officeDocument/2006/relationships/image"/><Relationship Id="rId4" Target="../media/image57.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media/image62.png" Type="http://schemas.openxmlformats.org/officeDocument/2006/relationships/image"/></Relationships>
</file>

<file path=ppt/slides/slide1.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5400012"/>
        </a:gradFill>
      </p:bgPr>
    </p:bg>
    <p:spTree>
      <p:nvGrpSpPr>
        <p:cNvPr id="1" name=""/>
        <p:cNvGrpSpPr/>
        <p:nvPr/>
      </p:nvGrpSpPr>
      <p:grpSpPr>
        <a:xfrm>
          <a:off x="0" y="0"/>
          <a:ext cx="0" cy="0"/>
          <a:chOff x="0" y="0"/>
          <a:chExt cx="0" cy="0"/>
        </a:xfrm>
      </p:grpSpPr>
      <p:grpSp>
        <p:nvGrpSpPr>
          <p:cNvPr name="Group 2" id="2"/>
          <p:cNvGrpSpPr/>
          <p:nvPr/>
        </p:nvGrpSpPr>
        <p:grpSpPr>
          <a:xfrm rot="-10800000">
            <a:off x="0" y="0"/>
            <a:ext cx="5715000" cy="642600"/>
            <a:chOff x="0" y="0"/>
            <a:chExt cx="7620000" cy="856800"/>
          </a:xfrm>
        </p:grpSpPr>
        <p:sp>
          <p:nvSpPr>
            <p:cNvPr name="Freeform 3" id="3"/>
            <p:cNvSpPr/>
            <p:nvPr/>
          </p:nvSpPr>
          <p:spPr>
            <a:xfrm flipH="false" flipV="false" rot="0">
              <a:off x="0" y="0"/>
              <a:ext cx="7620000" cy="856742"/>
            </a:xfrm>
            <a:custGeom>
              <a:avLst/>
              <a:gdLst/>
              <a:ahLst/>
              <a:cxnLst/>
              <a:rect r="r" b="b" t="t" l="l"/>
              <a:pathLst>
                <a:path h="856742" w="7620000">
                  <a:moveTo>
                    <a:pt x="7620000" y="0"/>
                  </a:moveTo>
                  <a:lnTo>
                    <a:pt x="428371" y="0"/>
                  </a:lnTo>
                  <a:cubicBezTo>
                    <a:pt x="191770" y="0"/>
                    <a:pt x="0" y="191770"/>
                    <a:pt x="0" y="428371"/>
                  </a:cubicBezTo>
                  <a:lnTo>
                    <a:pt x="0" y="856742"/>
                  </a:lnTo>
                  <a:lnTo>
                    <a:pt x="762000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4" id="4"/>
          <p:cNvGrpSpPr/>
          <p:nvPr/>
        </p:nvGrpSpPr>
        <p:grpSpPr>
          <a:xfrm rot="0">
            <a:off x="15061800" y="964425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sp>
        <p:nvSpPr>
          <p:cNvPr name="TextBox 6" id="6"/>
          <p:cNvSpPr txBox="true"/>
          <p:nvPr/>
        </p:nvSpPr>
        <p:spPr>
          <a:xfrm rot="0">
            <a:off x="1416965" y="3952075"/>
            <a:ext cx="8077864" cy="1971675"/>
          </a:xfrm>
          <a:prstGeom prst="rect">
            <a:avLst/>
          </a:prstGeom>
        </p:spPr>
        <p:txBody>
          <a:bodyPr anchor="t" rtlCol="false" tIns="0" lIns="0" bIns="0" rIns="0">
            <a:spAutoFit/>
          </a:bodyPr>
          <a:lstStyle/>
          <a:p>
            <a:pPr algn="l">
              <a:lnSpc>
                <a:spcPts val="7679"/>
              </a:lnSpc>
            </a:pPr>
            <a:r>
              <a:rPr lang="en-US" sz="6399">
                <a:solidFill>
                  <a:srgbClr val="D149CE"/>
                </a:solidFill>
                <a:latin typeface="Arimo"/>
                <a:ea typeface="Arimo"/>
                <a:cs typeface="Arimo"/>
                <a:sym typeface="Arimo"/>
              </a:rPr>
              <a:t>Xây dựng phần mềm với GenAI</a:t>
            </a:r>
          </a:p>
        </p:txBody>
      </p:sp>
      <p:sp>
        <p:nvSpPr>
          <p:cNvPr name="TextBox 7" id="7"/>
          <p:cNvSpPr txBox="true"/>
          <p:nvPr/>
        </p:nvSpPr>
        <p:spPr>
          <a:xfrm rot="0">
            <a:off x="1416925" y="1788175"/>
            <a:ext cx="7626125" cy="1876425"/>
          </a:xfrm>
          <a:prstGeom prst="rect">
            <a:avLst/>
          </a:prstGeom>
        </p:spPr>
        <p:txBody>
          <a:bodyPr anchor="t" rtlCol="false" tIns="0" lIns="0" bIns="0" rIns="0">
            <a:spAutoFit/>
          </a:bodyPr>
          <a:lstStyle/>
          <a:p>
            <a:pPr algn="l">
              <a:lnSpc>
                <a:spcPts val="14400"/>
              </a:lnSpc>
            </a:pPr>
            <a:r>
              <a:rPr lang="en-US" sz="12000">
                <a:solidFill>
                  <a:srgbClr val="D149CE"/>
                </a:solidFill>
                <a:latin typeface="Arimo"/>
                <a:ea typeface="Arimo"/>
                <a:cs typeface="Arimo"/>
                <a:sym typeface="Arimo"/>
              </a:rPr>
              <a:t>Semiar</a:t>
            </a:r>
          </a:p>
        </p:txBody>
      </p:sp>
      <p:grpSp>
        <p:nvGrpSpPr>
          <p:cNvPr name="Group 8" id="8"/>
          <p:cNvGrpSpPr/>
          <p:nvPr/>
        </p:nvGrpSpPr>
        <p:grpSpPr>
          <a:xfrm rot="0">
            <a:off x="14216400" y="9206700"/>
            <a:ext cx="1275000" cy="1275000"/>
            <a:chOff x="0" y="0"/>
            <a:chExt cx="1700000" cy="1700000"/>
          </a:xfrm>
        </p:grpSpPr>
        <p:sp>
          <p:nvSpPr>
            <p:cNvPr name="Freeform 9" id="9"/>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0" id="10"/>
          <p:cNvGrpSpPr/>
          <p:nvPr/>
        </p:nvGrpSpPr>
        <p:grpSpPr>
          <a:xfrm rot="0">
            <a:off x="15491400" y="-1483200"/>
            <a:ext cx="4325400" cy="4325400"/>
            <a:chOff x="0" y="0"/>
            <a:chExt cx="5767200" cy="5767200"/>
          </a:xfrm>
        </p:grpSpPr>
        <p:sp>
          <p:nvSpPr>
            <p:cNvPr name="Freeform 11" id="11"/>
            <p:cNvSpPr/>
            <p:nvPr/>
          </p:nvSpPr>
          <p:spPr>
            <a:xfrm flipH="false" flipV="false" rot="0">
              <a:off x="0" y="0"/>
              <a:ext cx="5767197" cy="5767197"/>
            </a:xfrm>
            <a:custGeom>
              <a:avLst/>
              <a:gdLst/>
              <a:ahLst/>
              <a:cxnLst/>
              <a:rect r="r" b="b" t="t" l="l"/>
              <a:pathLst>
                <a:path h="5767197" w="5767197">
                  <a:moveTo>
                    <a:pt x="0" y="2883662"/>
                  </a:moveTo>
                  <a:cubicBezTo>
                    <a:pt x="0" y="1291082"/>
                    <a:pt x="1291082" y="0"/>
                    <a:pt x="2883662" y="0"/>
                  </a:cubicBezTo>
                  <a:cubicBezTo>
                    <a:pt x="4476242" y="0"/>
                    <a:pt x="5767197" y="1291082"/>
                    <a:pt x="5767197" y="2883662"/>
                  </a:cubicBezTo>
                  <a:cubicBezTo>
                    <a:pt x="5767197" y="4476242"/>
                    <a:pt x="4476115" y="5767197"/>
                    <a:pt x="2883662" y="5767197"/>
                  </a:cubicBezTo>
                  <a:cubicBezTo>
                    <a:pt x="1291209" y="5767197"/>
                    <a:pt x="0" y="4476115"/>
                    <a:pt x="0" y="2883662"/>
                  </a:cubicBezTo>
                  <a:close/>
                </a:path>
              </a:pathLst>
            </a:custGeom>
            <a:gradFill rotWithShape="true">
              <a:gsLst>
                <a:gs pos="0">
                  <a:srgbClr val="D149CE">
                    <a:alpha val="100000"/>
                  </a:srgbClr>
                </a:gs>
                <a:gs pos="100000">
                  <a:srgbClr val="43309F">
                    <a:alpha val="100000"/>
                  </a:srgbClr>
                </a:gs>
              </a:gsLst>
              <a:lin ang="5400012"/>
            </a:gradFill>
          </p:spPr>
        </p:sp>
      </p:grpSp>
      <p:sp>
        <p:nvSpPr>
          <p:cNvPr name="AutoShape 12" id="12"/>
          <p:cNvSpPr/>
          <p:nvPr/>
        </p:nvSpPr>
        <p:spPr>
          <a:xfrm>
            <a:off x="1416965" y="3961600"/>
            <a:ext cx="2271450" cy="19050"/>
          </a:xfrm>
          <a:prstGeom prst="line">
            <a:avLst/>
          </a:prstGeom>
          <a:ln cap="rnd" w="9525">
            <a:solidFill>
              <a:srgbClr val="000000"/>
            </a:solidFill>
            <a:prstDash val="solid"/>
            <a:headEnd type="none" len="sm" w="sm"/>
            <a:tailEnd type="none" len="sm" w="sm"/>
          </a:ln>
        </p:spPr>
      </p:sp>
      <p:grpSp>
        <p:nvGrpSpPr>
          <p:cNvPr name="Group 13" id="13"/>
          <p:cNvGrpSpPr/>
          <p:nvPr/>
        </p:nvGrpSpPr>
        <p:grpSpPr>
          <a:xfrm rot="0">
            <a:off x="-3214150" y="6833800"/>
            <a:ext cx="5962800" cy="5962800"/>
            <a:chOff x="0" y="0"/>
            <a:chExt cx="7950400" cy="7950400"/>
          </a:xfrm>
        </p:grpSpPr>
        <p:sp>
          <p:nvSpPr>
            <p:cNvPr name="Freeform 14" id="14"/>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15" id="15"/>
          <p:cNvGrpSpPr/>
          <p:nvPr/>
        </p:nvGrpSpPr>
        <p:grpSpPr>
          <a:xfrm rot="0">
            <a:off x="1593401" y="8991000"/>
            <a:ext cx="2981400" cy="2981400"/>
            <a:chOff x="0" y="0"/>
            <a:chExt cx="3975200" cy="3975200"/>
          </a:xfrm>
        </p:grpSpPr>
        <p:sp>
          <p:nvSpPr>
            <p:cNvPr name="Freeform 16" id="16"/>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AutoShape 17" id="17"/>
          <p:cNvSpPr/>
          <p:nvPr/>
        </p:nvSpPr>
        <p:spPr>
          <a:xfrm>
            <a:off x="9713910" y="2591270"/>
            <a:ext cx="0" cy="5124730"/>
          </a:xfrm>
          <a:prstGeom prst="line">
            <a:avLst/>
          </a:prstGeom>
          <a:ln cap="rnd" w="9525">
            <a:solidFill>
              <a:srgbClr val="000000"/>
            </a:solidFill>
            <a:prstDash val="solid"/>
            <a:headEnd type="none" len="sm" w="sm"/>
            <a:tailEnd type="none" len="sm" w="sm"/>
          </a:ln>
        </p:spPr>
      </p:sp>
      <p:sp>
        <p:nvSpPr>
          <p:cNvPr name="TextBox 18" id="18"/>
          <p:cNvSpPr txBox="true"/>
          <p:nvPr/>
        </p:nvSpPr>
        <p:spPr>
          <a:xfrm rot="0">
            <a:off x="10542861" y="4249158"/>
            <a:ext cx="7244728" cy="3057525"/>
          </a:xfrm>
          <a:prstGeom prst="rect">
            <a:avLst/>
          </a:prstGeom>
        </p:spPr>
        <p:txBody>
          <a:bodyPr anchor="t" rtlCol="false" tIns="0" lIns="0" bIns="0" rIns="0">
            <a:spAutoFit/>
          </a:bodyPr>
          <a:lstStyle/>
          <a:p>
            <a:pPr algn="just">
              <a:lnSpc>
                <a:spcPts val="4799"/>
              </a:lnSpc>
            </a:pPr>
            <a:r>
              <a:rPr lang="en-US" sz="3999">
                <a:gradFill>
                  <a:gsLst>
                    <a:gs pos="0">
                      <a:srgbClr val="D149CE">
                        <a:alpha val="100000"/>
                      </a:srgbClr>
                    </a:gs>
                    <a:gs pos="100000">
                      <a:srgbClr val="43309F">
                        <a:alpha val="100000"/>
                      </a:srgbClr>
                    </a:gs>
                  </a:gsLst>
                  <a:lin ang="11689145"/>
                </a:gradFill>
                <a:latin typeface="Poppins"/>
                <a:ea typeface="Poppins"/>
                <a:cs typeface="Poppins"/>
                <a:sym typeface="Poppins"/>
              </a:rPr>
              <a:t>GVHD: TS.Đỗ Như Tài</a:t>
            </a:r>
          </a:p>
          <a:p>
            <a:pPr algn="just">
              <a:lnSpc>
                <a:spcPts val="4799"/>
              </a:lnSpc>
            </a:pPr>
            <a:r>
              <a:rPr lang="en-US" sz="3999">
                <a:gradFill>
                  <a:gsLst>
                    <a:gs pos="0">
                      <a:srgbClr val="D149CE">
                        <a:alpha val="100000"/>
                      </a:srgbClr>
                    </a:gs>
                    <a:gs pos="100000">
                      <a:srgbClr val="43309F">
                        <a:alpha val="100000"/>
                      </a:srgbClr>
                    </a:gs>
                  </a:gsLst>
                  <a:lin ang="11689145"/>
                </a:gradFill>
                <a:latin typeface="Poppins"/>
                <a:ea typeface="Poppins"/>
                <a:cs typeface="Poppins"/>
                <a:sym typeface="Poppins"/>
              </a:rPr>
              <a:t>Thành viên nhóm: </a:t>
            </a:r>
          </a:p>
          <a:p>
            <a:pPr algn="l" marL="863593" indent="-431796" lvl="1">
              <a:lnSpc>
                <a:spcPts val="4799"/>
              </a:lnSpc>
              <a:buFont typeface="Arial"/>
              <a:buChar char="•"/>
            </a:pPr>
            <a:r>
              <a:rPr lang="en-US" sz="3999">
                <a:gradFill>
                  <a:gsLst>
                    <a:gs pos="0">
                      <a:srgbClr val="D149CE">
                        <a:alpha val="100000"/>
                      </a:srgbClr>
                    </a:gs>
                    <a:gs pos="100000">
                      <a:srgbClr val="43309F">
                        <a:alpha val="100000"/>
                      </a:srgbClr>
                    </a:gs>
                  </a:gsLst>
                  <a:lin ang="11689145"/>
                </a:gradFill>
                <a:latin typeface="Poppins"/>
                <a:ea typeface="Poppins"/>
                <a:cs typeface="Poppins"/>
                <a:sym typeface="Poppins"/>
              </a:rPr>
              <a:t>Nguyễn Võ Minh Hiếu</a:t>
            </a:r>
          </a:p>
          <a:p>
            <a:pPr algn="l" marL="863593" indent="-431796" lvl="1">
              <a:lnSpc>
                <a:spcPts val="4799"/>
              </a:lnSpc>
              <a:buFont typeface="Arial"/>
              <a:buChar char="•"/>
            </a:pPr>
            <a:r>
              <a:rPr lang="en-US" sz="3999">
                <a:gradFill>
                  <a:gsLst>
                    <a:gs pos="0">
                      <a:srgbClr val="D149CE">
                        <a:alpha val="100000"/>
                      </a:srgbClr>
                    </a:gs>
                    <a:gs pos="100000">
                      <a:srgbClr val="43309F">
                        <a:alpha val="100000"/>
                      </a:srgbClr>
                    </a:gs>
                  </a:gsLst>
                  <a:lin ang="11689145"/>
                </a:gradFill>
                <a:latin typeface="Poppins"/>
                <a:ea typeface="Poppins"/>
                <a:cs typeface="Poppins"/>
                <a:sym typeface="Poppins"/>
              </a:rPr>
              <a:t>Trần Đoàn Minh Trí</a:t>
            </a:r>
          </a:p>
          <a:p>
            <a:pPr algn="just">
              <a:lnSpc>
                <a:spcPts val="479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012"/>
        </a:gradFill>
      </p:bgPr>
    </p:bg>
    <p:spTree>
      <p:nvGrpSpPr>
        <p:cNvPr id="1" name=""/>
        <p:cNvGrpSpPr/>
        <p:nvPr/>
      </p:nvGrpSpPr>
      <p:grpSpPr>
        <a:xfrm>
          <a:off x="0" y="0"/>
          <a:ext cx="0" cy="0"/>
          <a:chOff x="0" y="0"/>
          <a:chExt cx="0" cy="0"/>
        </a:xfrm>
      </p:grpSpPr>
      <p:grpSp>
        <p:nvGrpSpPr>
          <p:cNvPr name="Group 2" id="2"/>
          <p:cNvGrpSpPr/>
          <p:nvPr/>
        </p:nvGrpSpPr>
        <p:grpSpPr>
          <a:xfrm rot="-10800000">
            <a:off x="0" y="0"/>
            <a:ext cx="5715000" cy="642600"/>
            <a:chOff x="0" y="0"/>
            <a:chExt cx="7620000" cy="856800"/>
          </a:xfrm>
        </p:grpSpPr>
        <p:sp>
          <p:nvSpPr>
            <p:cNvPr name="Freeform 3" id="3"/>
            <p:cNvSpPr/>
            <p:nvPr/>
          </p:nvSpPr>
          <p:spPr>
            <a:xfrm flipH="false" flipV="false" rot="0">
              <a:off x="0" y="0"/>
              <a:ext cx="7620000" cy="856742"/>
            </a:xfrm>
            <a:custGeom>
              <a:avLst/>
              <a:gdLst/>
              <a:ahLst/>
              <a:cxnLst/>
              <a:rect r="r" b="b" t="t" l="l"/>
              <a:pathLst>
                <a:path h="856742" w="7620000">
                  <a:moveTo>
                    <a:pt x="7620000" y="0"/>
                  </a:moveTo>
                  <a:lnTo>
                    <a:pt x="428371" y="0"/>
                  </a:lnTo>
                  <a:cubicBezTo>
                    <a:pt x="191770" y="0"/>
                    <a:pt x="0" y="191770"/>
                    <a:pt x="0" y="428371"/>
                  </a:cubicBezTo>
                  <a:lnTo>
                    <a:pt x="0" y="856742"/>
                  </a:lnTo>
                  <a:lnTo>
                    <a:pt x="762000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4" id="4"/>
          <p:cNvGrpSpPr/>
          <p:nvPr/>
        </p:nvGrpSpPr>
        <p:grpSpPr>
          <a:xfrm rot="0">
            <a:off x="15061800" y="964425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6" id="6"/>
          <p:cNvGrpSpPr/>
          <p:nvPr/>
        </p:nvGrpSpPr>
        <p:grpSpPr>
          <a:xfrm rot="0">
            <a:off x="10250042" y="68338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8" id="8"/>
          <p:cNvGrpSpPr/>
          <p:nvPr/>
        </p:nvGrpSpPr>
        <p:grpSpPr>
          <a:xfrm rot="0">
            <a:off x="15491400" y="-1483200"/>
            <a:ext cx="4325400" cy="4325400"/>
            <a:chOff x="0" y="0"/>
            <a:chExt cx="5767200" cy="5767200"/>
          </a:xfrm>
        </p:grpSpPr>
        <p:sp>
          <p:nvSpPr>
            <p:cNvPr name="Freeform 9" id="9"/>
            <p:cNvSpPr/>
            <p:nvPr/>
          </p:nvSpPr>
          <p:spPr>
            <a:xfrm flipH="false" flipV="false" rot="0">
              <a:off x="0" y="0"/>
              <a:ext cx="5767197" cy="5767197"/>
            </a:xfrm>
            <a:custGeom>
              <a:avLst/>
              <a:gdLst/>
              <a:ahLst/>
              <a:cxnLst/>
              <a:rect r="r" b="b" t="t" l="l"/>
              <a:pathLst>
                <a:path h="5767197" w="5767197">
                  <a:moveTo>
                    <a:pt x="0" y="2883662"/>
                  </a:moveTo>
                  <a:cubicBezTo>
                    <a:pt x="0" y="1291082"/>
                    <a:pt x="1291082" y="0"/>
                    <a:pt x="2883662" y="0"/>
                  </a:cubicBezTo>
                  <a:cubicBezTo>
                    <a:pt x="4476242" y="0"/>
                    <a:pt x="5767197" y="1291082"/>
                    <a:pt x="5767197" y="2883662"/>
                  </a:cubicBezTo>
                  <a:cubicBezTo>
                    <a:pt x="5767197" y="4476242"/>
                    <a:pt x="4476115" y="5767197"/>
                    <a:pt x="2883662" y="5767197"/>
                  </a:cubicBezTo>
                  <a:cubicBezTo>
                    <a:pt x="1291209" y="5767197"/>
                    <a:pt x="0" y="4476115"/>
                    <a:pt x="0" y="2883662"/>
                  </a:cubicBezTo>
                  <a:close/>
                </a:path>
              </a:pathLst>
            </a:custGeom>
            <a:gradFill rotWithShape="true">
              <a:gsLst>
                <a:gs pos="0">
                  <a:srgbClr val="D149CE">
                    <a:alpha val="100000"/>
                  </a:srgbClr>
                </a:gs>
                <a:gs pos="100000">
                  <a:srgbClr val="43309F">
                    <a:alpha val="100000"/>
                  </a:srgbClr>
                </a:gs>
              </a:gsLst>
              <a:lin ang="5400012"/>
            </a:gradFill>
          </p:spPr>
        </p:sp>
      </p:grpSp>
      <p:sp>
        <p:nvSpPr>
          <p:cNvPr name="AutoShape 10" id="10"/>
          <p:cNvSpPr/>
          <p:nvPr/>
        </p:nvSpPr>
        <p:spPr>
          <a:xfrm rot="28830">
            <a:off x="1416885" y="4140850"/>
            <a:ext cx="2271530" cy="0"/>
          </a:xfrm>
          <a:prstGeom prst="line">
            <a:avLst/>
          </a:prstGeom>
          <a:ln cap="rnd" w="9525">
            <a:solidFill>
              <a:srgbClr val="000000"/>
            </a:solidFill>
            <a:prstDash val="solid"/>
            <a:headEnd type="none" len="sm" w="sm"/>
            <a:tailEnd type="none" len="sm" w="sm"/>
          </a:ln>
        </p:spPr>
      </p:sp>
      <p:grpSp>
        <p:nvGrpSpPr>
          <p:cNvPr name="Group 11" id="11"/>
          <p:cNvGrpSpPr/>
          <p:nvPr/>
        </p:nvGrpSpPr>
        <p:grpSpPr>
          <a:xfrm rot="0">
            <a:off x="-3214150" y="6833800"/>
            <a:ext cx="5962800" cy="5962800"/>
            <a:chOff x="0" y="0"/>
            <a:chExt cx="7950400" cy="7950400"/>
          </a:xfrm>
        </p:grpSpPr>
        <p:sp>
          <p:nvSpPr>
            <p:cNvPr name="Freeform 12" id="12"/>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13" id="13"/>
          <p:cNvGrpSpPr/>
          <p:nvPr/>
        </p:nvGrpSpPr>
        <p:grpSpPr>
          <a:xfrm rot="0">
            <a:off x="1784100" y="8324500"/>
            <a:ext cx="2981400" cy="2981400"/>
            <a:chOff x="0" y="0"/>
            <a:chExt cx="3975200" cy="3975200"/>
          </a:xfrm>
        </p:grpSpPr>
        <p:sp>
          <p:nvSpPr>
            <p:cNvPr name="Freeform 14" id="14"/>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5" id="15"/>
          <p:cNvSpPr/>
          <p:nvPr/>
        </p:nvSpPr>
        <p:spPr>
          <a:xfrm flipH="false" flipV="false" rot="0">
            <a:off x="10602584" y="2006523"/>
            <a:ext cx="6656716" cy="6273955"/>
          </a:xfrm>
          <a:custGeom>
            <a:avLst/>
            <a:gdLst/>
            <a:ahLst/>
            <a:cxnLst/>
            <a:rect r="r" b="b" t="t" l="l"/>
            <a:pathLst>
              <a:path h="6273955" w="6656716">
                <a:moveTo>
                  <a:pt x="0" y="0"/>
                </a:moveTo>
                <a:lnTo>
                  <a:pt x="6656716" y="0"/>
                </a:lnTo>
                <a:lnTo>
                  <a:pt x="6656716" y="6273954"/>
                </a:lnTo>
                <a:lnTo>
                  <a:pt x="0" y="6273954"/>
                </a:lnTo>
                <a:lnTo>
                  <a:pt x="0" y="0"/>
                </a:lnTo>
                <a:close/>
              </a:path>
            </a:pathLst>
          </a:custGeom>
          <a:blipFill>
            <a:blip r:embed="rId3"/>
            <a:stretch>
              <a:fillRect l="0" t="0" r="0" b="0"/>
            </a:stretch>
          </a:blipFill>
        </p:spPr>
      </p:sp>
      <p:sp>
        <p:nvSpPr>
          <p:cNvPr name="TextBox 16" id="16"/>
          <p:cNvSpPr txBox="true"/>
          <p:nvPr/>
        </p:nvSpPr>
        <p:spPr>
          <a:xfrm rot="0">
            <a:off x="1416925" y="4593287"/>
            <a:ext cx="8592750" cy="1971675"/>
          </a:xfrm>
          <a:prstGeom prst="rect">
            <a:avLst/>
          </a:prstGeom>
        </p:spPr>
        <p:txBody>
          <a:bodyPr anchor="t" rtlCol="false" tIns="0" lIns="0" bIns="0" rIns="0">
            <a:spAutoFit/>
          </a:bodyPr>
          <a:lstStyle/>
          <a:p>
            <a:pPr algn="l">
              <a:lnSpc>
                <a:spcPts val="7679"/>
              </a:lnSpc>
            </a:pPr>
            <a:r>
              <a:rPr lang="en-US" sz="6399">
                <a:solidFill>
                  <a:srgbClr val="D149CE"/>
                </a:solidFill>
                <a:latin typeface="Arimo"/>
                <a:ea typeface="Arimo"/>
                <a:cs typeface="Arimo"/>
                <a:sym typeface="Arimo"/>
              </a:rPr>
              <a:t>Tài liệu mã hóa nguồn với GenAI</a:t>
            </a:r>
          </a:p>
        </p:txBody>
      </p:sp>
      <p:sp>
        <p:nvSpPr>
          <p:cNvPr name="TextBox 17" id="17"/>
          <p:cNvSpPr txBox="true"/>
          <p:nvPr/>
        </p:nvSpPr>
        <p:spPr>
          <a:xfrm rot="0">
            <a:off x="1517875" y="1892725"/>
            <a:ext cx="2069550" cy="1876425"/>
          </a:xfrm>
          <a:prstGeom prst="rect">
            <a:avLst/>
          </a:prstGeom>
        </p:spPr>
        <p:txBody>
          <a:bodyPr anchor="t" rtlCol="false" tIns="0" lIns="0" bIns="0" rIns="0">
            <a:spAutoFit/>
          </a:bodyPr>
          <a:lstStyle/>
          <a:p>
            <a:pPr algn="l">
              <a:lnSpc>
                <a:spcPts val="14400"/>
              </a:lnSpc>
            </a:pPr>
            <a:r>
              <a:rPr lang="en-US" sz="12000">
                <a:solidFill>
                  <a:srgbClr val="D149CE"/>
                </a:solidFill>
                <a:latin typeface="Arimo"/>
                <a:ea typeface="Arimo"/>
                <a:cs typeface="Arimo"/>
                <a:sym typeface="Arimo"/>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8900732"/>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5715000" cy="642600"/>
            <a:chOff x="0" y="0"/>
            <a:chExt cx="7620000" cy="856800"/>
          </a:xfrm>
        </p:grpSpPr>
        <p:sp>
          <p:nvSpPr>
            <p:cNvPr name="Freeform 5" id="5"/>
            <p:cNvSpPr/>
            <p:nvPr/>
          </p:nvSpPr>
          <p:spPr>
            <a:xfrm flipH="false" flipV="false" rot="0">
              <a:off x="0" y="0"/>
              <a:ext cx="7620000" cy="856742"/>
            </a:xfrm>
            <a:custGeom>
              <a:avLst/>
              <a:gdLst/>
              <a:ahLst/>
              <a:cxnLst/>
              <a:rect r="r" b="b" t="t" l="l"/>
              <a:pathLst>
                <a:path h="856742" w="7620000">
                  <a:moveTo>
                    <a:pt x="7620000" y="0"/>
                  </a:moveTo>
                  <a:lnTo>
                    <a:pt x="428371" y="0"/>
                  </a:lnTo>
                  <a:cubicBezTo>
                    <a:pt x="191770" y="0"/>
                    <a:pt x="0" y="191770"/>
                    <a:pt x="0" y="428371"/>
                  </a:cubicBezTo>
                  <a:lnTo>
                    <a:pt x="0" y="856742"/>
                  </a:lnTo>
                  <a:lnTo>
                    <a:pt x="762000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628750" y="8835900"/>
            <a:ext cx="4325400" cy="4326000"/>
            <a:chOff x="0" y="0"/>
            <a:chExt cx="5767200" cy="5768000"/>
          </a:xfrm>
        </p:grpSpPr>
        <p:sp>
          <p:nvSpPr>
            <p:cNvPr name="Freeform 7" id="7"/>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8" id="8"/>
          <p:cNvGrpSpPr/>
          <p:nvPr/>
        </p:nvGrpSpPr>
        <p:grpSpPr>
          <a:xfrm rot="0">
            <a:off x="-1554900" y="88359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4187000" y="-1611800"/>
            <a:ext cx="2981400" cy="2981400"/>
            <a:chOff x="0" y="0"/>
            <a:chExt cx="3975200" cy="3975200"/>
          </a:xfrm>
        </p:grpSpPr>
        <p:sp>
          <p:nvSpPr>
            <p:cNvPr name="Freeform 11" id="11"/>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2" id="12"/>
          <p:cNvGrpSpPr/>
          <p:nvPr/>
        </p:nvGrpSpPr>
        <p:grpSpPr>
          <a:xfrm rot="0">
            <a:off x="16352200" y="458550"/>
            <a:ext cx="1275000" cy="1275000"/>
            <a:chOff x="0" y="0"/>
            <a:chExt cx="1700000" cy="1700000"/>
          </a:xfrm>
        </p:grpSpPr>
        <p:sp>
          <p:nvSpPr>
            <p:cNvPr name="Freeform 13" id="13"/>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14" id="14"/>
          <p:cNvSpPr/>
          <p:nvPr/>
        </p:nvSpPr>
        <p:spPr>
          <a:xfrm flipH="false" flipV="false" rot="0">
            <a:off x="9852046" y="2474386"/>
            <a:ext cx="7407254" cy="5248102"/>
          </a:xfrm>
          <a:custGeom>
            <a:avLst/>
            <a:gdLst/>
            <a:ahLst/>
            <a:cxnLst/>
            <a:rect r="r" b="b" t="t" l="l"/>
            <a:pathLst>
              <a:path h="5248102" w="7407254">
                <a:moveTo>
                  <a:pt x="0" y="0"/>
                </a:moveTo>
                <a:lnTo>
                  <a:pt x="7407254" y="0"/>
                </a:lnTo>
                <a:lnTo>
                  <a:pt x="7407254" y="5248102"/>
                </a:lnTo>
                <a:lnTo>
                  <a:pt x="0" y="52481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5" id="15"/>
          <p:cNvSpPr/>
          <p:nvPr/>
        </p:nvSpPr>
        <p:spPr>
          <a:xfrm>
            <a:off x="1517910" y="3957306"/>
            <a:ext cx="2563650" cy="19050"/>
          </a:xfrm>
          <a:prstGeom prst="line">
            <a:avLst/>
          </a:prstGeom>
          <a:ln cap="rnd" w="9525">
            <a:solidFill>
              <a:srgbClr val="000000"/>
            </a:solidFill>
            <a:prstDash val="solid"/>
            <a:headEnd type="none" len="sm" w="sm"/>
            <a:tailEnd type="none" len="sm" w="sm"/>
          </a:ln>
        </p:spPr>
      </p:sp>
      <p:sp>
        <p:nvSpPr>
          <p:cNvPr name="Freeform 16" id="16"/>
          <p:cNvSpPr/>
          <p:nvPr/>
        </p:nvSpPr>
        <p:spPr>
          <a:xfrm flipH="false" flipV="false" rot="0">
            <a:off x="10230807" y="2830870"/>
            <a:ext cx="6649732" cy="3428012"/>
          </a:xfrm>
          <a:custGeom>
            <a:avLst/>
            <a:gdLst/>
            <a:ahLst/>
            <a:cxnLst/>
            <a:rect r="r" b="b" t="t" l="l"/>
            <a:pathLst>
              <a:path h="3428012" w="6649732">
                <a:moveTo>
                  <a:pt x="0" y="0"/>
                </a:moveTo>
                <a:lnTo>
                  <a:pt x="6649732" y="0"/>
                </a:lnTo>
                <a:lnTo>
                  <a:pt x="6649732" y="3428012"/>
                </a:lnTo>
                <a:lnTo>
                  <a:pt x="0" y="3428012"/>
                </a:lnTo>
                <a:lnTo>
                  <a:pt x="0" y="0"/>
                </a:lnTo>
                <a:close/>
              </a:path>
            </a:pathLst>
          </a:custGeom>
          <a:blipFill>
            <a:blip r:embed="rId5"/>
            <a:stretch>
              <a:fillRect l="-1555" t="0" r="-1555" b="-6675"/>
            </a:stretch>
          </a:blipFill>
        </p:spPr>
      </p:sp>
      <p:sp>
        <p:nvSpPr>
          <p:cNvPr name="TextBox 17" id="17"/>
          <p:cNvSpPr txBox="true"/>
          <p:nvPr/>
        </p:nvSpPr>
        <p:spPr>
          <a:xfrm rot="0">
            <a:off x="1517875" y="2445811"/>
            <a:ext cx="7244728"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Docstring là gì ?</a:t>
            </a:r>
          </a:p>
        </p:txBody>
      </p:sp>
      <p:sp>
        <p:nvSpPr>
          <p:cNvPr name="TextBox 18" id="18"/>
          <p:cNvSpPr txBox="true"/>
          <p:nvPr/>
        </p:nvSpPr>
        <p:spPr>
          <a:xfrm rot="0">
            <a:off x="1517875" y="4516301"/>
            <a:ext cx="7244728" cy="2962275"/>
          </a:xfrm>
          <a:prstGeom prst="rect">
            <a:avLst/>
          </a:prstGeom>
        </p:spPr>
        <p:txBody>
          <a:bodyPr anchor="t" rtlCol="false" tIns="0" lIns="0" bIns="0" rIns="0">
            <a:spAutoFit/>
          </a:bodyPr>
          <a:lstStyle/>
          <a:p>
            <a:pPr algn="just">
              <a:lnSpc>
                <a:spcPts val="3359"/>
              </a:lnSpc>
            </a:pPr>
            <a:r>
              <a:rPr lang="en-US" sz="2799">
                <a:solidFill>
                  <a:srgbClr val="666666"/>
                </a:solidFill>
                <a:latin typeface="Poppins"/>
                <a:ea typeface="Poppins"/>
                <a:cs typeface="Poppins"/>
                <a:sym typeface="Poppins"/>
              </a:rPr>
              <a:t>Trong Python, Docstring là chuỗi ký tự đặt trong dấu nháy ba (""" """) dùng để mô tả:</a:t>
            </a:r>
          </a:p>
          <a:p>
            <a:pPr algn="just" marL="604519" indent="-302260" lvl="1">
              <a:lnSpc>
                <a:spcPts val="3359"/>
              </a:lnSpc>
              <a:buFont typeface="Arial"/>
              <a:buChar char="•"/>
            </a:pPr>
            <a:r>
              <a:rPr lang="en-US" sz="2799">
                <a:solidFill>
                  <a:srgbClr val="666666"/>
                </a:solidFill>
                <a:latin typeface="Poppins"/>
                <a:ea typeface="Poppins"/>
                <a:cs typeface="Poppins"/>
                <a:sym typeface="Poppins"/>
              </a:rPr>
              <a:t>Module</a:t>
            </a:r>
          </a:p>
          <a:p>
            <a:pPr algn="just" marL="604519" indent="-302260" lvl="1">
              <a:lnSpc>
                <a:spcPts val="3359"/>
              </a:lnSpc>
              <a:buFont typeface="Arial"/>
              <a:buChar char="•"/>
            </a:pPr>
            <a:r>
              <a:rPr lang="en-US" sz="2799">
                <a:solidFill>
                  <a:srgbClr val="666666"/>
                </a:solidFill>
                <a:latin typeface="Poppins"/>
                <a:ea typeface="Poppins"/>
                <a:cs typeface="Poppins"/>
                <a:sym typeface="Poppins"/>
              </a:rPr>
              <a:t>Class</a:t>
            </a:r>
          </a:p>
          <a:p>
            <a:pPr algn="just" marL="604519" indent="-302260" lvl="1">
              <a:lnSpc>
                <a:spcPts val="3359"/>
              </a:lnSpc>
              <a:buFont typeface="Arial"/>
              <a:buChar char="•"/>
            </a:pPr>
            <a:r>
              <a:rPr lang="en-US" sz="2799">
                <a:solidFill>
                  <a:srgbClr val="666666"/>
                </a:solidFill>
                <a:latin typeface="Poppins"/>
                <a:ea typeface="Poppins"/>
                <a:cs typeface="Poppins"/>
                <a:sym typeface="Poppins"/>
              </a:rPr>
              <a:t>Function / Method</a:t>
            </a:r>
          </a:p>
          <a:p>
            <a:pPr algn="just">
              <a:lnSpc>
                <a:spcPts val="33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7064975" y="3454825"/>
            <a:ext cx="4297050" cy="4297050"/>
            <a:chOff x="0" y="0"/>
            <a:chExt cx="5729400" cy="5729400"/>
          </a:xfrm>
        </p:grpSpPr>
        <p:sp>
          <p:nvSpPr>
            <p:cNvPr name="Freeform 9" id="9"/>
            <p:cNvSpPr/>
            <p:nvPr/>
          </p:nvSpPr>
          <p:spPr>
            <a:xfrm flipH="false" flipV="false" rot="0">
              <a:off x="0" y="0"/>
              <a:ext cx="5083048" cy="5524500"/>
            </a:xfrm>
            <a:custGeom>
              <a:avLst/>
              <a:gdLst/>
              <a:ahLst/>
              <a:cxnLst/>
              <a:rect r="r" b="b" t="t" l="l"/>
              <a:pathLst>
                <a:path h="5524500" w="5083048">
                  <a:moveTo>
                    <a:pt x="508" y="2813431"/>
                  </a:moveTo>
                  <a:cubicBezTo>
                    <a:pt x="635" y="2804922"/>
                    <a:pt x="889" y="2796413"/>
                    <a:pt x="1016" y="2787904"/>
                  </a:cubicBezTo>
                  <a:lnTo>
                    <a:pt x="26416" y="2788539"/>
                  </a:lnTo>
                  <a:cubicBezTo>
                    <a:pt x="26162" y="2796921"/>
                    <a:pt x="26035" y="2805430"/>
                    <a:pt x="25908" y="2813812"/>
                  </a:cubicBezTo>
                  <a:close/>
                  <a:moveTo>
                    <a:pt x="27305" y="2762758"/>
                  </a:moveTo>
                  <a:cubicBezTo>
                    <a:pt x="27559" y="2754249"/>
                    <a:pt x="27940" y="2745867"/>
                    <a:pt x="28321" y="2737358"/>
                  </a:cubicBezTo>
                  <a:lnTo>
                    <a:pt x="53721" y="2738501"/>
                  </a:lnTo>
                  <a:cubicBezTo>
                    <a:pt x="53340" y="2746883"/>
                    <a:pt x="52959" y="2755265"/>
                    <a:pt x="52705" y="2763647"/>
                  </a:cubicBezTo>
                  <a:close/>
                  <a:moveTo>
                    <a:pt x="54991" y="2712847"/>
                  </a:moveTo>
                  <a:cubicBezTo>
                    <a:pt x="55499" y="2704338"/>
                    <a:pt x="55880" y="2695829"/>
                    <a:pt x="56388" y="2687320"/>
                  </a:cubicBezTo>
                  <a:lnTo>
                    <a:pt x="81788" y="2688844"/>
                  </a:lnTo>
                  <a:cubicBezTo>
                    <a:pt x="81280" y="2697226"/>
                    <a:pt x="80772" y="2705735"/>
                    <a:pt x="80391" y="2714244"/>
                  </a:cubicBezTo>
                  <a:close/>
                  <a:moveTo>
                    <a:pt x="83566" y="2663190"/>
                  </a:moveTo>
                  <a:cubicBezTo>
                    <a:pt x="84201" y="2654681"/>
                    <a:pt x="84836" y="2646172"/>
                    <a:pt x="85471" y="2637790"/>
                  </a:cubicBezTo>
                  <a:lnTo>
                    <a:pt x="110744" y="2639822"/>
                  </a:lnTo>
                  <a:cubicBezTo>
                    <a:pt x="110109" y="2648204"/>
                    <a:pt x="109474" y="2656586"/>
                    <a:pt x="108839" y="2665095"/>
                  </a:cubicBezTo>
                  <a:close/>
                  <a:moveTo>
                    <a:pt x="112903" y="2614295"/>
                  </a:moveTo>
                  <a:cubicBezTo>
                    <a:pt x="113665" y="2605786"/>
                    <a:pt x="114427" y="2597404"/>
                    <a:pt x="115189" y="2589022"/>
                  </a:cubicBezTo>
                  <a:lnTo>
                    <a:pt x="140462" y="2591435"/>
                  </a:lnTo>
                  <a:cubicBezTo>
                    <a:pt x="139700" y="2599817"/>
                    <a:pt x="138938" y="2608199"/>
                    <a:pt x="138176" y="2616581"/>
                  </a:cubicBezTo>
                  <a:close/>
                  <a:moveTo>
                    <a:pt x="143129" y="2565908"/>
                  </a:moveTo>
                  <a:cubicBezTo>
                    <a:pt x="144018" y="2557399"/>
                    <a:pt x="144907" y="2548890"/>
                    <a:pt x="145923" y="2540508"/>
                  </a:cubicBezTo>
                  <a:lnTo>
                    <a:pt x="171196" y="2543429"/>
                  </a:lnTo>
                  <a:cubicBezTo>
                    <a:pt x="170180" y="2551811"/>
                    <a:pt x="169291" y="2560193"/>
                    <a:pt x="168402" y="2568575"/>
                  </a:cubicBezTo>
                  <a:close/>
                  <a:moveTo>
                    <a:pt x="174244" y="2517775"/>
                  </a:moveTo>
                  <a:cubicBezTo>
                    <a:pt x="175260" y="2509393"/>
                    <a:pt x="176403" y="2500884"/>
                    <a:pt x="177546" y="2492502"/>
                  </a:cubicBezTo>
                  <a:lnTo>
                    <a:pt x="202692" y="2495804"/>
                  </a:lnTo>
                  <a:cubicBezTo>
                    <a:pt x="201549" y="2504186"/>
                    <a:pt x="200533" y="2512568"/>
                    <a:pt x="199517" y="2520823"/>
                  </a:cubicBezTo>
                  <a:close/>
                  <a:moveTo>
                    <a:pt x="206248" y="2470277"/>
                  </a:moveTo>
                  <a:cubicBezTo>
                    <a:pt x="207391" y="2461895"/>
                    <a:pt x="208661" y="2453513"/>
                    <a:pt x="209931" y="2445131"/>
                  </a:cubicBezTo>
                  <a:lnTo>
                    <a:pt x="235077" y="2448941"/>
                  </a:lnTo>
                  <a:cubicBezTo>
                    <a:pt x="233807" y="2457196"/>
                    <a:pt x="232664" y="2465578"/>
                    <a:pt x="231394" y="2473833"/>
                  </a:cubicBezTo>
                  <a:close/>
                  <a:moveTo>
                    <a:pt x="239014" y="2423414"/>
                  </a:moveTo>
                  <a:cubicBezTo>
                    <a:pt x="240411" y="2415032"/>
                    <a:pt x="241808" y="2406523"/>
                    <a:pt x="243205" y="2398141"/>
                  </a:cubicBezTo>
                  <a:lnTo>
                    <a:pt x="268224" y="2402332"/>
                  </a:lnTo>
                  <a:cubicBezTo>
                    <a:pt x="266827" y="2410714"/>
                    <a:pt x="265430" y="2418969"/>
                    <a:pt x="264160" y="2427351"/>
                  </a:cubicBezTo>
                  <a:close/>
                  <a:moveTo>
                    <a:pt x="272669" y="2376932"/>
                  </a:moveTo>
                  <a:cubicBezTo>
                    <a:pt x="274193" y="2368550"/>
                    <a:pt x="275717" y="2360168"/>
                    <a:pt x="277241" y="2351913"/>
                  </a:cubicBezTo>
                  <a:lnTo>
                    <a:pt x="302260" y="2356612"/>
                  </a:lnTo>
                  <a:cubicBezTo>
                    <a:pt x="300736" y="2364867"/>
                    <a:pt x="299212" y="2373122"/>
                    <a:pt x="297688" y="2381504"/>
                  </a:cubicBezTo>
                  <a:close/>
                  <a:moveTo>
                    <a:pt x="307086" y="2331466"/>
                  </a:moveTo>
                  <a:cubicBezTo>
                    <a:pt x="308737" y="2323084"/>
                    <a:pt x="310388" y="2314829"/>
                    <a:pt x="312166" y="2306447"/>
                  </a:cubicBezTo>
                  <a:lnTo>
                    <a:pt x="337058" y="2311527"/>
                  </a:lnTo>
                  <a:cubicBezTo>
                    <a:pt x="335407" y="2319782"/>
                    <a:pt x="333629" y="2328037"/>
                    <a:pt x="332105" y="2336292"/>
                  </a:cubicBezTo>
                  <a:close/>
                  <a:moveTo>
                    <a:pt x="342392" y="2286254"/>
                  </a:moveTo>
                  <a:cubicBezTo>
                    <a:pt x="344170" y="2277872"/>
                    <a:pt x="346075" y="2269617"/>
                    <a:pt x="347853" y="2261362"/>
                  </a:cubicBezTo>
                  <a:lnTo>
                    <a:pt x="372618" y="2266950"/>
                  </a:lnTo>
                  <a:cubicBezTo>
                    <a:pt x="370713" y="2275205"/>
                    <a:pt x="368935" y="2283460"/>
                    <a:pt x="367157" y="2291715"/>
                  </a:cubicBezTo>
                  <a:close/>
                  <a:moveTo>
                    <a:pt x="378333" y="2241931"/>
                  </a:moveTo>
                  <a:cubicBezTo>
                    <a:pt x="380238" y="2233676"/>
                    <a:pt x="382270" y="2225421"/>
                    <a:pt x="384302" y="2217166"/>
                  </a:cubicBezTo>
                  <a:lnTo>
                    <a:pt x="408940" y="2223135"/>
                  </a:lnTo>
                  <a:cubicBezTo>
                    <a:pt x="406908" y="2231263"/>
                    <a:pt x="405003" y="2239518"/>
                    <a:pt x="403098" y="2247646"/>
                  </a:cubicBezTo>
                  <a:close/>
                  <a:moveTo>
                    <a:pt x="415163" y="2198116"/>
                  </a:moveTo>
                  <a:cubicBezTo>
                    <a:pt x="417195" y="2189861"/>
                    <a:pt x="419354" y="2181606"/>
                    <a:pt x="421513" y="2173351"/>
                  </a:cubicBezTo>
                  <a:lnTo>
                    <a:pt x="446024" y="2179828"/>
                  </a:lnTo>
                  <a:cubicBezTo>
                    <a:pt x="443865" y="2187956"/>
                    <a:pt x="441706" y="2196084"/>
                    <a:pt x="439674" y="2204339"/>
                  </a:cubicBezTo>
                  <a:close/>
                  <a:moveTo>
                    <a:pt x="100965" y="2108200"/>
                  </a:moveTo>
                  <a:cubicBezTo>
                    <a:pt x="103251" y="2099945"/>
                    <a:pt x="105537" y="2091817"/>
                    <a:pt x="107823" y="2083562"/>
                  </a:cubicBezTo>
                  <a:lnTo>
                    <a:pt x="132207" y="2090420"/>
                  </a:lnTo>
                  <a:cubicBezTo>
                    <a:pt x="129921" y="2098548"/>
                    <a:pt x="127635" y="2106676"/>
                    <a:pt x="125476" y="2114804"/>
                  </a:cubicBezTo>
                  <a:close/>
                  <a:moveTo>
                    <a:pt x="139319" y="2065655"/>
                  </a:moveTo>
                  <a:cubicBezTo>
                    <a:pt x="141732" y="2057527"/>
                    <a:pt x="144145" y="2049399"/>
                    <a:pt x="146558" y="2041271"/>
                  </a:cubicBezTo>
                  <a:lnTo>
                    <a:pt x="170815" y="2048637"/>
                  </a:lnTo>
                  <a:cubicBezTo>
                    <a:pt x="168402" y="2056638"/>
                    <a:pt x="165989" y="2064766"/>
                    <a:pt x="163576" y="2072894"/>
                  </a:cubicBezTo>
                  <a:close/>
                  <a:moveTo>
                    <a:pt x="178308" y="2024126"/>
                  </a:moveTo>
                  <a:cubicBezTo>
                    <a:pt x="180848" y="2015998"/>
                    <a:pt x="183388" y="2007870"/>
                    <a:pt x="186055" y="1999742"/>
                  </a:cubicBezTo>
                  <a:lnTo>
                    <a:pt x="210185" y="2007489"/>
                  </a:lnTo>
                  <a:cubicBezTo>
                    <a:pt x="207645" y="2015490"/>
                    <a:pt x="205105" y="2023618"/>
                    <a:pt x="202565" y="2031619"/>
                  </a:cubicBezTo>
                  <a:close/>
                  <a:moveTo>
                    <a:pt x="218186" y="1982978"/>
                  </a:moveTo>
                  <a:cubicBezTo>
                    <a:pt x="220853" y="1974850"/>
                    <a:pt x="223520" y="1966849"/>
                    <a:pt x="226314" y="1958848"/>
                  </a:cubicBezTo>
                  <a:lnTo>
                    <a:pt x="250317" y="1967103"/>
                  </a:lnTo>
                  <a:cubicBezTo>
                    <a:pt x="247650" y="1975104"/>
                    <a:pt x="244856" y="1983105"/>
                    <a:pt x="242189" y="1991106"/>
                  </a:cubicBezTo>
                  <a:close/>
                  <a:moveTo>
                    <a:pt x="258699" y="1942846"/>
                  </a:moveTo>
                  <a:cubicBezTo>
                    <a:pt x="261493" y="1934845"/>
                    <a:pt x="264414" y="1926844"/>
                    <a:pt x="267208" y="1918843"/>
                  </a:cubicBezTo>
                  <a:lnTo>
                    <a:pt x="291084" y="1927479"/>
                  </a:lnTo>
                  <a:cubicBezTo>
                    <a:pt x="288163" y="1935353"/>
                    <a:pt x="285369" y="1943354"/>
                    <a:pt x="282575" y="1951228"/>
                  </a:cubicBezTo>
                  <a:close/>
                  <a:moveTo>
                    <a:pt x="299974" y="1903222"/>
                  </a:moveTo>
                  <a:cubicBezTo>
                    <a:pt x="302895" y="1895221"/>
                    <a:pt x="305943" y="1887220"/>
                    <a:pt x="308991" y="1879346"/>
                  </a:cubicBezTo>
                  <a:lnTo>
                    <a:pt x="332740" y="1888363"/>
                  </a:lnTo>
                  <a:cubicBezTo>
                    <a:pt x="329692" y="1896237"/>
                    <a:pt x="326771" y="1904111"/>
                    <a:pt x="323850" y="1912112"/>
                  </a:cubicBezTo>
                  <a:close/>
                  <a:moveTo>
                    <a:pt x="342138" y="1864360"/>
                  </a:moveTo>
                  <a:cubicBezTo>
                    <a:pt x="345186" y="1856486"/>
                    <a:pt x="348361" y="1848485"/>
                    <a:pt x="351536" y="1840611"/>
                  </a:cubicBezTo>
                  <a:lnTo>
                    <a:pt x="375031" y="1850136"/>
                  </a:lnTo>
                  <a:cubicBezTo>
                    <a:pt x="371856" y="1858010"/>
                    <a:pt x="368808" y="1865757"/>
                    <a:pt x="365633" y="1873631"/>
                  </a:cubicBezTo>
                  <a:close/>
                  <a:moveTo>
                    <a:pt x="384683" y="1826387"/>
                  </a:moveTo>
                  <a:cubicBezTo>
                    <a:pt x="387985" y="1818513"/>
                    <a:pt x="391160" y="1810766"/>
                    <a:pt x="394589" y="1802892"/>
                  </a:cubicBezTo>
                  <a:lnTo>
                    <a:pt x="417957" y="1812798"/>
                  </a:lnTo>
                  <a:cubicBezTo>
                    <a:pt x="414655" y="1820545"/>
                    <a:pt x="411480" y="1828292"/>
                    <a:pt x="408178" y="1836039"/>
                  </a:cubicBezTo>
                  <a:close/>
                  <a:moveTo>
                    <a:pt x="428117" y="1789049"/>
                  </a:moveTo>
                  <a:cubicBezTo>
                    <a:pt x="431546" y="1781302"/>
                    <a:pt x="434975" y="1773428"/>
                    <a:pt x="438404" y="1765681"/>
                  </a:cubicBezTo>
                  <a:lnTo>
                    <a:pt x="461645" y="1775968"/>
                  </a:lnTo>
                  <a:cubicBezTo>
                    <a:pt x="458216" y="1783715"/>
                    <a:pt x="454787" y="1791335"/>
                    <a:pt x="451485" y="1799082"/>
                  </a:cubicBezTo>
                  <a:close/>
                  <a:moveTo>
                    <a:pt x="472313" y="1752473"/>
                  </a:moveTo>
                  <a:cubicBezTo>
                    <a:pt x="475869" y="1744726"/>
                    <a:pt x="479425" y="1736979"/>
                    <a:pt x="482981" y="1729359"/>
                  </a:cubicBezTo>
                  <a:lnTo>
                    <a:pt x="505968" y="1740154"/>
                  </a:lnTo>
                  <a:cubicBezTo>
                    <a:pt x="502412" y="1747774"/>
                    <a:pt x="498856" y="1755394"/>
                    <a:pt x="495427" y="1763141"/>
                  </a:cubicBezTo>
                  <a:close/>
                  <a:moveTo>
                    <a:pt x="517017" y="1716913"/>
                  </a:moveTo>
                  <a:cubicBezTo>
                    <a:pt x="520700" y="1709293"/>
                    <a:pt x="524383" y="1701546"/>
                    <a:pt x="528066" y="1693926"/>
                  </a:cubicBezTo>
                  <a:lnTo>
                    <a:pt x="550926" y="1705102"/>
                  </a:lnTo>
                  <a:cubicBezTo>
                    <a:pt x="547243" y="1712722"/>
                    <a:pt x="543560" y="1720215"/>
                    <a:pt x="539877" y="1727835"/>
                  </a:cubicBezTo>
                  <a:close/>
                  <a:moveTo>
                    <a:pt x="562356" y="1681988"/>
                  </a:moveTo>
                  <a:cubicBezTo>
                    <a:pt x="566166" y="1674368"/>
                    <a:pt x="569976" y="1666748"/>
                    <a:pt x="573913" y="1659255"/>
                  </a:cubicBezTo>
                  <a:lnTo>
                    <a:pt x="596519" y="1670812"/>
                  </a:lnTo>
                  <a:cubicBezTo>
                    <a:pt x="592709" y="1678305"/>
                    <a:pt x="588899" y="1685798"/>
                    <a:pt x="585089" y="1693418"/>
                  </a:cubicBezTo>
                  <a:close/>
                  <a:moveTo>
                    <a:pt x="608330" y="1647952"/>
                  </a:moveTo>
                  <a:cubicBezTo>
                    <a:pt x="612267" y="1640459"/>
                    <a:pt x="616204" y="1632966"/>
                    <a:pt x="620268" y="1625473"/>
                  </a:cubicBezTo>
                  <a:lnTo>
                    <a:pt x="642620" y="1637411"/>
                  </a:lnTo>
                  <a:cubicBezTo>
                    <a:pt x="638683" y="1644777"/>
                    <a:pt x="634746" y="1652270"/>
                    <a:pt x="630809" y="1659763"/>
                  </a:cubicBezTo>
                  <a:close/>
                  <a:moveTo>
                    <a:pt x="654812" y="1614805"/>
                  </a:moveTo>
                  <a:cubicBezTo>
                    <a:pt x="658876" y="1607312"/>
                    <a:pt x="662940" y="1599819"/>
                    <a:pt x="667131" y="1592453"/>
                  </a:cubicBezTo>
                  <a:lnTo>
                    <a:pt x="689356" y="1604772"/>
                  </a:lnTo>
                  <a:cubicBezTo>
                    <a:pt x="685292" y="1612138"/>
                    <a:pt x="681228" y="1619504"/>
                    <a:pt x="677164" y="1626997"/>
                  </a:cubicBezTo>
                  <a:close/>
                  <a:moveTo>
                    <a:pt x="702056" y="1582420"/>
                  </a:moveTo>
                  <a:cubicBezTo>
                    <a:pt x="706247" y="1575054"/>
                    <a:pt x="710565" y="1567688"/>
                    <a:pt x="714756" y="1560322"/>
                  </a:cubicBezTo>
                  <a:lnTo>
                    <a:pt x="736727" y="1573022"/>
                  </a:lnTo>
                  <a:cubicBezTo>
                    <a:pt x="732536" y="1580261"/>
                    <a:pt x="728345" y="1587627"/>
                    <a:pt x="724154" y="1594993"/>
                  </a:cubicBezTo>
                  <a:close/>
                  <a:moveTo>
                    <a:pt x="749808" y="1550924"/>
                  </a:moveTo>
                  <a:cubicBezTo>
                    <a:pt x="754126" y="1543558"/>
                    <a:pt x="758571" y="1536319"/>
                    <a:pt x="762889" y="1529080"/>
                  </a:cubicBezTo>
                  <a:lnTo>
                    <a:pt x="433705" y="1397000"/>
                  </a:lnTo>
                  <a:cubicBezTo>
                    <a:pt x="429387" y="1404239"/>
                    <a:pt x="425069" y="1411478"/>
                    <a:pt x="420751" y="1418717"/>
                  </a:cubicBezTo>
                  <a:close/>
                  <a:moveTo>
                    <a:pt x="447167" y="1375029"/>
                  </a:moveTo>
                  <a:cubicBezTo>
                    <a:pt x="451612" y="1367790"/>
                    <a:pt x="456184" y="1360551"/>
                    <a:pt x="460629" y="1353312"/>
                  </a:cubicBezTo>
                  <a:lnTo>
                    <a:pt x="482092" y="1366901"/>
                  </a:lnTo>
                  <a:cubicBezTo>
                    <a:pt x="477647" y="1374013"/>
                    <a:pt x="473075" y="1381252"/>
                    <a:pt x="468757" y="1388364"/>
                  </a:cubicBezTo>
                  <a:close/>
                  <a:moveTo>
                    <a:pt x="495935" y="1345184"/>
                  </a:moveTo>
                  <a:cubicBezTo>
                    <a:pt x="500507" y="1338072"/>
                    <a:pt x="505206" y="1330833"/>
                    <a:pt x="509778" y="1323721"/>
                  </a:cubicBezTo>
                  <a:lnTo>
                    <a:pt x="530987" y="1337691"/>
                  </a:lnTo>
                  <a:cubicBezTo>
                    <a:pt x="526415" y="1344803"/>
                    <a:pt x="521843" y="1351788"/>
                    <a:pt x="517271" y="1358900"/>
                  </a:cubicBezTo>
                  <a:close/>
                  <a:moveTo>
                    <a:pt x="545211" y="1316228"/>
                  </a:moveTo>
                  <a:cubicBezTo>
                    <a:pt x="549910" y="1309116"/>
                    <a:pt x="554736" y="1302131"/>
                    <a:pt x="559435" y="1295019"/>
                  </a:cubicBezTo>
                  <a:lnTo>
                    <a:pt x="580390" y="1309370"/>
                  </a:lnTo>
                  <a:cubicBezTo>
                    <a:pt x="575691" y="1316355"/>
                    <a:pt x="570992" y="1323340"/>
                    <a:pt x="566293" y="1330325"/>
                  </a:cubicBezTo>
                  <a:close/>
                  <a:moveTo>
                    <a:pt x="594995" y="1288161"/>
                  </a:moveTo>
                  <a:cubicBezTo>
                    <a:pt x="599821" y="1281176"/>
                    <a:pt x="604774" y="1274191"/>
                    <a:pt x="609600" y="1267206"/>
                  </a:cubicBezTo>
                  <a:lnTo>
                    <a:pt x="630301" y="1281811"/>
                  </a:lnTo>
                  <a:cubicBezTo>
                    <a:pt x="625475" y="1288669"/>
                    <a:pt x="620649" y="1295654"/>
                    <a:pt x="615823" y="1302512"/>
                  </a:cubicBezTo>
                  <a:close/>
                  <a:moveTo>
                    <a:pt x="645287" y="1260856"/>
                  </a:moveTo>
                  <a:cubicBezTo>
                    <a:pt x="650240" y="1253998"/>
                    <a:pt x="655193" y="1247140"/>
                    <a:pt x="660273" y="1240282"/>
                  </a:cubicBezTo>
                  <a:lnTo>
                    <a:pt x="680720" y="1255268"/>
                  </a:lnTo>
                  <a:cubicBezTo>
                    <a:pt x="675767" y="1261999"/>
                    <a:pt x="670814" y="1268857"/>
                    <a:pt x="665861" y="1275715"/>
                  </a:cubicBezTo>
                  <a:close/>
                  <a:moveTo>
                    <a:pt x="696087" y="1234567"/>
                  </a:moveTo>
                  <a:cubicBezTo>
                    <a:pt x="701167" y="1227709"/>
                    <a:pt x="706247" y="1220978"/>
                    <a:pt x="711454" y="1214247"/>
                  </a:cubicBezTo>
                  <a:lnTo>
                    <a:pt x="731647" y="1229614"/>
                  </a:lnTo>
                  <a:cubicBezTo>
                    <a:pt x="726567" y="1236345"/>
                    <a:pt x="721487" y="1243076"/>
                    <a:pt x="716407" y="1249807"/>
                  </a:cubicBezTo>
                  <a:close/>
                  <a:moveTo>
                    <a:pt x="747268" y="1209167"/>
                  </a:moveTo>
                  <a:cubicBezTo>
                    <a:pt x="752475" y="1202436"/>
                    <a:pt x="757682" y="1195705"/>
                    <a:pt x="763016" y="1189101"/>
                  </a:cubicBezTo>
                  <a:lnTo>
                    <a:pt x="782955" y="1204849"/>
                  </a:lnTo>
                  <a:cubicBezTo>
                    <a:pt x="777748" y="1211453"/>
                    <a:pt x="772541" y="1218057"/>
                    <a:pt x="767334" y="1224788"/>
                  </a:cubicBezTo>
                  <a:close/>
                  <a:moveTo>
                    <a:pt x="798957" y="1184783"/>
                  </a:moveTo>
                  <a:cubicBezTo>
                    <a:pt x="804291" y="1178179"/>
                    <a:pt x="809625" y="1171575"/>
                    <a:pt x="815086" y="1164971"/>
                  </a:cubicBezTo>
                  <a:lnTo>
                    <a:pt x="667004" y="1066800"/>
                  </a:lnTo>
                  <a:cubicBezTo>
                    <a:pt x="661670" y="1073277"/>
                    <a:pt x="656336" y="1079881"/>
                    <a:pt x="651129" y="1086485"/>
                  </a:cubicBezTo>
                  <a:close/>
                  <a:moveTo>
                    <a:pt x="683514" y="1046988"/>
                  </a:moveTo>
                  <a:cubicBezTo>
                    <a:pt x="688975" y="1040511"/>
                    <a:pt x="694436" y="1033907"/>
                    <a:pt x="699897" y="1027430"/>
                  </a:cubicBezTo>
                  <a:lnTo>
                    <a:pt x="719201" y="1043813"/>
                  </a:lnTo>
                  <a:cubicBezTo>
                    <a:pt x="713740" y="1050290"/>
                    <a:pt x="708279" y="1056640"/>
                    <a:pt x="702945" y="1063117"/>
                  </a:cubicBezTo>
                  <a:close/>
                  <a:moveTo>
                    <a:pt x="735965" y="1024255"/>
                  </a:moveTo>
                  <a:cubicBezTo>
                    <a:pt x="741553" y="1017778"/>
                    <a:pt x="747141" y="1011428"/>
                    <a:pt x="752729" y="1005078"/>
                  </a:cubicBezTo>
                  <a:lnTo>
                    <a:pt x="771779" y="1021842"/>
                  </a:lnTo>
                  <a:cubicBezTo>
                    <a:pt x="766191" y="1028192"/>
                    <a:pt x="760730" y="1034542"/>
                    <a:pt x="755142" y="1040892"/>
                  </a:cubicBezTo>
                  <a:close/>
                  <a:moveTo>
                    <a:pt x="788797" y="1002538"/>
                  </a:moveTo>
                  <a:cubicBezTo>
                    <a:pt x="794512" y="996188"/>
                    <a:pt x="800227" y="989838"/>
                    <a:pt x="805942" y="983615"/>
                  </a:cubicBezTo>
                  <a:lnTo>
                    <a:pt x="824738" y="1000760"/>
                  </a:lnTo>
                  <a:cubicBezTo>
                    <a:pt x="819023" y="1006983"/>
                    <a:pt x="813435" y="1013206"/>
                    <a:pt x="807847" y="1019556"/>
                  </a:cubicBezTo>
                  <a:close/>
                  <a:moveTo>
                    <a:pt x="842264" y="981837"/>
                  </a:moveTo>
                  <a:cubicBezTo>
                    <a:pt x="848106" y="975614"/>
                    <a:pt x="853821" y="969391"/>
                    <a:pt x="859663" y="963168"/>
                  </a:cubicBezTo>
                  <a:lnTo>
                    <a:pt x="878078" y="980567"/>
                  </a:lnTo>
                  <a:cubicBezTo>
                    <a:pt x="872236" y="986663"/>
                    <a:pt x="866521" y="992886"/>
                    <a:pt x="860806" y="998982"/>
                  </a:cubicBezTo>
                  <a:close/>
                  <a:moveTo>
                    <a:pt x="895858" y="961898"/>
                  </a:moveTo>
                  <a:cubicBezTo>
                    <a:pt x="901700" y="955802"/>
                    <a:pt x="907669" y="949706"/>
                    <a:pt x="913638" y="943610"/>
                  </a:cubicBezTo>
                  <a:lnTo>
                    <a:pt x="931799" y="961390"/>
                  </a:lnTo>
                  <a:cubicBezTo>
                    <a:pt x="925957" y="967359"/>
                    <a:pt x="919988" y="973455"/>
                    <a:pt x="914146" y="979551"/>
                  </a:cubicBezTo>
                  <a:close/>
                  <a:moveTo>
                    <a:pt x="949833" y="943102"/>
                  </a:moveTo>
                  <a:cubicBezTo>
                    <a:pt x="955802" y="937133"/>
                    <a:pt x="961898" y="931037"/>
                    <a:pt x="967867" y="925068"/>
                  </a:cubicBezTo>
                  <a:lnTo>
                    <a:pt x="985647" y="943102"/>
                  </a:lnTo>
                  <a:cubicBezTo>
                    <a:pt x="979678" y="949071"/>
                    <a:pt x="973709" y="954913"/>
                    <a:pt x="967740" y="960882"/>
                  </a:cubicBezTo>
                  <a:close/>
                  <a:moveTo>
                    <a:pt x="1004062" y="925068"/>
                  </a:moveTo>
                  <a:cubicBezTo>
                    <a:pt x="1010158" y="919099"/>
                    <a:pt x="1016254" y="913257"/>
                    <a:pt x="1022477" y="907415"/>
                  </a:cubicBezTo>
                  <a:lnTo>
                    <a:pt x="1040003" y="925830"/>
                  </a:lnTo>
                  <a:cubicBezTo>
                    <a:pt x="1033907" y="931672"/>
                    <a:pt x="1027811" y="937514"/>
                    <a:pt x="1021715" y="943356"/>
                  </a:cubicBezTo>
                  <a:close/>
                  <a:moveTo>
                    <a:pt x="1058672" y="908177"/>
                  </a:moveTo>
                  <a:cubicBezTo>
                    <a:pt x="1064895" y="902335"/>
                    <a:pt x="1071118" y="896620"/>
                    <a:pt x="1077341" y="890778"/>
                  </a:cubicBezTo>
                  <a:lnTo>
                    <a:pt x="1094486" y="909447"/>
                  </a:lnTo>
                  <a:cubicBezTo>
                    <a:pt x="1088263" y="915162"/>
                    <a:pt x="1082040" y="920877"/>
                    <a:pt x="1075944" y="926592"/>
                  </a:cubicBezTo>
                  <a:close/>
                  <a:moveTo>
                    <a:pt x="1113536" y="892048"/>
                  </a:moveTo>
                  <a:cubicBezTo>
                    <a:pt x="1119886" y="886333"/>
                    <a:pt x="1126236" y="880745"/>
                    <a:pt x="1132586" y="875030"/>
                  </a:cubicBezTo>
                  <a:lnTo>
                    <a:pt x="1149477" y="894080"/>
                  </a:lnTo>
                  <a:cubicBezTo>
                    <a:pt x="1143127" y="899668"/>
                    <a:pt x="1136904" y="905256"/>
                    <a:pt x="1130681" y="910971"/>
                  </a:cubicBezTo>
                  <a:close/>
                  <a:moveTo>
                    <a:pt x="1168908" y="877189"/>
                  </a:moveTo>
                  <a:cubicBezTo>
                    <a:pt x="1175385" y="871601"/>
                    <a:pt x="1181735" y="866013"/>
                    <a:pt x="1188212" y="860552"/>
                  </a:cubicBezTo>
                  <a:lnTo>
                    <a:pt x="1204722" y="879856"/>
                  </a:lnTo>
                  <a:cubicBezTo>
                    <a:pt x="1198372" y="885317"/>
                    <a:pt x="1191895" y="890905"/>
                    <a:pt x="1185545" y="896366"/>
                  </a:cubicBezTo>
                  <a:close/>
                  <a:moveTo>
                    <a:pt x="1224280" y="863219"/>
                  </a:moveTo>
                  <a:cubicBezTo>
                    <a:pt x="1230757" y="857758"/>
                    <a:pt x="1237361" y="852297"/>
                    <a:pt x="1243838" y="846836"/>
                  </a:cubicBezTo>
                  <a:lnTo>
                    <a:pt x="1259967" y="866394"/>
                  </a:lnTo>
                  <a:cubicBezTo>
                    <a:pt x="1253490" y="871728"/>
                    <a:pt x="1247013" y="877189"/>
                    <a:pt x="1240536" y="882523"/>
                  </a:cubicBezTo>
                  <a:close/>
                  <a:moveTo>
                    <a:pt x="1279906" y="850011"/>
                  </a:moveTo>
                  <a:cubicBezTo>
                    <a:pt x="1286510" y="844677"/>
                    <a:pt x="1293114" y="839343"/>
                    <a:pt x="1299845" y="834009"/>
                  </a:cubicBezTo>
                  <a:lnTo>
                    <a:pt x="1315720" y="853948"/>
                  </a:lnTo>
                  <a:cubicBezTo>
                    <a:pt x="1309116" y="859155"/>
                    <a:pt x="1302512" y="864489"/>
                    <a:pt x="1296035" y="869823"/>
                  </a:cubicBezTo>
                  <a:close/>
                  <a:moveTo>
                    <a:pt x="1335913" y="838073"/>
                  </a:moveTo>
                  <a:cubicBezTo>
                    <a:pt x="1342644" y="832866"/>
                    <a:pt x="1349375" y="827659"/>
                    <a:pt x="1356106" y="822452"/>
                  </a:cubicBezTo>
                  <a:lnTo>
                    <a:pt x="1371600" y="842645"/>
                  </a:lnTo>
                  <a:cubicBezTo>
                    <a:pt x="1364869" y="847725"/>
                    <a:pt x="1358265" y="852932"/>
                    <a:pt x="1351661" y="858139"/>
                  </a:cubicBezTo>
                  <a:close/>
                  <a:moveTo>
                    <a:pt x="1392174" y="827024"/>
                  </a:moveTo>
                  <a:cubicBezTo>
                    <a:pt x="1398905" y="821944"/>
                    <a:pt x="1405763" y="816864"/>
                    <a:pt x="1412621" y="811784"/>
                  </a:cubicBezTo>
                  <a:lnTo>
                    <a:pt x="1427734" y="832231"/>
                  </a:lnTo>
                  <a:cubicBezTo>
                    <a:pt x="1421003" y="837184"/>
                    <a:pt x="1414145" y="842264"/>
                    <a:pt x="1407414" y="847344"/>
                  </a:cubicBezTo>
                  <a:close/>
                  <a:moveTo>
                    <a:pt x="1448435" y="816991"/>
                  </a:moveTo>
                  <a:cubicBezTo>
                    <a:pt x="1455293" y="812038"/>
                    <a:pt x="1462278" y="807085"/>
                    <a:pt x="1469136" y="802132"/>
                  </a:cubicBezTo>
                  <a:lnTo>
                    <a:pt x="1483868" y="822833"/>
                  </a:lnTo>
                  <a:cubicBezTo>
                    <a:pt x="1477010" y="827659"/>
                    <a:pt x="1470152" y="832612"/>
                    <a:pt x="1463294" y="837565"/>
                  </a:cubicBezTo>
                  <a:close/>
                  <a:moveTo>
                    <a:pt x="1504823" y="807974"/>
                  </a:moveTo>
                  <a:cubicBezTo>
                    <a:pt x="1511808" y="803148"/>
                    <a:pt x="1518793" y="798322"/>
                    <a:pt x="1525778" y="793496"/>
                  </a:cubicBezTo>
                  <a:lnTo>
                    <a:pt x="1540129" y="814451"/>
                  </a:lnTo>
                  <a:cubicBezTo>
                    <a:pt x="1533144" y="819277"/>
                    <a:pt x="1526286" y="823976"/>
                    <a:pt x="1519301" y="828802"/>
                  </a:cubicBezTo>
                  <a:close/>
                  <a:moveTo>
                    <a:pt x="1561338" y="799973"/>
                  </a:moveTo>
                  <a:cubicBezTo>
                    <a:pt x="1568450" y="795274"/>
                    <a:pt x="1575435" y="790575"/>
                    <a:pt x="1582547" y="785876"/>
                  </a:cubicBezTo>
                  <a:lnTo>
                    <a:pt x="1596517" y="807085"/>
                  </a:lnTo>
                  <a:cubicBezTo>
                    <a:pt x="1589532" y="811784"/>
                    <a:pt x="1582420" y="816356"/>
                    <a:pt x="1575435" y="821055"/>
                  </a:cubicBezTo>
                  <a:close/>
                  <a:moveTo>
                    <a:pt x="1617980" y="792988"/>
                  </a:moveTo>
                  <a:cubicBezTo>
                    <a:pt x="1625092" y="788416"/>
                    <a:pt x="1632331" y="783717"/>
                    <a:pt x="1639443" y="779272"/>
                  </a:cubicBezTo>
                  <a:lnTo>
                    <a:pt x="1653032" y="800735"/>
                  </a:lnTo>
                  <a:cubicBezTo>
                    <a:pt x="1645920" y="805307"/>
                    <a:pt x="1638808" y="809752"/>
                    <a:pt x="1631696" y="814324"/>
                  </a:cubicBezTo>
                  <a:close/>
                  <a:moveTo>
                    <a:pt x="1674749" y="787019"/>
                  </a:moveTo>
                  <a:cubicBezTo>
                    <a:pt x="1681988" y="782574"/>
                    <a:pt x="1689227" y="778002"/>
                    <a:pt x="1696466" y="773684"/>
                  </a:cubicBezTo>
                  <a:lnTo>
                    <a:pt x="1709674" y="795401"/>
                  </a:lnTo>
                  <a:cubicBezTo>
                    <a:pt x="1702435" y="799846"/>
                    <a:pt x="1695323" y="804164"/>
                    <a:pt x="1688084" y="808736"/>
                  </a:cubicBezTo>
                  <a:close/>
                  <a:moveTo>
                    <a:pt x="1397000" y="404114"/>
                  </a:moveTo>
                  <a:cubicBezTo>
                    <a:pt x="1404239" y="399796"/>
                    <a:pt x="1411605" y="395478"/>
                    <a:pt x="1418971" y="391160"/>
                  </a:cubicBezTo>
                  <a:lnTo>
                    <a:pt x="1431798" y="413131"/>
                  </a:lnTo>
                  <a:cubicBezTo>
                    <a:pt x="1424559" y="417449"/>
                    <a:pt x="1417320" y="421640"/>
                    <a:pt x="1410081" y="425958"/>
                  </a:cubicBezTo>
                  <a:close/>
                  <a:moveTo>
                    <a:pt x="1454150" y="400177"/>
                  </a:moveTo>
                  <a:cubicBezTo>
                    <a:pt x="1461516" y="395986"/>
                    <a:pt x="1468882" y="391795"/>
                    <a:pt x="1476375" y="387604"/>
                  </a:cubicBezTo>
                  <a:lnTo>
                    <a:pt x="1488821" y="409702"/>
                  </a:lnTo>
                  <a:cubicBezTo>
                    <a:pt x="1481455" y="413893"/>
                    <a:pt x="1474089" y="417957"/>
                    <a:pt x="1466850" y="422148"/>
                  </a:cubicBezTo>
                  <a:close/>
                  <a:moveTo>
                    <a:pt x="1511300" y="397129"/>
                  </a:moveTo>
                  <a:cubicBezTo>
                    <a:pt x="1518793" y="393065"/>
                    <a:pt x="1526159" y="389001"/>
                    <a:pt x="1533652" y="384937"/>
                  </a:cubicBezTo>
                  <a:lnTo>
                    <a:pt x="1545717" y="407289"/>
                  </a:lnTo>
                  <a:cubicBezTo>
                    <a:pt x="1538351" y="411226"/>
                    <a:pt x="1530858" y="415290"/>
                    <a:pt x="1523492" y="419354"/>
                  </a:cubicBezTo>
                  <a:close/>
                  <a:moveTo>
                    <a:pt x="1568450" y="395224"/>
                  </a:moveTo>
                  <a:cubicBezTo>
                    <a:pt x="1575943" y="391287"/>
                    <a:pt x="1583563" y="387350"/>
                    <a:pt x="1591056" y="383413"/>
                  </a:cubicBezTo>
                  <a:lnTo>
                    <a:pt x="1602740" y="406019"/>
                  </a:lnTo>
                  <a:cubicBezTo>
                    <a:pt x="1595247" y="409829"/>
                    <a:pt x="1587754" y="413766"/>
                    <a:pt x="1580388" y="417703"/>
                  </a:cubicBezTo>
                  <a:close/>
                  <a:moveTo>
                    <a:pt x="1625727" y="394335"/>
                  </a:moveTo>
                  <a:cubicBezTo>
                    <a:pt x="1633347" y="390525"/>
                    <a:pt x="1640967" y="386715"/>
                    <a:pt x="1648587" y="382905"/>
                  </a:cubicBezTo>
                  <a:lnTo>
                    <a:pt x="1659890" y="405638"/>
                  </a:lnTo>
                  <a:cubicBezTo>
                    <a:pt x="1652270" y="409321"/>
                    <a:pt x="1644777" y="413131"/>
                    <a:pt x="1637284" y="416941"/>
                  </a:cubicBezTo>
                  <a:close/>
                  <a:moveTo>
                    <a:pt x="1683131" y="394335"/>
                  </a:moveTo>
                  <a:cubicBezTo>
                    <a:pt x="1690751" y="390652"/>
                    <a:pt x="1698498" y="386969"/>
                    <a:pt x="1706118" y="383413"/>
                  </a:cubicBezTo>
                  <a:lnTo>
                    <a:pt x="1716913" y="406400"/>
                  </a:lnTo>
                  <a:cubicBezTo>
                    <a:pt x="1709293" y="409956"/>
                    <a:pt x="1701673" y="413639"/>
                    <a:pt x="1694180" y="417322"/>
                  </a:cubicBezTo>
                  <a:close/>
                  <a:moveTo>
                    <a:pt x="1740281" y="395605"/>
                  </a:moveTo>
                  <a:cubicBezTo>
                    <a:pt x="1748028" y="392049"/>
                    <a:pt x="1755775" y="388493"/>
                    <a:pt x="1763522" y="385064"/>
                  </a:cubicBezTo>
                  <a:lnTo>
                    <a:pt x="1773936" y="408178"/>
                  </a:lnTo>
                  <a:cubicBezTo>
                    <a:pt x="1766189" y="411607"/>
                    <a:pt x="1758569" y="415163"/>
                    <a:pt x="1750949" y="418592"/>
                  </a:cubicBezTo>
                  <a:close/>
                  <a:moveTo>
                    <a:pt x="1797431" y="397637"/>
                  </a:moveTo>
                  <a:cubicBezTo>
                    <a:pt x="1805178" y="394208"/>
                    <a:pt x="1813052" y="390779"/>
                    <a:pt x="1820926" y="387477"/>
                  </a:cubicBezTo>
                  <a:lnTo>
                    <a:pt x="1830959" y="410845"/>
                  </a:lnTo>
                  <a:cubicBezTo>
                    <a:pt x="1823212" y="414147"/>
                    <a:pt x="1815465" y="417576"/>
                    <a:pt x="1807718" y="420878"/>
                  </a:cubicBezTo>
                  <a:close/>
                  <a:moveTo>
                    <a:pt x="1854708" y="400812"/>
                  </a:moveTo>
                  <a:cubicBezTo>
                    <a:pt x="1862582" y="397510"/>
                    <a:pt x="1870329" y="394335"/>
                    <a:pt x="1878203" y="391033"/>
                  </a:cubicBezTo>
                  <a:lnTo>
                    <a:pt x="1887728" y="414528"/>
                  </a:lnTo>
                  <a:cubicBezTo>
                    <a:pt x="1879981" y="417703"/>
                    <a:pt x="1872107" y="420878"/>
                    <a:pt x="1864360" y="424180"/>
                  </a:cubicBezTo>
                  <a:close/>
                  <a:moveTo>
                    <a:pt x="1911604" y="405003"/>
                  </a:moveTo>
                  <a:cubicBezTo>
                    <a:pt x="1919478" y="401828"/>
                    <a:pt x="1927479" y="398780"/>
                    <a:pt x="1935353" y="395732"/>
                  </a:cubicBezTo>
                  <a:lnTo>
                    <a:pt x="1944497" y="419481"/>
                  </a:lnTo>
                  <a:cubicBezTo>
                    <a:pt x="1936623" y="422529"/>
                    <a:pt x="1928749" y="425577"/>
                    <a:pt x="1921002" y="428752"/>
                  </a:cubicBezTo>
                  <a:close/>
                  <a:moveTo>
                    <a:pt x="1968627" y="410337"/>
                  </a:moveTo>
                  <a:cubicBezTo>
                    <a:pt x="1976628" y="407289"/>
                    <a:pt x="1984629" y="404368"/>
                    <a:pt x="1992630" y="401447"/>
                  </a:cubicBezTo>
                  <a:lnTo>
                    <a:pt x="2001393" y="425323"/>
                  </a:lnTo>
                  <a:cubicBezTo>
                    <a:pt x="1993519" y="428244"/>
                    <a:pt x="1985518" y="431165"/>
                    <a:pt x="1977644" y="434086"/>
                  </a:cubicBezTo>
                  <a:close/>
                  <a:moveTo>
                    <a:pt x="1903857" y="165100"/>
                  </a:moveTo>
                  <a:cubicBezTo>
                    <a:pt x="1911858" y="162306"/>
                    <a:pt x="1919859" y="159385"/>
                    <a:pt x="1927860" y="156718"/>
                  </a:cubicBezTo>
                  <a:lnTo>
                    <a:pt x="1936115" y="180721"/>
                  </a:lnTo>
                  <a:cubicBezTo>
                    <a:pt x="1928114" y="183515"/>
                    <a:pt x="1920240" y="186309"/>
                    <a:pt x="1912239" y="189103"/>
                  </a:cubicBezTo>
                  <a:close/>
                  <a:moveTo>
                    <a:pt x="1960372" y="172466"/>
                  </a:moveTo>
                  <a:cubicBezTo>
                    <a:pt x="1968373" y="169799"/>
                    <a:pt x="1976501" y="167132"/>
                    <a:pt x="1984629" y="164465"/>
                  </a:cubicBezTo>
                  <a:lnTo>
                    <a:pt x="1992503" y="188595"/>
                  </a:lnTo>
                  <a:cubicBezTo>
                    <a:pt x="1984502" y="191262"/>
                    <a:pt x="1976501" y="193802"/>
                    <a:pt x="1968500" y="196596"/>
                  </a:cubicBezTo>
                  <a:close/>
                  <a:moveTo>
                    <a:pt x="2017014" y="180721"/>
                  </a:moveTo>
                  <a:cubicBezTo>
                    <a:pt x="2025142" y="178181"/>
                    <a:pt x="2033270" y="175641"/>
                    <a:pt x="2041398" y="173101"/>
                  </a:cubicBezTo>
                  <a:lnTo>
                    <a:pt x="2048891" y="197358"/>
                  </a:lnTo>
                  <a:cubicBezTo>
                    <a:pt x="2040890" y="199771"/>
                    <a:pt x="2032762" y="202311"/>
                    <a:pt x="2024761" y="204851"/>
                  </a:cubicBezTo>
                  <a:close/>
                  <a:moveTo>
                    <a:pt x="2073529" y="189992"/>
                  </a:moveTo>
                  <a:cubicBezTo>
                    <a:pt x="2081657" y="187579"/>
                    <a:pt x="2089785" y="185166"/>
                    <a:pt x="2098040" y="182880"/>
                  </a:cubicBezTo>
                  <a:lnTo>
                    <a:pt x="2105025" y="207264"/>
                  </a:lnTo>
                  <a:cubicBezTo>
                    <a:pt x="2096897" y="209550"/>
                    <a:pt x="2088896" y="211963"/>
                    <a:pt x="2080768" y="214376"/>
                  </a:cubicBezTo>
                  <a:close/>
                  <a:moveTo>
                    <a:pt x="2129790" y="200279"/>
                  </a:moveTo>
                  <a:cubicBezTo>
                    <a:pt x="2138045" y="197993"/>
                    <a:pt x="2146173" y="195834"/>
                    <a:pt x="2154428" y="193548"/>
                  </a:cubicBezTo>
                  <a:lnTo>
                    <a:pt x="2161032" y="218059"/>
                  </a:lnTo>
                  <a:cubicBezTo>
                    <a:pt x="2152904" y="220218"/>
                    <a:pt x="2144776" y="222504"/>
                    <a:pt x="2136648" y="224663"/>
                  </a:cubicBezTo>
                  <a:close/>
                  <a:moveTo>
                    <a:pt x="2186051" y="211455"/>
                  </a:moveTo>
                  <a:cubicBezTo>
                    <a:pt x="2194306" y="209296"/>
                    <a:pt x="2202434" y="207264"/>
                    <a:pt x="2210689" y="205232"/>
                  </a:cubicBezTo>
                  <a:lnTo>
                    <a:pt x="2216785" y="229870"/>
                  </a:lnTo>
                  <a:cubicBezTo>
                    <a:pt x="2208657" y="231902"/>
                    <a:pt x="2200529" y="233934"/>
                    <a:pt x="2192274" y="236093"/>
                  </a:cubicBezTo>
                  <a:close/>
                  <a:moveTo>
                    <a:pt x="2241677" y="223774"/>
                  </a:moveTo>
                  <a:cubicBezTo>
                    <a:pt x="2249932" y="221742"/>
                    <a:pt x="2258187" y="219837"/>
                    <a:pt x="2266569" y="217932"/>
                  </a:cubicBezTo>
                  <a:lnTo>
                    <a:pt x="2272284" y="242697"/>
                  </a:lnTo>
                  <a:cubicBezTo>
                    <a:pt x="2264029" y="244602"/>
                    <a:pt x="2255901" y="246507"/>
                    <a:pt x="2247646" y="248412"/>
                  </a:cubicBezTo>
                  <a:close/>
                  <a:moveTo>
                    <a:pt x="2297430" y="236982"/>
                  </a:moveTo>
                  <a:cubicBezTo>
                    <a:pt x="2305685" y="235204"/>
                    <a:pt x="2314067" y="233299"/>
                    <a:pt x="2322449" y="231648"/>
                  </a:cubicBezTo>
                  <a:lnTo>
                    <a:pt x="2327656" y="256540"/>
                  </a:lnTo>
                  <a:cubicBezTo>
                    <a:pt x="2319401" y="258318"/>
                    <a:pt x="2311146" y="260096"/>
                    <a:pt x="2302891" y="261874"/>
                  </a:cubicBezTo>
                  <a:close/>
                  <a:moveTo>
                    <a:pt x="2352929" y="251333"/>
                  </a:moveTo>
                  <a:cubicBezTo>
                    <a:pt x="2361184" y="249682"/>
                    <a:pt x="2369566" y="248031"/>
                    <a:pt x="2377948" y="246380"/>
                  </a:cubicBezTo>
                  <a:lnTo>
                    <a:pt x="2382774" y="271272"/>
                  </a:lnTo>
                  <a:cubicBezTo>
                    <a:pt x="2374519" y="272796"/>
                    <a:pt x="2366264" y="274447"/>
                    <a:pt x="2358009" y="276098"/>
                  </a:cubicBezTo>
                  <a:close/>
                  <a:moveTo>
                    <a:pt x="2408047" y="266446"/>
                  </a:moveTo>
                  <a:cubicBezTo>
                    <a:pt x="2416429" y="264922"/>
                    <a:pt x="2424811" y="263398"/>
                    <a:pt x="2433193" y="262001"/>
                  </a:cubicBezTo>
                  <a:lnTo>
                    <a:pt x="2437511" y="287020"/>
                  </a:lnTo>
                  <a:cubicBezTo>
                    <a:pt x="2429256" y="288417"/>
                    <a:pt x="2420874" y="289941"/>
                    <a:pt x="2412619" y="291465"/>
                  </a:cubicBezTo>
                  <a:close/>
                  <a:moveTo>
                    <a:pt x="2462911" y="282702"/>
                  </a:moveTo>
                  <a:cubicBezTo>
                    <a:pt x="2471293" y="281305"/>
                    <a:pt x="2479802" y="280035"/>
                    <a:pt x="2488184" y="278638"/>
                  </a:cubicBezTo>
                  <a:lnTo>
                    <a:pt x="2492121" y="303784"/>
                  </a:lnTo>
                  <a:cubicBezTo>
                    <a:pt x="2483739" y="305054"/>
                    <a:pt x="2475357" y="306451"/>
                    <a:pt x="2467102" y="307721"/>
                  </a:cubicBezTo>
                  <a:close/>
                  <a:moveTo>
                    <a:pt x="2517521" y="299847"/>
                  </a:moveTo>
                  <a:cubicBezTo>
                    <a:pt x="2525903" y="298577"/>
                    <a:pt x="2534285" y="297434"/>
                    <a:pt x="2542667" y="296291"/>
                  </a:cubicBezTo>
                  <a:lnTo>
                    <a:pt x="2546096" y="321437"/>
                  </a:lnTo>
                  <a:cubicBezTo>
                    <a:pt x="2537714" y="322580"/>
                    <a:pt x="2529459" y="323723"/>
                    <a:pt x="2521077" y="324993"/>
                  </a:cubicBezTo>
                  <a:close/>
                  <a:moveTo>
                    <a:pt x="2571496" y="318135"/>
                  </a:moveTo>
                  <a:cubicBezTo>
                    <a:pt x="2579878" y="317119"/>
                    <a:pt x="2588387" y="315976"/>
                    <a:pt x="2596896" y="314960"/>
                  </a:cubicBezTo>
                  <a:lnTo>
                    <a:pt x="2599944" y="340233"/>
                  </a:lnTo>
                  <a:cubicBezTo>
                    <a:pt x="2591562" y="341249"/>
                    <a:pt x="2583180" y="342265"/>
                    <a:pt x="2574798" y="343281"/>
                  </a:cubicBezTo>
                  <a:close/>
                  <a:moveTo>
                    <a:pt x="2625598" y="337312"/>
                  </a:moveTo>
                  <a:cubicBezTo>
                    <a:pt x="2634107" y="336423"/>
                    <a:pt x="2642489" y="335534"/>
                    <a:pt x="2650998" y="334645"/>
                  </a:cubicBezTo>
                  <a:lnTo>
                    <a:pt x="2653538" y="359918"/>
                  </a:lnTo>
                  <a:cubicBezTo>
                    <a:pt x="2645156" y="360807"/>
                    <a:pt x="2636774" y="361696"/>
                    <a:pt x="2628265" y="362585"/>
                  </a:cubicBezTo>
                  <a:close/>
                  <a:moveTo>
                    <a:pt x="2679065" y="357505"/>
                  </a:moveTo>
                  <a:cubicBezTo>
                    <a:pt x="2687447" y="356743"/>
                    <a:pt x="2695956" y="355981"/>
                    <a:pt x="2704465" y="355346"/>
                  </a:cubicBezTo>
                  <a:lnTo>
                    <a:pt x="2706624" y="380619"/>
                  </a:lnTo>
                  <a:cubicBezTo>
                    <a:pt x="2698242" y="381254"/>
                    <a:pt x="2689860" y="382016"/>
                    <a:pt x="2681478" y="382778"/>
                  </a:cubicBezTo>
                  <a:close/>
                  <a:moveTo>
                    <a:pt x="2732278" y="378587"/>
                  </a:moveTo>
                  <a:cubicBezTo>
                    <a:pt x="2740787" y="377952"/>
                    <a:pt x="2749296" y="377317"/>
                    <a:pt x="2757805" y="376809"/>
                  </a:cubicBezTo>
                  <a:lnTo>
                    <a:pt x="2759456" y="402209"/>
                  </a:lnTo>
                  <a:cubicBezTo>
                    <a:pt x="2751074" y="402717"/>
                    <a:pt x="2742565" y="403352"/>
                    <a:pt x="2734183" y="403987"/>
                  </a:cubicBezTo>
                  <a:close/>
                  <a:moveTo>
                    <a:pt x="2785237" y="400685"/>
                  </a:moveTo>
                  <a:cubicBezTo>
                    <a:pt x="2793746" y="400177"/>
                    <a:pt x="2802255" y="399796"/>
                    <a:pt x="2810764" y="399415"/>
                  </a:cubicBezTo>
                  <a:lnTo>
                    <a:pt x="2811907" y="424815"/>
                  </a:lnTo>
                  <a:cubicBezTo>
                    <a:pt x="2803525" y="425196"/>
                    <a:pt x="2795016" y="425704"/>
                    <a:pt x="2786634" y="426085"/>
                  </a:cubicBezTo>
                  <a:close/>
                  <a:moveTo>
                    <a:pt x="2837561" y="423672"/>
                  </a:moveTo>
                  <a:cubicBezTo>
                    <a:pt x="2846070" y="423291"/>
                    <a:pt x="2854452" y="423037"/>
                    <a:pt x="2862961" y="422783"/>
                  </a:cubicBezTo>
                  <a:lnTo>
                    <a:pt x="2863723" y="448183"/>
                  </a:lnTo>
                  <a:cubicBezTo>
                    <a:pt x="2855341" y="448437"/>
                    <a:pt x="2846959" y="448691"/>
                    <a:pt x="2838450" y="449072"/>
                  </a:cubicBezTo>
                  <a:close/>
                  <a:moveTo>
                    <a:pt x="2889377" y="447548"/>
                  </a:moveTo>
                  <a:cubicBezTo>
                    <a:pt x="2897886" y="447421"/>
                    <a:pt x="2906395" y="447167"/>
                    <a:pt x="2914904" y="447167"/>
                  </a:cubicBezTo>
                  <a:lnTo>
                    <a:pt x="2915158" y="472567"/>
                  </a:lnTo>
                  <a:cubicBezTo>
                    <a:pt x="2906649" y="472694"/>
                    <a:pt x="2898267" y="472821"/>
                    <a:pt x="2889885" y="472948"/>
                  </a:cubicBezTo>
                  <a:close/>
                  <a:moveTo>
                    <a:pt x="2854452" y="0"/>
                  </a:moveTo>
                  <a:cubicBezTo>
                    <a:pt x="2857881" y="0"/>
                    <a:pt x="2861310" y="0"/>
                    <a:pt x="2864739" y="0"/>
                  </a:cubicBezTo>
                  <a:lnTo>
                    <a:pt x="2864739" y="12700"/>
                  </a:lnTo>
                  <a:lnTo>
                    <a:pt x="2864739" y="0"/>
                  </a:lnTo>
                  <a:cubicBezTo>
                    <a:pt x="2869819" y="0"/>
                    <a:pt x="2875026" y="0"/>
                    <a:pt x="2880106" y="0"/>
                  </a:cubicBezTo>
                  <a:lnTo>
                    <a:pt x="2879979" y="25400"/>
                  </a:lnTo>
                  <a:cubicBezTo>
                    <a:pt x="2874899" y="25400"/>
                    <a:pt x="2869819" y="25400"/>
                    <a:pt x="2864739" y="25400"/>
                  </a:cubicBezTo>
                  <a:lnTo>
                    <a:pt x="2864739" y="12700"/>
                  </a:lnTo>
                  <a:lnTo>
                    <a:pt x="2864739" y="25400"/>
                  </a:lnTo>
                  <a:cubicBezTo>
                    <a:pt x="2861310" y="25400"/>
                    <a:pt x="2858008" y="25400"/>
                    <a:pt x="2854579" y="25400"/>
                  </a:cubicBezTo>
                  <a:close/>
                  <a:moveTo>
                    <a:pt x="2905760" y="25654"/>
                  </a:moveTo>
                  <a:cubicBezTo>
                    <a:pt x="2914269" y="25781"/>
                    <a:pt x="2922778" y="25908"/>
                    <a:pt x="2931287" y="26162"/>
                  </a:cubicBezTo>
                  <a:lnTo>
                    <a:pt x="2930652" y="51562"/>
                  </a:lnTo>
                  <a:cubicBezTo>
                    <a:pt x="2922270" y="51308"/>
                    <a:pt x="2913761" y="51181"/>
                    <a:pt x="2905379" y="51054"/>
                  </a:cubicBezTo>
                  <a:close/>
                  <a:moveTo>
                    <a:pt x="2956433" y="52197"/>
                  </a:moveTo>
                  <a:cubicBezTo>
                    <a:pt x="2964942" y="52451"/>
                    <a:pt x="2973451" y="52832"/>
                    <a:pt x="2981833" y="53086"/>
                  </a:cubicBezTo>
                  <a:lnTo>
                    <a:pt x="2980817" y="78486"/>
                  </a:lnTo>
                  <a:cubicBezTo>
                    <a:pt x="2972435" y="78105"/>
                    <a:pt x="2964053" y="77851"/>
                    <a:pt x="2955544" y="77597"/>
                  </a:cubicBezTo>
                  <a:close/>
                  <a:moveTo>
                    <a:pt x="3006344" y="79629"/>
                  </a:moveTo>
                  <a:cubicBezTo>
                    <a:pt x="3014853" y="80010"/>
                    <a:pt x="3023362" y="80518"/>
                    <a:pt x="3031871" y="81026"/>
                  </a:cubicBezTo>
                  <a:lnTo>
                    <a:pt x="3030347" y="106426"/>
                  </a:lnTo>
                  <a:cubicBezTo>
                    <a:pt x="3021965" y="105918"/>
                    <a:pt x="3013456" y="105537"/>
                    <a:pt x="3005074" y="105029"/>
                  </a:cubicBezTo>
                  <a:close/>
                  <a:moveTo>
                    <a:pt x="3056128" y="107950"/>
                  </a:moveTo>
                  <a:cubicBezTo>
                    <a:pt x="3064637" y="108458"/>
                    <a:pt x="3073146" y="109093"/>
                    <a:pt x="3081655" y="109728"/>
                  </a:cubicBezTo>
                  <a:lnTo>
                    <a:pt x="3079750" y="135001"/>
                  </a:lnTo>
                  <a:cubicBezTo>
                    <a:pt x="3071368" y="134366"/>
                    <a:pt x="3062986" y="133731"/>
                    <a:pt x="3054477" y="133223"/>
                  </a:cubicBezTo>
                  <a:close/>
                  <a:moveTo>
                    <a:pt x="3105404" y="137033"/>
                  </a:moveTo>
                  <a:cubicBezTo>
                    <a:pt x="3113913" y="137795"/>
                    <a:pt x="3122295" y="138557"/>
                    <a:pt x="3130804" y="139319"/>
                  </a:cubicBezTo>
                  <a:lnTo>
                    <a:pt x="3128391" y="164592"/>
                  </a:lnTo>
                  <a:cubicBezTo>
                    <a:pt x="3120009" y="163830"/>
                    <a:pt x="3111627" y="163068"/>
                    <a:pt x="3103245" y="162306"/>
                  </a:cubicBezTo>
                  <a:close/>
                  <a:moveTo>
                    <a:pt x="3153918" y="167005"/>
                  </a:moveTo>
                  <a:cubicBezTo>
                    <a:pt x="3162427" y="167894"/>
                    <a:pt x="3170936" y="168783"/>
                    <a:pt x="3179318" y="169672"/>
                  </a:cubicBezTo>
                  <a:lnTo>
                    <a:pt x="3176524" y="194945"/>
                  </a:lnTo>
                  <a:cubicBezTo>
                    <a:pt x="3168142" y="194056"/>
                    <a:pt x="3159760" y="193167"/>
                    <a:pt x="3151251" y="192278"/>
                  </a:cubicBezTo>
                  <a:close/>
                  <a:moveTo>
                    <a:pt x="3202051" y="197993"/>
                  </a:moveTo>
                  <a:cubicBezTo>
                    <a:pt x="3210560" y="199009"/>
                    <a:pt x="3218942" y="200025"/>
                    <a:pt x="3227324" y="201168"/>
                  </a:cubicBezTo>
                  <a:lnTo>
                    <a:pt x="3224022" y="226314"/>
                  </a:lnTo>
                  <a:cubicBezTo>
                    <a:pt x="3215640" y="225171"/>
                    <a:pt x="3207258" y="224155"/>
                    <a:pt x="3198876" y="223139"/>
                  </a:cubicBezTo>
                  <a:close/>
                  <a:moveTo>
                    <a:pt x="3249422" y="229743"/>
                  </a:moveTo>
                  <a:cubicBezTo>
                    <a:pt x="3257804" y="230886"/>
                    <a:pt x="3266186" y="232156"/>
                    <a:pt x="3274568" y="233299"/>
                  </a:cubicBezTo>
                  <a:lnTo>
                    <a:pt x="3270885" y="258445"/>
                  </a:lnTo>
                  <a:cubicBezTo>
                    <a:pt x="3262630" y="257175"/>
                    <a:pt x="3254248" y="256032"/>
                    <a:pt x="3245866" y="254889"/>
                  </a:cubicBezTo>
                  <a:close/>
                  <a:moveTo>
                    <a:pt x="3296285" y="262382"/>
                  </a:moveTo>
                  <a:cubicBezTo>
                    <a:pt x="3304667" y="263652"/>
                    <a:pt x="3313176" y="265049"/>
                    <a:pt x="3321558" y="266446"/>
                  </a:cubicBezTo>
                  <a:lnTo>
                    <a:pt x="3317367" y="291465"/>
                  </a:lnTo>
                  <a:cubicBezTo>
                    <a:pt x="3308985" y="290068"/>
                    <a:pt x="3300730" y="288798"/>
                    <a:pt x="3292348" y="287401"/>
                  </a:cubicBezTo>
                  <a:close/>
                  <a:moveTo>
                    <a:pt x="3342767" y="295783"/>
                  </a:moveTo>
                  <a:cubicBezTo>
                    <a:pt x="3351149" y="297307"/>
                    <a:pt x="3359531" y="298704"/>
                    <a:pt x="3367913" y="300355"/>
                  </a:cubicBezTo>
                  <a:lnTo>
                    <a:pt x="3363341" y="325374"/>
                  </a:lnTo>
                  <a:cubicBezTo>
                    <a:pt x="3355086" y="323850"/>
                    <a:pt x="3346704" y="322326"/>
                    <a:pt x="3338449" y="320929"/>
                  </a:cubicBezTo>
                  <a:close/>
                  <a:moveTo>
                    <a:pt x="3388614" y="330200"/>
                  </a:moveTo>
                  <a:cubicBezTo>
                    <a:pt x="3396996" y="331851"/>
                    <a:pt x="3405251" y="333502"/>
                    <a:pt x="3413506" y="335153"/>
                  </a:cubicBezTo>
                  <a:lnTo>
                    <a:pt x="3408426" y="360045"/>
                  </a:lnTo>
                  <a:cubicBezTo>
                    <a:pt x="3400171" y="358394"/>
                    <a:pt x="3391916" y="356743"/>
                    <a:pt x="3383661" y="355092"/>
                  </a:cubicBezTo>
                  <a:close/>
                  <a:moveTo>
                    <a:pt x="3433699" y="365252"/>
                  </a:moveTo>
                  <a:cubicBezTo>
                    <a:pt x="3442081" y="367030"/>
                    <a:pt x="3450336" y="368808"/>
                    <a:pt x="3458718" y="370713"/>
                  </a:cubicBezTo>
                  <a:lnTo>
                    <a:pt x="3453257" y="395478"/>
                  </a:lnTo>
                  <a:cubicBezTo>
                    <a:pt x="3445002" y="393700"/>
                    <a:pt x="3436747" y="391922"/>
                    <a:pt x="3428492" y="390144"/>
                  </a:cubicBezTo>
                  <a:close/>
                  <a:moveTo>
                    <a:pt x="3478403" y="401193"/>
                  </a:moveTo>
                  <a:cubicBezTo>
                    <a:pt x="3486658" y="403098"/>
                    <a:pt x="3494913" y="405003"/>
                    <a:pt x="3503168" y="407035"/>
                  </a:cubicBezTo>
                  <a:lnTo>
                    <a:pt x="3497199" y="431673"/>
                  </a:lnTo>
                  <a:cubicBezTo>
                    <a:pt x="3489071" y="429641"/>
                    <a:pt x="3480816" y="427736"/>
                    <a:pt x="3472561" y="425831"/>
                  </a:cubicBezTo>
                  <a:close/>
                  <a:moveTo>
                    <a:pt x="3522091" y="437769"/>
                  </a:moveTo>
                  <a:cubicBezTo>
                    <a:pt x="3530346" y="439801"/>
                    <a:pt x="3538601" y="441960"/>
                    <a:pt x="3546729" y="444119"/>
                  </a:cubicBezTo>
                  <a:lnTo>
                    <a:pt x="3540379" y="468757"/>
                  </a:lnTo>
                  <a:cubicBezTo>
                    <a:pt x="3532251" y="466598"/>
                    <a:pt x="3524123" y="464566"/>
                    <a:pt x="3515868" y="462534"/>
                  </a:cubicBezTo>
                  <a:close/>
                  <a:moveTo>
                    <a:pt x="3565271" y="475361"/>
                  </a:moveTo>
                  <a:cubicBezTo>
                    <a:pt x="3573526" y="477520"/>
                    <a:pt x="3581654" y="479806"/>
                    <a:pt x="3589909" y="482092"/>
                  </a:cubicBezTo>
                  <a:lnTo>
                    <a:pt x="3583051" y="506603"/>
                  </a:lnTo>
                  <a:cubicBezTo>
                    <a:pt x="3574923" y="504317"/>
                    <a:pt x="3566795" y="502158"/>
                    <a:pt x="3558667" y="499872"/>
                  </a:cubicBezTo>
                  <a:close/>
                  <a:moveTo>
                    <a:pt x="3607816" y="513588"/>
                  </a:moveTo>
                  <a:cubicBezTo>
                    <a:pt x="3615944" y="516001"/>
                    <a:pt x="3624072" y="518287"/>
                    <a:pt x="3632327" y="520827"/>
                  </a:cubicBezTo>
                  <a:lnTo>
                    <a:pt x="3625088" y="545211"/>
                  </a:lnTo>
                  <a:cubicBezTo>
                    <a:pt x="3617087" y="542798"/>
                    <a:pt x="3608959" y="540385"/>
                    <a:pt x="3600831" y="538099"/>
                  </a:cubicBezTo>
                  <a:close/>
                  <a:moveTo>
                    <a:pt x="3649599" y="552704"/>
                  </a:moveTo>
                  <a:cubicBezTo>
                    <a:pt x="3657727" y="555244"/>
                    <a:pt x="3665855" y="557784"/>
                    <a:pt x="3673983" y="560324"/>
                  </a:cubicBezTo>
                  <a:lnTo>
                    <a:pt x="3666236" y="584581"/>
                  </a:lnTo>
                  <a:cubicBezTo>
                    <a:pt x="3658235" y="582041"/>
                    <a:pt x="3650107" y="579501"/>
                    <a:pt x="3642106" y="576961"/>
                  </a:cubicBezTo>
                  <a:close/>
                  <a:moveTo>
                    <a:pt x="3690747" y="592455"/>
                  </a:moveTo>
                  <a:cubicBezTo>
                    <a:pt x="3698875" y="595122"/>
                    <a:pt x="3706876" y="597789"/>
                    <a:pt x="3715004" y="600456"/>
                  </a:cubicBezTo>
                  <a:lnTo>
                    <a:pt x="3706876" y="624459"/>
                  </a:lnTo>
                  <a:cubicBezTo>
                    <a:pt x="3698875" y="621792"/>
                    <a:pt x="3690874" y="619125"/>
                    <a:pt x="3682873" y="616458"/>
                  </a:cubicBezTo>
                  <a:close/>
                  <a:moveTo>
                    <a:pt x="3731260" y="632841"/>
                  </a:moveTo>
                  <a:cubicBezTo>
                    <a:pt x="3739261" y="635635"/>
                    <a:pt x="3747262" y="638429"/>
                    <a:pt x="3755263" y="641350"/>
                  </a:cubicBezTo>
                  <a:lnTo>
                    <a:pt x="3746754" y="665226"/>
                  </a:lnTo>
                  <a:cubicBezTo>
                    <a:pt x="3738880" y="662432"/>
                    <a:pt x="3730879" y="659638"/>
                    <a:pt x="3723005" y="656844"/>
                  </a:cubicBezTo>
                  <a:close/>
                  <a:moveTo>
                    <a:pt x="3771011" y="673989"/>
                  </a:moveTo>
                  <a:cubicBezTo>
                    <a:pt x="3779012" y="676910"/>
                    <a:pt x="3787013" y="679958"/>
                    <a:pt x="3795014" y="682879"/>
                  </a:cubicBezTo>
                  <a:lnTo>
                    <a:pt x="3785997" y="706628"/>
                  </a:lnTo>
                  <a:cubicBezTo>
                    <a:pt x="3778123" y="703580"/>
                    <a:pt x="3770249" y="700659"/>
                    <a:pt x="3762248" y="697738"/>
                  </a:cubicBezTo>
                  <a:close/>
                  <a:moveTo>
                    <a:pt x="3810000" y="715772"/>
                  </a:moveTo>
                  <a:cubicBezTo>
                    <a:pt x="3817874" y="718820"/>
                    <a:pt x="3825875" y="721995"/>
                    <a:pt x="3833749" y="725170"/>
                  </a:cubicBezTo>
                  <a:lnTo>
                    <a:pt x="3824351" y="748792"/>
                  </a:lnTo>
                  <a:cubicBezTo>
                    <a:pt x="3816477" y="745617"/>
                    <a:pt x="3808730" y="742569"/>
                    <a:pt x="3800856" y="739521"/>
                  </a:cubicBezTo>
                  <a:close/>
                  <a:moveTo>
                    <a:pt x="3848227" y="758444"/>
                  </a:moveTo>
                  <a:cubicBezTo>
                    <a:pt x="3856101" y="761619"/>
                    <a:pt x="3863975" y="764921"/>
                    <a:pt x="3871722" y="768223"/>
                  </a:cubicBezTo>
                  <a:lnTo>
                    <a:pt x="3861943" y="791591"/>
                  </a:lnTo>
                  <a:cubicBezTo>
                    <a:pt x="3854196" y="788289"/>
                    <a:pt x="3846449" y="785114"/>
                    <a:pt x="3838575" y="781939"/>
                  </a:cubicBezTo>
                  <a:close/>
                  <a:moveTo>
                    <a:pt x="3885565" y="801624"/>
                  </a:moveTo>
                  <a:cubicBezTo>
                    <a:pt x="3893439" y="805053"/>
                    <a:pt x="3901186" y="808355"/>
                    <a:pt x="3908933" y="811784"/>
                  </a:cubicBezTo>
                  <a:lnTo>
                    <a:pt x="3898646" y="835025"/>
                  </a:lnTo>
                  <a:cubicBezTo>
                    <a:pt x="3890899" y="831596"/>
                    <a:pt x="3883152" y="828294"/>
                    <a:pt x="3875405" y="824865"/>
                  </a:cubicBezTo>
                  <a:close/>
                  <a:moveTo>
                    <a:pt x="3922141" y="845439"/>
                  </a:moveTo>
                  <a:cubicBezTo>
                    <a:pt x="3929888" y="848995"/>
                    <a:pt x="3937635" y="852424"/>
                    <a:pt x="3945382" y="856107"/>
                  </a:cubicBezTo>
                  <a:lnTo>
                    <a:pt x="3934714" y="879221"/>
                  </a:lnTo>
                  <a:cubicBezTo>
                    <a:pt x="3927094" y="875665"/>
                    <a:pt x="3919347" y="872236"/>
                    <a:pt x="3911727" y="868680"/>
                  </a:cubicBezTo>
                  <a:close/>
                  <a:moveTo>
                    <a:pt x="3957955" y="890143"/>
                  </a:moveTo>
                  <a:cubicBezTo>
                    <a:pt x="3965575" y="893826"/>
                    <a:pt x="3973322" y="897509"/>
                    <a:pt x="3980942" y="901192"/>
                  </a:cubicBezTo>
                  <a:lnTo>
                    <a:pt x="3969893" y="924052"/>
                  </a:lnTo>
                  <a:cubicBezTo>
                    <a:pt x="3962273" y="920369"/>
                    <a:pt x="3954780" y="916686"/>
                    <a:pt x="3947160" y="913130"/>
                  </a:cubicBezTo>
                  <a:close/>
                  <a:moveTo>
                    <a:pt x="3993134" y="935355"/>
                  </a:moveTo>
                  <a:cubicBezTo>
                    <a:pt x="4000754" y="939165"/>
                    <a:pt x="4008374" y="942975"/>
                    <a:pt x="4015994" y="946785"/>
                  </a:cubicBezTo>
                  <a:lnTo>
                    <a:pt x="4004564" y="969391"/>
                  </a:lnTo>
                  <a:cubicBezTo>
                    <a:pt x="3997071" y="965581"/>
                    <a:pt x="3989451" y="961771"/>
                    <a:pt x="3981958" y="958088"/>
                  </a:cubicBezTo>
                  <a:close/>
                  <a:moveTo>
                    <a:pt x="4027424" y="981202"/>
                  </a:moveTo>
                  <a:cubicBezTo>
                    <a:pt x="4034917" y="985139"/>
                    <a:pt x="4042537" y="989076"/>
                    <a:pt x="4050030" y="993013"/>
                  </a:cubicBezTo>
                  <a:lnTo>
                    <a:pt x="4038092" y="1015492"/>
                  </a:lnTo>
                  <a:cubicBezTo>
                    <a:pt x="4030599" y="1011555"/>
                    <a:pt x="4023233" y="1007618"/>
                    <a:pt x="4015740" y="1003808"/>
                  </a:cubicBezTo>
                  <a:close/>
                  <a:moveTo>
                    <a:pt x="4060825" y="1027684"/>
                  </a:moveTo>
                  <a:cubicBezTo>
                    <a:pt x="4068318" y="1031748"/>
                    <a:pt x="4075811" y="1035812"/>
                    <a:pt x="4083177" y="1039876"/>
                  </a:cubicBezTo>
                  <a:lnTo>
                    <a:pt x="4070858" y="1062101"/>
                  </a:lnTo>
                  <a:cubicBezTo>
                    <a:pt x="4063492" y="1058037"/>
                    <a:pt x="4056126" y="1053973"/>
                    <a:pt x="4048633" y="1049909"/>
                  </a:cubicBezTo>
                  <a:close/>
                  <a:moveTo>
                    <a:pt x="4093337" y="1074547"/>
                  </a:moveTo>
                  <a:cubicBezTo>
                    <a:pt x="4100703" y="1078738"/>
                    <a:pt x="4108196" y="1082929"/>
                    <a:pt x="4115562" y="1087247"/>
                  </a:cubicBezTo>
                  <a:lnTo>
                    <a:pt x="4102862" y="1109218"/>
                  </a:lnTo>
                  <a:cubicBezTo>
                    <a:pt x="4095496" y="1105027"/>
                    <a:pt x="4088257" y="1100836"/>
                    <a:pt x="4080891" y="1096645"/>
                  </a:cubicBezTo>
                  <a:close/>
                  <a:moveTo>
                    <a:pt x="4314952" y="393700"/>
                  </a:moveTo>
                  <a:cubicBezTo>
                    <a:pt x="4322318" y="398018"/>
                    <a:pt x="4329557" y="402336"/>
                    <a:pt x="4336923" y="406781"/>
                  </a:cubicBezTo>
                  <a:lnTo>
                    <a:pt x="4323842" y="428498"/>
                  </a:lnTo>
                  <a:cubicBezTo>
                    <a:pt x="4316603" y="424180"/>
                    <a:pt x="4309364" y="419862"/>
                    <a:pt x="4302125" y="415544"/>
                  </a:cubicBezTo>
                  <a:close/>
                  <a:moveTo>
                    <a:pt x="4345813" y="441833"/>
                  </a:moveTo>
                  <a:cubicBezTo>
                    <a:pt x="4353052" y="446278"/>
                    <a:pt x="4360291" y="450723"/>
                    <a:pt x="4367530" y="455295"/>
                  </a:cubicBezTo>
                  <a:lnTo>
                    <a:pt x="4354068" y="476885"/>
                  </a:lnTo>
                  <a:cubicBezTo>
                    <a:pt x="4346956" y="472440"/>
                    <a:pt x="4339717" y="467995"/>
                    <a:pt x="4332605" y="463550"/>
                  </a:cubicBezTo>
                  <a:close/>
                  <a:moveTo>
                    <a:pt x="4375912" y="490601"/>
                  </a:moveTo>
                  <a:cubicBezTo>
                    <a:pt x="4383024" y="495173"/>
                    <a:pt x="4390263" y="499745"/>
                    <a:pt x="4397375" y="504444"/>
                  </a:cubicBezTo>
                  <a:lnTo>
                    <a:pt x="4383532" y="525780"/>
                  </a:lnTo>
                  <a:cubicBezTo>
                    <a:pt x="4376420" y="521208"/>
                    <a:pt x="4369435" y="516636"/>
                    <a:pt x="4362323" y="512064"/>
                  </a:cubicBezTo>
                  <a:close/>
                  <a:moveTo>
                    <a:pt x="4405122" y="539877"/>
                  </a:moveTo>
                  <a:cubicBezTo>
                    <a:pt x="4412234" y="544576"/>
                    <a:pt x="4419219" y="549275"/>
                    <a:pt x="4426331" y="554101"/>
                  </a:cubicBezTo>
                  <a:lnTo>
                    <a:pt x="4412107" y="575183"/>
                  </a:lnTo>
                  <a:cubicBezTo>
                    <a:pt x="4405122" y="570484"/>
                    <a:pt x="4398137" y="565785"/>
                    <a:pt x="4391152" y="561086"/>
                  </a:cubicBezTo>
                  <a:close/>
                  <a:moveTo>
                    <a:pt x="4433443" y="589661"/>
                  </a:moveTo>
                  <a:cubicBezTo>
                    <a:pt x="4440428" y="594487"/>
                    <a:pt x="4447413" y="599313"/>
                    <a:pt x="4454398" y="604266"/>
                  </a:cubicBezTo>
                  <a:lnTo>
                    <a:pt x="4439793" y="625094"/>
                  </a:lnTo>
                  <a:cubicBezTo>
                    <a:pt x="4432935" y="620268"/>
                    <a:pt x="4425950" y="615442"/>
                    <a:pt x="4418965" y="610616"/>
                  </a:cubicBezTo>
                  <a:close/>
                  <a:moveTo>
                    <a:pt x="4460748" y="639953"/>
                  </a:moveTo>
                  <a:cubicBezTo>
                    <a:pt x="4467606" y="644906"/>
                    <a:pt x="4474591" y="649859"/>
                    <a:pt x="4481449" y="654939"/>
                  </a:cubicBezTo>
                  <a:lnTo>
                    <a:pt x="4466463" y="675513"/>
                  </a:lnTo>
                  <a:cubicBezTo>
                    <a:pt x="4459605" y="670560"/>
                    <a:pt x="4452874" y="665607"/>
                    <a:pt x="4446016" y="660781"/>
                  </a:cubicBezTo>
                  <a:close/>
                  <a:moveTo>
                    <a:pt x="4487291" y="690753"/>
                  </a:moveTo>
                  <a:cubicBezTo>
                    <a:pt x="4494149" y="695833"/>
                    <a:pt x="4500880" y="700913"/>
                    <a:pt x="4507738" y="705993"/>
                  </a:cubicBezTo>
                  <a:lnTo>
                    <a:pt x="4492371" y="726313"/>
                  </a:lnTo>
                  <a:cubicBezTo>
                    <a:pt x="4485640" y="721233"/>
                    <a:pt x="4478909" y="716153"/>
                    <a:pt x="4472178" y="711200"/>
                  </a:cubicBezTo>
                  <a:close/>
                  <a:moveTo>
                    <a:pt x="4512945" y="741934"/>
                  </a:moveTo>
                  <a:cubicBezTo>
                    <a:pt x="4519676" y="747141"/>
                    <a:pt x="4526407" y="752348"/>
                    <a:pt x="4533138" y="757555"/>
                  </a:cubicBezTo>
                  <a:lnTo>
                    <a:pt x="4517517" y="777494"/>
                  </a:lnTo>
                  <a:cubicBezTo>
                    <a:pt x="4510913" y="772287"/>
                    <a:pt x="4504182" y="767080"/>
                    <a:pt x="4497578" y="762000"/>
                  </a:cubicBezTo>
                  <a:close/>
                  <a:moveTo>
                    <a:pt x="4537710" y="793496"/>
                  </a:moveTo>
                  <a:cubicBezTo>
                    <a:pt x="4544314" y="798830"/>
                    <a:pt x="4550918" y="804164"/>
                    <a:pt x="4557522" y="809498"/>
                  </a:cubicBezTo>
                  <a:lnTo>
                    <a:pt x="4541520" y="829183"/>
                  </a:lnTo>
                  <a:cubicBezTo>
                    <a:pt x="4535043" y="823849"/>
                    <a:pt x="4528439" y="818642"/>
                    <a:pt x="4521835" y="813308"/>
                  </a:cubicBezTo>
                  <a:close/>
                  <a:moveTo>
                    <a:pt x="4561459" y="845439"/>
                  </a:moveTo>
                  <a:cubicBezTo>
                    <a:pt x="4568063" y="850900"/>
                    <a:pt x="4574540" y="856361"/>
                    <a:pt x="4581017" y="861822"/>
                  </a:cubicBezTo>
                  <a:lnTo>
                    <a:pt x="4564634" y="881253"/>
                  </a:lnTo>
                  <a:cubicBezTo>
                    <a:pt x="4558157" y="875792"/>
                    <a:pt x="4551680" y="870458"/>
                    <a:pt x="4545203" y="864997"/>
                  </a:cubicBezTo>
                  <a:close/>
                  <a:moveTo>
                    <a:pt x="4584192" y="897890"/>
                  </a:moveTo>
                  <a:cubicBezTo>
                    <a:pt x="4590669" y="903478"/>
                    <a:pt x="4597019" y="908939"/>
                    <a:pt x="4603496" y="914654"/>
                  </a:cubicBezTo>
                  <a:lnTo>
                    <a:pt x="4586732" y="933831"/>
                  </a:lnTo>
                  <a:cubicBezTo>
                    <a:pt x="4580382" y="928243"/>
                    <a:pt x="4574032" y="922782"/>
                    <a:pt x="4567555" y="917321"/>
                  </a:cubicBezTo>
                  <a:close/>
                  <a:moveTo>
                    <a:pt x="4606036" y="950849"/>
                  </a:moveTo>
                  <a:cubicBezTo>
                    <a:pt x="4612386" y="956437"/>
                    <a:pt x="4618736" y="962152"/>
                    <a:pt x="4624959" y="967867"/>
                  </a:cubicBezTo>
                  <a:lnTo>
                    <a:pt x="4607941" y="986663"/>
                  </a:lnTo>
                  <a:cubicBezTo>
                    <a:pt x="4601718" y="980948"/>
                    <a:pt x="4595368" y="975360"/>
                    <a:pt x="4589145" y="969772"/>
                  </a:cubicBezTo>
                  <a:close/>
                  <a:moveTo>
                    <a:pt x="4626991" y="1004062"/>
                  </a:moveTo>
                  <a:cubicBezTo>
                    <a:pt x="4633214" y="1009777"/>
                    <a:pt x="4639437" y="1015619"/>
                    <a:pt x="4645660" y="1021461"/>
                  </a:cubicBezTo>
                  <a:lnTo>
                    <a:pt x="4628261" y="1040003"/>
                  </a:lnTo>
                  <a:cubicBezTo>
                    <a:pt x="4622165" y="1034288"/>
                    <a:pt x="4615942" y="1028446"/>
                    <a:pt x="4609719" y="1022731"/>
                  </a:cubicBezTo>
                  <a:close/>
                  <a:moveTo>
                    <a:pt x="4646930" y="1057656"/>
                  </a:moveTo>
                  <a:cubicBezTo>
                    <a:pt x="4653026" y="1063498"/>
                    <a:pt x="4659249" y="1069467"/>
                    <a:pt x="4665345" y="1075309"/>
                  </a:cubicBezTo>
                  <a:lnTo>
                    <a:pt x="4647692" y="1093470"/>
                  </a:lnTo>
                  <a:cubicBezTo>
                    <a:pt x="4641596" y="1087628"/>
                    <a:pt x="4635627" y="1081786"/>
                    <a:pt x="4629531" y="1075944"/>
                  </a:cubicBezTo>
                  <a:close/>
                  <a:moveTo>
                    <a:pt x="4666107" y="1111504"/>
                  </a:moveTo>
                  <a:cubicBezTo>
                    <a:pt x="4672203" y="1117473"/>
                    <a:pt x="4678172" y="1123442"/>
                    <a:pt x="4684141" y="1129538"/>
                  </a:cubicBezTo>
                  <a:lnTo>
                    <a:pt x="4666107" y="1147445"/>
                  </a:lnTo>
                  <a:cubicBezTo>
                    <a:pt x="4660138" y="1141476"/>
                    <a:pt x="4654169" y="1135507"/>
                    <a:pt x="4648200" y="1129538"/>
                  </a:cubicBezTo>
                  <a:close/>
                  <a:moveTo>
                    <a:pt x="4684141" y="1165733"/>
                  </a:moveTo>
                  <a:cubicBezTo>
                    <a:pt x="4690110" y="1171829"/>
                    <a:pt x="4695952" y="1177925"/>
                    <a:pt x="4701921" y="1184021"/>
                  </a:cubicBezTo>
                  <a:lnTo>
                    <a:pt x="4914900" y="900430"/>
                  </a:lnTo>
                  <a:cubicBezTo>
                    <a:pt x="4909058" y="894334"/>
                    <a:pt x="4903216" y="888238"/>
                    <a:pt x="4897374" y="882269"/>
                  </a:cubicBezTo>
                  <a:close/>
                  <a:moveTo>
                    <a:pt x="4932680" y="919099"/>
                  </a:moveTo>
                  <a:cubicBezTo>
                    <a:pt x="4938522" y="925322"/>
                    <a:pt x="4944364" y="931545"/>
                    <a:pt x="4950079" y="937768"/>
                  </a:cubicBezTo>
                  <a:lnTo>
                    <a:pt x="4931410" y="955040"/>
                  </a:lnTo>
                  <a:cubicBezTo>
                    <a:pt x="4925695" y="948817"/>
                    <a:pt x="4919980" y="942721"/>
                    <a:pt x="4914138" y="936498"/>
                  </a:cubicBezTo>
                  <a:close/>
                  <a:moveTo>
                    <a:pt x="4948809" y="973963"/>
                  </a:moveTo>
                  <a:cubicBezTo>
                    <a:pt x="4954524" y="980313"/>
                    <a:pt x="4960239" y="986536"/>
                    <a:pt x="4965827" y="992886"/>
                  </a:cubicBezTo>
                  <a:lnTo>
                    <a:pt x="4946904" y="1009777"/>
                  </a:lnTo>
                  <a:cubicBezTo>
                    <a:pt x="4941316" y="1003427"/>
                    <a:pt x="4935601" y="997204"/>
                    <a:pt x="4930013" y="990981"/>
                  </a:cubicBezTo>
                  <a:close/>
                  <a:moveTo>
                    <a:pt x="4963922" y="1029081"/>
                  </a:moveTo>
                  <a:cubicBezTo>
                    <a:pt x="4969510" y="1035431"/>
                    <a:pt x="4975098" y="1041908"/>
                    <a:pt x="4980686" y="1048385"/>
                  </a:cubicBezTo>
                  <a:lnTo>
                    <a:pt x="4961382" y="1065022"/>
                  </a:lnTo>
                  <a:cubicBezTo>
                    <a:pt x="4955921" y="1058672"/>
                    <a:pt x="4950333" y="1052322"/>
                    <a:pt x="4944745" y="1045972"/>
                  </a:cubicBezTo>
                  <a:close/>
                  <a:moveTo>
                    <a:pt x="4978019" y="1084580"/>
                  </a:moveTo>
                  <a:cubicBezTo>
                    <a:pt x="4983480" y="1091057"/>
                    <a:pt x="4988941" y="1097534"/>
                    <a:pt x="4994402" y="1104138"/>
                  </a:cubicBezTo>
                  <a:lnTo>
                    <a:pt x="4974844" y="1120394"/>
                  </a:lnTo>
                  <a:cubicBezTo>
                    <a:pt x="4969510" y="1113917"/>
                    <a:pt x="4964049" y="1107440"/>
                    <a:pt x="4958588" y="1100963"/>
                  </a:cubicBezTo>
                  <a:close/>
                  <a:moveTo>
                    <a:pt x="4991227" y="1140206"/>
                  </a:moveTo>
                  <a:cubicBezTo>
                    <a:pt x="4996561" y="1146810"/>
                    <a:pt x="5001895" y="1153414"/>
                    <a:pt x="5007229" y="1160018"/>
                  </a:cubicBezTo>
                  <a:lnTo>
                    <a:pt x="4987417" y="1175893"/>
                  </a:lnTo>
                  <a:cubicBezTo>
                    <a:pt x="4982210" y="1169289"/>
                    <a:pt x="4976876" y="1162812"/>
                    <a:pt x="4971542" y="1156208"/>
                  </a:cubicBezTo>
                  <a:close/>
                  <a:moveTo>
                    <a:pt x="5003419" y="1195959"/>
                  </a:moveTo>
                  <a:cubicBezTo>
                    <a:pt x="5008626" y="1202690"/>
                    <a:pt x="5013960" y="1209294"/>
                    <a:pt x="5019167" y="1216025"/>
                  </a:cubicBezTo>
                  <a:lnTo>
                    <a:pt x="4999101" y="1231519"/>
                  </a:lnTo>
                  <a:cubicBezTo>
                    <a:pt x="4993894" y="1224788"/>
                    <a:pt x="4988814" y="1218184"/>
                    <a:pt x="4983607" y="1211580"/>
                  </a:cubicBezTo>
                  <a:close/>
                  <a:moveTo>
                    <a:pt x="5014849" y="1251966"/>
                  </a:moveTo>
                  <a:cubicBezTo>
                    <a:pt x="5019929" y="1258697"/>
                    <a:pt x="5025136" y="1265555"/>
                    <a:pt x="5030216" y="1272413"/>
                  </a:cubicBezTo>
                  <a:lnTo>
                    <a:pt x="5009896" y="1287526"/>
                  </a:lnTo>
                  <a:cubicBezTo>
                    <a:pt x="5004816" y="1280795"/>
                    <a:pt x="4999736" y="1274064"/>
                    <a:pt x="4994656" y="1267333"/>
                  </a:cubicBezTo>
                  <a:close/>
                  <a:moveTo>
                    <a:pt x="5025136" y="1308227"/>
                  </a:moveTo>
                  <a:cubicBezTo>
                    <a:pt x="5030216" y="1315085"/>
                    <a:pt x="5035169" y="1321943"/>
                    <a:pt x="5040122" y="1328928"/>
                  </a:cubicBezTo>
                  <a:lnTo>
                    <a:pt x="5019548" y="1343787"/>
                  </a:lnTo>
                  <a:cubicBezTo>
                    <a:pt x="5014595" y="1336929"/>
                    <a:pt x="5009642" y="1330071"/>
                    <a:pt x="5004689" y="1323340"/>
                  </a:cubicBezTo>
                  <a:close/>
                  <a:moveTo>
                    <a:pt x="5034407" y="1364742"/>
                  </a:moveTo>
                  <a:cubicBezTo>
                    <a:pt x="5039360" y="1371727"/>
                    <a:pt x="5044186" y="1378712"/>
                    <a:pt x="5049012" y="1385697"/>
                  </a:cubicBezTo>
                  <a:lnTo>
                    <a:pt x="5028057" y="1400175"/>
                  </a:lnTo>
                  <a:cubicBezTo>
                    <a:pt x="5023231" y="1393190"/>
                    <a:pt x="5018405" y="1386332"/>
                    <a:pt x="5013579" y="1379474"/>
                  </a:cubicBezTo>
                  <a:close/>
                  <a:moveTo>
                    <a:pt x="5042535" y="1421511"/>
                  </a:moveTo>
                  <a:cubicBezTo>
                    <a:pt x="5047361" y="1428496"/>
                    <a:pt x="5052060" y="1435608"/>
                    <a:pt x="5056759" y="1442720"/>
                  </a:cubicBezTo>
                  <a:lnTo>
                    <a:pt x="5035550" y="1456817"/>
                  </a:lnTo>
                  <a:cubicBezTo>
                    <a:pt x="5030851" y="1449832"/>
                    <a:pt x="5026152" y="1442847"/>
                    <a:pt x="5021453" y="1435862"/>
                  </a:cubicBezTo>
                  <a:close/>
                  <a:moveTo>
                    <a:pt x="5049647" y="1478280"/>
                  </a:moveTo>
                  <a:cubicBezTo>
                    <a:pt x="5054346" y="1485392"/>
                    <a:pt x="5058918" y="1492504"/>
                    <a:pt x="5063490" y="1499743"/>
                  </a:cubicBezTo>
                  <a:lnTo>
                    <a:pt x="5042154" y="1513459"/>
                  </a:lnTo>
                  <a:cubicBezTo>
                    <a:pt x="5037582" y="1506347"/>
                    <a:pt x="5033010" y="1499235"/>
                    <a:pt x="5028438" y="1492250"/>
                  </a:cubicBezTo>
                  <a:close/>
                  <a:moveTo>
                    <a:pt x="5055870" y="1535176"/>
                  </a:moveTo>
                  <a:cubicBezTo>
                    <a:pt x="5060442" y="1542415"/>
                    <a:pt x="5064887" y="1549654"/>
                    <a:pt x="5069332" y="1556893"/>
                  </a:cubicBezTo>
                  <a:lnTo>
                    <a:pt x="5047742" y="1570228"/>
                  </a:lnTo>
                  <a:cubicBezTo>
                    <a:pt x="5043297" y="1562989"/>
                    <a:pt x="5038852" y="1555877"/>
                    <a:pt x="5034407" y="1548765"/>
                  </a:cubicBezTo>
                  <a:close/>
                  <a:moveTo>
                    <a:pt x="5061077" y="1592199"/>
                  </a:moveTo>
                  <a:cubicBezTo>
                    <a:pt x="5065522" y="1599438"/>
                    <a:pt x="5069840" y="1606804"/>
                    <a:pt x="5074158" y="1614043"/>
                  </a:cubicBezTo>
                  <a:lnTo>
                    <a:pt x="5052314" y="1626997"/>
                  </a:lnTo>
                  <a:cubicBezTo>
                    <a:pt x="5047996" y="1619758"/>
                    <a:pt x="5043678" y="1612519"/>
                    <a:pt x="5039360" y="1605280"/>
                  </a:cubicBezTo>
                  <a:close/>
                  <a:moveTo>
                    <a:pt x="5065268" y="1649222"/>
                  </a:moveTo>
                  <a:cubicBezTo>
                    <a:pt x="5069586" y="1656588"/>
                    <a:pt x="5073777" y="1663954"/>
                    <a:pt x="5077968" y="1671320"/>
                  </a:cubicBezTo>
                  <a:lnTo>
                    <a:pt x="5055870" y="1683893"/>
                  </a:lnTo>
                  <a:cubicBezTo>
                    <a:pt x="5051679" y="1676527"/>
                    <a:pt x="5047488" y="1669288"/>
                    <a:pt x="5043297" y="1661922"/>
                  </a:cubicBezTo>
                  <a:close/>
                  <a:moveTo>
                    <a:pt x="5068443" y="1706372"/>
                  </a:moveTo>
                  <a:cubicBezTo>
                    <a:pt x="5072634" y="1713865"/>
                    <a:pt x="5076698" y="1721231"/>
                    <a:pt x="5080762" y="1728724"/>
                  </a:cubicBezTo>
                  <a:lnTo>
                    <a:pt x="5058410" y="1740789"/>
                  </a:lnTo>
                  <a:cubicBezTo>
                    <a:pt x="5054346" y="1733423"/>
                    <a:pt x="5050282" y="1725930"/>
                    <a:pt x="5046218" y="1718564"/>
                  </a:cubicBezTo>
                  <a:close/>
                  <a:moveTo>
                    <a:pt x="5070602" y="1763395"/>
                  </a:moveTo>
                  <a:cubicBezTo>
                    <a:pt x="5074539" y="1770888"/>
                    <a:pt x="5078603" y="1778381"/>
                    <a:pt x="5082413" y="1786001"/>
                  </a:cubicBezTo>
                  <a:lnTo>
                    <a:pt x="5059934" y="1797685"/>
                  </a:lnTo>
                  <a:cubicBezTo>
                    <a:pt x="5055997" y="1790192"/>
                    <a:pt x="5052060" y="1782699"/>
                    <a:pt x="5048123" y="1775333"/>
                  </a:cubicBezTo>
                  <a:close/>
                  <a:moveTo>
                    <a:pt x="5071618" y="1820545"/>
                  </a:moveTo>
                  <a:cubicBezTo>
                    <a:pt x="5075428" y="1828165"/>
                    <a:pt x="5079365" y="1835785"/>
                    <a:pt x="5083048" y="1843405"/>
                  </a:cubicBezTo>
                  <a:lnTo>
                    <a:pt x="5060315" y="1854708"/>
                  </a:lnTo>
                  <a:cubicBezTo>
                    <a:pt x="5056505" y="1847215"/>
                    <a:pt x="5052822" y="1839595"/>
                    <a:pt x="5048885" y="1832102"/>
                  </a:cubicBezTo>
                  <a:close/>
                  <a:moveTo>
                    <a:pt x="5071618" y="1877822"/>
                  </a:moveTo>
                  <a:cubicBezTo>
                    <a:pt x="5075301" y="1885442"/>
                    <a:pt x="5078984" y="1893062"/>
                    <a:pt x="5082667" y="1900809"/>
                  </a:cubicBezTo>
                  <a:lnTo>
                    <a:pt x="5059680" y="1911731"/>
                  </a:lnTo>
                  <a:cubicBezTo>
                    <a:pt x="5055997" y="1904111"/>
                    <a:pt x="5052441" y="1896491"/>
                    <a:pt x="5048758" y="1888998"/>
                  </a:cubicBezTo>
                  <a:close/>
                  <a:moveTo>
                    <a:pt x="5070729" y="1935099"/>
                  </a:moveTo>
                  <a:cubicBezTo>
                    <a:pt x="5074285" y="1942846"/>
                    <a:pt x="5077841" y="1950466"/>
                    <a:pt x="5081397" y="1958213"/>
                  </a:cubicBezTo>
                  <a:lnTo>
                    <a:pt x="5058283" y="1968754"/>
                  </a:lnTo>
                  <a:cubicBezTo>
                    <a:pt x="5054854" y="1961134"/>
                    <a:pt x="5051298" y="1953387"/>
                    <a:pt x="5047742" y="1945767"/>
                  </a:cubicBezTo>
                  <a:close/>
                  <a:moveTo>
                    <a:pt x="5068824" y="1992249"/>
                  </a:moveTo>
                  <a:cubicBezTo>
                    <a:pt x="5072253" y="1999996"/>
                    <a:pt x="5075682" y="2007870"/>
                    <a:pt x="5079111" y="2015617"/>
                  </a:cubicBezTo>
                  <a:lnTo>
                    <a:pt x="5055743" y="2025650"/>
                  </a:lnTo>
                  <a:cubicBezTo>
                    <a:pt x="5052441" y="2017903"/>
                    <a:pt x="5049012" y="2010156"/>
                    <a:pt x="5045583" y="2002409"/>
                  </a:cubicBezTo>
                  <a:close/>
                  <a:moveTo>
                    <a:pt x="5065903" y="2049272"/>
                  </a:moveTo>
                  <a:cubicBezTo>
                    <a:pt x="5069205" y="2057146"/>
                    <a:pt x="5072507" y="2064893"/>
                    <a:pt x="5075682" y="2072767"/>
                  </a:cubicBezTo>
                  <a:lnTo>
                    <a:pt x="5052187" y="2082419"/>
                  </a:lnTo>
                  <a:cubicBezTo>
                    <a:pt x="5049012" y="2074672"/>
                    <a:pt x="5045710" y="2066925"/>
                    <a:pt x="5042535" y="2059178"/>
                  </a:cubicBezTo>
                  <a:close/>
                  <a:moveTo>
                    <a:pt x="5061966" y="2106295"/>
                  </a:moveTo>
                  <a:cubicBezTo>
                    <a:pt x="5065141" y="2114169"/>
                    <a:pt x="5068316" y="2122043"/>
                    <a:pt x="5071364" y="2130044"/>
                  </a:cubicBezTo>
                  <a:lnTo>
                    <a:pt x="5047742" y="2139315"/>
                  </a:lnTo>
                  <a:cubicBezTo>
                    <a:pt x="5044694" y="2131441"/>
                    <a:pt x="5041519" y="2123567"/>
                    <a:pt x="5038471" y="2115820"/>
                  </a:cubicBezTo>
                  <a:close/>
                  <a:moveTo>
                    <a:pt x="5057013" y="2163318"/>
                  </a:moveTo>
                  <a:cubicBezTo>
                    <a:pt x="5060061" y="2171319"/>
                    <a:pt x="5062982" y="2179193"/>
                    <a:pt x="5066030" y="2187194"/>
                  </a:cubicBezTo>
                  <a:lnTo>
                    <a:pt x="5042154" y="2195957"/>
                  </a:lnTo>
                  <a:cubicBezTo>
                    <a:pt x="5039233" y="2188083"/>
                    <a:pt x="5036312" y="2180082"/>
                    <a:pt x="5033264" y="2172208"/>
                  </a:cubicBezTo>
                  <a:close/>
                  <a:moveTo>
                    <a:pt x="5051044" y="2220087"/>
                  </a:moveTo>
                  <a:cubicBezTo>
                    <a:pt x="5053965" y="2228088"/>
                    <a:pt x="5056759" y="2236089"/>
                    <a:pt x="5059553" y="2244090"/>
                  </a:cubicBezTo>
                  <a:lnTo>
                    <a:pt x="5035550" y="2252472"/>
                  </a:lnTo>
                  <a:cubicBezTo>
                    <a:pt x="5032756" y="2244471"/>
                    <a:pt x="5029962" y="2236597"/>
                    <a:pt x="5027168" y="2228723"/>
                  </a:cubicBezTo>
                  <a:close/>
                  <a:moveTo>
                    <a:pt x="5044059" y="2276856"/>
                  </a:moveTo>
                  <a:cubicBezTo>
                    <a:pt x="5046853" y="2284857"/>
                    <a:pt x="5049520" y="2292985"/>
                    <a:pt x="5052187" y="2301113"/>
                  </a:cubicBezTo>
                  <a:lnTo>
                    <a:pt x="5028057" y="2309114"/>
                  </a:lnTo>
                  <a:cubicBezTo>
                    <a:pt x="5025390" y="2301113"/>
                    <a:pt x="5022723" y="2293112"/>
                    <a:pt x="5020056" y="2285111"/>
                  </a:cubicBezTo>
                  <a:close/>
                  <a:moveTo>
                    <a:pt x="5036058" y="2333625"/>
                  </a:moveTo>
                  <a:cubicBezTo>
                    <a:pt x="5038598" y="2341753"/>
                    <a:pt x="5041265" y="2349881"/>
                    <a:pt x="5043678" y="2358009"/>
                  </a:cubicBezTo>
                  <a:lnTo>
                    <a:pt x="5019421" y="2365502"/>
                  </a:lnTo>
                  <a:cubicBezTo>
                    <a:pt x="5016881" y="2357374"/>
                    <a:pt x="5014341" y="2349373"/>
                    <a:pt x="5011801" y="2341372"/>
                  </a:cubicBezTo>
                  <a:close/>
                  <a:moveTo>
                    <a:pt x="5026914" y="2390140"/>
                  </a:moveTo>
                  <a:cubicBezTo>
                    <a:pt x="5029327" y="2398268"/>
                    <a:pt x="5031740" y="2406396"/>
                    <a:pt x="5034153" y="2414524"/>
                  </a:cubicBezTo>
                  <a:lnTo>
                    <a:pt x="5009769" y="2421636"/>
                  </a:lnTo>
                  <a:cubicBezTo>
                    <a:pt x="5007356" y="2413508"/>
                    <a:pt x="5005070" y="2405507"/>
                    <a:pt x="5002657" y="2397379"/>
                  </a:cubicBezTo>
                  <a:close/>
                  <a:moveTo>
                    <a:pt x="5016881" y="2446401"/>
                  </a:moveTo>
                  <a:cubicBezTo>
                    <a:pt x="5019167" y="2454529"/>
                    <a:pt x="5021453" y="2462784"/>
                    <a:pt x="5023612" y="2471039"/>
                  </a:cubicBezTo>
                  <a:lnTo>
                    <a:pt x="4999101" y="2477643"/>
                  </a:lnTo>
                  <a:cubicBezTo>
                    <a:pt x="4996942" y="2469515"/>
                    <a:pt x="4994656" y="2461387"/>
                    <a:pt x="4992370" y="2453259"/>
                  </a:cubicBezTo>
                  <a:close/>
                  <a:moveTo>
                    <a:pt x="5005705" y="2502535"/>
                  </a:moveTo>
                  <a:cubicBezTo>
                    <a:pt x="5007864" y="2510790"/>
                    <a:pt x="5010023" y="2519045"/>
                    <a:pt x="5012055" y="2527173"/>
                  </a:cubicBezTo>
                  <a:lnTo>
                    <a:pt x="4987417" y="2533396"/>
                  </a:lnTo>
                  <a:cubicBezTo>
                    <a:pt x="4985385" y="2525268"/>
                    <a:pt x="4983226" y="2517013"/>
                    <a:pt x="4981194" y="2508885"/>
                  </a:cubicBezTo>
                  <a:close/>
                  <a:moveTo>
                    <a:pt x="4993640" y="2558288"/>
                  </a:moveTo>
                  <a:cubicBezTo>
                    <a:pt x="4995672" y="2566543"/>
                    <a:pt x="4997577" y="2574798"/>
                    <a:pt x="4999482" y="2583053"/>
                  </a:cubicBezTo>
                  <a:lnTo>
                    <a:pt x="4974717" y="2588768"/>
                  </a:lnTo>
                  <a:cubicBezTo>
                    <a:pt x="4972812" y="2580513"/>
                    <a:pt x="4970907" y="2572385"/>
                    <a:pt x="4968875" y="2564130"/>
                  </a:cubicBezTo>
                  <a:close/>
                  <a:moveTo>
                    <a:pt x="4980432" y="2613787"/>
                  </a:moveTo>
                  <a:cubicBezTo>
                    <a:pt x="4982337" y="2622042"/>
                    <a:pt x="4984115" y="2630424"/>
                    <a:pt x="4985893" y="2638806"/>
                  </a:cubicBezTo>
                  <a:lnTo>
                    <a:pt x="4961001" y="2644140"/>
                  </a:lnTo>
                  <a:cubicBezTo>
                    <a:pt x="4959223" y="2635885"/>
                    <a:pt x="4957445" y="2627630"/>
                    <a:pt x="4955540" y="2619375"/>
                  </a:cubicBezTo>
                  <a:close/>
                  <a:moveTo>
                    <a:pt x="4966208" y="2669413"/>
                  </a:moveTo>
                  <a:cubicBezTo>
                    <a:pt x="4967859" y="2677668"/>
                    <a:pt x="4969510" y="2686050"/>
                    <a:pt x="4971161" y="2694305"/>
                  </a:cubicBezTo>
                  <a:lnTo>
                    <a:pt x="4946269" y="2699131"/>
                  </a:lnTo>
                  <a:cubicBezTo>
                    <a:pt x="4944618" y="2690876"/>
                    <a:pt x="4942967" y="2682621"/>
                    <a:pt x="4941316" y="2674366"/>
                  </a:cubicBezTo>
                  <a:close/>
                  <a:moveTo>
                    <a:pt x="4951095" y="2724277"/>
                  </a:moveTo>
                  <a:cubicBezTo>
                    <a:pt x="4952619" y="2732659"/>
                    <a:pt x="4954143" y="2741041"/>
                    <a:pt x="4955667" y="2749423"/>
                  </a:cubicBezTo>
                  <a:lnTo>
                    <a:pt x="4930648" y="2753868"/>
                  </a:lnTo>
                  <a:cubicBezTo>
                    <a:pt x="4929124" y="2745613"/>
                    <a:pt x="4927727" y="2737231"/>
                    <a:pt x="4926076" y="2728976"/>
                  </a:cubicBezTo>
                  <a:close/>
                  <a:moveTo>
                    <a:pt x="4934966" y="2779268"/>
                  </a:moveTo>
                  <a:cubicBezTo>
                    <a:pt x="4936363" y="2787650"/>
                    <a:pt x="4937760" y="2796032"/>
                    <a:pt x="4939030" y="2804541"/>
                  </a:cubicBezTo>
                  <a:lnTo>
                    <a:pt x="4913884" y="2808478"/>
                  </a:lnTo>
                  <a:cubicBezTo>
                    <a:pt x="4912614" y="2800096"/>
                    <a:pt x="4911217" y="2791841"/>
                    <a:pt x="4909820" y="2783459"/>
                  </a:cubicBezTo>
                  <a:close/>
                  <a:moveTo>
                    <a:pt x="4917821" y="2833878"/>
                  </a:moveTo>
                  <a:cubicBezTo>
                    <a:pt x="4919091" y="2842260"/>
                    <a:pt x="4920234" y="2850642"/>
                    <a:pt x="4921504" y="2859024"/>
                  </a:cubicBezTo>
                  <a:lnTo>
                    <a:pt x="4896358" y="2862580"/>
                  </a:lnTo>
                  <a:cubicBezTo>
                    <a:pt x="4895215" y="2854198"/>
                    <a:pt x="4893945" y="2845943"/>
                    <a:pt x="4892802" y="2837688"/>
                  </a:cubicBezTo>
                  <a:close/>
                  <a:moveTo>
                    <a:pt x="4899914" y="2888107"/>
                  </a:moveTo>
                  <a:cubicBezTo>
                    <a:pt x="4901057" y="2896489"/>
                    <a:pt x="4902073" y="2904998"/>
                    <a:pt x="4903089" y="2913380"/>
                  </a:cubicBezTo>
                  <a:lnTo>
                    <a:pt x="4877816" y="2916428"/>
                  </a:lnTo>
                  <a:cubicBezTo>
                    <a:pt x="4876800" y="2908046"/>
                    <a:pt x="4875784" y="2899664"/>
                    <a:pt x="4874641" y="2891282"/>
                  </a:cubicBezTo>
                  <a:close/>
                  <a:moveTo>
                    <a:pt x="4880864" y="2941955"/>
                  </a:moveTo>
                  <a:cubicBezTo>
                    <a:pt x="4881880" y="2950464"/>
                    <a:pt x="4882769" y="2958846"/>
                    <a:pt x="4883658" y="2967355"/>
                  </a:cubicBezTo>
                  <a:lnTo>
                    <a:pt x="4858385" y="2970022"/>
                  </a:lnTo>
                  <a:cubicBezTo>
                    <a:pt x="4857496" y="2961640"/>
                    <a:pt x="4856607" y="2953258"/>
                    <a:pt x="4855591" y="2944749"/>
                  </a:cubicBezTo>
                  <a:close/>
                  <a:moveTo>
                    <a:pt x="4860925" y="2995549"/>
                  </a:moveTo>
                  <a:cubicBezTo>
                    <a:pt x="4861687" y="3003931"/>
                    <a:pt x="4862449" y="3012440"/>
                    <a:pt x="4863211" y="3020822"/>
                  </a:cubicBezTo>
                  <a:lnTo>
                    <a:pt x="4837938" y="3022981"/>
                  </a:lnTo>
                  <a:cubicBezTo>
                    <a:pt x="4837176" y="3014599"/>
                    <a:pt x="4836414" y="3006217"/>
                    <a:pt x="4835652" y="2997835"/>
                  </a:cubicBezTo>
                  <a:close/>
                  <a:moveTo>
                    <a:pt x="4840097" y="3048508"/>
                  </a:moveTo>
                  <a:cubicBezTo>
                    <a:pt x="4840732" y="3057017"/>
                    <a:pt x="4841367" y="3065526"/>
                    <a:pt x="4842002" y="3073908"/>
                  </a:cubicBezTo>
                  <a:lnTo>
                    <a:pt x="4816602" y="3075686"/>
                  </a:lnTo>
                  <a:cubicBezTo>
                    <a:pt x="4815967" y="3067304"/>
                    <a:pt x="4815459" y="3058795"/>
                    <a:pt x="4814697" y="3050413"/>
                  </a:cubicBezTo>
                  <a:close/>
                  <a:moveTo>
                    <a:pt x="4818253" y="3101340"/>
                  </a:moveTo>
                  <a:cubicBezTo>
                    <a:pt x="4818761" y="3109849"/>
                    <a:pt x="4819269" y="3118358"/>
                    <a:pt x="4819650" y="3126867"/>
                  </a:cubicBezTo>
                  <a:lnTo>
                    <a:pt x="4794250" y="3128137"/>
                  </a:lnTo>
                  <a:cubicBezTo>
                    <a:pt x="4793869" y="3119628"/>
                    <a:pt x="4793361" y="3111246"/>
                    <a:pt x="4792853" y="3102737"/>
                  </a:cubicBezTo>
                  <a:close/>
                  <a:moveTo>
                    <a:pt x="4795393" y="3153664"/>
                  </a:moveTo>
                  <a:cubicBezTo>
                    <a:pt x="4795774" y="3162173"/>
                    <a:pt x="4796028" y="3170555"/>
                    <a:pt x="4796409" y="3179064"/>
                  </a:cubicBezTo>
                  <a:lnTo>
                    <a:pt x="4771009" y="3179953"/>
                  </a:lnTo>
                  <a:cubicBezTo>
                    <a:pt x="4770755" y="3171571"/>
                    <a:pt x="4770374" y="3163189"/>
                    <a:pt x="4770120" y="3154807"/>
                  </a:cubicBezTo>
                  <a:close/>
                  <a:moveTo>
                    <a:pt x="4771771" y="3205734"/>
                  </a:moveTo>
                  <a:cubicBezTo>
                    <a:pt x="4772025" y="3214243"/>
                    <a:pt x="4772152" y="3222752"/>
                    <a:pt x="4772279" y="3231261"/>
                  </a:cubicBezTo>
                  <a:lnTo>
                    <a:pt x="4746879" y="3231642"/>
                  </a:lnTo>
                  <a:cubicBezTo>
                    <a:pt x="4746752" y="3223133"/>
                    <a:pt x="4746625" y="3214751"/>
                    <a:pt x="4746371" y="3206369"/>
                  </a:cubicBezTo>
                  <a:close/>
                  <a:moveTo>
                    <a:pt x="4747133" y="3257550"/>
                  </a:moveTo>
                  <a:cubicBezTo>
                    <a:pt x="4747133" y="3264408"/>
                    <a:pt x="4747260" y="3271139"/>
                    <a:pt x="4747260" y="3277997"/>
                  </a:cubicBezTo>
                  <a:lnTo>
                    <a:pt x="4734560" y="3277997"/>
                  </a:lnTo>
                  <a:lnTo>
                    <a:pt x="4747260" y="3277997"/>
                  </a:lnTo>
                  <a:cubicBezTo>
                    <a:pt x="4747260" y="3279775"/>
                    <a:pt x="4747260" y="3281426"/>
                    <a:pt x="4747260" y="3283204"/>
                  </a:cubicBezTo>
                  <a:lnTo>
                    <a:pt x="4721860" y="3283204"/>
                  </a:lnTo>
                  <a:cubicBezTo>
                    <a:pt x="4721860" y="3281553"/>
                    <a:pt x="4721860" y="3279775"/>
                    <a:pt x="4721860" y="3278124"/>
                  </a:cubicBezTo>
                  <a:cubicBezTo>
                    <a:pt x="4721860" y="3271393"/>
                    <a:pt x="4721860" y="3264535"/>
                    <a:pt x="4721733" y="3257804"/>
                  </a:cubicBezTo>
                  <a:close/>
                  <a:moveTo>
                    <a:pt x="4721606" y="3309112"/>
                  </a:moveTo>
                  <a:cubicBezTo>
                    <a:pt x="4721479" y="3317621"/>
                    <a:pt x="4721352" y="3326130"/>
                    <a:pt x="4721225" y="3334639"/>
                  </a:cubicBezTo>
                  <a:lnTo>
                    <a:pt x="4695825" y="3334131"/>
                  </a:lnTo>
                  <a:cubicBezTo>
                    <a:pt x="4695952" y="3325749"/>
                    <a:pt x="4696079" y="3317240"/>
                    <a:pt x="4696206" y="3308731"/>
                  </a:cubicBezTo>
                  <a:close/>
                  <a:moveTo>
                    <a:pt x="4695190" y="3359785"/>
                  </a:moveTo>
                  <a:cubicBezTo>
                    <a:pt x="4694936" y="3368294"/>
                    <a:pt x="4694682" y="3376803"/>
                    <a:pt x="4694301" y="3385185"/>
                  </a:cubicBezTo>
                  <a:lnTo>
                    <a:pt x="4668901" y="3384296"/>
                  </a:lnTo>
                  <a:cubicBezTo>
                    <a:pt x="4669155" y="3375914"/>
                    <a:pt x="4669536" y="3367532"/>
                    <a:pt x="4669663" y="3359023"/>
                  </a:cubicBezTo>
                  <a:close/>
                  <a:moveTo>
                    <a:pt x="4667758" y="3409823"/>
                  </a:moveTo>
                  <a:cubicBezTo>
                    <a:pt x="4667377" y="3418332"/>
                    <a:pt x="4666996" y="3426841"/>
                    <a:pt x="4666488" y="3435223"/>
                  </a:cubicBezTo>
                  <a:lnTo>
                    <a:pt x="4641088" y="3433826"/>
                  </a:lnTo>
                  <a:cubicBezTo>
                    <a:pt x="4641596" y="3425444"/>
                    <a:pt x="4641977" y="3417062"/>
                    <a:pt x="4642358" y="3408553"/>
                  </a:cubicBezTo>
                  <a:close/>
                  <a:moveTo>
                    <a:pt x="4639564" y="3459607"/>
                  </a:moveTo>
                  <a:cubicBezTo>
                    <a:pt x="4639056" y="3468116"/>
                    <a:pt x="4638421" y="3476625"/>
                    <a:pt x="4637786" y="3485134"/>
                  </a:cubicBezTo>
                  <a:lnTo>
                    <a:pt x="4612513" y="3483356"/>
                  </a:lnTo>
                  <a:cubicBezTo>
                    <a:pt x="4613148" y="3474974"/>
                    <a:pt x="4613656" y="3466465"/>
                    <a:pt x="4614164" y="3458083"/>
                  </a:cubicBezTo>
                  <a:close/>
                  <a:moveTo>
                    <a:pt x="4610481" y="3509010"/>
                  </a:moveTo>
                  <a:cubicBezTo>
                    <a:pt x="4609846" y="3517519"/>
                    <a:pt x="4609084" y="3525901"/>
                    <a:pt x="4608322" y="3534410"/>
                  </a:cubicBezTo>
                  <a:lnTo>
                    <a:pt x="4583049" y="3532124"/>
                  </a:lnTo>
                  <a:cubicBezTo>
                    <a:pt x="4583811" y="3523742"/>
                    <a:pt x="4584573" y="3515360"/>
                    <a:pt x="4585208" y="3506978"/>
                  </a:cubicBezTo>
                  <a:close/>
                  <a:moveTo>
                    <a:pt x="4580636" y="3557651"/>
                  </a:moveTo>
                  <a:cubicBezTo>
                    <a:pt x="4579747" y="3566160"/>
                    <a:pt x="4578858" y="3574542"/>
                    <a:pt x="4577969" y="3583051"/>
                  </a:cubicBezTo>
                  <a:lnTo>
                    <a:pt x="4552696" y="3580384"/>
                  </a:lnTo>
                  <a:cubicBezTo>
                    <a:pt x="4553585" y="3572002"/>
                    <a:pt x="4554474" y="3563620"/>
                    <a:pt x="4555363" y="3555238"/>
                  </a:cubicBezTo>
                  <a:close/>
                  <a:moveTo>
                    <a:pt x="4549902" y="3606038"/>
                  </a:moveTo>
                  <a:cubicBezTo>
                    <a:pt x="4548886" y="3614547"/>
                    <a:pt x="4547870" y="3622929"/>
                    <a:pt x="4546854" y="3631438"/>
                  </a:cubicBezTo>
                  <a:lnTo>
                    <a:pt x="4521708" y="3628263"/>
                  </a:lnTo>
                  <a:cubicBezTo>
                    <a:pt x="4522724" y="3619881"/>
                    <a:pt x="4523740" y="3611499"/>
                    <a:pt x="4524756" y="3603117"/>
                  </a:cubicBezTo>
                  <a:close/>
                  <a:moveTo>
                    <a:pt x="4518406" y="3653790"/>
                  </a:moveTo>
                  <a:cubicBezTo>
                    <a:pt x="4517263" y="3662172"/>
                    <a:pt x="4516120" y="3670554"/>
                    <a:pt x="4514850" y="3679063"/>
                  </a:cubicBezTo>
                  <a:lnTo>
                    <a:pt x="4489704" y="3675380"/>
                  </a:lnTo>
                  <a:cubicBezTo>
                    <a:pt x="4490847" y="3667125"/>
                    <a:pt x="4492117" y="3658743"/>
                    <a:pt x="4493133" y="3650361"/>
                  </a:cubicBezTo>
                  <a:close/>
                  <a:moveTo>
                    <a:pt x="4485894" y="3700780"/>
                  </a:moveTo>
                  <a:cubicBezTo>
                    <a:pt x="4484624" y="3709162"/>
                    <a:pt x="4483227" y="3717671"/>
                    <a:pt x="4481957" y="3726053"/>
                  </a:cubicBezTo>
                  <a:lnTo>
                    <a:pt x="4456938" y="3721989"/>
                  </a:lnTo>
                  <a:cubicBezTo>
                    <a:pt x="4458335" y="3713607"/>
                    <a:pt x="4459605" y="3705352"/>
                    <a:pt x="4460875" y="3696970"/>
                  </a:cubicBezTo>
                  <a:close/>
                  <a:moveTo>
                    <a:pt x="4452620" y="3747516"/>
                  </a:moveTo>
                  <a:cubicBezTo>
                    <a:pt x="4451223" y="3755898"/>
                    <a:pt x="4449699" y="3764280"/>
                    <a:pt x="4448175" y="3772662"/>
                  </a:cubicBezTo>
                  <a:lnTo>
                    <a:pt x="4423156" y="3768090"/>
                  </a:lnTo>
                  <a:cubicBezTo>
                    <a:pt x="4424680" y="3759835"/>
                    <a:pt x="4426077" y="3751453"/>
                    <a:pt x="4427601" y="3743198"/>
                  </a:cubicBezTo>
                  <a:close/>
                  <a:moveTo>
                    <a:pt x="4418584" y="3793363"/>
                  </a:moveTo>
                  <a:cubicBezTo>
                    <a:pt x="4417060" y="3801745"/>
                    <a:pt x="4415409" y="3810000"/>
                    <a:pt x="4413758" y="3818382"/>
                  </a:cubicBezTo>
                  <a:lnTo>
                    <a:pt x="4388866" y="3813429"/>
                  </a:lnTo>
                  <a:cubicBezTo>
                    <a:pt x="4390517" y="3805174"/>
                    <a:pt x="4392168" y="3796919"/>
                    <a:pt x="4393692" y="3788664"/>
                  </a:cubicBezTo>
                  <a:close/>
                  <a:moveTo>
                    <a:pt x="4383786" y="3838575"/>
                  </a:moveTo>
                  <a:cubicBezTo>
                    <a:pt x="4382008" y="3846957"/>
                    <a:pt x="4380230" y="3855212"/>
                    <a:pt x="4378452" y="3863594"/>
                  </a:cubicBezTo>
                  <a:lnTo>
                    <a:pt x="4353687" y="3858133"/>
                  </a:lnTo>
                  <a:cubicBezTo>
                    <a:pt x="4355465" y="3849878"/>
                    <a:pt x="4357243" y="3841623"/>
                    <a:pt x="4359021" y="3833368"/>
                  </a:cubicBezTo>
                  <a:close/>
                  <a:moveTo>
                    <a:pt x="4348099" y="3883279"/>
                  </a:moveTo>
                  <a:cubicBezTo>
                    <a:pt x="4346194" y="3891534"/>
                    <a:pt x="4344289" y="3899916"/>
                    <a:pt x="4342384" y="3908171"/>
                  </a:cubicBezTo>
                  <a:lnTo>
                    <a:pt x="4317619" y="3902329"/>
                  </a:lnTo>
                  <a:cubicBezTo>
                    <a:pt x="4319524" y="3894074"/>
                    <a:pt x="4321429" y="3885946"/>
                    <a:pt x="4323334" y="3877691"/>
                  </a:cubicBezTo>
                  <a:close/>
                  <a:moveTo>
                    <a:pt x="4311523" y="3927348"/>
                  </a:moveTo>
                  <a:cubicBezTo>
                    <a:pt x="4309491" y="3935603"/>
                    <a:pt x="4307459" y="3943858"/>
                    <a:pt x="4305300" y="3951986"/>
                  </a:cubicBezTo>
                  <a:lnTo>
                    <a:pt x="4280662" y="3945636"/>
                  </a:lnTo>
                  <a:cubicBezTo>
                    <a:pt x="4282694" y="3937508"/>
                    <a:pt x="4284853" y="3929380"/>
                    <a:pt x="4286758" y="3921125"/>
                  </a:cubicBezTo>
                  <a:close/>
                  <a:moveTo>
                    <a:pt x="4274058" y="3970528"/>
                  </a:moveTo>
                  <a:cubicBezTo>
                    <a:pt x="4271899" y="3978783"/>
                    <a:pt x="4269613" y="3987038"/>
                    <a:pt x="4267454" y="3995166"/>
                  </a:cubicBezTo>
                  <a:lnTo>
                    <a:pt x="4242943" y="3988435"/>
                  </a:lnTo>
                  <a:cubicBezTo>
                    <a:pt x="4245229" y="3980307"/>
                    <a:pt x="4247388" y="3972179"/>
                    <a:pt x="4249547" y="3963924"/>
                  </a:cubicBezTo>
                  <a:close/>
                  <a:moveTo>
                    <a:pt x="4235958" y="4013200"/>
                  </a:moveTo>
                  <a:cubicBezTo>
                    <a:pt x="4233672" y="4021328"/>
                    <a:pt x="4231259" y="4029583"/>
                    <a:pt x="4228846" y="4037711"/>
                  </a:cubicBezTo>
                  <a:lnTo>
                    <a:pt x="4204462" y="4030599"/>
                  </a:lnTo>
                  <a:cubicBezTo>
                    <a:pt x="4206875" y="4022471"/>
                    <a:pt x="4209161" y="4014470"/>
                    <a:pt x="4211447" y="4006342"/>
                  </a:cubicBezTo>
                  <a:close/>
                  <a:moveTo>
                    <a:pt x="4197096" y="4055237"/>
                  </a:moveTo>
                  <a:cubicBezTo>
                    <a:pt x="4194683" y="4063365"/>
                    <a:pt x="4192143" y="4071493"/>
                    <a:pt x="4189603" y="4079621"/>
                  </a:cubicBezTo>
                  <a:lnTo>
                    <a:pt x="4165346" y="4072001"/>
                  </a:lnTo>
                  <a:cubicBezTo>
                    <a:pt x="4167886" y="4064000"/>
                    <a:pt x="4170299" y="4055872"/>
                    <a:pt x="4172839" y="4047871"/>
                  </a:cubicBezTo>
                  <a:close/>
                  <a:moveTo>
                    <a:pt x="4157599" y="4096512"/>
                  </a:moveTo>
                  <a:cubicBezTo>
                    <a:pt x="4154932" y="4104640"/>
                    <a:pt x="4152265" y="4112641"/>
                    <a:pt x="4149598" y="4120769"/>
                  </a:cubicBezTo>
                  <a:lnTo>
                    <a:pt x="4125468" y="4112768"/>
                  </a:lnTo>
                  <a:cubicBezTo>
                    <a:pt x="4128135" y="4104767"/>
                    <a:pt x="4130802" y="4096766"/>
                    <a:pt x="4133342" y="4088765"/>
                  </a:cubicBezTo>
                  <a:close/>
                  <a:moveTo>
                    <a:pt x="4117213" y="4137152"/>
                  </a:moveTo>
                  <a:cubicBezTo>
                    <a:pt x="4114419" y="4145153"/>
                    <a:pt x="4111625" y="4153154"/>
                    <a:pt x="4108831" y="4161155"/>
                  </a:cubicBezTo>
                  <a:lnTo>
                    <a:pt x="4084828" y="4152646"/>
                  </a:lnTo>
                  <a:cubicBezTo>
                    <a:pt x="4087622" y="4144772"/>
                    <a:pt x="4090416" y="4136771"/>
                    <a:pt x="4093210" y="4128770"/>
                  </a:cubicBezTo>
                  <a:close/>
                  <a:moveTo>
                    <a:pt x="4076192" y="4176776"/>
                  </a:moveTo>
                  <a:cubicBezTo>
                    <a:pt x="4073271" y="4184777"/>
                    <a:pt x="4070350" y="4192778"/>
                    <a:pt x="4067302" y="4200779"/>
                  </a:cubicBezTo>
                  <a:lnTo>
                    <a:pt x="4043553" y="4191889"/>
                  </a:lnTo>
                  <a:cubicBezTo>
                    <a:pt x="4046474" y="4184015"/>
                    <a:pt x="4049395" y="4176014"/>
                    <a:pt x="4052316" y="4168140"/>
                  </a:cubicBezTo>
                  <a:close/>
                  <a:moveTo>
                    <a:pt x="4034409" y="4216019"/>
                  </a:moveTo>
                  <a:cubicBezTo>
                    <a:pt x="4031361" y="4224020"/>
                    <a:pt x="4028313" y="4231894"/>
                    <a:pt x="4025138" y="4239768"/>
                  </a:cubicBezTo>
                  <a:lnTo>
                    <a:pt x="4001516" y="4230497"/>
                  </a:lnTo>
                  <a:cubicBezTo>
                    <a:pt x="4004564" y="4222623"/>
                    <a:pt x="4007612" y="4214749"/>
                    <a:pt x="4010660" y="4206875"/>
                  </a:cubicBezTo>
                  <a:close/>
                  <a:moveTo>
                    <a:pt x="3991864" y="4254373"/>
                  </a:moveTo>
                  <a:cubicBezTo>
                    <a:pt x="3988689" y="4262247"/>
                    <a:pt x="3985387" y="4270121"/>
                    <a:pt x="3982212" y="4277995"/>
                  </a:cubicBezTo>
                  <a:lnTo>
                    <a:pt x="3958717" y="4268216"/>
                  </a:lnTo>
                  <a:cubicBezTo>
                    <a:pt x="3961892" y="4260469"/>
                    <a:pt x="3965194" y="4252722"/>
                    <a:pt x="3968369" y="4244848"/>
                  </a:cubicBezTo>
                  <a:close/>
                  <a:moveTo>
                    <a:pt x="3948811" y="4291965"/>
                  </a:moveTo>
                  <a:cubicBezTo>
                    <a:pt x="3945509" y="4299839"/>
                    <a:pt x="3942080" y="4307586"/>
                    <a:pt x="3938651" y="4315460"/>
                  </a:cubicBezTo>
                  <a:lnTo>
                    <a:pt x="3915410" y="4305300"/>
                  </a:lnTo>
                  <a:cubicBezTo>
                    <a:pt x="3918839" y="4297553"/>
                    <a:pt x="3922141" y="4289806"/>
                    <a:pt x="3925443" y="4282059"/>
                  </a:cubicBezTo>
                  <a:close/>
                  <a:moveTo>
                    <a:pt x="3904996" y="4328922"/>
                  </a:moveTo>
                  <a:cubicBezTo>
                    <a:pt x="3901567" y="4336669"/>
                    <a:pt x="3898011" y="4344416"/>
                    <a:pt x="3894455" y="4352163"/>
                  </a:cubicBezTo>
                  <a:lnTo>
                    <a:pt x="3871341" y="4341622"/>
                  </a:lnTo>
                  <a:cubicBezTo>
                    <a:pt x="3874897" y="4334002"/>
                    <a:pt x="3878326" y="4326255"/>
                    <a:pt x="3881755" y="4318635"/>
                  </a:cubicBezTo>
                  <a:close/>
                  <a:moveTo>
                    <a:pt x="3860546" y="4364990"/>
                  </a:moveTo>
                  <a:cubicBezTo>
                    <a:pt x="3856990" y="4372737"/>
                    <a:pt x="3853307" y="4380357"/>
                    <a:pt x="3849624" y="4387977"/>
                  </a:cubicBezTo>
                  <a:lnTo>
                    <a:pt x="3826764" y="4376928"/>
                  </a:lnTo>
                  <a:cubicBezTo>
                    <a:pt x="3830447" y="4369308"/>
                    <a:pt x="3834003" y="4361688"/>
                    <a:pt x="3837559" y="4354068"/>
                  </a:cubicBezTo>
                  <a:close/>
                  <a:moveTo>
                    <a:pt x="3815461" y="4400042"/>
                  </a:moveTo>
                  <a:cubicBezTo>
                    <a:pt x="3811651" y="4407662"/>
                    <a:pt x="3807968" y="4415282"/>
                    <a:pt x="3804158" y="4422902"/>
                  </a:cubicBezTo>
                  <a:lnTo>
                    <a:pt x="3781425" y="4411472"/>
                  </a:lnTo>
                  <a:cubicBezTo>
                    <a:pt x="3785235" y="4403979"/>
                    <a:pt x="3788918" y="4396359"/>
                    <a:pt x="3792728" y="4388866"/>
                  </a:cubicBezTo>
                  <a:close/>
                  <a:moveTo>
                    <a:pt x="3769868" y="4434459"/>
                  </a:moveTo>
                  <a:cubicBezTo>
                    <a:pt x="3765931" y="4442079"/>
                    <a:pt x="3762121" y="4449572"/>
                    <a:pt x="3758057" y="4457065"/>
                  </a:cubicBezTo>
                  <a:lnTo>
                    <a:pt x="3735578" y="4445254"/>
                  </a:lnTo>
                  <a:cubicBezTo>
                    <a:pt x="3739515" y="4437761"/>
                    <a:pt x="3743325" y="4430268"/>
                    <a:pt x="3747262" y="4422775"/>
                  </a:cubicBezTo>
                  <a:close/>
                  <a:moveTo>
                    <a:pt x="3723513" y="4467860"/>
                  </a:moveTo>
                  <a:cubicBezTo>
                    <a:pt x="3719449" y="4475353"/>
                    <a:pt x="3715385" y="4482846"/>
                    <a:pt x="3711321" y="4490339"/>
                  </a:cubicBezTo>
                  <a:lnTo>
                    <a:pt x="3689096" y="4478147"/>
                  </a:lnTo>
                  <a:cubicBezTo>
                    <a:pt x="3693160" y="4470781"/>
                    <a:pt x="3697224" y="4463415"/>
                    <a:pt x="3701161" y="4455922"/>
                  </a:cubicBezTo>
                  <a:close/>
                  <a:moveTo>
                    <a:pt x="3676650" y="4500626"/>
                  </a:moveTo>
                  <a:cubicBezTo>
                    <a:pt x="3672459" y="4507992"/>
                    <a:pt x="3668268" y="4515485"/>
                    <a:pt x="3664077" y="4522851"/>
                  </a:cubicBezTo>
                  <a:lnTo>
                    <a:pt x="3641979" y="4510278"/>
                  </a:lnTo>
                  <a:cubicBezTo>
                    <a:pt x="3646170" y="4502912"/>
                    <a:pt x="3650361" y="4495673"/>
                    <a:pt x="3654425" y="4488307"/>
                  </a:cubicBezTo>
                  <a:close/>
                  <a:moveTo>
                    <a:pt x="3629152" y="4532630"/>
                  </a:moveTo>
                  <a:cubicBezTo>
                    <a:pt x="3624834" y="4539996"/>
                    <a:pt x="3620516" y="4547235"/>
                    <a:pt x="3616198" y="4554601"/>
                  </a:cubicBezTo>
                  <a:lnTo>
                    <a:pt x="3594354" y="4541647"/>
                  </a:lnTo>
                  <a:cubicBezTo>
                    <a:pt x="3598672" y="4534408"/>
                    <a:pt x="3602990" y="4527169"/>
                    <a:pt x="3607181" y="4519930"/>
                  </a:cubicBezTo>
                  <a:close/>
                  <a:moveTo>
                    <a:pt x="3581146" y="4563745"/>
                  </a:moveTo>
                  <a:cubicBezTo>
                    <a:pt x="3576701" y="4570984"/>
                    <a:pt x="3572256" y="4578223"/>
                    <a:pt x="3567811" y="4585462"/>
                  </a:cubicBezTo>
                  <a:lnTo>
                    <a:pt x="3546221" y="4572127"/>
                  </a:lnTo>
                  <a:cubicBezTo>
                    <a:pt x="3550666" y="4565015"/>
                    <a:pt x="3555111" y="4557776"/>
                    <a:pt x="3559429" y="4550537"/>
                  </a:cubicBezTo>
                  <a:close/>
                  <a:moveTo>
                    <a:pt x="3532505" y="4593971"/>
                  </a:moveTo>
                  <a:cubicBezTo>
                    <a:pt x="3527933" y="4601210"/>
                    <a:pt x="3523361" y="4608322"/>
                    <a:pt x="3518789" y="4615434"/>
                  </a:cubicBezTo>
                  <a:lnTo>
                    <a:pt x="3497453" y="4601718"/>
                  </a:lnTo>
                  <a:cubicBezTo>
                    <a:pt x="3502025" y="4594606"/>
                    <a:pt x="3506597" y="4587494"/>
                    <a:pt x="3511042" y="4580382"/>
                  </a:cubicBezTo>
                  <a:close/>
                  <a:moveTo>
                    <a:pt x="3483356" y="4623308"/>
                  </a:moveTo>
                  <a:cubicBezTo>
                    <a:pt x="3478657" y="4630420"/>
                    <a:pt x="3473958" y="4637532"/>
                    <a:pt x="3469259" y="4644517"/>
                  </a:cubicBezTo>
                  <a:lnTo>
                    <a:pt x="3448177" y="4630420"/>
                  </a:lnTo>
                  <a:cubicBezTo>
                    <a:pt x="3452876" y="4623435"/>
                    <a:pt x="3457575" y="4616450"/>
                    <a:pt x="3462147" y="4609338"/>
                  </a:cubicBezTo>
                  <a:close/>
                  <a:moveTo>
                    <a:pt x="3433699" y="4651756"/>
                  </a:moveTo>
                  <a:cubicBezTo>
                    <a:pt x="3428873" y="4658741"/>
                    <a:pt x="3424047" y="4665726"/>
                    <a:pt x="3419221" y="4672711"/>
                  </a:cubicBezTo>
                  <a:lnTo>
                    <a:pt x="3398393" y="4658233"/>
                  </a:lnTo>
                  <a:cubicBezTo>
                    <a:pt x="3403219" y="4651375"/>
                    <a:pt x="3408045" y="4644390"/>
                    <a:pt x="3412744" y="4637405"/>
                  </a:cubicBezTo>
                  <a:close/>
                  <a:moveTo>
                    <a:pt x="3383534" y="4679315"/>
                  </a:moveTo>
                  <a:cubicBezTo>
                    <a:pt x="3378581" y="4686300"/>
                    <a:pt x="3373628" y="4693158"/>
                    <a:pt x="3368675" y="4700016"/>
                  </a:cubicBezTo>
                  <a:lnTo>
                    <a:pt x="3348101" y="4685157"/>
                  </a:lnTo>
                  <a:cubicBezTo>
                    <a:pt x="3353054" y="4678299"/>
                    <a:pt x="3358007" y="4671441"/>
                    <a:pt x="3362833" y="4664583"/>
                  </a:cubicBezTo>
                  <a:close/>
                  <a:moveTo>
                    <a:pt x="3332988" y="4705985"/>
                  </a:moveTo>
                  <a:cubicBezTo>
                    <a:pt x="3327908" y="4712843"/>
                    <a:pt x="3322828" y="4719701"/>
                    <a:pt x="3317748" y="4726432"/>
                  </a:cubicBezTo>
                  <a:lnTo>
                    <a:pt x="3297428" y="4711192"/>
                  </a:lnTo>
                  <a:cubicBezTo>
                    <a:pt x="3302508" y="4704461"/>
                    <a:pt x="3307461" y="4697730"/>
                    <a:pt x="3312541" y="4690872"/>
                  </a:cubicBezTo>
                  <a:close/>
                  <a:moveTo>
                    <a:pt x="3281934" y="4731639"/>
                  </a:moveTo>
                  <a:cubicBezTo>
                    <a:pt x="3276727" y="4738370"/>
                    <a:pt x="3271520" y="4745101"/>
                    <a:pt x="3266313" y="4751832"/>
                  </a:cubicBezTo>
                  <a:lnTo>
                    <a:pt x="3246247" y="4736211"/>
                  </a:lnTo>
                  <a:cubicBezTo>
                    <a:pt x="3251454" y="4729607"/>
                    <a:pt x="3256534" y="4722876"/>
                    <a:pt x="3261741" y="4716145"/>
                  </a:cubicBezTo>
                  <a:close/>
                  <a:moveTo>
                    <a:pt x="3230372" y="4756404"/>
                  </a:moveTo>
                  <a:cubicBezTo>
                    <a:pt x="3225038" y="4763008"/>
                    <a:pt x="3219831" y="4769739"/>
                    <a:pt x="3214497" y="4776343"/>
                  </a:cubicBezTo>
                  <a:lnTo>
                    <a:pt x="3194685" y="4760341"/>
                  </a:lnTo>
                  <a:cubicBezTo>
                    <a:pt x="3200019" y="4753737"/>
                    <a:pt x="3205226" y="4747260"/>
                    <a:pt x="3210433" y="4740656"/>
                  </a:cubicBezTo>
                  <a:close/>
                  <a:moveTo>
                    <a:pt x="3178429" y="4780407"/>
                  </a:moveTo>
                  <a:cubicBezTo>
                    <a:pt x="3172968" y="4787011"/>
                    <a:pt x="3167634" y="4793488"/>
                    <a:pt x="3162173" y="4800092"/>
                  </a:cubicBezTo>
                  <a:lnTo>
                    <a:pt x="3142742" y="4783836"/>
                  </a:lnTo>
                  <a:cubicBezTo>
                    <a:pt x="3148203" y="4777359"/>
                    <a:pt x="3153537" y="4770882"/>
                    <a:pt x="3158871" y="4764405"/>
                  </a:cubicBezTo>
                  <a:close/>
                  <a:moveTo>
                    <a:pt x="3126105" y="4803521"/>
                  </a:moveTo>
                  <a:cubicBezTo>
                    <a:pt x="3120644" y="4809998"/>
                    <a:pt x="3115056" y="4816475"/>
                    <a:pt x="3109468" y="4822825"/>
                  </a:cubicBezTo>
                  <a:lnTo>
                    <a:pt x="5010277" y="4724400"/>
                  </a:lnTo>
                  <a:cubicBezTo>
                    <a:pt x="5015738" y="4718050"/>
                    <a:pt x="5021326" y="4711700"/>
                    <a:pt x="5026787" y="4705223"/>
                  </a:cubicBezTo>
                  <a:close/>
                  <a:moveTo>
                    <a:pt x="4993386" y="4743704"/>
                  </a:moveTo>
                  <a:cubicBezTo>
                    <a:pt x="4987798" y="4750054"/>
                    <a:pt x="4982083" y="4756404"/>
                    <a:pt x="4976368" y="4762754"/>
                  </a:cubicBezTo>
                  <a:lnTo>
                    <a:pt x="4957445" y="4745736"/>
                  </a:lnTo>
                  <a:cubicBezTo>
                    <a:pt x="4963033" y="4739513"/>
                    <a:pt x="4968748" y="4733163"/>
                    <a:pt x="4974209" y="4726813"/>
                  </a:cubicBezTo>
                  <a:close/>
                  <a:moveTo>
                    <a:pt x="4940046" y="4764786"/>
                  </a:moveTo>
                  <a:cubicBezTo>
                    <a:pt x="4934331" y="4771009"/>
                    <a:pt x="4928489" y="4777359"/>
                    <a:pt x="4922774" y="4783582"/>
                  </a:cubicBezTo>
                  <a:lnTo>
                    <a:pt x="4904232" y="4766310"/>
                  </a:lnTo>
                  <a:cubicBezTo>
                    <a:pt x="4909947" y="4760087"/>
                    <a:pt x="4915662" y="4753991"/>
                    <a:pt x="4921377" y="4747768"/>
                  </a:cubicBezTo>
                  <a:close/>
                  <a:moveTo>
                    <a:pt x="4886579" y="4785106"/>
                  </a:moveTo>
                  <a:cubicBezTo>
                    <a:pt x="4880737" y="4791329"/>
                    <a:pt x="4874895" y="4797425"/>
                    <a:pt x="4868926" y="4803521"/>
                  </a:cubicBezTo>
                  <a:lnTo>
                    <a:pt x="4850638" y="4785868"/>
                  </a:lnTo>
                  <a:cubicBezTo>
                    <a:pt x="4856480" y="4779772"/>
                    <a:pt x="4862322" y="4773676"/>
                    <a:pt x="4868164" y="4767580"/>
                  </a:cubicBezTo>
                  <a:close/>
                  <a:moveTo>
                    <a:pt x="4832731" y="4804283"/>
                  </a:moveTo>
                  <a:cubicBezTo>
                    <a:pt x="4826762" y="4810379"/>
                    <a:pt x="4820793" y="4816348"/>
                    <a:pt x="4814824" y="4822444"/>
                  </a:cubicBezTo>
                  <a:lnTo>
                    <a:pt x="4796917" y="4804537"/>
                  </a:lnTo>
                  <a:cubicBezTo>
                    <a:pt x="4802886" y="4798568"/>
                    <a:pt x="4808855" y="4792599"/>
                    <a:pt x="4814697" y="4786630"/>
                  </a:cubicBezTo>
                  <a:close/>
                  <a:moveTo>
                    <a:pt x="4778629" y="4822698"/>
                  </a:moveTo>
                  <a:cubicBezTo>
                    <a:pt x="4772533" y="4828667"/>
                    <a:pt x="4766437" y="4834636"/>
                    <a:pt x="4760341" y="4840478"/>
                  </a:cubicBezTo>
                  <a:lnTo>
                    <a:pt x="4742688" y="4822190"/>
                  </a:lnTo>
                  <a:cubicBezTo>
                    <a:pt x="4748784" y="4816348"/>
                    <a:pt x="4754753" y="4810506"/>
                    <a:pt x="4760849" y="4804537"/>
                  </a:cubicBezTo>
                  <a:close/>
                  <a:moveTo>
                    <a:pt x="4724146" y="4839970"/>
                  </a:moveTo>
                  <a:cubicBezTo>
                    <a:pt x="4717923" y="4845812"/>
                    <a:pt x="4711827" y="4851654"/>
                    <a:pt x="4705604" y="4857496"/>
                  </a:cubicBezTo>
                  <a:lnTo>
                    <a:pt x="4688332" y="4838954"/>
                  </a:lnTo>
                  <a:cubicBezTo>
                    <a:pt x="4694555" y="4833239"/>
                    <a:pt x="4700651" y="4827397"/>
                    <a:pt x="4706747" y="4821682"/>
                  </a:cubicBezTo>
                  <a:close/>
                  <a:moveTo>
                    <a:pt x="4669409" y="4856480"/>
                  </a:moveTo>
                  <a:cubicBezTo>
                    <a:pt x="4663186" y="4862195"/>
                    <a:pt x="4656836" y="4867910"/>
                    <a:pt x="4650486" y="4873625"/>
                  </a:cubicBezTo>
                  <a:lnTo>
                    <a:pt x="4633468" y="4854702"/>
                  </a:lnTo>
                  <a:cubicBezTo>
                    <a:pt x="4639691" y="4849114"/>
                    <a:pt x="4646041" y="4843399"/>
                    <a:pt x="4652137" y="4837684"/>
                  </a:cubicBezTo>
                  <a:close/>
                  <a:moveTo>
                    <a:pt x="4614164" y="4871847"/>
                  </a:moveTo>
                  <a:cubicBezTo>
                    <a:pt x="4607814" y="4877435"/>
                    <a:pt x="4601337" y="4883023"/>
                    <a:pt x="4594987" y="4888611"/>
                  </a:cubicBezTo>
                  <a:lnTo>
                    <a:pt x="4724400" y="5010277"/>
                  </a:lnTo>
                  <a:cubicBezTo>
                    <a:pt x="4730750" y="5004816"/>
                    <a:pt x="4737100" y="4999228"/>
                    <a:pt x="4743450" y="4993640"/>
                  </a:cubicBezTo>
                  <a:close/>
                  <a:moveTo>
                    <a:pt x="4704969" y="5027041"/>
                  </a:moveTo>
                  <a:cubicBezTo>
                    <a:pt x="4698492" y="5032502"/>
                    <a:pt x="4692015" y="5038090"/>
                    <a:pt x="4685411" y="5043551"/>
                  </a:cubicBezTo>
                  <a:lnTo>
                    <a:pt x="4669155" y="5024120"/>
                  </a:lnTo>
                  <a:cubicBezTo>
                    <a:pt x="4675632" y="5018659"/>
                    <a:pt x="4682109" y="5013325"/>
                    <a:pt x="4688459" y="5007864"/>
                  </a:cubicBezTo>
                  <a:close/>
                  <a:moveTo>
                    <a:pt x="4649343" y="5040630"/>
                  </a:moveTo>
                  <a:cubicBezTo>
                    <a:pt x="4642739" y="5045964"/>
                    <a:pt x="4636135" y="5051425"/>
                    <a:pt x="4629531" y="5056759"/>
                  </a:cubicBezTo>
                  <a:lnTo>
                    <a:pt x="4613529" y="5036947"/>
                  </a:lnTo>
                  <a:cubicBezTo>
                    <a:pt x="4620133" y="5031613"/>
                    <a:pt x="4626610" y="5026279"/>
                    <a:pt x="4633087" y="5020945"/>
                  </a:cubicBezTo>
                  <a:close/>
                  <a:moveTo>
                    <a:pt x="4593336" y="5052949"/>
                  </a:moveTo>
                  <a:cubicBezTo>
                    <a:pt x="4586732" y="5058283"/>
                    <a:pt x="4580001" y="5063490"/>
                    <a:pt x="4573270" y="5068697"/>
                  </a:cubicBezTo>
                  <a:lnTo>
                    <a:pt x="4557649" y="5048631"/>
                  </a:lnTo>
                  <a:cubicBezTo>
                    <a:pt x="4564253" y="5043424"/>
                    <a:pt x="4570984" y="5038217"/>
                    <a:pt x="4577588" y="5033010"/>
                  </a:cubicBezTo>
                  <a:close/>
                  <a:moveTo>
                    <a:pt x="4537329" y="5064379"/>
                  </a:moveTo>
                  <a:cubicBezTo>
                    <a:pt x="4530598" y="5069586"/>
                    <a:pt x="4523740" y="5074666"/>
                    <a:pt x="4517009" y="5079746"/>
                  </a:cubicBezTo>
                  <a:lnTo>
                    <a:pt x="4501769" y="5059426"/>
                  </a:lnTo>
                  <a:cubicBezTo>
                    <a:pt x="4508500" y="5054346"/>
                    <a:pt x="4515231" y="5049266"/>
                    <a:pt x="4521962" y="5044186"/>
                  </a:cubicBezTo>
                  <a:close/>
                  <a:moveTo>
                    <a:pt x="4481195" y="5074793"/>
                  </a:moveTo>
                  <a:cubicBezTo>
                    <a:pt x="4474337" y="5079873"/>
                    <a:pt x="4467479" y="5084826"/>
                    <a:pt x="4460621" y="5089779"/>
                  </a:cubicBezTo>
                  <a:lnTo>
                    <a:pt x="4445762" y="5069205"/>
                  </a:lnTo>
                  <a:cubicBezTo>
                    <a:pt x="4452620" y="5064252"/>
                    <a:pt x="4459351" y="5059299"/>
                    <a:pt x="4466209" y="5054346"/>
                  </a:cubicBezTo>
                  <a:close/>
                  <a:moveTo>
                    <a:pt x="4424807" y="5084191"/>
                  </a:moveTo>
                  <a:cubicBezTo>
                    <a:pt x="4417822" y="5089144"/>
                    <a:pt x="4410964" y="5093970"/>
                    <a:pt x="4403979" y="5098923"/>
                  </a:cubicBezTo>
                  <a:lnTo>
                    <a:pt x="4389501" y="5078095"/>
                  </a:lnTo>
                  <a:cubicBezTo>
                    <a:pt x="4396359" y="5073269"/>
                    <a:pt x="4403344" y="5068443"/>
                    <a:pt x="4410202" y="5063490"/>
                  </a:cubicBezTo>
                  <a:close/>
                  <a:moveTo>
                    <a:pt x="4368292" y="5092700"/>
                  </a:moveTo>
                  <a:cubicBezTo>
                    <a:pt x="4361307" y="5097526"/>
                    <a:pt x="4354195" y="5102225"/>
                    <a:pt x="4347210" y="5107051"/>
                  </a:cubicBezTo>
                  <a:lnTo>
                    <a:pt x="4333113" y="5085969"/>
                  </a:lnTo>
                  <a:cubicBezTo>
                    <a:pt x="4340098" y="5081270"/>
                    <a:pt x="4347083" y="5076571"/>
                    <a:pt x="4354068" y="5071745"/>
                  </a:cubicBezTo>
                  <a:close/>
                  <a:moveTo>
                    <a:pt x="4311650" y="5100193"/>
                  </a:moveTo>
                  <a:cubicBezTo>
                    <a:pt x="4304538" y="5104892"/>
                    <a:pt x="4297426" y="5109464"/>
                    <a:pt x="4290314" y="5114163"/>
                  </a:cubicBezTo>
                  <a:lnTo>
                    <a:pt x="4276598" y="5092827"/>
                  </a:lnTo>
                  <a:cubicBezTo>
                    <a:pt x="4283710" y="5088255"/>
                    <a:pt x="4290695" y="5083683"/>
                    <a:pt x="4297807" y="5078984"/>
                  </a:cubicBezTo>
                  <a:close/>
                  <a:moveTo>
                    <a:pt x="4254881" y="5106670"/>
                  </a:moveTo>
                  <a:cubicBezTo>
                    <a:pt x="4247642" y="5111242"/>
                    <a:pt x="4240530" y="5115687"/>
                    <a:pt x="4233291" y="5120259"/>
                  </a:cubicBezTo>
                  <a:lnTo>
                    <a:pt x="4219956" y="5098669"/>
                  </a:lnTo>
                  <a:cubicBezTo>
                    <a:pt x="4227068" y="5094224"/>
                    <a:pt x="4234307" y="5089779"/>
                    <a:pt x="4241419" y="5085207"/>
                  </a:cubicBezTo>
                  <a:close/>
                  <a:moveTo>
                    <a:pt x="4197985" y="5112131"/>
                  </a:moveTo>
                  <a:cubicBezTo>
                    <a:pt x="4190746" y="5116576"/>
                    <a:pt x="4183507" y="5120894"/>
                    <a:pt x="4176141" y="5125212"/>
                  </a:cubicBezTo>
                  <a:lnTo>
                    <a:pt x="4163187" y="5103368"/>
                  </a:lnTo>
                  <a:cubicBezTo>
                    <a:pt x="4170426" y="5099050"/>
                    <a:pt x="4177665" y="5094732"/>
                    <a:pt x="4184777" y="5090287"/>
                  </a:cubicBezTo>
                  <a:close/>
                  <a:moveTo>
                    <a:pt x="4140962" y="5116322"/>
                  </a:moveTo>
                  <a:cubicBezTo>
                    <a:pt x="4133596" y="5120640"/>
                    <a:pt x="4126230" y="5124831"/>
                    <a:pt x="4118864" y="5129022"/>
                  </a:cubicBezTo>
                  <a:lnTo>
                    <a:pt x="4106291" y="5106924"/>
                  </a:lnTo>
                  <a:cubicBezTo>
                    <a:pt x="4113657" y="5102733"/>
                    <a:pt x="4120896" y="5098542"/>
                    <a:pt x="4128135" y="5094224"/>
                  </a:cubicBezTo>
                  <a:close/>
                  <a:moveTo>
                    <a:pt x="4083812" y="5119497"/>
                  </a:moveTo>
                  <a:cubicBezTo>
                    <a:pt x="4076446" y="5123688"/>
                    <a:pt x="4068953" y="5127752"/>
                    <a:pt x="4061460" y="5131816"/>
                  </a:cubicBezTo>
                  <a:lnTo>
                    <a:pt x="4049268" y="5109591"/>
                  </a:lnTo>
                  <a:cubicBezTo>
                    <a:pt x="4056634" y="5105527"/>
                    <a:pt x="4064000" y="5101463"/>
                    <a:pt x="4071366" y="5097272"/>
                  </a:cubicBezTo>
                  <a:close/>
                  <a:moveTo>
                    <a:pt x="4026662" y="5121783"/>
                  </a:moveTo>
                  <a:cubicBezTo>
                    <a:pt x="4019169" y="5125847"/>
                    <a:pt x="4011676" y="5129784"/>
                    <a:pt x="4004183" y="5133721"/>
                  </a:cubicBezTo>
                  <a:lnTo>
                    <a:pt x="3992372" y="5111242"/>
                  </a:lnTo>
                  <a:cubicBezTo>
                    <a:pt x="3999865" y="5107305"/>
                    <a:pt x="4007231" y="5103368"/>
                    <a:pt x="4014724" y="5099431"/>
                  </a:cubicBezTo>
                  <a:close/>
                  <a:moveTo>
                    <a:pt x="3969639" y="5123180"/>
                  </a:moveTo>
                  <a:cubicBezTo>
                    <a:pt x="3962019" y="5127117"/>
                    <a:pt x="3954526" y="5130927"/>
                    <a:pt x="3946906" y="5134737"/>
                  </a:cubicBezTo>
                  <a:lnTo>
                    <a:pt x="3935476" y="5112004"/>
                  </a:lnTo>
                  <a:cubicBezTo>
                    <a:pt x="3942969" y="5108194"/>
                    <a:pt x="3950589" y="5104384"/>
                    <a:pt x="3958082" y="5100574"/>
                  </a:cubicBezTo>
                  <a:close/>
                  <a:moveTo>
                    <a:pt x="3912489" y="5123434"/>
                  </a:moveTo>
                  <a:cubicBezTo>
                    <a:pt x="3904869" y="5127244"/>
                    <a:pt x="3897249" y="5130927"/>
                    <a:pt x="3889502" y="5134610"/>
                  </a:cubicBezTo>
                  <a:lnTo>
                    <a:pt x="3878453" y="5111750"/>
                  </a:lnTo>
                  <a:cubicBezTo>
                    <a:pt x="3886073" y="5108067"/>
                    <a:pt x="3893693" y="5104384"/>
                    <a:pt x="3901186" y="5100701"/>
                  </a:cubicBezTo>
                  <a:close/>
                  <a:moveTo>
                    <a:pt x="3855212" y="5122799"/>
                  </a:moveTo>
                  <a:cubicBezTo>
                    <a:pt x="3847465" y="5126355"/>
                    <a:pt x="3839845" y="5130038"/>
                    <a:pt x="3832098" y="5133467"/>
                  </a:cubicBezTo>
                  <a:lnTo>
                    <a:pt x="3821557" y="5110353"/>
                  </a:lnTo>
                  <a:cubicBezTo>
                    <a:pt x="3829177" y="5106797"/>
                    <a:pt x="3836797" y="5103241"/>
                    <a:pt x="3844417" y="5099685"/>
                  </a:cubicBezTo>
                  <a:close/>
                  <a:moveTo>
                    <a:pt x="3798062" y="5120894"/>
                  </a:moveTo>
                  <a:cubicBezTo>
                    <a:pt x="3790315" y="5124323"/>
                    <a:pt x="3782568" y="5127752"/>
                    <a:pt x="3774694" y="5131181"/>
                  </a:cubicBezTo>
                  <a:lnTo>
                    <a:pt x="3764534" y="5107940"/>
                  </a:lnTo>
                  <a:cubicBezTo>
                    <a:pt x="3772281" y="5104511"/>
                    <a:pt x="3780028" y="5101209"/>
                    <a:pt x="3787648" y="5097653"/>
                  </a:cubicBezTo>
                  <a:close/>
                  <a:moveTo>
                    <a:pt x="3740785" y="5118100"/>
                  </a:moveTo>
                  <a:cubicBezTo>
                    <a:pt x="3732911" y="5121402"/>
                    <a:pt x="3725164" y="5124704"/>
                    <a:pt x="3717290" y="5128006"/>
                  </a:cubicBezTo>
                  <a:lnTo>
                    <a:pt x="3707511" y="5104511"/>
                  </a:lnTo>
                  <a:cubicBezTo>
                    <a:pt x="3715258" y="5101336"/>
                    <a:pt x="3723005" y="5098034"/>
                    <a:pt x="3730752" y="5094732"/>
                  </a:cubicBezTo>
                  <a:close/>
                  <a:moveTo>
                    <a:pt x="3683635" y="5114290"/>
                  </a:moveTo>
                  <a:cubicBezTo>
                    <a:pt x="3675761" y="5117465"/>
                    <a:pt x="3667887" y="5120640"/>
                    <a:pt x="3660013" y="5123815"/>
                  </a:cubicBezTo>
                  <a:lnTo>
                    <a:pt x="3650742" y="5100193"/>
                  </a:lnTo>
                  <a:cubicBezTo>
                    <a:pt x="3658616" y="5097145"/>
                    <a:pt x="3666363" y="5093970"/>
                    <a:pt x="3674237" y="5090795"/>
                  </a:cubicBezTo>
                  <a:close/>
                  <a:moveTo>
                    <a:pt x="3626739" y="5109591"/>
                  </a:moveTo>
                  <a:cubicBezTo>
                    <a:pt x="3618738" y="5112639"/>
                    <a:pt x="3610864" y="5115687"/>
                    <a:pt x="3602863" y="5118608"/>
                  </a:cubicBezTo>
                  <a:lnTo>
                    <a:pt x="3593973" y="5094859"/>
                  </a:lnTo>
                  <a:cubicBezTo>
                    <a:pt x="3601847" y="5091938"/>
                    <a:pt x="3609721" y="5088890"/>
                    <a:pt x="3617595" y="5085842"/>
                  </a:cubicBezTo>
                  <a:close/>
                  <a:moveTo>
                    <a:pt x="3569716" y="5103749"/>
                  </a:moveTo>
                  <a:cubicBezTo>
                    <a:pt x="3561715" y="5106670"/>
                    <a:pt x="3553714" y="5109464"/>
                    <a:pt x="3545713" y="5112385"/>
                  </a:cubicBezTo>
                  <a:lnTo>
                    <a:pt x="3537204" y="5088382"/>
                  </a:lnTo>
                  <a:cubicBezTo>
                    <a:pt x="3545078" y="5085588"/>
                    <a:pt x="3553079" y="5082794"/>
                    <a:pt x="3560953" y="5079873"/>
                  </a:cubicBezTo>
                  <a:close/>
                  <a:moveTo>
                    <a:pt x="3512947" y="5096891"/>
                  </a:moveTo>
                  <a:cubicBezTo>
                    <a:pt x="3504946" y="5099685"/>
                    <a:pt x="3496818" y="5102352"/>
                    <a:pt x="3488817" y="5105019"/>
                  </a:cubicBezTo>
                  <a:lnTo>
                    <a:pt x="3480816" y="5080889"/>
                  </a:lnTo>
                  <a:cubicBezTo>
                    <a:pt x="3488817" y="5078222"/>
                    <a:pt x="3496818" y="5075555"/>
                    <a:pt x="3504819" y="5072761"/>
                  </a:cubicBezTo>
                  <a:close/>
                  <a:moveTo>
                    <a:pt x="3456432" y="5088890"/>
                  </a:moveTo>
                  <a:cubicBezTo>
                    <a:pt x="3448304" y="5091557"/>
                    <a:pt x="3440176" y="5094097"/>
                    <a:pt x="3432048" y="5096637"/>
                  </a:cubicBezTo>
                  <a:lnTo>
                    <a:pt x="3424428" y="5072380"/>
                  </a:lnTo>
                  <a:cubicBezTo>
                    <a:pt x="3432429" y="5069840"/>
                    <a:pt x="3440557" y="5067300"/>
                    <a:pt x="3448558" y="5064633"/>
                  </a:cubicBezTo>
                  <a:close/>
                  <a:moveTo>
                    <a:pt x="3399917" y="5079873"/>
                  </a:moveTo>
                  <a:cubicBezTo>
                    <a:pt x="3391789" y="5082286"/>
                    <a:pt x="3383661" y="5084826"/>
                    <a:pt x="3375533" y="5087239"/>
                  </a:cubicBezTo>
                  <a:lnTo>
                    <a:pt x="3368421" y="5062855"/>
                  </a:lnTo>
                  <a:cubicBezTo>
                    <a:pt x="3376549" y="5060442"/>
                    <a:pt x="3384550" y="5058029"/>
                    <a:pt x="3392551" y="5055616"/>
                  </a:cubicBezTo>
                  <a:close/>
                  <a:moveTo>
                    <a:pt x="3343656" y="5069967"/>
                  </a:moveTo>
                  <a:cubicBezTo>
                    <a:pt x="3335528" y="5072253"/>
                    <a:pt x="3327273" y="5074539"/>
                    <a:pt x="3319018" y="5076825"/>
                  </a:cubicBezTo>
                  <a:lnTo>
                    <a:pt x="3312287" y="5052314"/>
                  </a:lnTo>
                  <a:cubicBezTo>
                    <a:pt x="3320415" y="5050028"/>
                    <a:pt x="3328543" y="5047742"/>
                    <a:pt x="3336671" y="5045456"/>
                  </a:cubicBezTo>
                  <a:close/>
                  <a:moveTo>
                    <a:pt x="3287395" y="5059045"/>
                  </a:moveTo>
                  <a:cubicBezTo>
                    <a:pt x="3279140" y="5061204"/>
                    <a:pt x="3270885" y="5063363"/>
                    <a:pt x="3262630" y="5065522"/>
                  </a:cubicBezTo>
                  <a:lnTo>
                    <a:pt x="3256280" y="5040884"/>
                  </a:lnTo>
                  <a:cubicBezTo>
                    <a:pt x="3264408" y="5038852"/>
                    <a:pt x="3272663" y="5036693"/>
                    <a:pt x="3280791" y="5034534"/>
                  </a:cubicBezTo>
                  <a:close/>
                  <a:moveTo>
                    <a:pt x="3231388" y="5047234"/>
                  </a:moveTo>
                  <a:cubicBezTo>
                    <a:pt x="3223133" y="5049266"/>
                    <a:pt x="3214878" y="5051298"/>
                    <a:pt x="3206623" y="5053203"/>
                  </a:cubicBezTo>
                  <a:lnTo>
                    <a:pt x="3200781" y="5028438"/>
                  </a:lnTo>
                  <a:cubicBezTo>
                    <a:pt x="3209036" y="5026533"/>
                    <a:pt x="3217164" y="5024501"/>
                    <a:pt x="3225292" y="5022469"/>
                  </a:cubicBezTo>
                  <a:close/>
                  <a:moveTo>
                    <a:pt x="3175635" y="5034153"/>
                  </a:moveTo>
                  <a:cubicBezTo>
                    <a:pt x="3167380" y="5036058"/>
                    <a:pt x="3158998" y="5037836"/>
                    <a:pt x="3150743" y="5039741"/>
                  </a:cubicBezTo>
                  <a:lnTo>
                    <a:pt x="3145282" y="5014976"/>
                  </a:lnTo>
                  <a:cubicBezTo>
                    <a:pt x="3153537" y="5013198"/>
                    <a:pt x="3161792" y="5011293"/>
                    <a:pt x="3170047" y="5009515"/>
                  </a:cubicBezTo>
                  <a:close/>
                  <a:moveTo>
                    <a:pt x="3120136" y="5020437"/>
                  </a:moveTo>
                  <a:cubicBezTo>
                    <a:pt x="3111881" y="5022215"/>
                    <a:pt x="3103499" y="5023866"/>
                    <a:pt x="3095117" y="5025517"/>
                  </a:cubicBezTo>
                  <a:lnTo>
                    <a:pt x="3090164" y="5000625"/>
                  </a:lnTo>
                  <a:cubicBezTo>
                    <a:pt x="3098419" y="4998974"/>
                    <a:pt x="3106674" y="4997323"/>
                    <a:pt x="3114929" y="4995545"/>
                  </a:cubicBezTo>
                  <a:close/>
                  <a:moveTo>
                    <a:pt x="3065018" y="5005451"/>
                  </a:moveTo>
                  <a:cubicBezTo>
                    <a:pt x="3056636" y="5006975"/>
                    <a:pt x="3048381" y="5008626"/>
                    <a:pt x="3039999" y="5010150"/>
                  </a:cubicBezTo>
                  <a:lnTo>
                    <a:pt x="3035427" y="4985131"/>
                  </a:lnTo>
                  <a:cubicBezTo>
                    <a:pt x="3043682" y="4983607"/>
                    <a:pt x="3051937" y="4982083"/>
                    <a:pt x="3060319" y="4980559"/>
                  </a:cubicBezTo>
                  <a:close/>
                  <a:moveTo>
                    <a:pt x="3010154" y="4989576"/>
                  </a:moveTo>
                  <a:cubicBezTo>
                    <a:pt x="3001772" y="4990973"/>
                    <a:pt x="2993390" y="4992370"/>
                    <a:pt x="2984881" y="4993767"/>
                  </a:cubicBezTo>
                  <a:lnTo>
                    <a:pt x="2980817" y="4968748"/>
                  </a:lnTo>
                  <a:cubicBezTo>
                    <a:pt x="2989199" y="4967351"/>
                    <a:pt x="2997454" y="4965954"/>
                    <a:pt x="3005836" y="4964557"/>
                  </a:cubicBezTo>
                  <a:close/>
                  <a:moveTo>
                    <a:pt x="2955290" y="4972812"/>
                  </a:moveTo>
                  <a:cubicBezTo>
                    <a:pt x="2946908" y="4974082"/>
                    <a:pt x="2938526" y="4975352"/>
                    <a:pt x="2930144" y="4976495"/>
                  </a:cubicBezTo>
                  <a:lnTo>
                    <a:pt x="2926461" y="4951349"/>
                  </a:lnTo>
                  <a:cubicBezTo>
                    <a:pt x="2934843" y="4950206"/>
                    <a:pt x="2943098" y="4948936"/>
                    <a:pt x="2951353" y="4947666"/>
                  </a:cubicBezTo>
                  <a:close/>
                  <a:moveTo>
                    <a:pt x="2900934" y="4954905"/>
                  </a:moveTo>
                  <a:cubicBezTo>
                    <a:pt x="2892552" y="4956048"/>
                    <a:pt x="2884043" y="4957191"/>
                    <a:pt x="2875661" y="4958207"/>
                  </a:cubicBezTo>
                  <a:lnTo>
                    <a:pt x="2872486" y="4933061"/>
                  </a:lnTo>
                  <a:cubicBezTo>
                    <a:pt x="2880868" y="4932045"/>
                    <a:pt x="2889250" y="4930902"/>
                    <a:pt x="2897505" y="4929759"/>
                  </a:cubicBezTo>
                  <a:close/>
                  <a:moveTo>
                    <a:pt x="2846832" y="4936109"/>
                  </a:moveTo>
                  <a:cubicBezTo>
                    <a:pt x="2838323" y="4937125"/>
                    <a:pt x="2829941" y="4938014"/>
                    <a:pt x="2821432" y="4938903"/>
                  </a:cubicBezTo>
                  <a:lnTo>
                    <a:pt x="2818765" y="4913630"/>
                  </a:lnTo>
                  <a:cubicBezTo>
                    <a:pt x="2827147" y="4912741"/>
                    <a:pt x="2835529" y="4911725"/>
                    <a:pt x="2843911" y="4910836"/>
                  </a:cubicBezTo>
                  <a:close/>
                  <a:moveTo>
                    <a:pt x="2793111" y="4916297"/>
                  </a:moveTo>
                  <a:cubicBezTo>
                    <a:pt x="2784729" y="4917186"/>
                    <a:pt x="2776220" y="4917948"/>
                    <a:pt x="2767838" y="4918710"/>
                  </a:cubicBezTo>
                  <a:lnTo>
                    <a:pt x="2765552" y="4893437"/>
                  </a:lnTo>
                  <a:cubicBezTo>
                    <a:pt x="2773934" y="4892675"/>
                    <a:pt x="2782316" y="4891913"/>
                    <a:pt x="2790698" y="4891024"/>
                  </a:cubicBezTo>
                  <a:close/>
                  <a:moveTo>
                    <a:pt x="2740025" y="4895596"/>
                  </a:moveTo>
                  <a:cubicBezTo>
                    <a:pt x="2731516" y="4896231"/>
                    <a:pt x="2723134" y="4896993"/>
                    <a:pt x="2714625" y="4897501"/>
                  </a:cubicBezTo>
                  <a:lnTo>
                    <a:pt x="2712847" y="4872228"/>
                  </a:lnTo>
                  <a:cubicBezTo>
                    <a:pt x="2721229" y="4871593"/>
                    <a:pt x="2729611" y="4870958"/>
                    <a:pt x="2738120" y="4870323"/>
                  </a:cubicBezTo>
                  <a:close/>
                  <a:moveTo>
                    <a:pt x="2687193" y="4874006"/>
                  </a:moveTo>
                  <a:cubicBezTo>
                    <a:pt x="2678684" y="4874514"/>
                    <a:pt x="2670175" y="4875022"/>
                    <a:pt x="2661666" y="4875530"/>
                  </a:cubicBezTo>
                  <a:lnTo>
                    <a:pt x="2660269" y="4850130"/>
                  </a:lnTo>
                  <a:cubicBezTo>
                    <a:pt x="2668778" y="4849622"/>
                    <a:pt x="2677160" y="4849114"/>
                    <a:pt x="2685542" y="4848606"/>
                  </a:cubicBezTo>
                  <a:close/>
                  <a:moveTo>
                    <a:pt x="2634488" y="4851400"/>
                  </a:moveTo>
                  <a:cubicBezTo>
                    <a:pt x="2625979" y="4851781"/>
                    <a:pt x="2617597" y="4852162"/>
                    <a:pt x="2609088" y="4852416"/>
                  </a:cubicBezTo>
                  <a:lnTo>
                    <a:pt x="2608199" y="4827016"/>
                  </a:lnTo>
                  <a:cubicBezTo>
                    <a:pt x="2616581" y="4826762"/>
                    <a:pt x="2624963" y="4826381"/>
                    <a:pt x="2633345" y="4826000"/>
                  </a:cubicBezTo>
                  <a:close/>
                  <a:moveTo>
                    <a:pt x="2582545" y="4827905"/>
                  </a:moveTo>
                  <a:cubicBezTo>
                    <a:pt x="2574036" y="4828159"/>
                    <a:pt x="2565527" y="4828286"/>
                    <a:pt x="2557018" y="4828540"/>
                  </a:cubicBezTo>
                  <a:lnTo>
                    <a:pt x="2556510" y="4803140"/>
                  </a:lnTo>
                  <a:cubicBezTo>
                    <a:pt x="2564892" y="4803013"/>
                    <a:pt x="2573401" y="4802759"/>
                    <a:pt x="2581783" y="4802505"/>
                  </a:cubicBezTo>
                  <a:close/>
                  <a:moveTo>
                    <a:pt x="2530729" y="4803521"/>
                  </a:moveTo>
                  <a:cubicBezTo>
                    <a:pt x="2522220" y="4803648"/>
                    <a:pt x="2513711" y="4803648"/>
                    <a:pt x="2505075" y="4803648"/>
                  </a:cubicBezTo>
                  <a:lnTo>
                    <a:pt x="2505075" y="4778248"/>
                  </a:lnTo>
                  <a:cubicBezTo>
                    <a:pt x="2513584" y="4778248"/>
                    <a:pt x="2521966" y="4778121"/>
                    <a:pt x="2530475" y="4778121"/>
                  </a:cubicBezTo>
                  <a:close/>
                  <a:moveTo>
                    <a:pt x="2479167" y="4778248"/>
                  </a:moveTo>
                  <a:cubicBezTo>
                    <a:pt x="2470658" y="4778248"/>
                    <a:pt x="2462149" y="4778121"/>
                    <a:pt x="2453640" y="4777994"/>
                  </a:cubicBezTo>
                  <a:lnTo>
                    <a:pt x="2454021" y="4752594"/>
                  </a:lnTo>
                  <a:cubicBezTo>
                    <a:pt x="2462530" y="4752721"/>
                    <a:pt x="2470912" y="4752848"/>
                    <a:pt x="2479421" y="4752848"/>
                  </a:cubicBezTo>
                  <a:close/>
                  <a:moveTo>
                    <a:pt x="2428240" y="4752086"/>
                  </a:moveTo>
                  <a:cubicBezTo>
                    <a:pt x="2419731" y="4751832"/>
                    <a:pt x="2411222" y="4751578"/>
                    <a:pt x="2402713" y="4751324"/>
                  </a:cubicBezTo>
                  <a:lnTo>
                    <a:pt x="2403602" y="4725924"/>
                  </a:lnTo>
                  <a:cubicBezTo>
                    <a:pt x="2411984" y="4726178"/>
                    <a:pt x="2420493" y="4726432"/>
                    <a:pt x="2428875" y="4726686"/>
                  </a:cubicBezTo>
                  <a:close/>
                  <a:moveTo>
                    <a:pt x="2377948" y="4725035"/>
                  </a:moveTo>
                  <a:cubicBezTo>
                    <a:pt x="2369439" y="4724654"/>
                    <a:pt x="2361057" y="4724273"/>
                    <a:pt x="2352548" y="4723892"/>
                  </a:cubicBezTo>
                  <a:lnTo>
                    <a:pt x="2353818" y="4698492"/>
                  </a:lnTo>
                  <a:cubicBezTo>
                    <a:pt x="2362200" y="4698873"/>
                    <a:pt x="2370582" y="4699254"/>
                    <a:pt x="2378964" y="4699635"/>
                  </a:cubicBezTo>
                  <a:close/>
                  <a:moveTo>
                    <a:pt x="2328037" y="4697095"/>
                  </a:moveTo>
                  <a:cubicBezTo>
                    <a:pt x="2319528" y="4696587"/>
                    <a:pt x="2311019" y="4696079"/>
                    <a:pt x="2302510" y="4695444"/>
                  </a:cubicBezTo>
                  <a:lnTo>
                    <a:pt x="2304288" y="4670044"/>
                  </a:lnTo>
                  <a:cubicBezTo>
                    <a:pt x="2312670" y="4670679"/>
                    <a:pt x="2321179" y="4671187"/>
                    <a:pt x="2329561" y="4671695"/>
                  </a:cubicBezTo>
                  <a:close/>
                  <a:moveTo>
                    <a:pt x="2278634" y="4668139"/>
                  </a:moveTo>
                  <a:cubicBezTo>
                    <a:pt x="2270125" y="4667504"/>
                    <a:pt x="2261743" y="4666742"/>
                    <a:pt x="2253234" y="4666107"/>
                  </a:cubicBezTo>
                  <a:lnTo>
                    <a:pt x="2255393" y="4640834"/>
                  </a:lnTo>
                  <a:cubicBezTo>
                    <a:pt x="2263775" y="4641596"/>
                    <a:pt x="2272157" y="4642231"/>
                    <a:pt x="2280539" y="4642866"/>
                  </a:cubicBezTo>
                  <a:close/>
                  <a:moveTo>
                    <a:pt x="2229866" y="4638421"/>
                  </a:moveTo>
                  <a:cubicBezTo>
                    <a:pt x="2221357" y="4637659"/>
                    <a:pt x="2212975" y="4636770"/>
                    <a:pt x="2204466" y="4635881"/>
                  </a:cubicBezTo>
                  <a:lnTo>
                    <a:pt x="2207133" y="4610608"/>
                  </a:lnTo>
                  <a:cubicBezTo>
                    <a:pt x="2215515" y="4611497"/>
                    <a:pt x="2223897" y="4612259"/>
                    <a:pt x="2232279" y="4613148"/>
                  </a:cubicBezTo>
                  <a:close/>
                  <a:moveTo>
                    <a:pt x="2181479" y="4607814"/>
                  </a:moveTo>
                  <a:cubicBezTo>
                    <a:pt x="2172970" y="4606798"/>
                    <a:pt x="2164588" y="4605909"/>
                    <a:pt x="2156079" y="4604766"/>
                  </a:cubicBezTo>
                  <a:lnTo>
                    <a:pt x="2159127" y="4579493"/>
                  </a:lnTo>
                  <a:cubicBezTo>
                    <a:pt x="2167509" y="4580509"/>
                    <a:pt x="2175891" y="4581525"/>
                    <a:pt x="2184273" y="4582414"/>
                  </a:cubicBezTo>
                  <a:close/>
                  <a:moveTo>
                    <a:pt x="2133600" y="4576191"/>
                  </a:moveTo>
                  <a:cubicBezTo>
                    <a:pt x="2125218" y="4575048"/>
                    <a:pt x="2116709" y="4573905"/>
                    <a:pt x="2108327" y="4572762"/>
                  </a:cubicBezTo>
                  <a:lnTo>
                    <a:pt x="2111883" y="4547616"/>
                  </a:lnTo>
                  <a:cubicBezTo>
                    <a:pt x="2120265" y="4548759"/>
                    <a:pt x="2128520" y="4549902"/>
                    <a:pt x="2136902" y="4551045"/>
                  </a:cubicBezTo>
                  <a:close/>
                  <a:moveTo>
                    <a:pt x="2086483" y="4543933"/>
                  </a:moveTo>
                  <a:cubicBezTo>
                    <a:pt x="2078101" y="4542663"/>
                    <a:pt x="2069592" y="4541393"/>
                    <a:pt x="2061210" y="4539996"/>
                  </a:cubicBezTo>
                  <a:lnTo>
                    <a:pt x="2065147" y="4514850"/>
                  </a:lnTo>
                  <a:cubicBezTo>
                    <a:pt x="2073529" y="4516120"/>
                    <a:pt x="2081784" y="4517517"/>
                    <a:pt x="2090166" y="4518660"/>
                  </a:cubicBezTo>
                  <a:close/>
                  <a:moveTo>
                    <a:pt x="2039747" y="4510659"/>
                  </a:moveTo>
                  <a:cubicBezTo>
                    <a:pt x="2031365" y="4509262"/>
                    <a:pt x="2022983" y="4507865"/>
                    <a:pt x="2014601" y="4506341"/>
                  </a:cubicBezTo>
                  <a:lnTo>
                    <a:pt x="2019046" y="4481322"/>
                  </a:lnTo>
                  <a:cubicBezTo>
                    <a:pt x="2027301" y="4482846"/>
                    <a:pt x="2035683" y="4484243"/>
                    <a:pt x="2043938" y="4485640"/>
                  </a:cubicBezTo>
                  <a:close/>
                  <a:moveTo>
                    <a:pt x="1993646" y="4476750"/>
                  </a:moveTo>
                  <a:cubicBezTo>
                    <a:pt x="1985264" y="4475226"/>
                    <a:pt x="1977009" y="4473575"/>
                    <a:pt x="1968627" y="4471924"/>
                  </a:cubicBezTo>
                  <a:lnTo>
                    <a:pt x="1973453" y="4447032"/>
                  </a:lnTo>
                  <a:cubicBezTo>
                    <a:pt x="1981708" y="4448683"/>
                    <a:pt x="1989963" y="4450207"/>
                    <a:pt x="1998218" y="4451731"/>
                  </a:cubicBezTo>
                  <a:close/>
                  <a:moveTo>
                    <a:pt x="1948307" y="4441952"/>
                  </a:moveTo>
                  <a:cubicBezTo>
                    <a:pt x="1939925" y="4440301"/>
                    <a:pt x="1931543" y="4438523"/>
                    <a:pt x="1923288" y="4436745"/>
                  </a:cubicBezTo>
                  <a:lnTo>
                    <a:pt x="1928622" y="4411853"/>
                  </a:lnTo>
                  <a:cubicBezTo>
                    <a:pt x="1936877" y="4413631"/>
                    <a:pt x="1945132" y="4415409"/>
                    <a:pt x="1953387" y="4417060"/>
                  </a:cubicBezTo>
                  <a:close/>
                  <a:moveTo>
                    <a:pt x="1903349" y="4406392"/>
                  </a:moveTo>
                  <a:cubicBezTo>
                    <a:pt x="1895094" y="4404487"/>
                    <a:pt x="1886712" y="4402582"/>
                    <a:pt x="1878457" y="4400677"/>
                  </a:cubicBezTo>
                  <a:lnTo>
                    <a:pt x="1884172" y="4375912"/>
                  </a:lnTo>
                  <a:cubicBezTo>
                    <a:pt x="1892427" y="4377817"/>
                    <a:pt x="1900555" y="4379722"/>
                    <a:pt x="1908810" y="4381500"/>
                  </a:cubicBezTo>
                  <a:close/>
                  <a:moveTo>
                    <a:pt x="1859153" y="4369943"/>
                  </a:moveTo>
                  <a:cubicBezTo>
                    <a:pt x="1850898" y="4367911"/>
                    <a:pt x="1842643" y="4365879"/>
                    <a:pt x="1834388" y="4363847"/>
                  </a:cubicBezTo>
                  <a:lnTo>
                    <a:pt x="1840611" y="4339209"/>
                  </a:lnTo>
                  <a:cubicBezTo>
                    <a:pt x="1848739" y="4341241"/>
                    <a:pt x="1856867" y="4343273"/>
                    <a:pt x="1865122" y="4345305"/>
                  </a:cubicBezTo>
                  <a:close/>
                  <a:moveTo>
                    <a:pt x="1815719" y="4332859"/>
                  </a:moveTo>
                  <a:cubicBezTo>
                    <a:pt x="1807464" y="4330700"/>
                    <a:pt x="1799209" y="4328541"/>
                    <a:pt x="1790954" y="4326255"/>
                  </a:cubicBezTo>
                  <a:lnTo>
                    <a:pt x="1797558" y="4301744"/>
                  </a:lnTo>
                  <a:cubicBezTo>
                    <a:pt x="1805686" y="4303903"/>
                    <a:pt x="1813814" y="4306189"/>
                    <a:pt x="1822069" y="4308221"/>
                  </a:cubicBezTo>
                  <a:close/>
                  <a:moveTo>
                    <a:pt x="1772793" y="4294886"/>
                  </a:moveTo>
                  <a:cubicBezTo>
                    <a:pt x="1764665" y="4292600"/>
                    <a:pt x="1756410" y="4290187"/>
                    <a:pt x="1748282" y="4287901"/>
                  </a:cubicBezTo>
                  <a:lnTo>
                    <a:pt x="1755394" y="4263517"/>
                  </a:lnTo>
                  <a:cubicBezTo>
                    <a:pt x="1763522" y="4265930"/>
                    <a:pt x="1771523" y="4268216"/>
                    <a:pt x="1779651" y="4270502"/>
                  </a:cubicBezTo>
                  <a:close/>
                  <a:moveTo>
                    <a:pt x="1730629" y="4256278"/>
                  </a:moveTo>
                  <a:cubicBezTo>
                    <a:pt x="1722501" y="4253865"/>
                    <a:pt x="1714373" y="4251325"/>
                    <a:pt x="1706245" y="4248785"/>
                  </a:cubicBezTo>
                  <a:lnTo>
                    <a:pt x="1713738" y="4224528"/>
                  </a:lnTo>
                  <a:cubicBezTo>
                    <a:pt x="1721739" y="4227068"/>
                    <a:pt x="1729867" y="4229481"/>
                    <a:pt x="1737868" y="4231894"/>
                  </a:cubicBezTo>
                  <a:close/>
                  <a:moveTo>
                    <a:pt x="1689100" y="4216781"/>
                  </a:moveTo>
                  <a:cubicBezTo>
                    <a:pt x="1680972" y="4214241"/>
                    <a:pt x="1672844" y="4211574"/>
                    <a:pt x="1664843" y="4208907"/>
                  </a:cubicBezTo>
                  <a:lnTo>
                    <a:pt x="1672844" y="4184777"/>
                  </a:lnTo>
                  <a:cubicBezTo>
                    <a:pt x="1680845" y="4187444"/>
                    <a:pt x="1688846" y="4189984"/>
                    <a:pt x="1696974" y="4192651"/>
                  </a:cubicBezTo>
                  <a:close/>
                  <a:moveTo>
                    <a:pt x="1648460" y="4176649"/>
                  </a:moveTo>
                  <a:cubicBezTo>
                    <a:pt x="1640459" y="4173855"/>
                    <a:pt x="1632331" y="4171188"/>
                    <a:pt x="1624330" y="4168394"/>
                  </a:cubicBezTo>
                  <a:lnTo>
                    <a:pt x="1632712" y="4144391"/>
                  </a:lnTo>
                  <a:cubicBezTo>
                    <a:pt x="1640713" y="4147185"/>
                    <a:pt x="1648587" y="4149979"/>
                    <a:pt x="1656588" y="4152646"/>
                  </a:cubicBezTo>
                  <a:close/>
                  <a:moveTo>
                    <a:pt x="1608455" y="4135755"/>
                  </a:moveTo>
                  <a:cubicBezTo>
                    <a:pt x="1600454" y="4132834"/>
                    <a:pt x="1592453" y="4129913"/>
                    <a:pt x="1584452" y="4126992"/>
                  </a:cubicBezTo>
                  <a:lnTo>
                    <a:pt x="1593215" y="4103116"/>
                  </a:lnTo>
                  <a:cubicBezTo>
                    <a:pt x="1601089" y="4106037"/>
                    <a:pt x="1608963" y="4108958"/>
                    <a:pt x="1616964" y="4111752"/>
                  </a:cubicBezTo>
                  <a:close/>
                  <a:moveTo>
                    <a:pt x="1569085" y="4093972"/>
                  </a:moveTo>
                  <a:cubicBezTo>
                    <a:pt x="1561084" y="4090924"/>
                    <a:pt x="1553210" y="4087876"/>
                    <a:pt x="1545209" y="4084828"/>
                  </a:cubicBezTo>
                  <a:lnTo>
                    <a:pt x="1554480" y="4061206"/>
                  </a:lnTo>
                  <a:cubicBezTo>
                    <a:pt x="1562354" y="4064254"/>
                    <a:pt x="1570228" y="4067302"/>
                    <a:pt x="1578102" y="4070350"/>
                  </a:cubicBezTo>
                  <a:close/>
                  <a:moveTo>
                    <a:pt x="1798701" y="5524500"/>
                  </a:moveTo>
                  <a:cubicBezTo>
                    <a:pt x="1790827" y="5521325"/>
                    <a:pt x="1782953" y="5518150"/>
                    <a:pt x="1775079" y="5514848"/>
                  </a:cubicBezTo>
                  <a:lnTo>
                    <a:pt x="1784731" y="5491353"/>
                  </a:lnTo>
                  <a:cubicBezTo>
                    <a:pt x="1792478" y="5494528"/>
                    <a:pt x="1800352" y="5497703"/>
                    <a:pt x="1808099" y="5500878"/>
                  </a:cubicBezTo>
                  <a:close/>
                  <a:moveTo>
                    <a:pt x="1760982" y="5481447"/>
                  </a:moveTo>
                  <a:cubicBezTo>
                    <a:pt x="1753108" y="5478145"/>
                    <a:pt x="1745361" y="5474843"/>
                    <a:pt x="1737487" y="5471414"/>
                  </a:cubicBezTo>
                  <a:lnTo>
                    <a:pt x="1747520" y="5448046"/>
                  </a:lnTo>
                  <a:cubicBezTo>
                    <a:pt x="1755267" y="5451348"/>
                    <a:pt x="1763014" y="5454650"/>
                    <a:pt x="1770761" y="5457952"/>
                  </a:cubicBezTo>
                  <a:close/>
                  <a:moveTo>
                    <a:pt x="1723898" y="5437632"/>
                  </a:moveTo>
                  <a:cubicBezTo>
                    <a:pt x="1716151" y="5434203"/>
                    <a:pt x="1708404" y="5430647"/>
                    <a:pt x="1700657" y="5427218"/>
                  </a:cubicBezTo>
                  <a:lnTo>
                    <a:pt x="1711198" y="5404104"/>
                  </a:lnTo>
                  <a:cubicBezTo>
                    <a:pt x="1718818" y="5407533"/>
                    <a:pt x="1726565" y="5411089"/>
                    <a:pt x="1734312" y="5414518"/>
                  </a:cubicBezTo>
                  <a:close/>
                  <a:moveTo>
                    <a:pt x="1687830" y="5393436"/>
                  </a:moveTo>
                  <a:cubicBezTo>
                    <a:pt x="1680083" y="5389880"/>
                    <a:pt x="1672463" y="5386197"/>
                    <a:pt x="1664716" y="5382641"/>
                  </a:cubicBezTo>
                  <a:lnTo>
                    <a:pt x="1675638" y="5359654"/>
                  </a:lnTo>
                  <a:cubicBezTo>
                    <a:pt x="1683258" y="5363210"/>
                    <a:pt x="1690878" y="5366893"/>
                    <a:pt x="1698498" y="5370449"/>
                  </a:cubicBezTo>
                  <a:close/>
                  <a:moveTo>
                    <a:pt x="1652397" y="5348478"/>
                  </a:moveTo>
                  <a:cubicBezTo>
                    <a:pt x="1644777" y="5344795"/>
                    <a:pt x="1637157" y="5340985"/>
                    <a:pt x="1629537" y="5337175"/>
                  </a:cubicBezTo>
                  <a:lnTo>
                    <a:pt x="1640840" y="5314442"/>
                  </a:lnTo>
                  <a:cubicBezTo>
                    <a:pt x="1648333" y="5318252"/>
                    <a:pt x="1655953" y="5321935"/>
                    <a:pt x="1663573" y="5325618"/>
                  </a:cubicBezTo>
                  <a:close/>
                  <a:moveTo>
                    <a:pt x="1617853" y="5302885"/>
                  </a:moveTo>
                  <a:cubicBezTo>
                    <a:pt x="1610233" y="5299075"/>
                    <a:pt x="1602740" y="5295138"/>
                    <a:pt x="1595120" y="5291201"/>
                  </a:cubicBezTo>
                  <a:lnTo>
                    <a:pt x="1606804" y="5268722"/>
                  </a:lnTo>
                  <a:cubicBezTo>
                    <a:pt x="1614297" y="5272659"/>
                    <a:pt x="1621790" y="5276469"/>
                    <a:pt x="1629283" y="5280279"/>
                  </a:cubicBezTo>
                  <a:close/>
                  <a:moveTo>
                    <a:pt x="1584071" y="5256784"/>
                  </a:moveTo>
                  <a:cubicBezTo>
                    <a:pt x="1576578" y="5252847"/>
                    <a:pt x="1569085" y="5248783"/>
                    <a:pt x="1561592" y="5244719"/>
                  </a:cubicBezTo>
                  <a:lnTo>
                    <a:pt x="1573657" y="5222367"/>
                  </a:lnTo>
                  <a:cubicBezTo>
                    <a:pt x="1581023" y="5226431"/>
                    <a:pt x="1588516" y="5230368"/>
                    <a:pt x="1595882" y="5234305"/>
                  </a:cubicBezTo>
                  <a:close/>
                  <a:moveTo>
                    <a:pt x="1551051" y="5209921"/>
                  </a:moveTo>
                  <a:cubicBezTo>
                    <a:pt x="1543558" y="5205730"/>
                    <a:pt x="1536192" y="5201666"/>
                    <a:pt x="1528826" y="5197475"/>
                  </a:cubicBezTo>
                  <a:lnTo>
                    <a:pt x="1541399" y="5175377"/>
                  </a:lnTo>
                  <a:cubicBezTo>
                    <a:pt x="1548765" y="5179568"/>
                    <a:pt x="1556131" y="5183632"/>
                    <a:pt x="1563497" y="5187696"/>
                  </a:cubicBezTo>
                  <a:close/>
                  <a:moveTo>
                    <a:pt x="1519047" y="5162550"/>
                  </a:moveTo>
                  <a:cubicBezTo>
                    <a:pt x="1511681" y="5158232"/>
                    <a:pt x="1504315" y="5154041"/>
                    <a:pt x="1497076" y="5149723"/>
                  </a:cubicBezTo>
                  <a:lnTo>
                    <a:pt x="1510030" y="5127879"/>
                  </a:lnTo>
                  <a:cubicBezTo>
                    <a:pt x="1517269" y="5132197"/>
                    <a:pt x="1524508" y="5136388"/>
                    <a:pt x="1531874" y="5140579"/>
                  </a:cubicBezTo>
                  <a:close/>
                  <a:moveTo>
                    <a:pt x="1487932" y="5114671"/>
                  </a:moveTo>
                  <a:cubicBezTo>
                    <a:pt x="1480693" y="5110226"/>
                    <a:pt x="1473327" y="5105908"/>
                    <a:pt x="1466088" y="5101463"/>
                  </a:cubicBezTo>
                  <a:lnTo>
                    <a:pt x="1479423" y="5079873"/>
                  </a:lnTo>
                  <a:cubicBezTo>
                    <a:pt x="1486662" y="5084318"/>
                    <a:pt x="1493774" y="5088636"/>
                    <a:pt x="1501013" y="5093081"/>
                  </a:cubicBezTo>
                  <a:close/>
                  <a:moveTo>
                    <a:pt x="1457579" y="5066284"/>
                  </a:moveTo>
                  <a:cubicBezTo>
                    <a:pt x="1450340" y="5061712"/>
                    <a:pt x="1443228" y="5057267"/>
                    <a:pt x="1435989" y="5052568"/>
                  </a:cubicBezTo>
                  <a:lnTo>
                    <a:pt x="1449705" y="5031232"/>
                  </a:lnTo>
                  <a:cubicBezTo>
                    <a:pt x="1456817" y="5035804"/>
                    <a:pt x="1463929" y="5040249"/>
                    <a:pt x="1471041" y="5044821"/>
                  </a:cubicBezTo>
                  <a:close/>
                  <a:moveTo>
                    <a:pt x="1428115" y="5017262"/>
                  </a:moveTo>
                  <a:cubicBezTo>
                    <a:pt x="1421003" y="5012563"/>
                    <a:pt x="1413891" y="5007991"/>
                    <a:pt x="1406779" y="5003292"/>
                  </a:cubicBezTo>
                  <a:lnTo>
                    <a:pt x="1420876" y="4982083"/>
                  </a:lnTo>
                  <a:cubicBezTo>
                    <a:pt x="1427861" y="4986782"/>
                    <a:pt x="1434973" y="4991354"/>
                    <a:pt x="1441958" y="4995926"/>
                  </a:cubicBezTo>
                  <a:close/>
                  <a:moveTo>
                    <a:pt x="1399540" y="4967732"/>
                  </a:moveTo>
                  <a:cubicBezTo>
                    <a:pt x="1392555" y="4962906"/>
                    <a:pt x="1385443" y="4958207"/>
                    <a:pt x="1378458" y="4953254"/>
                  </a:cubicBezTo>
                  <a:lnTo>
                    <a:pt x="1392936" y="4932299"/>
                  </a:lnTo>
                  <a:cubicBezTo>
                    <a:pt x="1399921" y="4937125"/>
                    <a:pt x="1406779" y="4941824"/>
                    <a:pt x="1413764" y="4946650"/>
                  </a:cubicBezTo>
                  <a:close/>
                  <a:moveTo>
                    <a:pt x="1371727" y="4917694"/>
                  </a:moveTo>
                  <a:cubicBezTo>
                    <a:pt x="1364742" y="4912741"/>
                    <a:pt x="1357884" y="4907915"/>
                    <a:pt x="1350899" y="4902962"/>
                  </a:cubicBezTo>
                  <a:lnTo>
                    <a:pt x="1365758" y="4882388"/>
                  </a:lnTo>
                  <a:cubicBezTo>
                    <a:pt x="1372616" y="4887341"/>
                    <a:pt x="1379474" y="4892167"/>
                    <a:pt x="1386332" y="4896993"/>
                  </a:cubicBezTo>
                  <a:close/>
                  <a:moveTo>
                    <a:pt x="1344930" y="4867275"/>
                  </a:moveTo>
                  <a:cubicBezTo>
                    <a:pt x="1338072" y="4862195"/>
                    <a:pt x="1331214" y="4857242"/>
                    <a:pt x="1324356" y="4852162"/>
                  </a:cubicBezTo>
                  <a:lnTo>
                    <a:pt x="1339469" y="4831842"/>
                  </a:lnTo>
                  <a:cubicBezTo>
                    <a:pt x="1346200" y="4836922"/>
                    <a:pt x="1353058" y="4841875"/>
                    <a:pt x="1359789" y="4846828"/>
                  </a:cubicBezTo>
                  <a:close/>
                  <a:moveTo>
                    <a:pt x="1318895" y="4816348"/>
                  </a:moveTo>
                  <a:cubicBezTo>
                    <a:pt x="1312164" y="4811268"/>
                    <a:pt x="1305306" y="4806061"/>
                    <a:pt x="1298575" y="4800854"/>
                  </a:cubicBezTo>
                  <a:lnTo>
                    <a:pt x="1314069" y="4780788"/>
                  </a:lnTo>
                  <a:cubicBezTo>
                    <a:pt x="1320800" y="4785995"/>
                    <a:pt x="1327404" y="4791075"/>
                    <a:pt x="1334135" y="4796155"/>
                  </a:cubicBezTo>
                  <a:close/>
                  <a:moveTo>
                    <a:pt x="1293749" y="4764913"/>
                  </a:moveTo>
                  <a:cubicBezTo>
                    <a:pt x="1287018" y="4759706"/>
                    <a:pt x="1280414" y="4754372"/>
                    <a:pt x="1273810" y="4749038"/>
                  </a:cubicBezTo>
                  <a:lnTo>
                    <a:pt x="1289685" y="4729226"/>
                  </a:lnTo>
                  <a:cubicBezTo>
                    <a:pt x="1296289" y="4734433"/>
                    <a:pt x="1302893" y="4739767"/>
                    <a:pt x="1309497" y="4744974"/>
                  </a:cubicBezTo>
                  <a:close/>
                  <a:moveTo>
                    <a:pt x="1269746" y="4713097"/>
                  </a:moveTo>
                  <a:cubicBezTo>
                    <a:pt x="1263142" y="4707763"/>
                    <a:pt x="1256538" y="4702302"/>
                    <a:pt x="1250061" y="4696841"/>
                  </a:cubicBezTo>
                  <a:lnTo>
                    <a:pt x="1266317" y="4677283"/>
                  </a:lnTo>
                  <a:cubicBezTo>
                    <a:pt x="1272794" y="4682617"/>
                    <a:pt x="1279271" y="4688078"/>
                    <a:pt x="1285875" y="4693412"/>
                  </a:cubicBezTo>
                  <a:close/>
                  <a:moveTo>
                    <a:pt x="1246632" y="4660773"/>
                  </a:moveTo>
                  <a:cubicBezTo>
                    <a:pt x="1240155" y="4655312"/>
                    <a:pt x="1233678" y="4649724"/>
                    <a:pt x="1227201" y="4644263"/>
                  </a:cubicBezTo>
                  <a:lnTo>
                    <a:pt x="1243838" y="4624959"/>
                  </a:lnTo>
                  <a:cubicBezTo>
                    <a:pt x="1250188" y="4630420"/>
                    <a:pt x="1256665" y="4635881"/>
                    <a:pt x="1263015" y="4641342"/>
                  </a:cubicBezTo>
                  <a:close/>
                  <a:moveTo>
                    <a:pt x="1224407" y="4608068"/>
                  </a:moveTo>
                  <a:cubicBezTo>
                    <a:pt x="1218057" y="4602480"/>
                    <a:pt x="1211707" y="4596765"/>
                    <a:pt x="1205357" y="4591177"/>
                  </a:cubicBezTo>
                  <a:lnTo>
                    <a:pt x="1222248" y="4572254"/>
                  </a:lnTo>
                  <a:cubicBezTo>
                    <a:pt x="1228598" y="4577842"/>
                    <a:pt x="1234821" y="4583430"/>
                    <a:pt x="1241171" y="4589018"/>
                  </a:cubicBezTo>
                  <a:close/>
                  <a:moveTo>
                    <a:pt x="1203071" y="4554982"/>
                  </a:moveTo>
                  <a:cubicBezTo>
                    <a:pt x="1196721" y="4549267"/>
                    <a:pt x="1190498" y="4543552"/>
                    <a:pt x="1184275" y="4537710"/>
                  </a:cubicBezTo>
                  <a:lnTo>
                    <a:pt x="1201547" y="4519041"/>
                  </a:lnTo>
                  <a:cubicBezTo>
                    <a:pt x="1207770" y="4524756"/>
                    <a:pt x="1213993" y="4530471"/>
                    <a:pt x="1220216" y="4536186"/>
                  </a:cubicBezTo>
                  <a:close/>
                  <a:moveTo>
                    <a:pt x="1182751" y="4501515"/>
                  </a:moveTo>
                  <a:cubicBezTo>
                    <a:pt x="1176528" y="4495673"/>
                    <a:pt x="1170432" y="4489831"/>
                    <a:pt x="1164209" y="4483989"/>
                  </a:cubicBezTo>
                  <a:lnTo>
                    <a:pt x="1181735" y="4465701"/>
                  </a:lnTo>
                  <a:cubicBezTo>
                    <a:pt x="1187831" y="4471543"/>
                    <a:pt x="1193927" y="4477385"/>
                    <a:pt x="1200023" y="4483100"/>
                  </a:cubicBezTo>
                  <a:close/>
                  <a:moveTo>
                    <a:pt x="1163193" y="4447794"/>
                  </a:moveTo>
                  <a:cubicBezTo>
                    <a:pt x="1157097" y="4441825"/>
                    <a:pt x="1151001" y="4435856"/>
                    <a:pt x="1145032" y="4429887"/>
                  </a:cubicBezTo>
                  <a:lnTo>
                    <a:pt x="1162939" y="4411853"/>
                  </a:lnTo>
                  <a:cubicBezTo>
                    <a:pt x="1168908" y="4417822"/>
                    <a:pt x="1174877" y="4423664"/>
                    <a:pt x="1180973" y="4429633"/>
                  </a:cubicBezTo>
                  <a:close/>
                  <a:moveTo>
                    <a:pt x="1144778" y="4393692"/>
                  </a:moveTo>
                  <a:cubicBezTo>
                    <a:pt x="1138809" y="4387596"/>
                    <a:pt x="1132840" y="4381627"/>
                    <a:pt x="1126871" y="4375531"/>
                  </a:cubicBezTo>
                  <a:lnTo>
                    <a:pt x="1145032" y="4357878"/>
                  </a:lnTo>
                  <a:cubicBezTo>
                    <a:pt x="1150874" y="4363974"/>
                    <a:pt x="1156843" y="4369943"/>
                    <a:pt x="1162685" y="4375912"/>
                  </a:cubicBezTo>
                  <a:close/>
                  <a:moveTo>
                    <a:pt x="1127125" y="4339336"/>
                  </a:moveTo>
                  <a:cubicBezTo>
                    <a:pt x="1121283" y="4333240"/>
                    <a:pt x="1115441" y="4327017"/>
                    <a:pt x="1109599" y="4320794"/>
                  </a:cubicBezTo>
                  <a:lnTo>
                    <a:pt x="1128141" y="4303395"/>
                  </a:lnTo>
                  <a:cubicBezTo>
                    <a:pt x="1133856" y="4309491"/>
                    <a:pt x="1139698" y="4315714"/>
                    <a:pt x="1145540" y="4321810"/>
                  </a:cubicBezTo>
                  <a:close/>
                  <a:moveTo>
                    <a:pt x="1110615" y="4284599"/>
                  </a:moveTo>
                  <a:cubicBezTo>
                    <a:pt x="1104900" y="4278376"/>
                    <a:pt x="1099058" y="4272026"/>
                    <a:pt x="1093470" y="4265803"/>
                  </a:cubicBezTo>
                  <a:lnTo>
                    <a:pt x="1112266" y="4248785"/>
                  </a:lnTo>
                  <a:cubicBezTo>
                    <a:pt x="1117981" y="4255008"/>
                    <a:pt x="1123569" y="4261231"/>
                    <a:pt x="1129284" y="4267454"/>
                  </a:cubicBezTo>
                  <a:close/>
                  <a:moveTo>
                    <a:pt x="1094994" y="4229608"/>
                  </a:moveTo>
                  <a:cubicBezTo>
                    <a:pt x="1089406" y="4223258"/>
                    <a:pt x="1083691" y="4216908"/>
                    <a:pt x="1078103" y="4210431"/>
                  </a:cubicBezTo>
                  <a:lnTo>
                    <a:pt x="1097280" y="4193667"/>
                  </a:lnTo>
                  <a:cubicBezTo>
                    <a:pt x="1102868" y="4200017"/>
                    <a:pt x="1108456" y="4206367"/>
                    <a:pt x="1114044" y="4212590"/>
                  </a:cubicBezTo>
                  <a:close/>
                  <a:moveTo>
                    <a:pt x="1080516" y="4174109"/>
                  </a:moveTo>
                  <a:cubicBezTo>
                    <a:pt x="1074928" y="4167632"/>
                    <a:pt x="1069467" y="4161155"/>
                    <a:pt x="1064006" y="4154678"/>
                  </a:cubicBezTo>
                  <a:lnTo>
                    <a:pt x="1083437" y="4138295"/>
                  </a:lnTo>
                  <a:cubicBezTo>
                    <a:pt x="1088898" y="4144772"/>
                    <a:pt x="1094359" y="4151122"/>
                    <a:pt x="1099820" y="4157599"/>
                  </a:cubicBezTo>
                  <a:close/>
                  <a:moveTo>
                    <a:pt x="1066927" y="4118610"/>
                  </a:moveTo>
                  <a:cubicBezTo>
                    <a:pt x="1061466" y="4112006"/>
                    <a:pt x="1056132" y="4105529"/>
                    <a:pt x="1050798" y="4098925"/>
                  </a:cubicBezTo>
                  <a:lnTo>
                    <a:pt x="1070483" y="4082923"/>
                  </a:lnTo>
                  <a:cubicBezTo>
                    <a:pt x="1075817" y="4089400"/>
                    <a:pt x="1081151" y="4096004"/>
                    <a:pt x="1086485" y="4102481"/>
                  </a:cubicBezTo>
                  <a:close/>
                  <a:moveTo>
                    <a:pt x="1054354" y="4062857"/>
                  </a:moveTo>
                  <a:cubicBezTo>
                    <a:pt x="1049020" y="4056253"/>
                    <a:pt x="1043813" y="4049522"/>
                    <a:pt x="1038479" y="4042791"/>
                  </a:cubicBezTo>
                  <a:lnTo>
                    <a:pt x="1058418" y="4027170"/>
                  </a:lnTo>
                  <a:cubicBezTo>
                    <a:pt x="1063625" y="4033774"/>
                    <a:pt x="1068832" y="4040378"/>
                    <a:pt x="1074166" y="4046982"/>
                  </a:cubicBezTo>
                  <a:close/>
                  <a:moveTo>
                    <a:pt x="1042670" y="4006850"/>
                  </a:moveTo>
                  <a:cubicBezTo>
                    <a:pt x="1037463" y="4000119"/>
                    <a:pt x="1032383" y="3993388"/>
                    <a:pt x="1027176" y="3986530"/>
                  </a:cubicBezTo>
                  <a:lnTo>
                    <a:pt x="1047496" y="3971163"/>
                  </a:lnTo>
                  <a:cubicBezTo>
                    <a:pt x="1052576" y="3977894"/>
                    <a:pt x="1057656" y="3984625"/>
                    <a:pt x="1062863" y="3991229"/>
                  </a:cubicBezTo>
                  <a:close/>
                  <a:moveTo>
                    <a:pt x="1032129" y="3950462"/>
                  </a:moveTo>
                  <a:cubicBezTo>
                    <a:pt x="1027049" y="3943604"/>
                    <a:pt x="1021969" y="3936746"/>
                    <a:pt x="1017016" y="3929888"/>
                  </a:cubicBezTo>
                  <a:lnTo>
                    <a:pt x="1037590" y="3914902"/>
                  </a:lnTo>
                  <a:cubicBezTo>
                    <a:pt x="1042543" y="3921760"/>
                    <a:pt x="1047496" y="3928491"/>
                    <a:pt x="1052576" y="3935222"/>
                  </a:cubicBezTo>
                  <a:close/>
                  <a:moveTo>
                    <a:pt x="1022604" y="3893947"/>
                  </a:moveTo>
                  <a:cubicBezTo>
                    <a:pt x="1017651" y="3887089"/>
                    <a:pt x="1012698" y="3880104"/>
                    <a:pt x="1007872" y="3873119"/>
                  </a:cubicBezTo>
                  <a:lnTo>
                    <a:pt x="1028700" y="3858514"/>
                  </a:lnTo>
                  <a:cubicBezTo>
                    <a:pt x="1033526" y="3865372"/>
                    <a:pt x="1038352" y="3872357"/>
                    <a:pt x="1043305" y="3879215"/>
                  </a:cubicBezTo>
                  <a:close/>
                  <a:moveTo>
                    <a:pt x="1013968" y="3837432"/>
                  </a:moveTo>
                  <a:cubicBezTo>
                    <a:pt x="1009142" y="3830447"/>
                    <a:pt x="1004316" y="3823335"/>
                    <a:pt x="999617" y="3816350"/>
                  </a:cubicBezTo>
                  <a:lnTo>
                    <a:pt x="1020699" y="3802126"/>
                  </a:lnTo>
                  <a:cubicBezTo>
                    <a:pt x="1025398" y="3809111"/>
                    <a:pt x="1030224" y="3816096"/>
                    <a:pt x="1034923" y="3823081"/>
                  </a:cubicBezTo>
                  <a:close/>
                  <a:moveTo>
                    <a:pt x="1006348" y="3780790"/>
                  </a:moveTo>
                  <a:cubicBezTo>
                    <a:pt x="1001649" y="3773678"/>
                    <a:pt x="996950" y="3766566"/>
                    <a:pt x="992378" y="3759454"/>
                  </a:cubicBezTo>
                  <a:lnTo>
                    <a:pt x="1013714" y="3745611"/>
                  </a:lnTo>
                  <a:cubicBezTo>
                    <a:pt x="1018286" y="3752723"/>
                    <a:pt x="1022985" y="3759708"/>
                    <a:pt x="1027557" y="3766693"/>
                  </a:cubicBezTo>
                  <a:close/>
                  <a:moveTo>
                    <a:pt x="999744" y="3723894"/>
                  </a:moveTo>
                  <a:cubicBezTo>
                    <a:pt x="995172" y="3716782"/>
                    <a:pt x="990600" y="3709543"/>
                    <a:pt x="986155" y="3702304"/>
                  </a:cubicBezTo>
                  <a:lnTo>
                    <a:pt x="1007745" y="3688842"/>
                  </a:lnTo>
                  <a:cubicBezTo>
                    <a:pt x="1012190" y="3695954"/>
                    <a:pt x="1016762" y="3703066"/>
                    <a:pt x="1021207" y="3710178"/>
                  </a:cubicBezTo>
                  <a:close/>
                  <a:moveTo>
                    <a:pt x="994156" y="3666871"/>
                  </a:moveTo>
                  <a:cubicBezTo>
                    <a:pt x="989711" y="3659632"/>
                    <a:pt x="985266" y="3652393"/>
                    <a:pt x="980948" y="3645027"/>
                  </a:cubicBezTo>
                  <a:lnTo>
                    <a:pt x="1002665" y="3631946"/>
                  </a:lnTo>
                  <a:cubicBezTo>
                    <a:pt x="1006983" y="3639185"/>
                    <a:pt x="1011428" y="3646424"/>
                    <a:pt x="1015746" y="3653536"/>
                  </a:cubicBezTo>
                  <a:close/>
                  <a:moveTo>
                    <a:pt x="989457" y="3609848"/>
                  </a:moveTo>
                  <a:cubicBezTo>
                    <a:pt x="985139" y="3602482"/>
                    <a:pt x="980821" y="3595116"/>
                    <a:pt x="976630" y="3587750"/>
                  </a:cubicBezTo>
                  <a:lnTo>
                    <a:pt x="998601" y="3575050"/>
                  </a:lnTo>
                  <a:cubicBezTo>
                    <a:pt x="1002792" y="3582416"/>
                    <a:pt x="1007110" y="3589655"/>
                    <a:pt x="1011301" y="3596894"/>
                  </a:cubicBezTo>
                  <a:close/>
                  <a:moveTo>
                    <a:pt x="985774" y="3552698"/>
                  </a:moveTo>
                  <a:cubicBezTo>
                    <a:pt x="981583" y="3545332"/>
                    <a:pt x="977392" y="3537839"/>
                    <a:pt x="973328" y="3530346"/>
                  </a:cubicBezTo>
                  <a:lnTo>
                    <a:pt x="995553" y="3518027"/>
                  </a:lnTo>
                  <a:cubicBezTo>
                    <a:pt x="999617" y="3525393"/>
                    <a:pt x="1003808" y="3532759"/>
                    <a:pt x="1007872" y="3540125"/>
                  </a:cubicBezTo>
                  <a:close/>
                  <a:moveTo>
                    <a:pt x="983234" y="3495421"/>
                  </a:moveTo>
                  <a:cubicBezTo>
                    <a:pt x="979170" y="3487928"/>
                    <a:pt x="975233" y="3480435"/>
                    <a:pt x="971169" y="3472942"/>
                  </a:cubicBezTo>
                  <a:lnTo>
                    <a:pt x="993648" y="3461004"/>
                  </a:lnTo>
                  <a:cubicBezTo>
                    <a:pt x="997585" y="3468497"/>
                    <a:pt x="1001522" y="3475863"/>
                    <a:pt x="1005586" y="3483229"/>
                  </a:cubicBezTo>
                  <a:close/>
                  <a:moveTo>
                    <a:pt x="981710" y="3438144"/>
                  </a:moveTo>
                  <a:cubicBezTo>
                    <a:pt x="977773" y="3430651"/>
                    <a:pt x="973963" y="3423031"/>
                    <a:pt x="970026" y="3415411"/>
                  </a:cubicBezTo>
                  <a:lnTo>
                    <a:pt x="992632" y="3403981"/>
                  </a:lnTo>
                  <a:cubicBezTo>
                    <a:pt x="996442" y="3411474"/>
                    <a:pt x="1000252" y="3418967"/>
                    <a:pt x="1004189" y="3426460"/>
                  </a:cubicBezTo>
                  <a:close/>
                  <a:moveTo>
                    <a:pt x="981075" y="3380994"/>
                  </a:moveTo>
                  <a:cubicBezTo>
                    <a:pt x="977265" y="3373374"/>
                    <a:pt x="973582" y="3365754"/>
                    <a:pt x="969772" y="3358007"/>
                  </a:cubicBezTo>
                  <a:lnTo>
                    <a:pt x="992632" y="3346958"/>
                  </a:lnTo>
                  <a:cubicBezTo>
                    <a:pt x="996315" y="3354578"/>
                    <a:pt x="999998" y="3362071"/>
                    <a:pt x="1003808" y="3369691"/>
                  </a:cubicBezTo>
                  <a:close/>
                  <a:moveTo>
                    <a:pt x="274320" y="4089400"/>
                  </a:moveTo>
                  <a:cubicBezTo>
                    <a:pt x="270637" y="4081780"/>
                    <a:pt x="267081" y="4074033"/>
                    <a:pt x="263525" y="4066286"/>
                  </a:cubicBezTo>
                  <a:lnTo>
                    <a:pt x="286639" y="4055618"/>
                  </a:lnTo>
                  <a:cubicBezTo>
                    <a:pt x="290195" y="4063238"/>
                    <a:pt x="293751" y="4070858"/>
                    <a:pt x="297307" y="4078478"/>
                  </a:cubicBezTo>
                  <a:close/>
                  <a:moveTo>
                    <a:pt x="275844" y="4032250"/>
                  </a:moveTo>
                  <a:cubicBezTo>
                    <a:pt x="272288" y="4024503"/>
                    <a:pt x="268859" y="4016756"/>
                    <a:pt x="265430" y="4008882"/>
                  </a:cubicBezTo>
                  <a:lnTo>
                    <a:pt x="288671" y="3998595"/>
                  </a:lnTo>
                  <a:cubicBezTo>
                    <a:pt x="292100" y="4006342"/>
                    <a:pt x="295529" y="4013962"/>
                    <a:pt x="298958" y="4021709"/>
                  </a:cubicBezTo>
                  <a:close/>
                  <a:moveTo>
                    <a:pt x="278384" y="3974973"/>
                  </a:moveTo>
                  <a:cubicBezTo>
                    <a:pt x="275082" y="3967099"/>
                    <a:pt x="271653" y="3959352"/>
                    <a:pt x="268351" y="3951478"/>
                  </a:cubicBezTo>
                  <a:lnTo>
                    <a:pt x="291719" y="3941699"/>
                  </a:lnTo>
                  <a:cubicBezTo>
                    <a:pt x="295021" y="3949446"/>
                    <a:pt x="298323" y="3957193"/>
                    <a:pt x="301625" y="3964940"/>
                  </a:cubicBezTo>
                  <a:close/>
                  <a:moveTo>
                    <a:pt x="281940" y="3917950"/>
                  </a:moveTo>
                  <a:cubicBezTo>
                    <a:pt x="278765" y="3910076"/>
                    <a:pt x="275590" y="3902202"/>
                    <a:pt x="272415" y="3894328"/>
                  </a:cubicBezTo>
                  <a:lnTo>
                    <a:pt x="296037" y="3884930"/>
                  </a:lnTo>
                  <a:cubicBezTo>
                    <a:pt x="299212" y="3892804"/>
                    <a:pt x="302260" y="3900551"/>
                    <a:pt x="305562" y="3908298"/>
                  </a:cubicBezTo>
                  <a:close/>
                  <a:moveTo>
                    <a:pt x="286639" y="3860927"/>
                  </a:moveTo>
                  <a:cubicBezTo>
                    <a:pt x="283591" y="3853053"/>
                    <a:pt x="280543" y="3845052"/>
                    <a:pt x="277495" y="3837051"/>
                  </a:cubicBezTo>
                  <a:lnTo>
                    <a:pt x="301244" y="3828034"/>
                  </a:lnTo>
                  <a:cubicBezTo>
                    <a:pt x="304292" y="3835908"/>
                    <a:pt x="307213" y="3843782"/>
                    <a:pt x="310261" y="3851656"/>
                  </a:cubicBezTo>
                  <a:close/>
                  <a:moveTo>
                    <a:pt x="292227" y="3803904"/>
                  </a:moveTo>
                  <a:cubicBezTo>
                    <a:pt x="289306" y="3795903"/>
                    <a:pt x="286385" y="3787902"/>
                    <a:pt x="283591" y="3779901"/>
                  </a:cubicBezTo>
                  <a:lnTo>
                    <a:pt x="307467" y="3771392"/>
                  </a:lnTo>
                  <a:cubicBezTo>
                    <a:pt x="310261" y="3779266"/>
                    <a:pt x="313182" y="3787267"/>
                    <a:pt x="316103" y="3795141"/>
                  </a:cubicBezTo>
                  <a:close/>
                  <a:moveTo>
                    <a:pt x="298958" y="3747135"/>
                  </a:moveTo>
                  <a:cubicBezTo>
                    <a:pt x="296164" y="3739134"/>
                    <a:pt x="293370" y="3731006"/>
                    <a:pt x="290703" y="3723005"/>
                  </a:cubicBezTo>
                  <a:lnTo>
                    <a:pt x="314706" y="3714877"/>
                  </a:lnTo>
                  <a:cubicBezTo>
                    <a:pt x="317373" y="3722878"/>
                    <a:pt x="320167" y="3730879"/>
                    <a:pt x="322961" y="3738753"/>
                  </a:cubicBezTo>
                  <a:close/>
                  <a:moveTo>
                    <a:pt x="306578" y="3690366"/>
                  </a:moveTo>
                  <a:cubicBezTo>
                    <a:pt x="303911" y="3682238"/>
                    <a:pt x="301371" y="3674110"/>
                    <a:pt x="298704" y="3666109"/>
                  </a:cubicBezTo>
                  <a:lnTo>
                    <a:pt x="322961" y="3658362"/>
                  </a:lnTo>
                  <a:cubicBezTo>
                    <a:pt x="325501" y="3666363"/>
                    <a:pt x="328168" y="3674491"/>
                    <a:pt x="330708" y="3682492"/>
                  </a:cubicBezTo>
                  <a:close/>
                  <a:moveTo>
                    <a:pt x="315214" y="3633851"/>
                  </a:moveTo>
                  <a:cubicBezTo>
                    <a:pt x="312674" y="3625723"/>
                    <a:pt x="310261" y="3617595"/>
                    <a:pt x="307848" y="3609467"/>
                  </a:cubicBezTo>
                  <a:lnTo>
                    <a:pt x="332232" y="3602228"/>
                  </a:lnTo>
                  <a:cubicBezTo>
                    <a:pt x="334645" y="3610229"/>
                    <a:pt x="337058" y="3618357"/>
                    <a:pt x="339598" y="3626358"/>
                  </a:cubicBezTo>
                  <a:close/>
                  <a:moveTo>
                    <a:pt x="324993" y="3577590"/>
                  </a:moveTo>
                  <a:cubicBezTo>
                    <a:pt x="322580" y="3569462"/>
                    <a:pt x="320294" y="3561207"/>
                    <a:pt x="318008" y="3553079"/>
                  </a:cubicBezTo>
                  <a:lnTo>
                    <a:pt x="342519" y="3546221"/>
                  </a:lnTo>
                  <a:cubicBezTo>
                    <a:pt x="344805" y="3554349"/>
                    <a:pt x="347091" y="3562477"/>
                    <a:pt x="349377" y="3570605"/>
                  </a:cubicBezTo>
                  <a:close/>
                  <a:moveTo>
                    <a:pt x="335661" y="3521456"/>
                  </a:moveTo>
                  <a:cubicBezTo>
                    <a:pt x="333502" y="3513201"/>
                    <a:pt x="331216" y="3504946"/>
                    <a:pt x="329184" y="3496691"/>
                  </a:cubicBezTo>
                  <a:lnTo>
                    <a:pt x="353822" y="3490341"/>
                  </a:lnTo>
                  <a:cubicBezTo>
                    <a:pt x="355981" y="3498469"/>
                    <a:pt x="358140" y="3506724"/>
                    <a:pt x="360299" y="3514852"/>
                  </a:cubicBezTo>
                  <a:close/>
                  <a:moveTo>
                    <a:pt x="347472" y="3465449"/>
                  </a:moveTo>
                  <a:cubicBezTo>
                    <a:pt x="345440" y="3457194"/>
                    <a:pt x="343408" y="3448939"/>
                    <a:pt x="341376" y="3440684"/>
                  </a:cubicBezTo>
                  <a:lnTo>
                    <a:pt x="366014" y="3434715"/>
                  </a:lnTo>
                  <a:cubicBezTo>
                    <a:pt x="368046" y="3442843"/>
                    <a:pt x="369951" y="3451098"/>
                    <a:pt x="371983" y="3459226"/>
                  </a:cubicBezTo>
                  <a:close/>
                  <a:moveTo>
                    <a:pt x="360045" y="3409696"/>
                  </a:moveTo>
                  <a:cubicBezTo>
                    <a:pt x="358140" y="3401441"/>
                    <a:pt x="356235" y="3393059"/>
                    <a:pt x="354457" y="3384804"/>
                  </a:cubicBezTo>
                  <a:lnTo>
                    <a:pt x="379222" y="3379343"/>
                  </a:lnTo>
                  <a:cubicBezTo>
                    <a:pt x="381000" y="3387598"/>
                    <a:pt x="382905" y="3395853"/>
                    <a:pt x="384810" y="3403981"/>
                  </a:cubicBezTo>
                  <a:close/>
                  <a:moveTo>
                    <a:pt x="373761" y="3354070"/>
                  </a:moveTo>
                  <a:cubicBezTo>
                    <a:pt x="371983" y="3345688"/>
                    <a:pt x="370205" y="3337433"/>
                    <a:pt x="368554" y="3329051"/>
                  </a:cubicBezTo>
                  <a:lnTo>
                    <a:pt x="393446" y="3323971"/>
                  </a:lnTo>
                  <a:cubicBezTo>
                    <a:pt x="395097" y="3332226"/>
                    <a:pt x="396875" y="3340481"/>
                    <a:pt x="398653" y="3348736"/>
                  </a:cubicBezTo>
                  <a:close/>
                  <a:moveTo>
                    <a:pt x="388493" y="3298698"/>
                  </a:moveTo>
                  <a:cubicBezTo>
                    <a:pt x="386842" y="3290316"/>
                    <a:pt x="385318" y="3282061"/>
                    <a:pt x="383794" y="3273679"/>
                  </a:cubicBezTo>
                  <a:lnTo>
                    <a:pt x="408813" y="3269107"/>
                  </a:lnTo>
                  <a:cubicBezTo>
                    <a:pt x="410337" y="3277362"/>
                    <a:pt x="411861" y="3285617"/>
                    <a:pt x="413512" y="3293872"/>
                  </a:cubicBezTo>
                  <a:close/>
                  <a:moveTo>
                    <a:pt x="404241" y="3243707"/>
                  </a:moveTo>
                  <a:cubicBezTo>
                    <a:pt x="402717" y="3235325"/>
                    <a:pt x="401320" y="3226943"/>
                    <a:pt x="399923" y="3218561"/>
                  </a:cubicBezTo>
                  <a:lnTo>
                    <a:pt x="424942" y="3214370"/>
                  </a:lnTo>
                  <a:cubicBezTo>
                    <a:pt x="426339" y="3222752"/>
                    <a:pt x="427736" y="3231007"/>
                    <a:pt x="429260" y="3239389"/>
                  </a:cubicBezTo>
                  <a:close/>
                  <a:moveTo>
                    <a:pt x="420878" y="3188970"/>
                  </a:moveTo>
                  <a:cubicBezTo>
                    <a:pt x="419608" y="3180588"/>
                    <a:pt x="418338" y="3172206"/>
                    <a:pt x="417068" y="3163824"/>
                  </a:cubicBezTo>
                  <a:lnTo>
                    <a:pt x="442214" y="3160141"/>
                  </a:lnTo>
                  <a:cubicBezTo>
                    <a:pt x="443484" y="3168523"/>
                    <a:pt x="444754" y="3176778"/>
                    <a:pt x="446024" y="3185160"/>
                  </a:cubicBezTo>
                  <a:close/>
                  <a:moveTo>
                    <a:pt x="438531" y="3134741"/>
                  </a:moveTo>
                  <a:cubicBezTo>
                    <a:pt x="437388" y="3126359"/>
                    <a:pt x="436245" y="3117977"/>
                    <a:pt x="435102" y="3109468"/>
                  </a:cubicBezTo>
                  <a:lnTo>
                    <a:pt x="460248" y="3106166"/>
                  </a:lnTo>
                  <a:cubicBezTo>
                    <a:pt x="461391" y="3114548"/>
                    <a:pt x="462407" y="3122803"/>
                    <a:pt x="463550" y="3131185"/>
                  </a:cubicBezTo>
                  <a:close/>
                  <a:moveTo>
                    <a:pt x="456946" y="3080639"/>
                  </a:moveTo>
                  <a:cubicBezTo>
                    <a:pt x="455930" y="3072130"/>
                    <a:pt x="454914" y="3063748"/>
                    <a:pt x="454025" y="3055239"/>
                  </a:cubicBezTo>
                  <a:lnTo>
                    <a:pt x="479298" y="3052445"/>
                  </a:lnTo>
                  <a:cubicBezTo>
                    <a:pt x="480187" y="3060827"/>
                    <a:pt x="481203" y="3069209"/>
                    <a:pt x="482219" y="3077591"/>
                  </a:cubicBezTo>
                  <a:close/>
                  <a:moveTo>
                    <a:pt x="476504" y="3026791"/>
                  </a:moveTo>
                  <a:cubicBezTo>
                    <a:pt x="475615" y="3018409"/>
                    <a:pt x="474853" y="3009900"/>
                    <a:pt x="473964" y="3001518"/>
                  </a:cubicBezTo>
                  <a:lnTo>
                    <a:pt x="499237" y="2999105"/>
                  </a:lnTo>
                  <a:cubicBezTo>
                    <a:pt x="499999" y="3007487"/>
                    <a:pt x="500888" y="3015869"/>
                    <a:pt x="501650" y="3024251"/>
                  </a:cubicBezTo>
                  <a:close/>
                  <a:moveTo>
                    <a:pt x="496951" y="2973578"/>
                  </a:moveTo>
                  <a:cubicBezTo>
                    <a:pt x="496189" y="2965069"/>
                    <a:pt x="495554" y="2956687"/>
                    <a:pt x="494919" y="2948178"/>
                  </a:cubicBezTo>
                  <a:lnTo>
                    <a:pt x="520192" y="2946273"/>
                  </a:lnTo>
                  <a:cubicBezTo>
                    <a:pt x="520827" y="2954655"/>
                    <a:pt x="521462" y="2963037"/>
                    <a:pt x="522224" y="2971419"/>
                  </a:cubicBezTo>
                  <a:close/>
                  <a:moveTo>
                    <a:pt x="518414" y="2920492"/>
                  </a:moveTo>
                  <a:cubicBezTo>
                    <a:pt x="517906" y="2911983"/>
                    <a:pt x="517271" y="2903474"/>
                    <a:pt x="516763" y="2894965"/>
                  </a:cubicBezTo>
                  <a:lnTo>
                    <a:pt x="542163" y="2893441"/>
                  </a:lnTo>
                  <a:cubicBezTo>
                    <a:pt x="542671" y="2901950"/>
                    <a:pt x="543179" y="2910332"/>
                    <a:pt x="543687" y="2918714"/>
                  </a:cubicBezTo>
                  <a:close/>
                  <a:moveTo>
                    <a:pt x="540766" y="2867660"/>
                  </a:moveTo>
                  <a:cubicBezTo>
                    <a:pt x="540385" y="2859151"/>
                    <a:pt x="540004" y="2850769"/>
                    <a:pt x="539623" y="2842260"/>
                  </a:cubicBezTo>
                  <a:lnTo>
                    <a:pt x="565023" y="2841244"/>
                  </a:lnTo>
                  <a:cubicBezTo>
                    <a:pt x="565404" y="2849626"/>
                    <a:pt x="565785" y="2858008"/>
                    <a:pt x="566166" y="2866390"/>
                  </a:cubicBezTo>
                  <a:close/>
                  <a:moveTo>
                    <a:pt x="564134" y="2815590"/>
                  </a:moveTo>
                  <a:cubicBezTo>
                    <a:pt x="563880" y="2807081"/>
                    <a:pt x="563626" y="2798572"/>
                    <a:pt x="563499" y="2790063"/>
                  </a:cubicBezTo>
                  <a:lnTo>
                    <a:pt x="588899" y="2789428"/>
                  </a:lnTo>
                  <a:cubicBezTo>
                    <a:pt x="589153" y="2797810"/>
                    <a:pt x="589280" y="2806319"/>
                    <a:pt x="589534" y="2814701"/>
                  </a:cubicBezTo>
                  <a:close/>
                  <a:moveTo>
                    <a:pt x="588391" y="2763647"/>
                  </a:moveTo>
                  <a:cubicBezTo>
                    <a:pt x="588264" y="2755138"/>
                    <a:pt x="588137" y="2746629"/>
                    <a:pt x="588137" y="2737993"/>
                  </a:cubicBezTo>
                  <a:lnTo>
                    <a:pt x="613537" y="2737866"/>
                  </a:lnTo>
                  <a:cubicBezTo>
                    <a:pt x="613537" y="2746375"/>
                    <a:pt x="613664" y="2754757"/>
                    <a:pt x="613791" y="2763266"/>
                  </a:cubicBezTo>
                  <a:close/>
                  <a:moveTo>
                    <a:pt x="0" y="2864739"/>
                  </a:moveTo>
                  <a:cubicBezTo>
                    <a:pt x="0" y="2856230"/>
                    <a:pt x="0" y="2847594"/>
                    <a:pt x="127" y="2839085"/>
                  </a:cubicBezTo>
                  <a:lnTo>
                    <a:pt x="25527" y="2839339"/>
                  </a:lnTo>
                  <a:cubicBezTo>
                    <a:pt x="25400" y="2847848"/>
                    <a:pt x="25400" y="2856230"/>
                    <a:pt x="25400" y="2864739"/>
                  </a:cubicBezTo>
                  <a:close/>
                </a:path>
              </a:pathLst>
            </a:custGeom>
            <a:solidFill>
              <a:srgbClr val="000000"/>
            </a:solidFill>
          </p:spPr>
        </p:sp>
      </p:grpSp>
      <p:sp>
        <p:nvSpPr>
          <p:cNvPr name="TextBox 10" id="10"/>
          <p:cNvSpPr txBox="true"/>
          <p:nvPr/>
        </p:nvSpPr>
        <p:spPr>
          <a:xfrm rot="0">
            <a:off x="1517875" y="1071425"/>
            <a:ext cx="152521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Hạn c</a:t>
            </a:r>
            <a:r>
              <a:rPr lang="en-US" sz="6000">
                <a:solidFill>
                  <a:srgbClr val="000000"/>
                </a:solidFill>
                <a:latin typeface="Arimo"/>
                <a:ea typeface="Arimo"/>
                <a:cs typeface="Arimo"/>
                <a:sym typeface="Arimo"/>
              </a:rPr>
              <a:t>hế khi viết tài liệu thủ công</a:t>
            </a:r>
          </a:p>
        </p:txBody>
      </p:sp>
      <p:sp>
        <p:nvSpPr>
          <p:cNvPr name="TextBox 11" id="11"/>
          <p:cNvSpPr txBox="true"/>
          <p:nvPr/>
        </p:nvSpPr>
        <p:spPr>
          <a:xfrm rot="0">
            <a:off x="1517891" y="3251012"/>
            <a:ext cx="4095150" cy="723900"/>
          </a:xfrm>
          <a:prstGeom prst="rect">
            <a:avLst/>
          </a:prstGeom>
        </p:spPr>
        <p:txBody>
          <a:bodyPr anchor="t" rtlCol="false" tIns="0" lIns="0" bIns="0" rIns="0">
            <a:spAutoFit/>
          </a:bodyPr>
          <a:lstStyle/>
          <a:p>
            <a:pPr algn="l">
              <a:lnSpc>
                <a:spcPts val="5520"/>
              </a:lnSpc>
            </a:pPr>
            <a:r>
              <a:rPr lang="en-US" sz="4600">
                <a:solidFill>
                  <a:srgbClr val="000000"/>
                </a:solidFill>
                <a:latin typeface="Arimo"/>
                <a:ea typeface="Arimo"/>
                <a:cs typeface="Arimo"/>
                <a:sym typeface="Arimo"/>
              </a:rPr>
              <a:t>Mất thời gia</a:t>
            </a:r>
            <a:r>
              <a:rPr lang="en-US" sz="4600">
                <a:solidFill>
                  <a:srgbClr val="000000"/>
                </a:solidFill>
                <a:latin typeface="Arimo"/>
                <a:ea typeface="Arimo"/>
                <a:cs typeface="Arimo"/>
                <a:sym typeface="Arimo"/>
              </a:rPr>
              <a:t>n</a:t>
            </a:r>
          </a:p>
        </p:txBody>
      </p:sp>
      <p:sp>
        <p:nvSpPr>
          <p:cNvPr name="TextBox 12" id="12"/>
          <p:cNvSpPr txBox="true"/>
          <p:nvPr/>
        </p:nvSpPr>
        <p:spPr>
          <a:xfrm rot="0">
            <a:off x="1517891" y="4046800"/>
            <a:ext cx="4095150" cy="866775"/>
          </a:xfrm>
          <a:prstGeom prst="rect">
            <a:avLst/>
          </a:prstGeom>
        </p:spPr>
        <p:txBody>
          <a:bodyPr anchor="t" rtlCol="false" tIns="0" lIns="0" bIns="0" rIns="0">
            <a:spAutoFit/>
          </a:bodyPr>
          <a:lstStyle/>
          <a:p>
            <a:pPr algn="l">
              <a:lnSpc>
                <a:spcPts val="3359"/>
              </a:lnSpc>
            </a:pPr>
            <a:r>
              <a:rPr lang="en-US" sz="2799">
                <a:solidFill>
                  <a:srgbClr val="666666"/>
                </a:solidFill>
                <a:latin typeface="Poppins"/>
                <a:ea typeface="Poppins"/>
                <a:cs typeface="Poppins"/>
                <a:sym typeface="Poppins"/>
              </a:rPr>
              <a:t>Vừa code vừa viết mô tả</a:t>
            </a:r>
          </a:p>
        </p:txBody>
      </p:sp>
      <p:sp>
        <p:nvSpPr>
          <p:cNvPr name="TextBox 13" id="13"/>
          <p:cNvSpPr txBox="true"/>
          <p:nvPr/>
        </p:nvSpPr>
        <p:spPr>
          <a:xfrm rot="0">
            <a:off x="12141005" y="3251012"/>
            <a:ext cx="4629106" cy="723900"/>
          </a:xfrm>
          <a:prstGeom prst="rect">
            <a:avLst/>
          </a:prstGeom>
        </p:spPr>
        <p:txBody>
          <a:bodyPr anchor="t" rtlCol="false" tIns="0" lIns="0" bIns="0" rIns="0">
            <a:spAutoFit/>
          </a:bodyPr>
          <a:lstStyle/>
          <a:p>
            <a:pPr algn="r">
              <a:lnSpc>
                <a:spcPts val="5519"/>
              </a:lnSpc>
            </a:pPr>
            <a:r>
              <a:rPr lang="en-US" sz="4599">
                <a:solidFill>
                  <a:srgbClr val="000000"/>
                </a:solidFill>
                <a:latin typeface="Arimo"/>
                <a:ea typeface="Arimo"/>
                <a:cs typeface="Arimo"/>
                <a:sym typeface="Arimo"/>
              </a:rPr>
              <a:t>Không đồng nhấ</a:t>
            </a:r>
            <a:r>
              <a:rPr lang="en-US" sz="4599">
                <a:solidFill>
                  <a:srgbClr val="000000"/>
                </a:solidFill>
                <a:latin typeface="Arimo"/>
                <a:ea typeface="Arimo"/>
                <a:cs typeface="Arimo"/>
                <a:sym typeface="Arimo"/>
              </a:rPr>
              <a:t>t</a:t>
            </a:r>
          </a:p>
        </p:txBody>
      </p:sp>
      <p:sp>
        <p:nvSpPr>
          <p:cNvPr name="TextBox 14" id="14"/>
          <p:cNvSpPr txBox="true"/>
          <p:nvPr/>
        </p:nvSpPr>
        <p:spPr>
          <a:xfrm rot="0">
            <a:off x="12674947" y="4046800"/>
            <a:ext cx="4095150" cy="866775"/>
          </a:xfrm>
          <a:prstGeom prst="rect">
            <a:avLst/>
          </a:prstGeom>
        </p:spPr>
        <p:txBody>
          <a:bodyPr anchor="t" rtlCol="false" tIns="0" lIns="0" bIns="0" rIns="0">
            <a:spAutoFit/>
          </a:bodyPr>
          <a:lstStyle/>
          <a:p>
            <a:pPr algn="r">
              <a:lnSpc>
                <a:spcPts val="3359"/>
              </a:lnSpc>
            </a:pPr>
            <a:r>
              <a:rPr lang="en-US" sz="2799">
                <a:solidFill>
                  <a:srgbClr val="666666"/>
                </a:solidFill>
                <a:latin typeface="Poppins"/>
                <a:ea typeface="Poppins"/>
                <a:cs typeface="Poppins"/>
                <a:sym typeface="Poppins"/>
              </a:rPr>
              <a:t>Phong cách viết khác nhau</a:t>
            </a:r>
          </a:p>
        </p:txBody>
      </p:sp>
      <p:sp>
        <p:nvSpPr>
          <p:cNvPr name="TextBox 15" id="15"/>
          <p:cNvSpPr txBox="true"/>
          <p:nvPr/>
        </p:nvSpPr>
        <p:spPr>
          <a:xfrm rot="0">
            <a:off x="1517891" y="6117812"/>
            <a:ext cx="4095150" cy="723900"/>
          </a:xfrm>
          <a:prstGeom prst="rect">
            <a:avLst/>
          </a:prstGeom>
        </p:spPr>
        <p:txBody>
          <a:bodyPr anchor="t" rtlCol="false" tIns="0" lIns="0" bIns="0" rIns="0">
            <a:spAutoFit/>
          </a:bodyPr>
          <a:lstStyle/>
          <a:p>
            <a:pPr algn="l">
              <a:lnSpc>
                <a:spcPts val="5520"/>
              </a:lnSpc>
            </a:pPr>
            <a:r>
              <a:rPr lang="en-US" sz="4600">
                <a:solidFill>
                  <a:srgbClr val="000000"/>
                </a:solidFill>
                <a:latin typeface="Arimo"/>
                <a:ea typeface="Arimo"/>
                <a:cs typeface="Arimo"/>
                <a:sym typeface="Arimo"/>
              </a:rPr>
              <a:t>Dễ lỗi thời</a:t>
            </a:r>
          </a:p>
        </p:txBody>
      </p:sp>
      <p:sp>
        <p:nvSpPr>
          <p:cNvPr name="TextBox 16" id="16"/>
          <p:cNvSpPr txBox="true"/>
          <p:nvPr/>
        </p:nvSpPr>
        <p:spPr>
          <a:xfrm rot="0">
            <a:off x="1517891" y="6913600"/>
            <a:ext cx="4095150" cy="866775"/>
          </a:xfrm>
          <a:prstGeom prst="rect">
            <a:avLst/>
          </a:prstGeom>
        </p:spPr>
        <p:txBody>
          <a:bodyPr anchor="t" rtlCol="false" tIns="0" lIns="0" bIns="0" rIns="0">
            <a:spAutoFit/>
          </a:bodyPr>
          <a:lstStyle/>
          <a:p>
            <a:pPr algn="l">
              <a:lnSpc>
                <a:spcPts val="3359"/>
              </a:lnSpc>
            </a:pPr>
            <a:r>
              <a:rPr lang="en-US" sz="2799">
                <a:solidFill>
                  <a:srgbClr val="666666"/>
                </a:solidFill>
                <a:latin typeface="Poppins"/>
                <a:ea typeface="Poppins"/>
                <a:cs typeface="Poppins"/>
                <a:sym typeface="Poppins"/>
              </a:rPr>
              <a:t>Doc không đồng bộ với code</a:t>
            </a:r>
          </a:p>
        </p:txBody>
      </p:sp>
      <p:sp>
        <p:nvSpPr>
          <p:cNvPr name="TextBox 17" id="17"/>
          <p:cNvSpPr txBox="true"/>
          <p:nvPr/>
        </p:nvSpPr>
        <p:spPr>
          <a:xfrm rot="0">
            <a:off x="12674961" y="6117812"/>
            <a:ext cx="4095150" cy="723900"/>
          </a:xfrm>
          <a:prstGeom prst="rect">
            <a:avLst/>
          </a:prstGeom>
        </p:spPr>
        <p:txBody>
          <a:bodyPr anchor="t" rtlCol="false" tIns="0" lIns="0" bIns="0" rIns="0">
            <a:spAutoFit/>
          </a:bodyPr>
          <a:lstStyle/>
          <a:p>
            <a:pPr algn="r">
              <a:lnSpc>
                <a:spcPts val="5520"/>
              </a:lnSpc>
            </a:pPr>
            <a:r>
              <a:rPr lang="en-US" sz="4600">
                <a:solidFill>
                  <a:srgbClr val="000000"/>
                </a:solidFill>
                <a:latin typeface="Arimo"/>
                <a:ea typeface="Arimo"/>
                <a:cs typeface="Arimo"/>
                <a:sym typeface="Arimo"/>
              </a:rPr>
              <a:t>Thiế</a:t>
            </a:r>
            <a:r>
              <a:rPr lang="en-US" sz="4600">
                <a:solidFill>
                  <a:srgbClr val="000000"/>
                </a:solidFill>
                <a:latin typeface="Arimo"/>
                <a:ea typeface="Arimo"/>
                <a:cs typeface="Arimo"/>
                <a:sym typeface="Arimo"/>
              </a:rPr>
              <a:t>u chi tiết</a:t>
            </a:r>
          </a:p>
        </p:txBody>
      </p:sp>
      <p:sp>
        <p:nvSpPr>
          <p:cNvPr name="TextBox 18" id="18"/>
          <p:cNvSpPr txBox="true"/>
          <p:nvPr/>
        </p:nvSpPr>
        <p:spPr>
          <a:xfrm rot="0">
            <a:off x="12674947" y="6913600"/>
            <a:ext cx="4095150" cy="866775"/>
          </a:xfrm>
          <a:prstGeom prst="rect">
            <a:avLst/>
          </a:prstGeom>
        </p:spPr>
        <p:txBody>
          <a:bodyPr anchor="t" rtlCol="false" tIns="0" lIns="0" bIns="0" rIns="0">
            <a:spAutoFit/>
          </a:bodyPr>
          <a:lstStyle/>
          <a:p>
            <a:pPr algn="r">
              <a:lnSpc>
                <a:spcPts val="3359"/>
              </a:lnSpc>
            </a:pPr>
            <a:r>
              <a:rPr lang="en-US" sz="2799">
                <a:solidFill>
                  <a:srgbClr val="666666"/>
                </a:solidFill>
                <a:latin typeface="Poppins"/>
                <a:ea typeface="Poppins"/>
                <a:cs typeface="Poppins"/>
                <a:sym typeface="Poppins"/>
              </a:rPr>
              <a:t>Docs</a:t>
            </a:r>
            <a:r>
              <a:rPr lang="en-US" sz="2799">
                <a:solidFill>
                  <a:srgbClr val="666666"/>
                </a:solidFill>
                <a:latin typeface="Poppins"/>
                <a:ea typeface="Poppins"/>
                <a:cs typeface="Poppins"/>
                <a:sym typeface="Poppins"/>
              </a:rPr>
              <a:t>tring IDE mặc định chỉ là template</a:t>
            </a:r>
          </a:p>
        </p:txBody>
      </p:sp>
      <p:grpSp>
        <p:nvGrpSpPr>
          <p:cNvPr name="Group 19" id="19"/>
          <p:cNvGrpSpPr/>
          <p:nvPr/>
        </p:nvGrpSpPr>
        <p:grpSpPr>
          <a:xfrm rot="0">
            <a:off x="6761289" y="3261025"/>
            <a:ext cx="1817850" cy="1817850"/>
            <a:chOff x="0" y="0"/>
            <a:chExt cx="2423800" cy="2423800"/>
          </a:xfrm>
        </p:grpSpPr>
        <p:sp>
          <p:nvSpPr>
            <p:cNvPr name="Freeform 20" id="20"/>
            <p:cNvSpPr/>
            <p:nvPr/>
          </p:nvSpPr>
          <p:spPr>
            <a:xfrm flipH="false" flipV="false" rot="0">
              <a:off x="12700" y="12700"/>
              <a:ext cx="2398522" cy="2398522"/>
            </a:xfrm>
            <a:custGeom>
              <a:avLst/>
              <a:gdLst/>
              <a:ahLst/>
              <a:cxnLst/>
              <a:rect r="r" b="b" t="t" l="l"/>
              <a:pathLst>
                <a:path h="2398522" w="2398522">
                  <a:moveTo>
                    <a:pt x="0" y="1199261"/>
                  </a:moveTo>
                  <a:cubicBezTo>
                    <a:pt x="0" y="536956"/>
                    <a:pt x="536956" y="0"/>
                    <a:pt x="1199261" y="0"/>
                  </a:cubicBezTo>
                  <a:cubicBezTo>
                    <a:pt x="1861566" y="0"/>
                    <a:pt x="2398522" y="536956"/>
                    <a:pt x="2398522" y="1199261"/>
                  </a:cubicBezTo>
                  <a:cubicBezTo>
                    <a:pt x="2398522" y="1861566"/>
                    <a:pt x="1861566" y="2398522"/>
                    <a:pt x="1199261" y="2398522"/>
                  </a:cubicBezTo>
                  <a:cubicBezTo>
                    <a:pt x="536956" y="2398522"/>
                    <a:pt x="0" y="1861439"/>
                    <a:pt x="0" y="1199261"/>
                  </a:cubicBezTo>
                  <a:close/>
                </a:path>
              </a:pathLst>
            </a:custGeom>
            <a:solidFill>
              <a:srgbClr val="FFFFFF"/>
            </a:solidFill>
          </p:spPr>
        </p:sp>
        <p:sp>
          <p:nvSpPr>
            <p:cNvPr name="Freeform 21" id="21"/>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grpSp>
        <p:nvGrpSpPr>
          <p:cNvPr name="Group 22" id="22"/>
          <p:cNvGrpSpPr/>
          <p:nvPr/>
        </p:nvGrpSpPr>
        <p:grpSpPr>
          <a:xfrm rot="0">
            <a:off x="6761289" y="6127825"/>
            <a:ext cx="1817850" cy="1817850"/>
            <a:chOff x="0" y="0"/>
            <a:chExt cx="2423800" cy="2423800"/>
          </a:xfrm>
        </p:grpSpPr>
        <p:sp>
          <p:nvSpPr>
            <p:cNvPr name="Freeform 23" id="23"/>
            <p:cNvSpPr/>
            <p:nvPr/>
          </p:nvSpPr>
          <p:spPr>
            <a:xfrm flipH="false" flipV="false" rot="0">
              <a:off x="12700" y="12700"/>
              <a:ext cx="2398522" cy="2398522"/>
            </a:xfrm>
            <a:custGeom>
              <a:avLst/>
              <a:gdLst/>
              <a:ahLst/>
              <a:cxnLst/>
              <a:rect r="r" b="b" t="t" l="l"/>
              <a:pathLst>
                <a:path h="2398522" w="2398522">
                  <a:moveTo>
                    <a:pt x="0" y="1199261"/>
                  </a:moveTo>
                  <a:cubicBezTo>
                    <a:pt x="0" y="536956"/>
                    <a:pt x="536956" y="0"/>
                    <a:pt x="1199261" y="0"/>
                  </a:cubicBezTo>
                  <a:cubicBezTo>
                    <a:pt x="1861566" y="0"/>
                    <a:pt x="2398522" y="536956"/>
                    <a:pt x="2398522" y="1199261"/>
                  </a:cubicBezTo>
                  <a:cubicBezTo>
                    <a:pt x="2398522" y="1861566"/>
                    <a:pt x="1861566" y="2398522"/>
                    <a:pt x="1199261" y="2398522"/>
                  </a:cubicBezTo>
                  <a:cubicBezTo>
                    <a:pt x="536956" y="2398522"/>
                    <a:pt x="0" y="1861439"/>
                    <a:pt x="0" y="1199261"/>
                  </a:cubicBezTo>
                  <a:close/>
                </a:path>
              </a:pathLst>
            </a:custGeom>
            <a:solidFill>
              <a:srgbClr val="FFFFFF"/>
            </a:solidFill>
          </p:spPr>
        </p:sp>
        <p:sp>
          <p:nvSpPr>
            <p:cNvPr name="Freeform 24" id="24"/>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grpSp>
        <p:nvGrpSpPr>
          <p:cNvPr name="Group 25" id="25"/>
          <p:cNvGrpSpPr/>
          <p:nvPr/>
        </p:nvGrpSpPr>
        <p:grpSpPr>
          <a:xfrm rot="0">
            <a:off x="9708839" y="3261025"/>
            <a:ext cx="1817850" cy="1817850"/>
            <a:chOff x="0" y="0"/>
            <a:chExt cx="2423800" cy="2423800"/>
          </a:xfrm>
        </p:grpSpPr>
        <p:sp>
          <p:nvSpPr>
            <p:cNvPr name="Freeform 26" id="26"/>
            <p:cNvSpPr/>
            <p:nvPr/>
          </p:nvSpPr>
          <p:spPr>
            <a:xfrm flipH="false" flipV="false" rot="0">
              <a:off x="12700" y="12700"/>
              <a:ext cx="2398522" cy="2398522"/>
            </a:xfrm>
            <a:custGeom>
              <a:avLst/>
              <a:gdLst/>
              <a:ahLst/>
              <a:cxnLst/>
              <a:rect r="r" b="b" t="t" l="l"/>
              <a:pathLst>
                <a:path h="2398522" w="2398522">
                  <a:moveTo>
                    <a:pt x="0" y="1199261"/>
                  </a:moveTo>
                  <a:cubicBezTo>
                    <a:pt x="0" y="536956"/>
                    <a:pt x="536956" y="0"/>
                    <a:pt x="1199261" y="0"/>
                  </a:cubicBezTo>
                  <a:cubicBezTo>
                    <a:pt x="1861566" y="0"/>
                    <a:pt x="2398522" y="536956"/>
                    <a:pt x="2398522" y="1199261"/>
                  </a:cubicBezTo>
                  <a:cubicBezTo>
                    <a:pt x="2398522" y="1861566"/>
                    <a:pt x="1861566" y="2398522"/>
                    <a:pt x="1199261" y="2398522"/>
                  </a:cubicBezTo>
                  <a:cubicBezTo>
                    <a:pt x="536956" y="2398522"/>
                    <a:pt x="0" y="1861439"/>
                    <a:pt x="0" y="1199261"/>
                  </a:cubicBezTo>
                  <a:close/>
                </a:path>
              </a:pathLst>
            </a:custGeom>
            <a:solidFill>
              <a:srgbClr val="FFFFFF"/>
            </a:solidFill>
          </p:spPr>
        </p:sp>
        <p:sp>
          <p:nvSpPr>
            <p:cNvPr name="Freeform 27" id="27"/>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grpSp>
        <p:nvGrpSpPr>
          <p:cNvPr name="Group 28" id="28"/>
          <p:cNvGrpSpPr/>
          <p:nvPr/>
        </p:nvGrpSpPr>
        <p:grpSpPr>
          <a:xfrm rot="0">
            <a:off x="9708839" y="6127825"/>
            <a:ext cx="1817850" cy="1817850"/>
            <a:chOff x="0" y="0"/>
            <a:chExt cx="2423800" cy="2423800"/>
          </a:xfrm>
        </p:grpSpPr>
        <p:sp>
          <p:nvSpPr>
            <p:cNvPr name="Freeform 29" id="29"/>
            <p:cNvSpPr/>
            <p:nvPr/>
          </p:nvSpPr>
          <p:spPr>
            <a:xfrm flipH="false" flipV="false" rot="0">
              <a:off x="12700" y="12700"/>
              <a:ext cx="2398522" cy="2398522"/>
            </a:xfrm>
            <a:custGeom>
              <a:avLst/>
              <a:gdLst/>
              <a:ahLst/>
              <a:cxnLst/>
              <a:rect r="r" b="b" t="t" l="l"/>
              <a:pathLst>
                <a:path h="2398522" w="2398522">
                  <a:moveTo>
                    <a:pt x="0" y="1199261"/>
                  </a:moveTo>
                  <a:cubicBezTo>
                    <a:pt x="0" y="536956"/>
                    <a:pt x="536956" y="0"/>
                    <a:pt x="1199261" y="0"/>
                  </a:cubicBezTo>
                  <a:cubicBezTo>
                    <a:pt x="1861566" y="0"/>
                    <a:pt x="2398522" y="536956"/>
                    <a:pt x="2398522" y="1199261"/>
                  </a:cubicBezTo>
                  <a:cubicBezTo>
                    <a:pt x="2398522" y="1861566"/>
                    <a:pt x="1861566" y="2398522"/>
                    <a:pt x="1199261" y="2398522"/>
                  </a:cubicBezTo>
                  <a:cubicBezTo>
                    <a:pt x="536956" y="2398522"/>
                    <a:pt x="0" y="1861439"/>
                    <a:pt x="0" y="1199261"/>
                  </a:cubicBezTo>
                  <a:close/>
                </a:path>
              </a:pathLst>
            </a:custGeom>
            <a:solidFill>
              <a:srgbClr val="FFFFFF"/>
            </a:solidFill>
          </p:spPr>
        </p:sp>
        <p:sp>
          <p:nvSpPr>
            <p:cNvPr name="Freeform 30" id="30"/>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sp>
        <p:nvSpPr>
          <p:cNvPr name="Freeform 31" id="31"/>
          <p:cNvSpPr/>
          <p:nvPr/>
        </p:nvSpPr>
        <p:spPr>
          <a:xfrm flipH="false" flipV="false" rot="0">
            <a:off x="10383856" y="3845732"/>
            <a:ext cx="467814" cy="648436"/>
          </a:xfrm>
          <a:custGeom>
            <a:avLst/>
            <a:gdLst/>
            <a:ahLst/>
            <a:cxnLst/>
            <a:rect r="r" b="b" t="t" l="l"/>
            <a:pathLst>
              <a:path h="648436" w="467814">
                <a:moveTo>
                  <a:pt x="0" y="0"/>
                </a:moveTo>
                <a:lnTo>
                  <a:pt x="467814" y="0"/>
                </a:lnTo>
                <a:lnTo>
                  <a:pt x="467814" y="648436"/>
                </a:lnTo>
                <a:lnTo>
                  <a:pt x="0" y="6484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2" id="32"/>
          <p:cNvSpPr/>
          <p:nvPr/>
        </p:nvSpPr>
        <p:spPr>
          <a:xfrm flipH="false" flipV="false" rot="0">
            <a:off x="7344352" y="3846320"/>
            <a:ext cx="651724" cy="647258"/>
          </a:xfrm>
          <a:custGeom>
            <a:avLst/>
            <a:gdLst/>
            <a:ahLst/>
            <a:cxnLst/>
            <a:rect r="r" b="b" t="t" l="l"/>
            <a:pathLst>
              <a:path h="647258" w="651724">
                <a:moveTo>
                  <a:pt x="0" y="0"/>
                </a:moveTo>
                <a:lnTo>
                  <a:pt x="651724" y="0"/>
                </a:lnTo>
                <a:lnTo>
                  <a:pt x="651724" y="647258"/>
                </a:lnTo>
                <a:lnTo>
                  <a:pt x="0" y="6472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3" id="33"/>
          <p:cNvSpPr/>
          <p:nvPr/>
        </p:nvSpPr>
        <p:spPr>
          <a:xfrm flipH="false" flipV="false" rot="0">
            <a:off x="10290288" y="6713326"/>
            <a:ext cx="654950" cy="646848"/>
          </a:xfrm>
          <a:custGeom>
            <a:avLst/>
            <a:gdLst/>
            <a:ahLst/>
            <a:cxnLst/>
            <a:rect r="r" b="b" t="t" l="l"/>
            <a:pathLst>
              <a:path h="646848" w="654950">
                <a:moveTo>
                  <a:pt x="0" y="0"/>
                </a:moveTo>
                <a:lnTo>
                  <a:pt x="654950" y="0"/>
                </a:lnTo>
                <a:lnTo>
                  <a:pt x="654950" y="646848"/>
                </a:lnTo>
                <a:lnTo>
                  <a:pt x="0" y="6468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7393554" y="6712532"/>
            <a:ext cx="553318" cy="648436"/>
          </a:xfrm>
          <a:custGeom>
            <a:avLst/>
            <a:gdLst/>
            <a:ahLst/>
            <a:cxnLst/>
            <a:rect r="r" b="b" t="t" l="l"/>
            <a:pathLst>
              <a:path h="648436" w="553318">
                <a:moveTo>
                  <a:pt x="0" y="0"/>
                </a:moveTo>
                <a:lnTo>
                  <a:pt x="553318" y="0"/>
                </a:lnTo>
                <a:lnTo>
                  <a:pt x="553318" y="648436"/>
                </a:lnTo>
                <a:lnTo>
                  <a:pt x="0" y="6484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5" id="35"/>
          <p:cNvGrpSpPr/>
          <p:nvPr/>
        </p:nvGrpSpPr>
        <p:grpSpPr>
          <a:xfrm rot="0">
            <a:off x="12535950" y="-2457100"/>
            <a:ext cx="4325400" cy="4326000"/>
            <a:chOff x="0" y="0"/>
            <a:chExt cx="5767200" cy="5768000"/>
          </a:xfrm>
        </p:grpSpPr>
        <p:sp>
          <p:nvSpPr>
            <p:cNvPr name="Freeform 36" id="36"/>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37" id="37"/>
          <p:cNvGrpSpPr/>
          <p:nvPr/>
        </p:nvGrpSpPr>
        <p:grpSpPr>
          <a:xfrm rot="0">
            <a:off x="15586450" y="760400"/>
            <a:ext cx="1275000" cy="1275000"/>
            <a:chOff x="0" y="0"/>
            <a:chExt cx="1700000" cy="1700000"/>
          </a:xfrm>
        </p:grpSpPr>
        <p:sp>
          <p:nvSpPr>
            <p:cNvPr name="Freeform 38" id="38"/>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gradFill rotWithShape="true">
              <a:gsLst>
                <a:gs pos="0">
                  <a:srgbClr val="D149CE">
                    <a:alpha val="100000"/>
                  </a:srgbClr>
                </a:gs>
                <a:gs pos="100000">
                  <a:srgbClr val="43309F">
                    <a:alpha val="100000"/>
                  </a:srgbClr>
                </a:gs>
              </a:gsLst>
              <a:lin ang="5400012"/>
            </a:gra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0" y="0"/>
                  </a:moveTo>
                  <a:lnTo>
                    <a:pt x="3873246" y="0"/>
                  </a:lnTo>
                  <a:cubicBezTo>
                    <a:pt x="4109847" y="0"/>
                    <a:pt x="4301617" y="191770"/>
                    <a:pt x="4301617" y="428371"/>
                  </a:cubicBezTo>
                  <a:lnTo>
                    <a:pt x="4301617" y="856742"/>
                  </a:lnTo>
                  <a:lnTo>
                    <a:pt x="0" y="856742"/>
                  </a:lnTo>
                  <a:close/>
                </a:path>
              </a:pathLst>
            </a:custGeom>
            <a:gradFill rotWithShape="true">
              <a:gsLst>
                <a:gs pos="0">
                  <a:srgbClr val="D149CE">
                    <a:alpha val="100000"/>
                  </a:srgbClr>
                </a:gs>
                <a:gs pos="100000">
                  <a:srgbClr val="43309F">
                    <a:alpha val="100000"/>
                  </a:srgbClr>
                </a:gs>
              </a:gsLst>
              <a:lin ang="889145"/>
            </a:gradFill>
          </p:spPr>
        </p:sp>
      </p:grpSp>
      <p:sp>
        <p:nvSpPr>
          <p:cNvPr name="TextBox 4" id="4"/>
          <p:cNvSpPr txBox="true"/>
          <p:nvPr/>
        </p:nvSpPr>
        <p:spPr>
          <a:xfrm rot="0">
            <a:off x="1517875" y="1071425"/>
            <a:ext cx="152521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Giải pháp với GenAI</a:t>
            </a:r>
          </a:p>
        </p:txBody>
      </p:sp>
      <p:sp>
        <p:nvSpPr>
          <p:cNvPr name="TextBox 5" id="5"/>
          <p:cNvSpPr txBox="true"/>
          <p:nvPr/>
        </p:nvSpPr>
        <p:spPr>
          <a:xfrm rot="0">
            <a:off x="1517869" y="4979863"/>
            <a:ext cx="4692150" cy="723900"/>
          </a:xfrm>
          <a:prstGeom prst="rect">
            <a:avLst/>
          </a:prstGeom>
        </p:spPr>
        <p:txBody>
          <a:bodyPr anchor="t" rtlCol="false" tIns="0" lIns="0" bIns="0" rIns="0">
            <a:spAutoFit/>
          </a:bodyPr>
          <a:lstStyle/>
          <a:p>
            <a:pPr algn="ctr">
              <a:lnSpc>
                <a:spcPts val="5520"/>
              </a:lnSpc>
            </a:pPr>
            <a:r>
              <a:rPr lang="en-US" sz="4600">
                <a:solidFill>
                  <a:srgbClr val="000000"/>
                </a:solidFill>
                <a:latin typeface="Arimo"/>
                <a:ea typeface="Arimo"/>
                <a:cs typeface="Arimo"/>
                <a:sym typeface="Arimo"/>
              </a:rPr>
              <a:t>Gi</a:t>
            </a:r>
            <a:r>
              <a:rPr lang="en-US" sz="4600">
                <a:solidFill>
                  <a:srgbClr val="000000"/>
                </a:solidFill>
                <a:latin typeface="Arimo"/>
                <a:ea typeface="Arimo"/>
                <a:cs typeface="Arimo"/>
                <a:sym typeface="Arimo"/>
              </a:rPr>
              <a:t>tHub Copilot</a:t>
            </a:r>
          </a:p>
        </p:txBody>
      </p:sp>
      <p:sp>
        <p:nvSpPr>
          <p:cNvPr name="TextBox 6" id="6"/>
          <p:cNvSpPr txBox="true"/>
          <p:nvPr/>
        </p:nvSpPr>
        <p:spPr>
          <a:xfrm rot="0">
            <a:off x="1517851" y="5775650"/>
            <a:ext cx="4692150" cy="1704975"/>
          </a:xfrm>
          <a:prstGeom prst="rect">
            <a:avLst/>
          </a:prstGeom>
        </p:spPr>
        <p:txBody>
          <a:bodyPr anchor="t" rtlCol="false" tIns="0" lIns="0" bIns="0" rIns="0">
            <a:spAutoFit/>
          </a:bodyPr>
          <a:lstStyle/>
          <a:p>
            <a:pPr algn="just">
              <a:lnSpc>
                <a:spcPts val="3359"/>
              </a:lnSpc>
            </a:pPr>
            <a:r>
              <a:rPr lang="en-US" sz="2799">
                <a:solidFill>
                  <a:srgbClr val="666666"/>
                </a:solidFill>
                <a:latin typeface="Poppins"/>
                <a:ea typeface="Poppins"/>
                <a:cs typeface="Poppins"/>
                <a:sym typeface="Poppins"/>
              </a:rPr>
              <a:t>H</a:t>
            </a:r>
            <a:r>
              <a:rPr lang="en-US" sz="2799">
                <a:solidFill>
                  <a:srgbClr val="666666"/>
                </a:solidFill>
                <a:latin typeface="Poppins"/>
                <a:ea typeface="Poppins"/>
                <a:cs typeface="Poppins"/>
                <a:sym typeface="Poppins"/>
              </a:rPr>
              <a:t>oạt động như một trợ lý dự án, có thể đọc hiểu dự án và cập nhật tài liệu một cách tự động hóa</a:t>
            </a:r>
          </a:p>
        </p:txBody>
      </p:sp>
      <p:grpSp>
        <p:nvGrpSpPr>
          <p:cNvPr name="Group 7" id="7"/>
          <p:cNvGrpSpPr/>
          <p:nvPr/>
        </p:nvGrpSpPr>
        <p:grpSpPr>
          <a:xfrm rot="0">
            <a:off x="2955049" y="2733851"/>
            <a:ext cx="1817850" cy="1817850"/>
            <a:chOff x="0" y="0"/>
            <a:chExt cx="2423800" cy="2423800"/>
          </a:xfrm>
        </p:grpSpPr>
        <p:sp>
          <p:nvSpPr>
            <p:cNvPr name="Freeform 8" id="8"/>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sp>
        <p:nvSpPr>
          <p:cNvPr name="Freeform 9" id="9"/>
          <p:cNvSpPr/>
          <p:nvPr/>
        </p:nvSpPr>
        <p:spPr>
          <a:xfrm flipH="false" flipV="false" rot="0">
            <a:off x="3536652" y="3190337"/>
            <a:ext cx="654548" cy="904878"/>
          </a:xfrm>
          <a:custGeom>
            <a:avLst/>
            <a:gdLst/>
            <a:ahLst/>
            <a:cxnLst/>
            <a:rect r="r" b="b" t="t" l="l"/>
            <a:pathLst>
              <a:path h="904878" w="654548">
                <a:moveTo>
                  <a:pt x="0" y="0"/>
                </a:moveTo>
                <a:lnTo>
                  <a:pt x="654548" y="0"/>
                </a:lnTo>
                <a:lnTo>
                  <a:pt x="654548" y="904878"/>
                </a:lnTo>
                <a:lnTo>
                  <a:pt x="0" y="904878"/>
                </a:lnTo>
                <a:lnTo>
                  <a:pt x="0" y="0"/>
                </a:lnTo>
                <a:close/>
              </a:path>
            </a:pathLst>
          </a:custGeom>
          <a:blipFill>
            <a:blip r:embed="rId3"/>
            <a:stretch>
              <a:fillRect l="-19122" t="0" r="-19122" b="0"/>
            </a:stretch>
          </a:blipFill>
        </p:spPr>
      </p:sp>
      <p:grpSp>
        <p:nvGrpSpPr>
          <p:cNvPr name="Group 10" id="10"/>
          <p:cNvGrpSpPr/>
          <p:nvPr/>
        </p:nvGrpSpPr>
        <p:grpSpPr>
          <a:xfrm rot="0">
            <a:off x="8235059" y="4047201"/>
            <a:ext cx="1817850" cy="1817850"/>
            <a:chOff x="0" y="0"/>
            <a:chExt cx="2423800" cy="2423800"/>
          </a:xfrm>
        </p:grpSpPr>
        <p:sp>
          <p:nvSpPr>
            <p:cNvPr name="Freeform 11" id="11"/>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grpSp>
        <p:nvGrpSpPr>
          <p:cNvPr name="Group 12" id="12"/>
          <p:cNvGrpSpPr/>
          <p:nvPr/>
        </p:nvGrpSpPr>
        <p:grpSpPr>
          <a:xfrm rot="0">
            <a:off x="13600349" y="2733851"/>
            <a:ext cx="1817850" cy="1817850"/>
            <a:chOff x="0" y="0"/>
            <a:chExt cx="2423800" cy="2423800"/>
          </a:xfrm>
        </p:grpSpPr>
        <p:sp>
          <p:nvSpPr>
            <p:cNvPr name="Freeform 13" id="13"/>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sp>
        <p:nvSpPr>
          <p:cNvPr name="AutoShape 14" id="14"/>
          <p:cNvSpPr/>
          <p:nvPr/>
        </p:nvSpPr>
        <p:spPr>
          <a:xfrm>
            <a:off x="4631331" y="4299476"/>
            <a:ext cx="3745287" cy="9525"/>
          </a:xfrm>
          <a:prstGeom prst="line">
            <a:avLst/>
          </a:prstGeom>
          <a:ln cap="rnd" w="9525">
            <a:solidFill>
              <a:srgbClr val="000000"/>
            </a:solidFill>
            <a:prstDash val="solid"/>
            <a:headEnd type="none" len="sm" w="sm"/>
            <a:tailEnd type="none" len="sm" w="sm"/>
          </a:ln>
        </p:spPr>
      </p:sp>
      <p:sp>
        <p:nvSpPr>
          <p:cNvPr name="AutoShape 15" id="15"/>
          <p:cNvSpPr/>
          <p:nvPr/>
        </p:nvSpPr>
        <p:spPr>
          <a:xfrm>
            <a:off x="9914068" y="4299426"/>
            <a:ext cx="3825033" cy="9525"/>
          </a:xfrm>
          <a:prstGeom prst="line">
            <a:avLst/>
          </a:prstGeom>
          <a:ln cap="rnd" w="9525">
            <a:solidFill>
              <a:srgbClr val="000000"/>
            </a:solidFill>
            <a:prstDash val="solid"/>
            <a:headEnd type="none" len="sm" w="sm"/>
            <a:tailEnd type="none" len="sm" w="sm"/>
          </a:ln>
        </p:spPr>
      </p:sp>
      <p:sp>
        <p:nvSpPr>
          <p:cNvPr name="TextBox 16" id="16"/>
          <p:cNvSpPr txBox="true"/>
          <p:nvPr/>
        </p:nvSpPr>
        <p:spPr>
          <a:xfrm rot="0">
            <a:off x="12077969" y="4979863"/>
            <a:ext cx="4692150" cy="723900"/>
          </a:xfrm>
          <a:prstGeom prst="rect">
            <a:avLst/>
          </a:prstGeom>
        </p:spPr>
        <p:txBody>
          <a:bodyPr anchor="t" rtlCol="false" tIns="0" lIns="0" bIns="0" rIns="0">
            <a:spAutoFit/>
          </a:bodyPr>
          <a:lstStyle/>
          <a:p>
            <a:pPr algn="ctr">
              <a:lnSpc>
                <a:spcPts val="5520"/>
              </a:lnSpc>
            </a:pPr>
            <a:r>
              <a:rPr lang="en-US" sz="4600">
                <a:solidFill>
                  <a:srgbClr val="000000"/>
                </a:solidFill>
                <a:latin typeface="Arimo"/>
                <a:ea typeface="Arimo"/>
                <a:cs typeface="Arimo"/>
                <a:sym typeface="Arimo"/>
              </a:rPr>
              <a:t>O</a:t>
            </a:r>
            <a:r>
              <a:rPr lang="en-US" sz="4600">
                <a:solidFill>
                  <a:srgbClr val="000000"/>
                </a:solidFill>
                <a:latin typeface="Arimo"/>
                <a:ea typeface="Arimo"/>
                <a:cs typeface="Arimo"/>
                <a:sym typeface="Arimo"/>
              </a:rPr>
              <a:t>penAI API</a:t>
            </a:r>
          </a:p>
        </p:txBody>
      </p:sp>
      <p:sp>
        <p:nvSpPr>
          <p:cNvPr name="TextBox 17" id="17"/>
          <p:cNvSpPr txBox="true"/>
          <p:nvPr/>
        </p:nvSpPr>
        <p:spPr>
          <a:xfrm rot="0">
            <a:off x="12077951" y="5775650"/>
            <a:ext cx="4692150" cy="2124075"/>
          </a:xfrm>
          <a:prstGeom prst="rect">
            <a:avLst/>
          </a:prstGeom>
        </p:spPr>
        <p:txBody>
          <a:bodyPr anchor="t" rtlCol="false" tIns="0" lIns="0" bIns="0" rIns="0">
            <a:spAutoFit/>
          </a:bodyPr>
          <a:lstStyle/>
          <a:p>
            <a:pPr algn="just">
              <a:lnSpc>
                <a:spcPts val="3359"/>
              </a:lnSpc>
            </a:pPr>
            <a:r>
              <a:rPr lang="en-US" sz="2799">
                <a:solidFill>
                  <a:srgbClr val="666666"/>
                </a:solidFill>
                <a:latin typeface="Poppins"/>
                <a:ea typeface="Poppins"/>
                <a:cs typeface="Poppins"/>
                <a:sym typeface="Poppins"/>
              </a:rPr>
              <a:t>Khác</a:t>
            </a:r>
            <a:r>
              <a:rPr lang="en-US" sz="2799">
                <a:solidFill>
                  <a:srgbClr val="666666"/>
                </a:solidFill>
                <a:latin typeface="Poppins"/>
                <a:ea typeface="Poppins"/>
                <a:cs typeface="Poppins"/>
                <a:sym typeface="Poppins"/>
              </a:rPr>
              <a:t> với Copilot, nhóm công cụ này mạnh ở việc xử lý quy mô lớn và có thể tích hợp vào các quy trình hoạt động.</a:t>
            </a:r>
          </a:p>
        </p:txBody>
      </p:sp>
      <p:sp>
        <p:nvSpPr>
          <p:cNvPr name="TextBox 18" id="18"/>
          <p:cNvSpPr txBox="true"/>
          <p:nvPr/>
        </p:nvSpPr>
        <p:spPr>
          <a:xfrm rot="0">
            <a:off x="6797909" y="6293213"/>
            <a:ext cx="4692150" cy="723900"/>
          </a:xfrm>
          <a:prstGeom prst="rect">
            <a:avLst/>
          </a:prstGeom>
        </p:spPr>
        <p:txBody>
          <a:bodyPr anchor="t" rtlCol="false" tIns="0" lIns="0" bIns="0" rIns="0">
            <a:spAutoFit/>
          </a:bodyPr>
          <a:lstStyle/>
          <a:p>
            <a:pPr algn="ctr">
              <a:lnSpc>
                <a:spcPts val="5520"/>
              </a:lnSpc>
            </a:pPr>
            <a:r>
              <a:rPr lang="en-US" sz="4600">
                <a:solidFill>
                  <a:srgbClr val="000000"/>
                </a:solidFill>
                <a:latin typeface="Arimo"/>
                <a:ea typeface="Arimo"/>
                <a:cs typeface="Arimo"/>
                <a:sym typeface="Arimo"/>
              </a:rPr>
              <a:t>Bổ trợ</a:t>
            </a:r>
          </a:p>
        </p:txBody>
      </p:sp>
      <p:sp>
        <p:nvSpPr>
          <p:cNvPr name="TextBox 19" id="19"/>
          <p:cNvSpPr txBox="true"/>
          <p:nvPr/>
        </p:nvSpPr>
        <p:spPr>
          <a:xfrm rot="0">
            <a:off x="6797909" y="7089000"/>
            <a:ext cx="4692150" cy="1704975"/>
          </a:xfrm>
          <a:prstGeom prst="rect">
            <a:avLst/>
          </a:prstGeom>
        </p:spPr>
        <p:txBody>
          <a:bodyPr anchor="t" rtlCol="false" tIns="0" lIns="0" bIns="0" rIns="0">
            <a:spAutoFit/>
          </a:bodyPr>
          <a:lstStyle/>
          <a:p>
            <a:pPr algn="just">
              <a:lnSpc>
                <a:spcPts val="3359"/>
              </a:lnSpc>
            </a:pPr>
            <a:r>
              <a:rPr lang="en-US" sz="2799">
                <a:solidFill>
                  <a:srgbClr val="666666"/>
                </a:solidFill>
                <a:latin typeface="Poppins"/>
                <a:ea typeface="Poppins"/>
                <a:cs typeface="Poppins"/>
                <a:sym typeface="Poppins"/>
              </a:rPr>
              <a:t>H</a:t>
            </a:r>
            <a:r>
              <a:rPr lang="en-US" sz="2799">
                <a:solidFill>
                  <a:srgbClr val="666666"/>
                </a:solidFill>
                <a:latin typeface="Poppins"/>
                <a:ea typeface="Poppins"/>
                <a:cs typeface="Poppins"/>
                <a:sym typeface="Poppins"/>
              </a:rPr>
              <a:t>ai nhóm này bổ trợ cho nhau trong toàn bộ vòng đời tài liệu: tạo → kiểm tra → bảo trì.</a:t>
            </a:r>
          </a:p>
        </p:txBody>
      </p:sp>
      <p:grpSp>
        <p:nvGrpSpPr>
          <p:cNvPr name="Group 20" id="20"/>
          <p:cNvGrpSpPr/>
          <p:nvPr/>
        </p:nvGrpSpPr>
        <p:grpSpPr>
          <a:xfrm rot="0">
            <a:off x="15174450" y="-3348950"/>
            <a:ext cx="5962800" cy="5962800"/>
            <a:chOff x="0" y="0"/>
            <a:chExt cx="7950400" cy="7950400"/>
          </a:xfrm>
        </p:grpSpPr>
        <p:sp>
          <p:nvSpPr>
            <p:cNvPr name="Freeform 21" id="21"/>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22" id="22"/>
          <p:cNvGrpSpPr/>
          <p:nvPr/>
        </p:nvGrpSpPr>
        <p:grpSpPr>
          <a:xfrm rot="0">
            <a:off x="13352700" y="-1858250"/>
            <a:ext cx="2981400" cy="2981400"/>
            <a:chOff x="0" y="0"/>
            <a:chExt cx="3975200" cy="3975200"/>
          </a:xfrm>
        </p:grpSpPr>
        <p:sp>
          <p:nvSpPr>
            <p:cNvPr name="Freeform 23" id="23"/>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24" id="24"/>
          <p:cNvSpPr/>
          <p:nvPr/>
        </p:nvSpPr>
        <p:spPr>
          <a:xfrm flipH="false" flipV="false" rot="0">
            <a:off x="14169559" y="3270544"/>
            <a:ext cx="679430" cy="776657"/>
          </a:xfrm>
          <a:custGeom>
            <a:avLst/>
            <a:gdLst/>
            <a:ahLst/>
            <a:cxnLst/>
            <a:rect r="r" b="b" t="t" l="l"/>
            <a:pathLst>
              <a:path h="776657" w="679430">
                <a:moveTo>
                  <a:pt x="0" y="0"/>
                </a:moveTo>
                <a:lnTo>
                  <a:pt x="679430" y="0"/>
                </a:lnTo>
                <a:lnTo>
                  <a:pt x="679430" y="776657"/>
                </a:lnTo>
                <a:lnTo>
                  <a:pt x="0" y="776657"/>
                </a:lnTo>
                <a:lnTo>
                  <a:pt x="0" y="0"/>
                </a:lnTo>
                <a:close/>
              </a:path>
            </a:pathLst>
          </a:custGeom>
          <a:blipFill>
            <a:blip r:embed="rId4"/>
            <a:stretch>
              <a:fillRect l="0" t="-873" r="-16307" b="-873"/>
            </a:stretch>
          </a:blipFill>
        </p:spPr>
      </p:sp>
      <p:sp>
        <p:nvSpPr>
          <p:cNvPr name="Freeform 25" id="25"/>
          <p:cNvSpPr/>
          <p:nvPr/>
        </p:nvSpPr>
        <p:spPr>
          <a:xfrm flipH="false" flipV="false" rot="0">
            <a:off x="8786168" y="4622388"/>
            <a:ext cx="715632" cy="667500"/>
          </a:xfrm>
          <a:custGeom>
            <a:avLst/>
            <a:gdLst/>
            <a:ahLst/>
            <a:cxnLst/>
            <a:rect r="r" b="b" t="t" l="l"/>
            <a:pathLst>
              <a:path h="667500" w="715632">
                <a:moveTo>
                  <a:pt x="0" y="0"/>
                </a:moveTo>
                <a:lnTo>
                  <a:pt x="715632" y="0"/>
                </a:lnTo>
                <a:lnTo>
                  <a:pt x="715632" y="667500"/>
                </a:lnTo>
                <a:lnTo>
                  <a:pt x="0" y="6675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8088325" y="4627051"/>
            <a:ext cx="2111250" cy="2111850"/>
            <a:chOff x="0" y="0"/>
            <a:chExt cx="2815000" cy="2815800"/>
          </a:xfrm>
        </p:grpSpPr>
        <p:sp>
          <p:nvSpPr>
            <p:cNvPr name="Freeform 9" id="9"/>
            <p:cNvSpPr/>
            <p:nvPr/>
          </p:nvSpPr>
          <p:spPr>
            <a:xfrm flipH="false" flipV="false" rot="0">
              <a:off x="0" y="0"/>
              <a:ext cx="2815082" cy="2815844"/>
            </a:xfrm>
            <a:custGeom>
              <a:avLst/>
              <a:gdLst/>
              <a:ahLst/>
              <a:cxnLst/>
              <a:rect r="r" b="b" t="t" l="l"/>
              <a:pathLst>
                <a:path h="2815844" w="2815082">
                  <a:moveTo>
                    <a:pt x="0" y="1407922"/>
                  </a:moveTo>
                  <a:cubicBezTo>
                    <a:pt x="0" y="630301"/>
                    <a:pt x="630174" y="0"/>
                    <a:pt x="1407541" y="0"/>
                  </a:cubicBezTo>
                  <a:lnTo>
                    <a:pt x="1407541" y="12700"/>
                  </a:lnTo>
                  <a:lnTo>
                    <a:pt x="1407541" y="0"/>
                  </a:lnTo>
                  <a:cubicBezTo>
                    <a:pt x="2184908" y="0"/>
                    <a:pt x="2815082" y="630301"/>
                    <a:pt x="2815082" y="1407922"/>
                  </a:cubicBezTo>
                  <a:lnTo>
                    <a:pt x="2802382" y="1407922"/>
                  </a:lnTo>
                  <a:lnTo>
                    <a:pt x="2815082" y="1407922"/>
                  </a:lnTo>
                  <a:cubicBezTo>
                    <a:pt x="2815082" y="2185543"/>
                    <a:pt x="2184908" y="2815844"/>
                    <a:pt x="1407541" y="2815844"/>
                  </a:cubicBezTo>
                  <a:lnTo>
                    <a:pt x="1407541" y="2803144"/>
                  </a:lnTo>
                  <a:lnTo>
                    <a:pt x="1407541" y="2815844"/>
                  </a:lnTo>
                  <a:cubicBezTo>
                    <a:pt x="630174" y="2815844"/>
                    <a:pt x="0" y="2185416"/>
                    <a:pt x="0" y="1407922"/>
                  </a:cubicBezTo>
                  <a:lnTo>
                    <a:pt x="12700" y="1407922"/>
                  </a:lnTo>
                  <a:lnTo>
                    <a:pt x="25400" y="1407922"/>
                  </a:lnTo>
                  <a:lnTo>
                    <a:pt x="12700" y="1407922"/>
                  </a:lnTo>
                  <a:lnTo>
                    <a:pt x="0" y="1407922"/>
                  </a:lnTo>
                  <a:moveTo>
                    <a:pt x="25400" y="1407922"/>
                  </a:moveTo>
                  <a:cubicBezTo>
                    <a:pt x="25400" y="1414907"/>
                    <a:pt x="19685" y="1420622"/>
                    <a:pt x="12700" y="1420622"/>
                  </a:cubicBezTo>
                  <a:cubicBezTo>
                    <a:pt x="5715" y="1420622"/>
                    <a:pt x="0" y="1414907"/>
                    <a:pt x="0" y="1407922"/>
                  </a:cubicBezTo>
                  <a:cubicBezTo>
                    <a:pt x="0" y="1400937"/>
                    <a:pt x="5715" y="1395222"/>
                    <a:pt x="12700" y="1395222"/>
                  </a:cubicBezTo>
                  <a:cubicBezTo>
                    <a:pt x="19685" y="1395222"/>
                    <a:pt x="25400" y="1400937"/>
                    <a:pt x="25400" y="1407922"/>
                  </a:cubicBezTo>
                  <a:cubicBezTo>
                    <a:pt x="25400" y="2171446"/>
                    <a:pt x="644144" y="2790444"/>
                    <a:pt x="1407541" y="2790444"/>
                  </a:cubicBezTo>
                  <a:cubicBezTo>
                    <a:pt x="2170938" y="2790444"/>
                    <a:pt x="2789682" y="2171446"/>
                    <a:pt x="2789682" y="1407922"/>
                  </a:cubicBezTo>
                  <a:cubicBezTo>
                    <a:pt x="2789682" y="644398"/>
                    <a:pt x="2170811" y="25400"/>
                    <a:pt x="1407541" y="25400"/>
                  </a:cubicBezTo>
                  <a:lnTo>
                    <a:pt x="1407541" y="12700"/>
                  </a:lnTo>
                  <a:lnTo>
                    <a:pt x="1407541" y="25400"/>
                  </a:lnTo>
                  <a:cubicBezTo>
                    <a:pt x="644144" y="25400"/>
                    <a:pt x="25400" y="644398"/>
                    <a:pt x="25400" y="1407922"/>
                  </a:cubicBezTo>
                  <a:close/>
                </a:path>
              </a:pathLst>
            </a:custGeom>
            <a:solidFill>
              <a:srgbClr val="43309F"/>
            </a:solidFill>
          </p:spPr>
        </p:sp>
      </p:grpSp>
      <p:sp>
        <p:nvSpPr>
          <p:cNvPr name="AutoShape 10" id="10"/>
          <p:cNvSpPr/>
          <p:nvPr/>
        </p:nvSpPr>
        <p:spPr>
          <a:xfrm>
            <a:off x="5506825" y="2939000"/>
            <a:ext cx="2907150" cy="2018288"/>
          </a:xfrm>
          <a:prstGeom prst="line">
            <a:avLst/>
          </a:prstGeom>
          <a:ln cap="rnd" w="9525">
            <a:solidFill>
              <a:srgbClr val="000000"/>
            </a:solidFill>
            <a:prstDash val="solid"/>
            <a:headEnd type="none" len="sm" w="sm"/>
            <a:tailEnd type="none" len="sm" w="sm"/>
          </a:ln>
        </p:spPr>
      </p:sp>
      <p:sp>
        <p:nvSpPr>
          <p:cNvPr name="AutoShape 11" id="11"/>
          <p:cNvSpPr/>
          <p:nvPr/>
        </p:nvSpPr>
        <p:spPr>
          <a:xfrm>
            <a:off x="5506825" y="5195000"/>
            <a:ext cx="2581500" cy="487976"/>
          </a:xfrm>
          <a:prstGeom prst="line">
            <a:avLst/>
          </a:prstGeom>
          <a:ln cap="rnd" w="9525">
            <a:solidFill>
              <a:srgbClr val="000000"/>
            </a:solidFill>
            <a:prstDash val="solid"/>
            <a:headEnd type="none" len="sm" w="sm"/>
            <a:tailEnd type="none" len="sm" w="sm"/>
          </a:ln>
        </p:spPr>
      </p:sp>
      <p:sp>
        <p:nvSpPr>
          <p:cNvPr name="AutoShape 12" id="12"/>
          <p:cNvSpPr/>
          <p:nvPr/>
        </p:nvSpPr>
        <p:spPr>
          <a:xfrm>
            <a:off x="5506825" y="7451000"/>
            <a:ext cx="81900" cy="14287"/>
          </a:xfrm>
          <a:prstGeom prst="line">
            <a:avLst/>
          </a:prstGeom>
          <a:ln cap="rnd" w="9525">
            <a:solidFill>
              <a:srgbClr val="000000"/>
            </a:solidFill>
            <a:prstDash val="solid"/>
            <a:headEnd type="none" len="sm" w="sm"/>
            <a:tailEnd type="none" len="sm" w="sm"/>
          </a:ln>
        </p:spPr>
      </p:sp>
      <p:sp>
        <p:nvSpPr>
          <p:cNvPr name="AutoShape 13" id="13"/>
          <p:cNvSpPr/>
          <p:nvPr/>
        </p:nvSpPr>
        <p:spPr>
          <a:xfrm flipH="true">
            <a:off x="9873925" y="2939000"/>
            <a:ext cx="2907150" cy="2018288"/>
          </a:xfrm>
          <a:prstGeom prst="line">
            <a:avLst/>
          </a:prstGeom>
          <a:ln cap="rnd" w="9525">
            <a:solidFill>
              <a:srgbClr val="000000"/>
            </a:solidFill>
            <a:prstDash val="solid"/>
            <a:headEnd type="none" len="sm" w="sm"/>
            <a:tailEnd type="none" len="sm" w="sm"/>
          </a:ln>
        </p:spPr>
      </p:sp>
      <p:sp>
        <p:nvSpPr>
          <p:cNvPr name="AutoShape 14" id="14"/>
          <p:cNvSpPr/>
          <p:nvPr/>
        </p:nvSpPr>
        <p:spPr>
          <a:xfrm flipH="true">
            <a:off x="10180586" y="5195000"/>
            <a:ext cx="2600489" cy="487976"/>
          </a:xfrm>
          <a:prstGeom prst="line">
            <a:avLst/>
          </a:prstGeom>
          <a:ln cap="rnd" w="9525">
            <a:solidFill>
              <a:srgbClr val="000000"/>
            </a:solidFill>
            <a:prstDash val="solid"/>
            <a:headEnd type="none" len="sm" w="sm"/>
            <a:tailEnd type="none" len="sm" w="sm"/>
          </a:ln>
        </p:spPr>
      </p:sp>
      <p:sp>
        <p:nvSpPr>
          <p:cNvPr name="AutoShape 15" id="15"/>
          <p:cNvSpPr/>
          <p:nvPr/>
        </p:nvSpPr>
        <p:spPr>
          <a:xfrm>
            <a:off x="9779965" y="6936800"/>
            <a:ext cx="3013169" cy="9525"/>
          </a:xfrm>
          <a:prstGeom prst="line">
            <a:avLst/>
          </a:prstGeom>
          <a:ln cap="rnd" w="9525">
            <a:solidFill>
              <a:srgbClr val="000000"/>
            </a:solidFill>
            <a:prstDash val="solid"/>
            <a:headEnd type="none" len="sm" w="sm"/>
            <a:tailEnd type="none" len="sm" w="sm"/>
          </a:ln>
        </p:spPr>
      </p:sp>
      <p:sp>
        <p:nvSpPr>
          <p:cNvPr name="TextBox 16" id="16"/>
          <p:cNvSpPr txBox="true"/>
          <p:nvPr/>
        </p:nvSpPr>
        <p:spPr>
          <a:xfrm rot="0">
            <a:off x="1517875" y="1071425"/>
            <a:ext cx="152521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Phươ</a:t>
            </a:r>
            <a:r>
              <a:rPr lang="en-US" sz="6000">
                <a:solidFill>
                  <a:srgbClr val="000000"/>
                </a:solidFill>
                <a:latin typeface="Arimo"/>
                <a:ea typeface="Arimo"/>
                <a:cs typeface="Arimo"/>
                <a:sym typeface="Arimo"/>
              </a:rPr>
              <a:t>ng pháp prompt Five S</a:t>
            </a:r>
          </a:p>
        </p:txBody>
      </p:sp>
      <p:sp>
        <p:nvSpPr>
          <p:cNvPr name="TextBox 17" id="17"/>
          <p:cNvSpPr txBox="true"/>
          <p:nvPr/>
        </p:nvSpPr>
        <p:spPr>
          <a:xfrm rot="0">
            <a:off x="1517875" y="2562763"/>
            <a:ext cx="3988950" cy="723900"/>
          </a:xfrm>
          <a:prstGeom prst="rect">
            <a:avLst/>
          </a:prstGeom>
        </p:spPr>
        <p:txBody>
          <a:bodyPr anchor="t" rtlCol="false" tIns="0" lIns="0" bIns="0" rIns="0">
            <a:spAutoFit/>
          </a:bodyPr>
          <a:lstStyle/>
          <a:p>
            <a:pPr algn="l">
              <a:lnSpc>
                <a:spcPts val="5520"/>
              </a:lnSpc>
            </a:pPr>
            <a:r>
              <a:rPr lang="en-US" sz="4600">
                <a:solidFill>
                  <a:srgbClr val="000000"/>
                </a:solidFill>
                <a:latin typeface="Arimo"/>
                <a:ea typeface="Arimo"/>
                <a:cs typeface="Arimo"/>
                <a:sym typeface="Arimo"/>
              </a:rPr>
              <a:t>St</a:t>
            </a:r>
            <a:r>
              <a:rPr lang="en-US" sz="4600">
                <a:solidFill>
                  <a:srgbClr val="000000"/>
                </a:solidFill>
                <a:latin typeface="Arimo"/>
                <a:ea typeface="Arimo"/>
                <a:cs typeface="Arimo"/>
                <a:sym typeface="Arimo"/>
              </a:rPr>
              <a:t>ructure</a:t>
            </a:r>
          </a:p>
        </p:txBody>
      </p:sp>
      <p:sp>
        <p:nvSpPr>
          <p:cNvPr name="TextBox 18" id="18"/>
          <p:cNvSpPr txBox="true"/>
          <p:nvPr/>
        </p:nvSpPr>
        <p:spPr>
          <a:xfrm rot="0">
            <a:off x="1517899" y="3358550"/>
            <a:ext cx="3988950" cy="1285875"/>
          </a:xfrm>
          <a:prstGeom prst="rect">
            <a:avLst/>
          </a:prstGeom>
        </p:spPr>
        <p:txBody>
          <a:bodyPr anchor="t" rtlCol="false" tIns="0" lIns="0" bIns="0" rIns="0">
            <a:spAutoFit/>
          </a:bodyPr>
          <a:lstStyle/>
          <a:p>
            <a:pPr algn="l">
              <a:lnSpc>
                <a:spcPts val="3359"/>
              </a:lnSpc>
            </a:pPr>
            <a:r>
              <a:rPr lang="en-US" sz="2799">
                <a:solidFill>
                  <a:srgbClr val="666666"/>
                </a:solidFill>
                <a:latin typeface="Poppins"/>
                <a:ea typeface="Poppins"/>
                <a:cs typeface="Poppins"/>
                <a:sym typeface="Poppins"/>
              </a:rPr>
              <a:t>Tổ chức promp</a:t>
            </a:r>
            <a:r>
              <a:rPr lang="en-US" sz="2799">
                <a:solidFill>
                  <a:srgbClr val="666666"/>
                </a:solidFill>
                <a:latin typeface="Poppins"/>
                <a:ea typeface="Poppins"/>
                <a:cs typeface="Poppins"/>
                <a:sym typeface="Poppins"/>
              </a:rPr>
              <a:t>t theo một bố cục rõ ràng, có thứ tự logic.</a:t>
            </a:r>
          </a:p>
        </p:txBody>
      </p:sp>
      <p:sp>
        <p:nvSpPr>
          <p:cNvPr name="TextBox 19" id="19"/>
          <p:cNvSpPr txBox="true"/>
          <p:nvPr/>
        </p:nvSpPr>
        <p:spPr>
          <a:xfrm rot="0">
            <a:off x="12781075" y="2562763"/>
            <a:ext cx="3988950" cy="723900"/>
          </a:xfrm>
          <a:prstGeom prst="rect">
            <a:avLst/>
          </a:prstGeom>
        </p:spPr>
        <p:txBody>
          <a:bodyPr anchor="t" rtlCol="false" tIns="0" lIns="0" bIns="0" rIns="0">
            <a:spAutoFit/>
          </a:bodyPr>
          <a:lstStyle/>
          <a:p>
            <a:pPr algn="r">
              <a:lnSpc>
                <a:spcPts val="5520"/>
              </a:lnSpc>
            </a:pPr>
            <a:r>
              <a:rPr lang="en-US" sz="4600">
                <a:solidFill>
                  <a:srgbClr val="000000"/>
                </a:solidFill>
                <a:latin typeface="Arimo"/>
                <a:ea typeface="Arimo"/>
                <a:cs typeface="Arimo"/>
                <a:sym typeface="Arimo"/>
              </a:rPr>
              <a:t>Styl</a:t>
            </a:r>
            <a:r>
              <a:rPr lang="en-US" sz="4600">
                <a:solidFill>
                  <a:srgbClr val="000000"/>
                </a:solidFill>
                <a:latin typeface="Arimo"/>
                <a:ea typeface="Arimo"/>
                <a:cs typeface="Arimo"/>
                <a:sym typeface="Arimo"/>
              </a:rPr>
              <a:t>e</a:t>
            </a:r>
          </a:p>
        </p:txBody>
      </p:sp>
      <p:sp>
        <p:nvSpPr>
          <p:cNvPr name="TextBox 20" id="20"/>
          <p:cNvSpPr txBox="true"/>
          <p:nvPr/>
        </p:nvSpPr>
        <p:spPr>
          <a:xfrm rot="0">
            <a:off x="12781099" y="3358550"/>
            <a:ext cx="3988950" cy="866775"/>
          </a:xfrm>
          <a:prstGeom prst="rect">
            <a:avLst/>
          </a:prstGeom>
        </p:spPr>
        <p:txBody>
          <a:bodyPr anchor="t" rtlCol="false" tIns="0" lIns="0" bIns="0" rIns="0">
            <a:spAutoFit/>
          </a:bodyPr>
          <a:lstStyle/>
          <a:p>
            <a:pPr algn="r">
              <a:lnSpc>
                <a:spcPts val="3359"/>
              </a:lnSpc>
            </a:pPr>
            <a:r>
              <a:rPr lang="en-US" sz="2799">
                <a:solidFill>
                  <a:srgbClr val="666666"/>
                </a:solidFill>
                <a:latin typeface="Poppins"/>
                <a:ea typeface="Poppins"/>
                <a:cs typeface="Poppins"/>
                <a:sym typeface="Poppins"/>
              </a:rPr>
              <a:t>Q</a:t>
            </a:r>
            <a:r>
              <a:rPr lang="en-US" sz="2799">
                <a:solidFill>
                  <a:srgbClr val="666666"/>
                </a:solidFill>
                <a:latin typeface="Poppins"/>
                <a:ea typeface="Poppins"/>
                <a:cs typeface="Poppins"/>
                <a:sym typeface="Poppins"/>
              </a:rPr>
              <a:t>uy định cách trình bày Docstring</a:t>
            </a:r>
          </a:p>
        </p:txBody>
      </p:sp>
      <p:sp>
        <p:nvSpPr>
          <p:cNvPr name="TextBox 21" id="21"/>
          <p:cNvSpPr txBox="true"/>
          <p:nvPr/>
        </p:nvSpPr>
        <p:spPr>
          <a:xfrm rot="0">
            <a:off x="1517875" y="4818763"/>
            <a:ext cx="3988950" cy="723900"/>
          </a:xfrm>
          <a:prstGeom prst="rect">
            <a:avLst/>
          </a:prstGeom>
        </p:spPr>
        <p:txBody>
          <a:bodyPr anchor="t" rtlCol="false" tIns="0" lIns="0" bIns="0" rIns="0">
            <a:spAutoFit/>
          </a:bodyPr>
          <a:lstStyle/>
          <a:p>
            <a:pPr algn="l">
              <a:lnSpc>
                <a:spcPts val="5520"/>
              </a:lnSpc>
            </a:pPr>
            <a:r>
              <a:rPr lang="en-US" sz="4600">
                <a:solidFill>
                  <a:srgbClr val="000000"/>
                </a:solidFill>
                <a:latin typeface="Arimo"/>
                <a:ea typeface="Arimo"/>
                <a:cs typeface="Arimo"/>
                <a:sym typeface="Arimo"/>
              </a:rPr>
              <a:t>S</a:t>
            </a:r>
            <a:r>
              <a:rPr lang="en-US" sz="4600">
                <a:solidFill>
                  <a:srgbClr val="000000"/>
                </a:solidFill>
                <a:latin typeface="Arimo"/>
                <a:ea typeface="Arimo"/>
                <a:cs typeface="Arimo"/>
                <a:sym typeface="Arimo"/>
              </a:rPr>
              <a:t>pecificity</a:t>
            </a:r>
          </a:p>
        </p:txBody>
      </p:sp>
      <p:sp>
        <p:nvSpPr>
          <p:cNvPr name="TextBox 22" id="22"/>
          <p:cNvSpPr txBox="true"/>
          <p:nvPr/>
        </p:nvSpPr>
        <p:spPr>
          <a:xfrm rot="0">
            <a:off x="1517899" y="5614550"/>
            <a:ext cx="3988950" cy="1285875"/>
          </a:xfrm>
          <a:prstGeom prst="rect">
            <a:avLst/>
          </a:prstGeom>
        </p:spPr>
        <p:txBody>
          <a:bodyPr anchor="t" rtlCol="false" tIns="0" lIns="0" bIns="0" rIns="0">
            <a:spAutoFit/>
          </a:bodyPr>
          <a:lstStyle/>
          <a:p>
            <a:pPr algn="l">
              <a:lnSpc>
                <a:spcPts val="3359"/>
              </a:lnSpc>
            </a:pPr>
            <a:r>
              <a:rPr lang="en-US" sz="2799">
                <a:solidFill>
                  <a:srgbClr val="666666"/>
                </a:solidFill>
                <a:latin typeface="Poppins"/>
                <a:ea typeface="Poppins"/>
                <a:cs typeface="Poppins"/>
                <a:sym typeface="Poppins"/>
              </a:rPr>
              <a:t>C</a:t>
            </a:r>
            <a:r>
              <a:rPr lang="en-US" sz="2799">
                <a:solidFill>
                  <a:srgbClr val="666666"/>
                </a:solidFill>
                <a:latin typeface="Poppins"/>
                <a:ea typeface="Poppins"/>
                <a:cs typeface="Poppins"/>
                <a:sym typeface="Poppins"/>
              </a:rPr>
              <a:t>ung cấp thông tin chi tiết và rõ ràng trong prompt</a:t>
            </a:r>
          </a:p>
        </p:txBody>
      </p:sp>
      <p:sp>
        <p:nvSpPr>
          <p:cNvPr name="TextBox 23" id="23"/>
          <p:cNvSpPr txBox="true"/>
          <p:nvPr/>
        </p:nvSpPr>
        <p:spPr>
          <a:xfrm rot="0">
            <a:off x="12781075" y="4818763"/>
            <a:ext cx="3988950" cy="723900"/>
          </a:xfrm>
          <a:prstGeom prst="rect">
            <a:avLst/>
          </a:prstGeom>
        </p:spPr>
        <p:txBody>
          <a:bodyPr anchor="t" rtlCol="false" tIns="0" lIns="0" bIns="0" rIns="0">
            <a:spAutoFit/>
          </a:bodyPr>
          <a:lstStyle/>
          <a:p>
            <a:pPr algn="r">
              <a:lnSpc>
                <a:spcPts val="5520"/>
              </a:lnSpc>
            </a:pPr>
            <a:r>
              <a:rPr lang="en-US" sz="4600">
                <a:solidFill>
                  <a:srgbClr val="000000"/>
                </a:solidFill>
                <a:latin typeface="Arimo"/>
                <a:ea typeface="Arimo"/>
                <a:cs typeface="Arimo"/>
                <a:sym typeface="Arimo"/>
              </a:rPr>
              <a:t>Safety </a:t>
            </a:r>
          </a:p>
        </p:txBody>
      </p:sp>
      <p:sp>
        <p:nvSpPr>
          <p:cNvPr name="TextBox 24" id="24"/>
          <p:cNvSpPr txBox="true"/>
          <p:nvPr/>
        </p:nvSpPr>
        <p:spPr>
          <a:xfrm rot="0">
            <a:off x="12781099" y="5614550"/>
            <a:ext cx="3988950" cy="1285875"/>
          </a:xfrm>
          <a:prstGeom prst="rect">
            <a:avLst/>
          </a:prstGeom>
        </p:spPr>
        <p:txBody>
          <a:bodyPr anchor="t" rtlCol="false" tIns="0" lIns="0" bIns="0" rIns="0">
            <a:spAutoFit/>
          </a:bodyPr>
          <a:lstStyle/>
          <a:p>
            <a:pPr algn="r">
              <a:lnSpc>
                <a:spcPts val="3359"/>
              </a:lnSpc>
            </a:pPr>
            <a:r>
              <a:rPr lang="en-US" sz="2799">
                <a:solidFill>
                  <a:srgbClr val="666666"/>
                </a:solidFill>
                <a:latin typeface="Poppins"/>
                <a:ea typeface="Poppins"/>
                <a:cs typeface="Poppins"/>
                <a:sym typeface="Poppins"/>
              </a:rPr>
              <a:t>K</a:t>
            </a:r>
            <a:r>
              <a:rPr lang="en-US" sz="2799">
                <a:solidFill>
                  <a:srgbClr val="666666"/>
                </a:solidFill>
                <a:latin typeface="Poppins"/>
                <a:ea typeface="Poppins"/>
                <a:cs typeface="Poppins"/>
                <a:sym typeface="Poppins"/>
              </a:rPr>
              <a:t>iểm soát chất lượng và độ chính xác của nội dung do AI sinh ra</a:t>
            </a:r>
          </a:p>
        </p:txBody>
      </p:sp>
      <p:sp>
        <p:nvSpPr>
          <p:cNvPr name="TextBox 25" id="25"/>
          <p:cNvSpPr txBox="true"/>
          <p:nvPr/>
        </p:nvSpPr>
        <p:spPr>
          <a:xfrm rot="0">
            <a:off x="1517875" y="7074762"/>
            <a:ext cx="3988950" cy="723900"/>
          </a:xfrm>
          <a:prstGeom prst="rect">
            <a:avLst/>
          </a:prstGeom>
        </p:spPr>
        <p:txBody>
          <a:bodyPr anchor="t" rtlCol="false" tIns="0" lIns="0" bIns="0" rIns="0">
            <a:spAutoFit/>
          </a:bodyPr>
          <a:lstStyle/>
          <a:p>
            <a:pPr algn="l">
              <a:lnSpc>
                <a:spcPts val="5520"/>
              </a:lnSpc>
            </a:pPr>
            <a:r>
              <a:rPr lang="en-US" sz="4600">
                <a:solidFill>
                  <a:srgbClr val="000000"/>
                </a:solidFill>
                <a:latin typeface="Arimo"/>
                <a:ea typeface="Arimo"/>
                <a:cs typeface="Arimo"/>
                <a:sym typeface="Arimo"/>
              </a:rPr>
              <a:t>Scope</a:t>
            </a:r>
          </a:p>
        </p:txBody>
      </p:sp>
      <p:sp>
        <p:nvSpPr>
          <p:cNvPr name="TextBox 26" id="26"/>
          <p:cNvSpPr txBox="true"/>
          <p:nvPr/>
        </p:nvSpPr>
        <p:spPr>
          <a:xfrm rot="0">
            <a:off x="1517899" y="7870550"/>
            <a:ext cx="3988950" cy="866775"/>
          </a:xfrm>
          <a:prstGeom prst="rect">
            <a:avLst/>
          </a:prstGeom>
        </p:spPr>
        <p:txBody>
          <a:bodyPr anchor="t" rtlCol="false" tIns="0" lIns="0" bIns="0" rIns="0">
            <a:spAutoFit/>
          </a:bodyPr>
          <a:lstStyle/>
          <a:p>
            <a:pPr algn="l">
              <a:lnSpc>
                <a:spcPts val="3359"/>
              </a:lnSpc>
            </a:pPr>
            <a:r>
              <a:rPr lang="en-US" sz="2799">
                <a:solidFill>
                  <a:srgbClr val="666666"/>
                </a:solidFill>
                <a:latin typeface="Poppins"/>
                <a:ea typeface="Poppins"/>
                <a:cs typeface="Poppins"/>
                <a:sym typeface="Poppins"/>
              </a:rPr>
              <a:t>Xá</a:t>
            </a:r>
            <a:r>
              <a:rPr lang="en-US" sz="2799">
                <a:solidFill>
                  <a:srgbClr val="666666"/>
                </a:solidFill>
                <a:latin typeface="Poppins"/>
                <a:ea typeface="Poppins"/>
                <a:cs typeface="Poppins"/>
                <a:sym typeface="Poppins"/>
              </a:rPr>
              <a:t>c định phạm vi mà AI cần xử lý</a:t>
            </a:r>
          </a:p>
        </p:txBody>
      </p:sp>
      <p:sp>
        <p:nvSpPr>
          <p:cNvPr name="AutoShape 27" id="27"/>
          <p:cNvSpPr/>
          <p:nvPr/>
        </p:nvSpPr>
        <p:spPr>
          <a:xfrm flipV="true">
            <a:off x="5678295" y="5835376"/>
            <a:ext cx="2562430" cy="1615624"/>
          </a:xfrm>
          <a:prstGeom prst="line">
            <a:avLst/>
          </a:prstGeom>
          <a:ln cap="rnd" w="9525">
            <a:solidFill>
              <a:srgbClr val="000000"/>
            </a:solidFill>
            <a:prstDash val="solid"/>
            <a:headEnd type="none" len="sm" w="sm"/>
            <a:tailEnd type="none" len="sm" w="sm"/>
          </a:ln>
        </p:spPr>
      </p:sp>
      <p:sp>
        <p:nvSpPr>
          <p:cNvPr name="Freeform 28" id="28"/>
          <p:cNvSpPr/>
          <p:nvPr/>
        </p:nvSpPr>
        <p:spPr>
          <a:xfrm flipH="false" flipV="false" rot="0">
            <a:off x="7058050" y="4457300"/>
            <a:ext cx="4171800" cy="2451350"/>
          </a:xfrm>
          <a:custGeom>
            <a:avLst/>
            <a:gdLst/>
            <a:ahLst/>
            <a:cxnLst/>
            <a:rect r="r" b="b" t="t" l="l"/>
            <a:pathLst>
              <a:path h="2451350" w="4171800">
                <a:moveTo>
                  <a:pt x="0" y="0"/>
                </a:moveTo>
                <a:lnTo>
                  <a:pt x="4171800" y="0"/>
                </a:lnTo>
                <a:lnTo>
                  <a:pt x="4171800" y="2451350"/>
                </a:lnTo>
                <a:lnTo>
                  <a:pt x="0" y="24513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12907500" y="-5154950"/>
            <a:ext cx="5962800" cy="5962800"/>
            <a:chOff x="0" y="0"/>
            <a:chExt cx="7950400" cy="7950400"/>
          </a:xfrm>
        </p:grpSpPr>
        <p:sp>
          <p:nvSpPr>
            <p:cNvPr name="Freeform 30" id="30"/>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31" id="31"/>
          <p:cNvGrpSpPr/>
          <p:nvPr/>
        </p:nvGrpSpPr>
        <p:grpSpPr>
          <a:xfrm rot="0">
            <a:off x="16553150" y="-856300"/>
            <a:ext cx="2981400" cy="2981400"/>
            <a:chOff x="0" y="0"/>
            <a:chExt cx="3975200" cy="3975200"/>
          </a:xfrm>
        </p:grpSpPr>
        <p:sp>
          <p:nvSpPr>
            <p:cNvPr name="Freeform 32" id="32"/>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sp>
        <p:nvSpPr>
          <p:cNvPr name="TextBox 8" id="8"/>
          <p:cNvSpPr txBox="true"/>
          <p:nvPr/>
        </p:nvSpPr>
        <p:spPr>
          <a:xfrm rot="0">
            <a:off x="1517875" y="1071425"/>
            <a:ext cx="152521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Ví dụ minh họa</a:t>
            </a:r>
          </a:p>
        </p:txBody>
      </p:sp>
      <p:grpSp>
        <p:nvGrpSpPr>
          <p:cNvPr name="Group 9" id="9"/>
          <p:cNvGrpSpPr/>
          <p:nvPr/>
        </p:nvGrpSpPr>
        <p:grpSpPr>
          <a:xfrm rot="0">
            <a:off x="13880150" y="-1581500"/>
            <a:ext cx="2981400" cy="2981400"/>
            <a:chOff x="0" y="0"/>
            <a:chExt cx="3975200" cy="3975200"/>
          </a:xfrm>
        </p:grpSpPr>
        <p:sp>
          <p:nvSpPr>
            <p:cNvPr name="Freeform 10" id="10"/>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1" id="11"/>
          <p:cNvGrpSpPr/>
          <p:nvPr/>
        </p:nvGrpSpPr>
        <p:grpSpPr>
          <a:xfrm rot="0">
            <a:off x="15873000" y="441500"/>
            <a:ext cx="1275000" cy="1275000"/>
            <a:chOff x="0" y="0"/>
            <a:chExt cx="1700000" cy="1700000"/>
          </a:xfrm>
        </p:grpSpPr>
        <p:sp>
          <p:nvSpPr>
            <p:cNvPr name="Freeform 12" id="12"/>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13" id="13"/>
          <p:cNvSpPr/>
          <p:nvPr/>
        </p:nvSpPr>
        <p:spPr>
          <a:xfrm flipH="false" flipV="false" rot="0">
            <a:off x="1028700" y="2139092"/>
            <a:ext cx="7543532" cy="7119208"/>
          </a:xfrm>
          <a:custGeom>
            <a:avLst/>
            <a:gdLst/>
            <a:ahLst/>
            <a:cxnLst/>
            <a:rect r="r" b="b" t="t" l="l"/>
            <a:pathLst>
              <a:path h="7119208" w="7543532">
                <a:moveTo>
                  <a:pt x="0" y="0"/>
                </a:moveTo>
                <a:lnTo>
                  <a:pt x="7543532" y="0"/>
                </a:lnTo>
                <a:lnTo>
                  <a:pt x="7543532" y="7119208"/>
                </a:lnTo>
                <a:lnTo>
                  <a:pt x="0" y="7119208"/>
                </a:lnTo>
                <a:lnTo>
                  <a:pt x="0" y="0"/>
                </a:lnTo>
                <a:close/>
              </a:path>
            </a:pathLst>
          </a:custGeom>
          <a:blipFill>
            <a:blip r:embed="rId3"/>
            <a:stretch>
              <a:fillRect l="0" t="0" r="0" b="0"/>
            </a:stretch>
          </a:blipFill>
        </p:spPr>
      </p:sp>
      <p:sp>
        <p:nvSpPr>
          <p:cNvPr name="Freeform 14" id="14"/>
          <p:cNvSpPr/>
          <p:nvPr/>
        </p:nvSpPr>
        <p:spPr>
          <a:xfrm flipH="false" flipV="false" rot="0">
            <a:off x="9230801" y="2139092"/>
            <a:ext cx="8028499" cy="2438657"/>
          </a:xfrm>
          <a:custGeom>
            <a:avLst/>
            <a:gdLst/>
            <a:ahLst/>
            <a:cxnLst/>
            <a:rect r="r" b="b" t="t" l="l"/>
            <a:pathLst>
              <a:path h="2438657" w="8028499">
                <a:moveTo>
                  <a:pt x="0" y="0"/>
                </a:moveTo>
                <a:lnTo>
                  <a:pt x="8028499" y="0"/>
                </a:lnTo>
                <a:lnTo>
                  <a:pt x="8028499" y="2438656"/>
                </a:lnTo>
                <a:lnTo>
                  <a:pt x="0" y="2438656"/>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0" y="0"/>
                  </a:moveTo>
                  <a:lnTo>
                    <a:pt x="3873246" y="0"/>
                  </a:lnTo>
                  <a:cubicBezTo>
                    <a:pt x="4109847" y="0"/>
                    <a:pt x="4301617" y="191770"/>
                    <a:pt x="4301617" y="428371"/>
                  </a:cubicBezTo>
                  <a:lnTo>
                    <a:pt x="4301617"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12573600" y="0"/>
            <a:ext cx="5714400" cy="642600"/>
            <a:chOff x="0" y="0"/>
            <a:chExt cx="7619200" cy="856800"/>
          </a:xfrm>
        </p:grpSpPr>
        <p:sp>
          <p:nvSpPr>
            <p:cNvPr name="Freeform 5" id="5"/>
            <p:cNvSpPr/>
            <p:nvPr/>
          </p:nvSpPr>
          <p:spPr>
            <a:xfrm flipH="false" flipV="false" rot="0">
              <a:off x="0" y="0"/>
              <a:ext cx="7619111" cy="856742"/>
            </a:xfrm>
            <a:custGeom>
              <a:avLst/>
              <a:gdLst/>
              <a:ahLst/>
              <a:cxnLst/>
              <a:rect r="r" b="b" t="t" l="l"/>
              <a:pathLst>
                <a:path h="856742" w="7619111">
                  <a:moveTo>
                    <a:pt x="0" y="0"/>
                  </a:moveTo>
                  <a:lnTo>
                    <a:pt x="7190740" y="0"/>
                  </a:lnTo>
                  <a:cubicBezTo>
                    <a:pt x="7427341" y="0"/>
                    <a:pt x="7619111" y="191770"/>
                    <a:pt x="7619111" y="428371"/>
                  </a:cubicBezTo>
                  <a:lnTo>
                    <a:pt x="7619111" y="856742"/>
                  </a:lnTo>
                  <a:lnTo>
                    <a:pt x="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989300" y="-1367000"/>
            <a:ext cx="4325400" cy="4326000"/>
            <a:chOff x="0" y="0"/>
            <a:chExt cx="5767200" cy="5768000"/>
          </a:xfrm>
        </p:grpSpPr>
        <p:sp>
          <p:nvSpPr>
            <p:cNvPr name="Freeform 7" id="7"/>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8" id="8"/>
          <p:cNvGrpSpPr/>
          <p:nvPr/>
        </p:nvGrpSpPr>
        <p:grpSpPr>
          <a:xfrm rot="0">
            <a:off x="15207150" y="7441900"/>
            <a:ext cx="4325400" cy="4325400"/>
            <a:chOff x="0" y="0"/>
            <a:chExt cx="5767200" cy="5767200"/>
          </a:xfrm>
        </p:grpSpPr>
        <p:sp>
          <p:nvSpPr>
            <p:cNvPr name="Freeform 9" id="9"/>
            <p:cNvSpPr/>
            <p:nvPr/>
          </p:nvSpPr>
          <p:spPr>
            <a:xfrm flipH="false" flipV="false" rot="0">
              <a:off x="0" y="0"/>
              <a:ext cx="5767197" cy="5767197"/>
            </a:xfrm>
            <a:custGeom>
              <a:avLst/>
              <a:gdLst/>
              <a:ahLst/>
              <a:cxnLst/>
              <a:rect r="r" b="b" t="t" l="l"/>
              <a:pathLst>
                <a:path h="5767197" w="5767197">
                  <a:moveTo>
                    <a:pt x="0" y="2883662"/>
                  </a:moveTo>
                  <a:cubicBezTo>
                    <a:pt x="0" y="1291082"/>
                    <a:pt x="1291082" y="0"/>
                    <a:pt x="2883662" y="0"/>
                  </a:cubicBezTo>
                  <a:cubicBezTo>
                    <a:pt x="4476242" y="0"/>
                    <a:pt x="5767197" y="1291082"/>
                    <a:pt x="5767197" y="2883662"/>
                  </a:cubicBezTo>
                  <a:cubicBezTo>
                    <a:pt x="5767197" y="4476242"/>
                    <a:pt x="4476115" y="5767197"/>
                    <a:pt x="2883662" y="5767197"/>
                  </a:cubicBezTo>
                  <a:cubicBezTo>
                    <a:pt x="1291209" y="5767197"/>
                    <a:pt x="0" y="4476115"/>
                    <a:pt x="0" y="2883662"/>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3486750" y="8544450"/>
            <a:ext cx="2981400" cy="2982000"/>
            <a:chOff x="0" y="0"/>
            <a:chExt cx="3975200" cy="3976000"/>
          </a:xfrm>
        </p:grpSpPr>
        <p:sp>
          <p:nvSpPr>
            <p:cNvPr name="Freeform 11" id="11"/>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12" id="12"/>
          <p:cNvGrpSpPr/>
          <p:nvPr/>
        </p:nvGrpSpPr>
        <p:grpSpPr>
          <a:xfrm rot="0">
            <a:off x="2031300" y="698000"/>
            <a:ext cx="762000" cy="762000"/>
            <a:chOff x="0" y="0"/>
            <a:chExt cx="1016000" cy="1016000"/>
          </a:xfrm>
        </p:grpSpPr>
        <p:sp>
          <p:nvSpPr>
            <p:cNvPr name="Freeform 13" id="13"/>
            <p:cNvSpPr/>
            <p:nvPr/>
          </p:nvSpPr>
          <p:spPr>
            <a:xfrm flipH="false" flipV="false" rot="0">
              <a:off x="0" y="0"/>
              <a:ext cx="1016000" cy="1016000"/>
            </a:xfrm>
            <a:custGeom>
              <a:avLst/>
              <a:gdLst/>
              <a:ahLst/>
              <a:cxnLst/>
              <a:rect r="r" b="b" t="t" l="l"/>
              <a:pathLst>
                <a:path h="1016000" w="1016000">
                  <a:moveTo>
                    <a:pt x="0" y="508000"/>
                  </a:moveTo>
                  <a:cubicBezTo>
                    <a:pt x="0" y="227457"/>
                    <a:pt x="227457" y="0"/>
                    <a:pt x="508000" y="0"/>
                  </a:cubicBezTo>
                  <a:cubicBezTo>
                    <a:pt x="788543" y="0"/>
                    <a:pt x="1016000" y="227457"/>
                    <a:pt x="1016000" y="508000"/>
                  </a:cubicBezTo>
                  <a:cubicBezTo>
                    <a:pt x="1016000" y="788543"/>
                    <a:pt x="788543" y="1016000"/>
                    <a:pt x="508000" y="1016000"/>
                  </a:cubicBezTo>
                  <a:cubicBezTo>
                    <a:pt x="227457" y="1016000"/>
                    <a:pt x="0" y="788543"/>
                    <a:pt x="0" y="508000"/>
                  </a:cubicBezTo>
                  <a:close/>
                </a:path>
              </a:pathLst>
            </a:custGeom>
            <a:gradFill rotWithShape="true">
              <a:gsLst>
                <a:gs pos="0">
                  <a:srgbClr val="D149CE">
                    <a:alpha val="100000"/>
                  </a:srgbClr>
                </a:gs>
                <a:gs pos="100000">
                  <a:srgbClr val="43309F">
                    <a:alpha val="100000"/>
                  </a:srgbClr>
                </a:gs>
              </a:gsLst>
              <a:lin ang="5400012"/>
            </a:gradFill>
          </p:spPr>
        </p:sp>
      </p:grpSp>
      <p:sp>
        <p:nvSpPr>
          <p:cNvPr name="AutoShape 14" id="14"/>
          <p:cNvSpPr/>
          <p:nvPr/>
        </p:nvSpPr>
        <p:spPr>
          <a:xfrm>
            <a:off x="5123141" y="3918110"/>
            <a:ext cx="4927137" cy="0"/>
          </a:xfrm>
          <a:prstGeom prst="line">
            <a:avLst/>
          </a:prstGeom>
          <a:ln cap="rnd" w="9525">
            <a:solidFill>
              <a:srgbClr val="000000"/>
            </a:solidFill>
            <a:prstDash val="solid"/>
            <a:headEnd type="none" len="sm" w="sm"/>
            <a:tailEnd type="none" len="sm" w="sm"/>
          </a:ln>
        </p:spPr>
      </p:sp>
      <p:sp>
        <p:nvSpPr>
          <p:cNvPr name="Freeform 15" id="15"/>
          <p:cNvSpPr/>
          <p:nvPr/>
        </p:nvSpPr>
        <p:spPr>
          <a:xfrm flipH="false" flipV="false" rot="0">
            <a:off x="1555126" y="3145275"/>
            <a:ext cx="2476347" cy="5399175"/>
          </a:xfrm>
          <a:custGeom>
            <a:avLst/>
            <a:gdLst/>
            <a:ahLst/>
            <a:cxnLst/>
            <a:rect r="r" b="b" t="t" l="l"/>
            <a:pathLst>
              <a:path h="5399175" w="2476347">
                <a:moveTo>
                  <a:pt x="0" y="0"/>
                </a:moveTo>
                <a:lnTo>
                  <a:pt x="2476348" y="0"/>
                </a:lnTo>
                <a:lnTo>
                  <a:pt x="2476348" y="5399175"/>
                </a:lnTo>
                <a:lnTo>
                  <a:pt x="0" y="5399175"/>
                </a:lnTo>
                <a:lnTo>
                  <a:pt x="0" y="0"/>
                </a:lnTo>
                <a:close/>
              </a:path>
            </a:pathLst>
          </a:custGeom>
          <a:blipFill>
            <a:blip r:embed="rId3"/>
            <a:stretch>
              <a:fillRect l="0" t="0" r="-770" b="0"/>
            </a:stretch>
          </a:blipFill>
        </p:spPr>
      </p:sp>
      <p:sp>
        <p:nvSpPr>
          <p:cNvPr name="TextBox 16" id="16"/>
          <p:cNvSpPr txBox="true"/>
          <p:nvPr/>
        </p:nvSpPr>
        <p:spPr>
          <a:xfrm rot="0">
            <a:off x="5123106" y="2473225"/>
            <a:ext cx="9854344"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Quy trình</a:t>
            </a:r>
            <a:r>
              <a:rPr lang="en-US" sz="6000">
                <a:solidFill>
                  <a:srgbClr val="000000"/>
                </a:solidFill>
                <a:latin typeface="Arimo"/>
                <a:ea typeface="Arimo"/>
                <a:cs typeface="Arimo"/>
                <a:sym typeface="Arimo"/>
              </a:rPr>
              <a:t> tạo mới Docstring</a:t>
            </a:r>
          </a:p>
        </p:txBody>
      </p:sp>
      <p:sp>
        <p:nvSpPr>
          <p:cNvPr name="TextBox 17" id="17"/>
          <p:cNvSpPr txBox="true"/>
          <p:nvPr/>
        </p:nvSpPr>
        <p:spPr>
          <a:xfrm rot="0">
            <a:off x="5123106" y="4351497"/>
            <a:ext cx="10084044" cy="4220972"/>
          </a:xfrm>
          <a:prstGeom prst="rect">
            <a:avLst/>
          </a:prstGeom>
        </p:spPr>
        <p:txBody>
          <a:bodyPr anchor="t" rtlCol="false" tIns="0" lIns="0" bIns="0" rIns="0">
            <a:spAutoFit/>
          </a:bodyPr>
          <a:lstStyle/>
          <a:p>
            <a:pPr algn="just">
              <a:lnSpc>
                <a:spcPts val="3723"/>
              </a:lnSpc>
            </a:pPr>
            <a:r>
              <a:rPr lang="en-US" sz="2799">
                <a:solidFill>
                  <a:srgbClr val="666666"/>
                </a:solidFill>
                <a:latin typeface="Poppins"/>
                <a:ea typeface="Poppins"/>
                <a:cs typeface="Poppins"/>
                <a:sym typeface="Poppins"/>
              </a:rPr>
              <a:t>Quy trình tạ</a:t>
            </a:r>
            <a:r>
              <a:rPr lang="en-US" sz="2799">
                <a:solidFill>
                  <a:srgbClr val="666666"/>
                </a:solidFill>
                <a:latin typeface="Poppins"/>
                <a:ea typeface="Poppins"/>
                <a:cs typeface="Poppins"/>
                <a:sym typeface="Poppins"/>
              </a:rPr>
              <a:t>o Docstring với sự hỗ trợ của GenAI có thể được mô tả như một chuỗi các bước tuần tự: từ việc viết mã nguồn, lập trình viên sử dụng prompt (ví dụ lệnh /doc) để yêu cầu AI sinh Docstring tương ứng với hàm hoặc module. Dựa trên ngữ cảnh của đoạn code, AI sẽ tự động phân tích cấu trúc, tham số và logic xử lý để tạo ra phần mô tả phù hợp. Kết quả này sau đó được lập trình viên kiểm tra lại nhằm đảm bảo tính chính xác và đầy đủ trước khi tích hợp vào mã nguồn và thực hiện commit.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012"/>
        </a:gradFill>
      </p:bgPr>
    </p:bg>
    <p:spTree>
      <p:nvGrpSpPr>
        <p:cNvPr id="1" name=""/>
        <p:cNvGrpSpPr/>
        <p:nvPr/>
      </p:nvGrpSpPr>
      <p:grpSpPr>
        <a:xfrm>
          <a:off x="0" y="0"/>
          <a:ext cx="0" cy="0"/>
          <a:chOff x="0" y="0"/>
          <a:chExt cx="0" cy="0"/>
        </a:xfrm>
      </p:grpSpPr>
      <p:grpSp>
        <p:nvGrpSpPr>
          <p:cNvPr name="Group 2" id="2"/>
          <p:cNvGrpSpPr/>
          <p:nvPr/>
        </p:nvGrpSpPr>
        <p:grpSpPr>
          <a:xfrm rot="-10800000">
            <a:off x="0" y="0"/>
            <a:ext cx="5715000" cy="642600"/>
            <a:chOff x="0" y="0"/>
            <a:chExt cx="7620000" cy="856800"/>
          </a:xfrm>
        </p:grpSpPr>
        <p:sp>
          <p:nvSpPr>
            <p:cNvPr name="Freeform 3" id="3"/>
            <p:cNvSpPr/>
            <p:nvPr/>
          </p:nvSpPr>
          <p:spPr>
            <a:xfrm flipH="false" flipV="false" rot="0">
              <a:off x="0" y="0"/>
              <a:ext cx="7620000" cy="856742"/>
            </a:xfrm>
            <a:custGeom>
              <a:avLst/>
              <a:gdLst/>
              <a:ahLst/>
              <a:cxnLst/>
              <a:rect r="r" b="b" t="t" l="l"/>
              <a:pathLst>
                <a:path h="856742" w="7620000">
                  <a:moveTo>
                    <a:pt x="7620000" y="0"/>
                  </a:moveTo>
                  <a:lnTo>
                    <a:pt x="428371" y="0"/>
                  </a:lnTo>
                  <a:cubicBezTo>
                    <a:pt x="191770" y="0"/>
                    <a:pt x="0" y="191770"/>
                    <a:pt x="0" y="428371"/>
                  </a:cubicBezTo>
                  <a:lnTo>
                    <a:pt x="0" y="856742"/>
                  </a:lnTo>
                  <a:lnTo>
                    <a:pt x="762000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4" id="4"/>
          <p:cNvGrpSpPr/>
          <p:nvPr/>
        </p:nvGrpSpPr>
        <p:grpSpPr>
          <a:xfrm rot="0">
            <a:off x="15061800" y="964425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6" id="6"/>
          <p:cNvGrpSpPr/>
          <p:nvPr/>
        </p:nvGrpSpPr>
        <p:grpSpPr>
          <a:xfrm rot="0">
            <a:off x="13453605" y="76870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8" id="8"/>
          <p:cNvGrpSpPr/>
          <p:nvPr/>
        </p:nvGrpSpPr>
        <p:grpSpPr>
          <a:xfrm rot="0">
            <a:off x="15491400" y="-1483200"/>
            <a:ext cx="4325400" cy="4325400"/>
            <a:chOff x="0" y="0"/>
            <a:chExt cx="5767200" cy="5767200"/>
          </a:xfrm>
        </p:grpSpPr>
        <p:sp>
          <p:nvSpPr>
            <p:cNvPr name="Freeform 9" id="9"/>
            <p:cNvSpPr/>
            <p:nvPr/>
          </p:nvSpPr>
          <p:spPr>
            <a:xfrm flipH="false" flipV="false" rot="0">
              <a:off x="0" y="0"/>
              <a:ext cx="5767197" cy="5767197"/>
            </a:xfrm>
            <a:custGeom>
              <a:avLst/>
              <a:gdLst/>
              <a:ahLst/>
              <a:cxnLst/>
              <a:rect r="r" b="b" t="t" l="l"/>
              <a:pathLst>
                <a:path h="5767197" w="5767197">
                  <a:moveTo>
                    <a:pt x="0" y="2883662"/>
                  </a:moveTo>
                  <a:cubicBezTo>
                    <a:pt x="0" y="1291082"/>
                    <a:pt x="1291082" y="0"/>
                    <a:pt x="2883662" y="0"/>
                  </a:cubicBezTo>
                  <a:cubicBezTo>
                    <a:pt x="4476242" y="0"/>
                    <a:pt x="5767197" y="1291082"/>
                    <a:pt x="5767197" y="2883662"/>
                  </a:cubicBezTo>
                  <a:cubicBezTo>
                    <a:pt x="5767197" y="4476242"/>
                    <a:pt x="4476115" y="5767197"/>
                    <a:pt x="2883662" y="5767197"/>
                  </a:cubicBezTo>
                  <a:cubicBezTo>
                    <a:pt x="1291209" y="5767197"/>
                    <a:pt x="0" y="4476115"/>
                    <a:pt x="0" y="2883662"/>
                  </a:cubicBezTo>
                  <a:close/>
                </a:path>
              </a:pathLst>
            </a:custGeom>
            <a:gradFill rotWithShape="true">
              <a:gsLst>
                <a:gs pos="0">
                  <a:srgbClr val="D149CE">
                    <a:alpha val="100000"/>
                  </a:srgbClr>
                </a:gs>
                <a:gs pos="100000">
                  <a:srgbClr val="43309F">
                    <a:alpha val="100000"/>
                  </a:srgbClr>
                </a:gs>
              </a:gsLst>
              <a:lin ang="5400012"/>
            </a:gradFill>
          </p:spPr>
        </p:sp>
      </p:grpSp>
      <p:sp>
        <p:nvSpPr>
          <p:cNvPr name="AutoShape 10" id="10"/>
          <p:cNvSpPr/>
          <p:nvPr/>
        </p:nvSpPr>
        <p:spPr>
          <a:xfrm rot="28830">
            <a:off x="1416885" y="4140850"/>
            <a:ext cx="2271530" cy="0"/>
          </a:xfrm>
          <a:prstGeom prst="line">
            <a:avLst/>
          </a:prstGeom>
          <a:ln cap="rnd" w="9525">
            <a:solidFill>
              <a:srgbClr val="000000"/>
            </a:solidFill>
            <a:prstDash val="solid"/>
            <a:headEnd type="none" len="sm" w="sm"/>
            <a:tailEnd type="none" len="sm" w="sm"/>
          </a:ln>
        </p:spPr>
      </p:sp>
      <p:grpSp>
        <p:nvGrpSpPr>
          <p:cNvPr name="Group 11" id="11"/>
          <p:cNvGrpSpPr/>
          <p:nvPr/>
        </p:nvGrpSpPr>
        <p:grpSpPr>
          <a:xfrm rot="0">
            <a:off x="-3214150" y="6833800"/>
            <a:ext cx="5962800" cy="5962800"/>
            <a:chOff x="0" y="0"/>
            <a:chExt cx="7950400" cy="7950400"/>
          </a:xfrm>
        </p:grpSpPr>
        <p:sp>
          <p:nvSpPr>
            <p:cNvPr name="Freeform 12" id="12"/>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13" id="13"/>
          <p:cNvGrpSpPr/>
          <p:nvPr/>
        </p:nvGrpSpPr>
        <p:grpSpPr>
          <a:xfrm rot="0">
            <a:off x="1784100" y="8324500"/>
            <a:ext cx="2981400" cy="2981400"/>
            <a:chOff x="0" y="0"/>
            <a:chExt cx="3975200" cy="3975200"/>
          </a:xfrm>
        </p:grpSpPr>
        <p:sp>
          <p:nvSpPr>
            <p:cNvPr name="Freeform 14" id="14"/>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5" id="15"/>
          <p:cNvSpPr/>
          <p:nvPr/>
        </p:nvSpPr>
        <p:spPr>
          <a:xfrm flipH="false" flipV="false" rot="0">
            <a:off x="11247625" y="2414933"/>
            <a:ext cx="3814175" cy="6356958"/>
          </a:xfrm>
          <a:custGeom>
            <a:avLst/>
            <a:gdLst/>
            <a:ahLst/>
            <a:cxnLst/>
            <a:rect r="r" b="b" t="t" l="l"/>
            <a:pathLst>
              <a:path h="6356958" w="3814175">
                <a:moveTo>
                  <a:pt x="0" y="0"/>
                </a:moveTo>
                <a:lnTo>
                  <a:pt x="3814175" y="0"/>
                </a:lnTo>
                <a:lnTo>
                  <a:pt x="3814175" y="6356959"/>
                </a:lnTo>
                <a:lnTo>
                  <a:pt x="0" y="6356959"/>
                </a:lnTo>
                <a:lnTo>
                  <a:pt x="0" y="0"/>
                </a:lnTo>
                <a:close/>
              </a:path>
            </a:pathLst>
          </a:custGeom>
          <a:blipFill>
            <a:blip r:embed="rId3"/>
            <a:stretch>
              <a:fillRect l="0" t="0" r="0" b="0"/>
            </a:stretch>
          </a:blipFill>
        </p:spPr>
      </p:sp>
      <p:sp>
        <p:nvSpPr>
          <p:cNvPr name="TextBox 16" id="16"/>
          <p:cNvSpPr txBox="true"/>
          <p:nvPr/>
        </p:nvSpPr>
        <p:spPr>
          <a:xfrm rot="0">
            <a:off x="1416925" y="4593287"/>
            <a:ext cx="8592750" cy="1971675"/>
          </a:xfrm>
          <a:prstGeom prst="rect">
            <a:avLst/>
          </a:prstGeom>
        </p:spPr>
        <p:txBody>
          <a:bodyPr anchor="t" rtlCol="false" tIns="0" lIns="0" bIns="0" rIns="0">
            <a:spAutoFit/>
          </a:bodyPr>
          <a:lstStyle/>
          <a:p>
            <a:pPr algn="l">
              <a:lnSpc>
                <a:spcPts val="7679"/>
              </a:lnSpc>
            </a:pPr>
            <a:r>
              <a:rPr lang="en-US" sz="6399">
                <a:solidFill>
                  <a:srgbClr val="D149CE"/>
                </a:solidFill>
                <a:latin typeface="Arimo"/>
                <a:ea typeface="Arimo"/>
                <a:cs typeface="Arimo"/>
                <a:sym typeface="Arimo"/>
              </a:rPr>
              <a:t>Viết và bảo trì kiểm thử đơn vị</a:t>
            </a:r>
          </a:p>
        </p:txBody>
      </p:sp>
      <p:sp>
        <p:nvSpPr>
          <p:cNvPr name="TextBox 17" id="17"/>
          <p:cNvSpPr txBox="true"/>
          <p:nvPr/>
        </p:nvSpPr>
        <p:spPr>
          <a:xfrm rot="0">
            <a:off x="1517875" y="1892725"/>
            <a:ext cx="2069550" cy="1876425"/>
          </a:xfrm>
          <a:prstGeom prst="rect">
            <a:avLst/>
          </a:prstGeom>
        </p:spPr>
        <p:txBody>
          <a:bodyPr anchor="t" rtlCol="false" tIns="0" lIns="0" bIns="0" rIns="0">
            <a:spAutoFit/>
          </a:bodyPr>
          <a:lstStyle/>
          <a:p>
            <a:pPr algn="l">
              <a:lnSpc>
                <a:spcPts val="14400"/>
              </a:lnSpc>
            </a:pPr>
            <a:r>
              <a:rPr lang="en-US" sz="12000">
                <a:solidFill>
                  <a:srgbClr val="D149CE"/>
                </a:solidFill>
                <a:latin typeface="Arimo"/>
                <a:ea typeface="Arimo"/>
                <a:cs typeface="Arimo"/>
                <a:sym typeface="Arimo"/>
              </a:rPr>
              <a:t>02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8900732"/>
        </a:gradFill>
      </p:bgPr>
    </p:bg>
    <p:spTree>
      <p:nvGrpSpPr>
        <p:cNvPr id="1" name=""/>
        <p:cNvGrpSpPr/>
        <p:nvPr/>
      </p:nvGrpSpPr>
      <p:grpSpPr>
        <a:xfrm>
          <a:off x="0" y="0"/>
          <a:ext cx="0" cy="0"/>
          <a:chOff x="0" y="0"/>
          <a:chExt cx="0" cy="0"/>
        </a:xfrm>
      </p:grpSpPr>
      <p:grpSp>
        <p:nvGrpSpPr>
          <p:cNvPr name="Group 2" id="2"/>
          <p:cNvGrpSpPr/>
          <p:nvPr/>
        </p:nvGrpSpPr>
        <p:grpSpPr>
          <a:xfrm rot="0">
            <a:off x="12573600" y="9644250"/>
            <a:ext cx="5714400" cy="642600"/>
            <a:chOff x="0" y="0"/>
            <a:chExt cx="7619200" cy="856800"/>
          </a:xfrm>
        </p:grpSpPr>
        <p:sp>
          <p:nvSpPr>
            <p:cNvPr name="Freeform 3" id="3"/>
            <p:cNvSpPr/>
            <p:nvPr/>
          </p:nvSpPr>
          <p:spPr>
            <a:xfrm flipH="false" flipV="false" rot="0">
              <a:off x="0" y="0"/>
              <a:ext cx="7619238" cy="856742"/>
            </a:xfrm>
            <a:custGeom>
              <a:avLst/>
              <a:gdLst/>
              <a:ahLst/>
              <a:cxnLst/>
              <a:rect r="r" b="b" t="t" l="l"/>
              <a:pathLst>
                <a:path h="856742" w="7619238">
                  <a:moveTo>
                    <a:pt x="7619238" y="0"/>
                  </a:moveTo>
                  <a:lnTo>
                    <a:pt x="428371" y="0"/>
                  </a:lnTo>
                  <a:cubicBezTo>
                    <a:pt x="191770" y="0"/>
                    <a:pt x="0" y="191770"/>
                    <a:pt x="0" y="428371"/>
                  </a:cubicBezTo>
                  <a:lnTo>
                    <a:pt x="0" y="856742"/>
                  </a:lnTo>
                  <a:lnTo>
                    <a:pt x="7619238"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2535950" y="-2457100"/>
            <a:ext cx="4325400" cy="4326000"/>
            <a:chOff x="0" y="0"/>
            <a:chExt cx="5767200" cy="5768000"/>
          </a:xfrm>
        </p:grpSpPr>
        <p:sp>
          <p:nvSpPr>
            <p:cNvPr name="Freeform 9" id="9"/>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10" id="10"/>
          <p:cNvGrpSpPr/>
          <p:nvPr/>
        </p:nvGrpSpPr>
        <p:grpSpPr>
          <a:xfrm rot="0">
            <a:off x="15586450" y="7604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2" id="12"/>
          <p:cNvSpPr/>
          <p:nvPr/>
        </p:nvSpPr>
        <p:spPr>
          <a:xfrm flipH="false" flipV="false" rot="0">
            <a:off x="11412854" y="3005556"/>
            <a:ext cx="5448496" cy="3603227"/>
          </a:xfrm>
          <a:custGeom>
            <a:avLst/>
            <a:gdLst/>
            <a:ahLst/>
            <a:cxnLst/>
            <a:rect r="r" b="b" t="t" l="l"/>
            <a:pathLst>
              <a:path h="3603227" w="5448496">
                <a:moveTo>
                  <a:pt x="0" y="0"/>
                </a:moveTo>
                <a:lnTo>
                  <a:pt x="5448496" y="0"/>
                </a:lnTo>
                <a:lnTo>
                  <a:pt x="5448496" y="3603227"/>
                </a:lnTo>
                <a:lnTo>
                  <a:pt x="0" y="3603227"/>
                </a:lnTo>
                <a:lnTo>
                  <a:pt x="0" y="0"/>
                </a:lnTo>
                <a:close/>
              </a:path>
            </a:pathLst>
          </a:custGeom>
          <a:blipFill>
            <a:blip r:embed="rId3"/>
            <a:stretch>
              <a:fillRect l="-12566" t="0" r="-13399" b="0"/>
            </a:stretch>
          </a:blipFill>
        </p:spPr>
      </p:sp>
      <p:sp>
        <p:nvSpPr>
          <p:cNvPr name="TextBox 13" id="13"/>
          <p:cNvSpPr txBox="true"/>
          <p:nvPr/>
        </p:nvSpPr>
        <p:spPr>
          <a:xfrm rot="0">
            <a:off x="1517875" y="2967456"/>
            <a:ext cx="8636828" cy="39636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Unit test tập trung vào việc kiểm tra các đơn vị nhỏ nhất của chương trình, thường là các hàm hoặc phương thức, trong trạng thái độc lập. Điều này giúp đảm bảo rằng từng thành phần hoạt động đúng trước khi tích hợp vào hệ thống lớn hơn. Ngoài ra, unit test còn đóng vai trò như một cơ chế cảnh báo sớm khi mã nguồn được tái cấu trúc (refactoring), giúp phát hiện lỗi ngay từ giai đoạn đầu.</a:t>
            </a:r>
          </a:p>
        </p:txBody>
      </p:sp>
      <p:sp>
        <p:nvSpPr>
          <p:cNvPr name="TextBox 14" id="14"/>
          <p:cNvSpPr txBox="true"/>
          <p:nvPr/>
        </p:nvSpPr>
        <p:spPr>
          <a:xfrm rot="0">
            <a:off x="1517875" y="1071425"/>
            <a:ext cx="7626125"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Vai t</a:t>
            </a:r>
            <a:r>
              <a:rPr lang="en-US" sz="6000">
                <a:solidFill>
                  <a:srgbClr val="000000"/>
                </a:solidFill>
                <a:latin typeface="Arimo"/>
                <a:ea typeface="Arimo"/>
                <a:cs typeface="Arimo"/>
                <a:sym typeface="Arimo"/>
              </a:rPr>
              <a:t>rò của Unit Test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8900732"/>
        </a:gradFill>
      </p:bgPr>
    </p:bg>
    <p:spTree>
      <p:nvGrpSpPr>
        <p:cNvPr id="1" name=""/>
        <p:cNvGrpSpPr/>
        <p:nvPr/>
      </p:nvGrpSpPr>
      <p:grpSpPr>
        <a:xfrm>
          <a:off x="0" y="0"/>
          <a:ext cx="0" cy="0"/>
          <a:chOff x="0" y="0"/>
          <a:chExt cx="0" cy="0"/>
        </a:xfrm>
      </p:grpSpPr>
      <p:grpSp>
        <p:nvGrpSpPr>
          <p:cNvPr name="Group 2" id="2"/>
          <p:cNvGrpSpPr/>
          <p:nvPr/>
        </p:nvGrpSpPr>
        <p:grpSpPr>
          <a:xfrm rot="0">
            <a:off x="12573600" y="9644250"/>
            <a:ext cx="5714400" cy="642600"/>
            <a:chOff x="0" y="0"/>
            <a:chExt cx="7619200" cy="856800"/>
          </a:xfrm>
        </p:grpSpPr>
        <p:sp>
          <p:nvSpPr>
            <p:cNvPr name="Freeform 3" id="3"/>
            <p:cNvSpPr/>
            <p:nvPr/>
          </p:nvSpPr>
          <p:spPr>
            <a:xfrm flipH="false" flipV="false" rot="0">
              <a:off x="0" y="0"/>
              <a:ext cx="7619238" cy="856742"/>
            </a:xfrm>
            <a:custGeom>
              <a:avLst/>
              <a:gdLst/>
              <a:ahLst/>
              <a:cxnLst/>
              <a:rect r="r" b="b" t="t" l="l"/>
              <a:pathLst>
                <a:path h="856742" w="7619238">
                  <a:moveTo>
                    <a:pt x="7619238" y="0"/>
                  </a:moveTo>
                  <a:lnTo>
                    <a:pt x="428371" y="0"/>
                  </a:lnTo>
                  <a:cubicBezTo>
                    <a:pt x="191770" y="0"/>
                    <a:pt x="0" y="191770"/>
                    <a:pt x="0" y="428371"/>
                  </a:cubicBezTo>
                  <a:lnTo>
                    <a:pt x="0" y="856742"/>
                  </a:lnTo>
                  <a:lnTo>
                    <a:pt x="7619238"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2535950" y="-2457100"/>
            <a:ext cx="4325400" cy="4326000"/>
            <a:chOff x="0" y="0"/>
            <a:chExt cx="5767200" cy="5768000"/>
          </a:xfrm>
        </p:grpSpPr>
        <p:sp>
          <p:nvSpPr>
            <p:cNvPr name="Freeform 9" id="9"/>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10" id="10"/>
          <p:cNvGrpSpPr/>
          <p:nvPr/>
        </p:nvGrpSpPr>
        <p:grpSpPr>
          <a:xfrm rot="0">
            <a:off x="15586450" y="7604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2" id="12"/>
          <p:cNvSpPr/>
          <p:nvPr/>
        </p:nvSpPr>
        <p:spPr>
          <a:xfrm flipH="false" flipV="false" rot="0">
            <a:off x="11254613" y="3575450"/>
            <a:ext cx="4650564" cy="1568050"/>
          </a:xfrm>
          <a:custGeom>
            <a:avLst/>
            <a:gdLst/>
            <a:ahLst/>
            <a:cxnLst/>
            <a:rect r="r" b="b" t="t" l="l"/>
            <a:pathLst>
              <a:path h="1568050" w="4650564">
                <a:moveTo>
                  <a:pt x="0" y="0"/>
                </a:moveTo>
                <a:lnTo>
                  <a:pt x="4650564" y="0"/>
                </a:lnTo>
                <a:lnTo>
                  <a:pt x="4650564" y="1568050"/>
                </a:lnTo>
                <a:lnTo>
                  <a:pt x="0" y="1568050"/>
                </a:lnTo>
                <a:lnTo>
                  <a:pt x="0" y="0"/>
                </a:lnTo>
                <a:close/>
              </a:path>
            </a:pathLst>
          </a:custGeom>
          <a:blipFill>
            <a:blip r:embed="rId3"/>
            <a:stretch>
              <a:fillRect l="0" t="0" r="-143008" b="0"/>
            </a:stretch>
          </a:blipFill>
        </p:spPr>
      </p:sp>
      <p:sp>
        <p:nvSpPr>
          <p:cNvPr name="Freeform 13" id="13"/>
          <p:cNvSpPr/>
          <p:nvPr/>
        </p:nvSpPr>
        <p:spPr>
          <a:xfrm flipH="false" flipV="false" rot="0">
            <a:off x="11254613" y="5868670"/>
            <a:ext cx="4650564" cy="1525670"/>
          </a:xfrm>
          <a:custGeom>
            <a:avLst/>
            <a:gdLst/>
            <a:ahLst/>
            <a:cxnLst/>
            <a:rect r="r" b="b" t="t" l="l"/>
            <a:pathLst>
              <a:path h="1525670" w="4650564">
                <a:moveTo>
                  <a:pt x="0" y="0"/>
                </a:moveTo>
                <a:lnTo>
                  <a:pt x="4650564" y="0"/>
                </a:lnTo>
                <a:lnTo>
                  <a:pt x="4650564" y="1525670"/>
                </a:lnTo>
                <a:lnTo>
                  <a:pt x="0" y="1525670"/>
                </a:lnTo>
                <a:lnTo>
                  <a:pt x="0" y="0"/>
                </a:lnTo>
                <a:close/>
              </a:path>
            </a:pathLst>
          </a:custGeom>
          <a:blipFill>
            <a:blip r:embed="rId4"/>
            <a:stretch>
              <a:fillRect l="0" t="0" r="-143008" b="0"/>
            </a:stretch>
          </a:blipFill>
        </p:spPr>
      </p:sp>
      <p:sp>
        <p:nvSpPr>
          <p:cNvPr name="TextBox 14" id="14"/>
          <p:cNvSpPr txBox="true"/>
          <p:nvPr/>
        </p:nvSpPr>
        <p:spPr>
          <a:xfrm rot="0">
            <a:off x="1517875" y="3537350"/>
            <a:ext cx="8636828" cy="39636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Sự</a:t>
            </a:r>
            <a:r>
              <a:rPr lang="en-US" sz="2799">
                <a:solidFill>
                  <a:srgbClr val="666666"/>
                </a:solidFill>
                <a:latin typeface="Poppins"/>
                <a:ea typeface="Poppins"/>
                <a:cs typeface="Poppins"/>
                <a:sym typeface="Poppins"/>
              </a:rPr>
              <a:t> xuất hiện của các công cụ GenAI như GitHub Copilot hay ChatGPT đã thay đổi đáng kể cách thức xây dựng unit test. Thay vì viết thủ công toàn bộ, lập trình viên có thể sử dụng AI để tự động sinh các test case cơ bản. Điều này giúp tiết kiệm thời gian và công sức, đồng thời cho phép nhà phát triển tập trung vào các tình huống phức tạp hoặc các trường hợp biên (edge cases).</a:t>
            </a:r>
          </a:p>
        </p:txBody>
      </p:sp>
      <p:sp>
        <p:nvSpPr>
          <p:cNvPr name="TextBox 15" id="15"/>
          <p:cNvSpPr txBox="true"/>
          <p:nvPr/>
        </p:nvSpPr>
        <p:spPr>
          <a:xfrm rot="0">
            <a:off x="1517875" y="1071425"/>
            <a:ext cx="8636828"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Sự hỗ t</a:t>
            </a:r>
            <a:r>
              <a:rPr lang="en-US" sz="6000">
                <a:solidFill>
                  <a:srgbClr val="000000"/>
                </a:solidFill>
                <a:latin typeface="Arimo"/>
                <a:ea typeface="Arimo"/>
                <a:cs typeface="Arimo"/>
                <a:sym typeface="Arimo"/>
              </a:rPr>
              <a:t>rợ từ GenAI</a:t>
            </a:r>
          </a:p>
        </p:txBody>
      </p:sp>
      <p:sp>
        <p:nvSpPr>
          <p:cNvPr name="TextBox 16" id="16"/>
          <p:cNvSpPr txBox="true"/>
          <p:nvPr/>
        </p:nvSpPr>
        <p:spPr>
          <a:xfrm rot="0">
            <a:off x="11254613" y="2967456"/>
            <a:ext cx="3913478" cy="4584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Ví dụ minh họa:</a:t>
            </a:r>
          </a:p>
        </p:txBody>
      </p:sp>
      <p:sp>
        <p:nvSpPr>
          <p:cNvPr name="TextBox 17" id="17"/>
          <p:cNvSpPr txBox="true"/>
          <p:nvPr/>
        </p:nvSpPr>
        <p:spPr>
          <a:xfrm rot="0">
            <a:off x="11254613" y="5257800"/>
            <a:ext cx="5606737" cy="4584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GenAI có thể tự động đề xuất: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8900732"/>
        </a:gradFill>
      </p:bgPr>
    </p:bg>
    <p:spTree>
      <p:nvGrpSpPr>
        <p:cNvPr id="1" name=""/>
        <p:cNvGrpSpPr/>
        <p:nvPr/>
      </p:nvGrpSpPr>
      <p:grpSpPr>
        <a:xfrm>
          <a:off x="0" y="0"/>
          <a:ext cx="0" cy="0"/>
          <a:chOff x="0" y="0"/>
          <a:chExt cx="0" cy="0"/>
        </a:xfrm>
      </p:grpSpPr>
      <p:grpSp>
        <p:nvGrpSpPr>
          <p:cNvPr name="Group 2" id="2"/>
          <p:cNvGrpSpPr/>
          <p:nvPr/>
        </p:nvGrpSpPr>
        <p:grpSpPr>
          <a:xfrm rot="0">
            <a:off x="12573600" y="9644250"/>
            <a:ext cx="5714400" cy="642600"/>
            <a:chOff x="0" y="0"/>
            <a:chExt cx="7619200" cy="856800"/>
          </a:xfrm>
        </p:grpSpPr>
        <p:sp>
          <p:nvSpPr>
            <p:cNvPr name="Freeform 3" id="3"/>
            <p:cNvSpPr/>
            <p:nvPr/>
          </p:nvSpPr>
          <p:spPr>
            <a:xfrm flipH="false" flipV="false" rot="0">
              <a:off x="0" y="0"/>
              <a:ext cx="7619238" cy="856742"/>
            </a:xfrm>
            <a:custGeom>
              <a:avLst/>
              <a:gdLst/>
              <a:ahLst/>
              <a:cxnLst/>
              <a:rect r="r" b="b" t="t" l="l"/>
              <a:pathLst>
                <a:path h="856742" w="7619238">
                  <a:moveTo>
                    <a:pt x="7619238" y="0"/>
                  </a:moveTo>
                  <a:lnTo>
                    <a:pt x="428371" y="0"/>
                  </a:lnTo>
                  <a:cubicBezTo>
                    <a:pt x="191770" y="0"/>
                    <a:pt x="0" y="191770"/>
                    <a:pt x="0" y="428371"/>
                  </a:cubicBezTo>
                  <a:lnTo>
                    <a:pt x="0" y="856742"/>
                  </a:lnTo>
                  <a:lnTo>
                    <a:pt x="7619238"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2535950" y="-2457100"/>
            <a:ext cx="4325400" cy="4326000"/>
            <a:chOff x="0" y="0"/>
            <a:chExt cx="5767200" cy="5768000"/>
          </a:xfrm>
        </p:grpSpPr>
        <p:sp>
          <p:nvSpPr>
            <p:cNvPr name="Freeform 9" id="9"/>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10" id="10"/>
          <p:cNvGrpSpPr/>
          <p:nvPr/>
        </p:nvGrpSpPr>
        <p:grpSpPr>
          <a:xfrm rot="0">
            <a:off x="15586450" y="7604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2" id="12"/>
          <p:cNvSpPr/>
          <p:nvPr/>
        </p:nvSpPr>
        <p:spPr>
          <a:xfrm flipH="false" flipV="false" rot="0">
            <a:off x="1517875" y="4169134"/>
            <a:ext cx="9839790" cy="3695921"/>
          </a:xfrm>
          <a:custGeom>
            <a:avLst/>
            <a:gdLst/>
            <a:ahLst/>
            <a:cxnLst/>
            <a:rect r="r" b="b" t="t" l="l"/>
            <a:pathLst>
              <a:path h="3695921" w="9839790">
                <a:moveTo>
                  <a:pt x="0" y="0"/>
                </a:moveTo>
                <a:lnTo>
                  <a:pt x="9839790" y="0"/>
                </a:lnTo>
                <a:lnTo>
                  <a:pt x="9839790" y="3695921"/>
                </a:lnTo>
                <a:lnTo>
                  <a:pt x="0" y="3695921"/>
                </a:lnTo>
                <a:lnTo>
                  <a:pt x="0" y="0"/>
                </a:lnTo>
                <a:close/>
              </a:path>
            </a:pathLst>
          </a:custGeom>
          <a:blipFill>
            <a:blip r:embed="rId3"/>
            <a:stretch>
              <a:fillRect l="0" t="0" r="0" b="0"/>
            </a:stretch>
          </a:blipFill>
        </p:spPr>
      </p:sp>
      <p:sp>
        <p:nvSpPr>
          <p:cNvPr name="TextBox 13" id="13"/>
          <p:cNvSpPr txBox="true"/>
          <p:nvPr/>
        </p:nvSpPr>
        <p:spPr>
          <a:xfrm rot="0">
            <a:off x="1517875" y="2586496"/>
            <a:ext cx="9839790" cy="13347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P</a:t>
            </a:r>
            <a:r>
              <a:rPr lang="en-US" sz="2799">
                <a:solidFill>
                  <a:srgbClr val="666666"/>
                </a:solidFill>
                <a:latin typeface="Poppins"/>
                <a:ea typeface="Poppins"/>
                <a:cs typeface="Poppins"/>
                <a:sym typeface="Poppins"/>
              </a:rPr>
              <a:t>hát triển hướng kiểm thử (TDD) là một phương pháp tiếp cận trong đó kiểm thử được viết trước khi viết mã thực thi.</a:t>
            </a:r>
          </a:p>
        </p:txBody>
      </p:sp>
      <p:sp>
        <p:nvSpPr>
          <p:cNvPr name="TextBox 14" id="14"/>
          <p:cNvSpPr txBox="true"/>
          <p:nvPr/>
        </p:nvSpPr>
        <p:spPr>
          <a:xfrm rot="0">
            <a:off x="1517875" y="1071425"/>
            <a:ext cx="9075435"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Phát t</a:t>
            </a:r>
            <a:r>
              <a:rPr lang="en-US" sz="6000">
                <a:solidFill>
                  <a:srgbClr val="000000"/>
                </a:solidFill>
                <a:latin typeface="Arimo"/>
                <a:ea typeface="Arimo"/>
                <a:cs typeface="Arimo"/>
                <a:sym typeface="Arimo"/>
              </a:rPr>
              <a:t>riển hướng kiểm thử</a:t>
            </a:r>
          </a:p>
        </p:txBody>
      </p:sp>
      <p:sp>
        <p:nvSpPr>
          <p:cNvPr name="TextBox 15" id="15"/>
          <p:cNvSpPr txBox="true"/>
          <p:nvPr/>
        </p:nvSpPr>
        <p:spPr>
          <a:xfrm rot="0">
            <a:off x="11626892" y="4131034"/>
            <a:ext cx="6143515" cy="30873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Trong quy</a:t>
            </a:r>
            <a:r>
              <a:rPr lang="en-US" sz="2799">
                <a:solidFill>
                  <a:srgbClr val="666666"/>
                </a:solidFill>
                <a:latin typeface="Poppins"/>
                <a:ea typeface="Poppins"/>
                <a:cs typeface="Poppins"/>
                <a:sym typeface="Poppins"/>
              </a:rPr>
              <a:t> trình này, GenAI đóng vai trò như một trợ lý thông minh, có thể:</a:t>
            </a:r>
          </a:p>
          <a:p>
            <a:pPr algn="just" marL="604519" indent="-302260" lvl="1">
              <a:lnSpc>
                <a:spcPts val="3499"/>
              </a:lnSpc>
              <a:buFont typeface="Arial"/>
              <a:buChar char="•"/>
            </a:pPr>
            <a:r>
              <a:rPr lang="en-US" sz="2799">
                <a:solidFill>
                  <a:srgbClr val="666666"/>
                </a:solidFill>
                <a:latin typeface="Poppins"/>
                <a:ea typeface="Poppins"/>
                <a:cs typeface="Poppins"/>
                <a:sym typeface="Poppins"/>
              </a:rPr>
              <a:t>Gợi ý test cases ban đầu</a:t>
            </a:r>
          </a:p>
          <a:p>
            <a:pPr algn="just" marL="604519" indent="-302260" lvl="1">
              <a:lnSpc>
                <a:spcPts val="3499"/>
              </a:lnSpc>
              <a:buFont typeface="Arial"/>
              <a:buChar char="•"/>
            </a:pPr>
            <a:r>
              <a:rPr lang="en-US" sz="2799">
                <a:solidFill>
                  <a:srgbClr val="666666"/>
                </a:solidFill>
                <a:latin typeface="Poppins"/>
                <a:ea typeface="Poppins"/>
                <a:cs typeface="Poppins"/>
                <a:sym typeface="Poppins"/>
              </a:rPr>
              <a:t>Phân tích lỗi khi test thất bại</a:t>
            </a:r>
          </a:p>
          <a:p>
            <a:pPr algn="just" marL="604519" indent="-302260" lvl="1">
              <a:lnSpc>
                <a:spcPts val="3499"/>
              </a:lnSpc>
              <a:buFont typeface="Arial"/>
              <a:buChar char="•"/>
            </a:pPr>
            <a:r>
              <a:rPr lang="en-US" sz="2799">
                <a:solidFill>
                  <a:srgbClr val="666666"/>
                </a:solidFill>
                <a:latin typeface="Poppins"/>
                <a:ea typeface="Poppins"/>
                <a:cs typeface="Poppins"/>
                <a:sym typeface="Poppins"/>
              </a:rPr>
              <a:t>Đề xuất cách sửa mã nguồn</a:t>
            </a:r>
          </a:p>
          <a:p>
            <a:pPr algn="just">
              <a:lnSpc>
                <a:spcPts val="349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8900732"/>
        </a:gradFill>
      </p:bgPr>
    </p:bg>
    <p:spTree>
      <p:nvGrpSpPr>
        <p:cNvPr id="1" name=""/>
        <p:cNvGrpSpPr/>
        <p:nvPr/>
      </p:nvGrpSpPr>
      <p:grpSpPr>
        <a:xfrm>
          <a:off x="0" y="0"/>
          <a:ext cx="0" cy="0"/>
          <a:chOff x="0" y="0"/>
          <a:chExt cx="0" cy="0"/>
        </a:xfrm>
      </p:grpSpPr>
      <p:grpSp>
        <p:nvGrpSpPr>
          <p:cNvPr name="Group 2" id="2"/>
          <p:cNvGrpSpPr/>
          <p:nvPr/>
        </p:nvGrpSpPr>
        <p:grpSpPr>
          <a:xfrm rot="0">
            <a:off x="12573600" y="9644250"/>
            <a:ext cx="5714400" cy="642600"/>
            <a:chOff x="0" y="0"/>
            <a:chExt cx="7619200" cy="856800"/>
          </a:xfrm>
        </p:grpSpPr>
        <p:sp>
          <p:nvSpPr>
            <p:cNvPr name="Freeform 3" id="3"/>
            <p:cNvSpPr/>
            <p:nvPr/>
          </p:nvSpPr>
          <p:spPr>
            <a:xfrm flipH="false" flipV="false" rot="0">
              <a:off x="0" y="0"/>
              <a:ext cx="7619238" cy="856742"/>
            </a:xfrm>
            <a:custGeom>
              <a:avLst/>
              <a:gdLst/>
              <a:ahLst/>
              <a:cxnLst/>
              <a:rect r="r" b="b" t="t" l="l"/>
              <a:pathLst>
                <a:path h="856742" w="7619238">
                  <a:moveTo>
                    <a:pt x="7619238" y="0"/>
                  </a:moveTo>
                  <a:lnTo>
                    <a:pt x="428371" y="0"/>
                  </a:lnTo>
                  <a:cubicBezTo>
                    <a:pt x="191770" y="0"/>
                    <a:pt x="0" y="191770"/>
                    <a:pt x="0" y="428371"/>
                  </a:cubicBezTo>
                  <a:lnTo>
                    <a:pt x="0" y="856742"/>
                  </a:lnTo>
                  <a:lnTo>
                    <a:pt x="7619238"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2535950" y="-2457100"/>
            <a:ext cx="4325400" cy="4326000"/>
            <a:chOff x="0" y="0"/>
            <a:chExt cx="5767200" cy="5768000"/>
          </a:xfrm>
        </p:grpSpPr>
        <p:sp>
          <p:nvSpPr>
            <p:cNvPr name="Freeform 9" id="9"/>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10" id="10"/>
          <p:cNvGrpSpPr/>
          <p:nvPr/>
        </p:nvGrpSpPr>
        <p:grpSpPr>
          <a:xfrm rot="0">
            <a:off x="15586450" y="7604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2" id="12"/>
          <p:cNvSpPr/>
          <p:nvPr/>
        </p:nvSpPr>
        <p:spPr>
          <a:xfrm flipH="false" flipV="false" rot="0">
            <a:off x="11849017" y="3272931"/>
            <a:ext cx="6092334" cy="4167339"/>
          </a:xfrm>
          <a:custGeom>
            <a:avLst/>
            <a:gdLst/>
            <a:ahLst/>
            <a:cxnLst/>
            <a:rect r="r" b="b" t="t" l="l"/>
            <a:pathLst>
              <a:path h="4167339" w="6092334">
                <a:moveTo>
                  <a:pt x="0" y="0"/>
                </a:moveTo>
                <a:lnTo>
                  <a:pt x="6092334" y="0"/>
                </a:lnTo>
                <a:lnTo>
                  <a:pt x="6092334" y="4167339"/>
                </a:lnTo>
                <a:lnTo>
                  <a:pt x="0" y="4167339"/>
                </a:lnTo>
                <a:lnTo>
                  <a:pt x="0" y="0"/>
                </a:lnTo>
                <a:close/>
              </a:path>
            </a:pathLst>
          </a:custGeom>
          <a:blipFill>
            <a:blip r:embed="rId3"/>
            <a:stretch>
              <a:fillRect l="0" t="0" r="-85219" b="0"/>
            </a:stretch>
          </a:blipFill>
        </p:spPr>
      </p:sp>
      <p:sp>
        <p:nvSpPr>
          <p:cNvPr name="TextBox 13" id="13"/>
          <p:cNvSpPr txBox="true"/>
          <p:nvPr/>
        </p:nvSpPr>
        <p:spPr>
          <a:xfrm rot="0">
            <a:off x="1517875" y="2586496"/>
            <a:ext cx="9839790" cy="13347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Kiểm </a:t>
            </a:r>
            <a:r>
              <a:rPr lang="en-US" sz="2799">
                <a:solidFill>
                  <a:srgbClr val="666666"/>
                </a:solidFill>
                <a:latin typeface="Poppins"/>
                <a:ea typeface="Poppins"/>
                <a:cs typeface="Poppins"/>
                <a:sym typeface="Poppins"/>
              </a:rPr>
              <a:t>thử dựa trên dữ liệu là phương pháp trong đó một tập hợp các cặp dữ liệu đầu vào – đầu ra được sử dụng để kiểm tra cùng một chức năng.</a:t>
            </a:r>
          </a:p>
        </p:txBody>
      </p:sp>
      <p:sp>
        <p:nvSpPr>
          <p:cNvPr name="TextBox 14" id="14"/>
          <p:cNvSpPr txBox="true"/>
          <p:nvPr/>
        </p:nvSpPr>
        <p:spPr>
          <a:xfrm rot="0">
            <a:off x="1517875" y="1071425"/>
            <a:ext cx="9075435"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Kiểm thử dựa t</a:t>
            </a:r>
            <a:r>
              <a:rPr lang="en-US" sz="6000">
                <a:solidFill>
                  <a:srgbClr val="000000"/>
                </a:solidFill>
                <a:latin typeface="Arimo"/>
                <a:ea typeface="Arimo"/>
                <a:cs typeface="Arimo"/>
                <a:sym typeface="Arimo"/>
              </a:rPr>
              <a:t>rên dữ liệu</a:t>
            </a:r>
          </a:p>
        </p:txBody>
      </p:sp>
      <p:sp>
        <p:nvSpPr>
          <p:cNvPr name="TextBox 15" id="15"/>
          <p:cNvSpPr txBox="true"/>
          <p:nvPr/>
        </p:nvSpPr>
        <p:spPr>
          <a:xfrm rot="0">
            <a:off x="1517875" y="4340366"/>
            <a:ext cx="9839790" cy="352552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GenAI đóng vai </a:t>
            </a:r>
            <a:r>
              <a:rPr lang="en-US" sz="2799">
                <a:solidFill>
                  <a:srgbClr val="666666"/>
                </a:solidFill>
                <a:latin typeface="Poppins"/>
                <a:ea typeface="Poppins"/>
                <a:cs typeface="Poppins"/>
                <a:sym typeface="Poppins"/>
              </a:rPr>
              <a:t>trò quan trọng trong việc tạo ra các bộ dữ liệu này. Công cụ có thể tự động sinh ra nhiều trường hợp khác nhau, bao gồm:</a:t>
            </a:r>
          </a:p>
          <a:p>
            <a:pPr algn="just" marL="604519" indent="-302260" lvl="1">
              <a:lnSpc>
                <a:spcPts val="3499"/>
              </a:lnSpc>
              <a:buFont typeface="Arial"/>
              <a:buChar char="•"/>
            </a:pPr>
            <a:r>
              <a:rPr lang="en-US" sz="2799">
                <a:solidFill>
                  <a:srgbClr val="666666"/>
                </a:solidFill>
                <a:latin typeface="Poppins"/>
                <a:ea typeface="Poppins"/>
                <a:cs typeface="Poppins"/>
                <a:sym typeface="Poppins"/>
              </a:rPr>
              <a:t>Dữ liệu hợp lệ</a:t>
            </a:r>
          </a:p>
          <a:p>
            <a:pPr algn="just" marL="604519" indent="-302260" lvl="1">
              <a:lnSpc>
                <a:spcPts val="3499"/>
              </a:lnSpc>
              <a:buFont typeface="Arial"/>
              <a:buChar char="•"/>
            </a:pPr>
            <a:r>
              <a:rPr lang="en-US" sz="2799">
                <a:solidFill>
                  <a:srgbClr val="666666"/>
                </a:solidFill>
                <a:latin typeface="Poppins"/>
                <a:ea typeface="Poppins"/>
                <a:cs typeface="Poppins"/>
                <a:sym typeface="Poppins"/>
              </a:rPr>
              <a:t>Dữ liệu rỗng</a:t>
            </a:r>
          </a:p>
          <a:p>
            <a:pPr algn="just" marL="604519" indent="-302260" lvl="1">
              <a:lnSpc>
                <a:spcPts val="3499"/>
              </a:lnSpc>
              <a:buFont typeface="Arial"/>
              <a:buChar char="•"/>
            </a:pPr>
            <a:r>
              <a:rPr lang="en-US" sz="2799">
                <a:solidFill>
                  <a:srgbClr val="666666"/>
                </a:solidFill>
                <a:latin typeface="Poppins"/>
                <a:ea typeface="Poppins"/>
                <a:cs typeface="Poppins"/>
                <a:sym typeface="Poppins"/>
              </a:rPr>
              <a:t>Dữ liệu chứa ký tự đặc biệt</a:t>
            </a:r>
          </a:p>
          <a:p>
            <a:pPr algn="just" marL="604519" indent="-302260" lvl="1">
              <a:lnSpc>
                <a:spcPts val="3499"/>
              </a:lnSpc>
              <a:buFont typeface="Arial"/>
              <a:buChar char="•"/>
            </a:pPr>
            <a:r>
              <a:rPr lang="en-US" sz="2799">
                <a:solidFill>
                  <a:srgbClr val="666666"/>
                </a:solidFill>
                <a:latin typeface="Poppins"/>
                <a:ea typeface="Poppins"/>
                <a:cs typeface="Poppins"/>
                <a:sym typeface="Poppins"/>
              </a:rPr>
              <a:t>Trường hợp biên</a:t>
            </a:r>
          </a:p>
          <a:p>
            <a:pPr algn="just">
              <a:lnSpc>
                <a:spcPts val="3499"/>
              </a:lnSpc>
            </a:pPr>
          </a:p>
        </p:txBody>
      </p:sp>
      <p:sp>
        <p:nvSpPr>
          <p:cNvPr name="TextBox 16" id="16"/>
          <p:cNvSpPr txBox="true"/>
          <p:nvPr/>
        </p:nvSpPr>
        <p:spPr>
          <a:xfrm rot="0">
            <a:off x="11849017" y="2586496"/>
            <a:ext cx="3737433" cy="4584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Ví</a:t>
            </a:r>
            <a:r>
              <a:rPr lang="en-US" sz="2799">
                <a:solidFill>
                  <a:srgbClr val="666666"/>
                </a:solidFill>
                <a:latin typeface="Poppins"/>
                <a:ea typeface="Poppins"/>
                <a:cs typeface="Poppins"/>
                <a:sym typeface="Poppins"/>
              </a:rPr>
              <a:t> dụ minh họa: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8900732"/>
        </a:gradFill>
      </p:bgPr>
    </p:bg>
    <p:spTree>
      <p:nvGrpSpPr>
        <p:cNvPr id="1" name=""/>
        <p:cNvGrpSpPr/>
        <p:nvPr/>
      </p:nvGrpSpPr>
      <p:grpSpPr>
        <a:xfrm>
          <a:off x="0" y="0"/>
          <a:ext cx="0" cy="0"/>
          <a:chOff x="0" y="0"/>
          <a:chExt cx="0" cy="0"/>
        </a:xfrm>
      </p:grpSpPr>
      <p:grpSp>
        <p:nvGrpSpPr>
          <p:cNvPr name="Group 2" id="2"/>
          <p:cNvGrpSpPr/>
          <p:nvPr/>
        </p:nvGrpSpPr>
        <p:grpSpPr>
          <a:xfrm rot="0">
            <a:off x="12573600" y="9644250"/>
            <a:ext cx="5714400" cy="642600"/>
            <a:chOff x="0" y="0"/>
            <a:chExt cx="7619200" cy="856800"/>
          </a:xfrm>
        </p:grpSpPr>
        <p:sp>
          <p:nvSpPr>
            <p:cNvPr name="Freeform 3" id="3"/>
            <p:cNvSpPr/>
            <p:nvPr/>
          </p:nvSpPr>
          <p:spPr>
            <a:xfrm flipH="false" flipV="false" rot="0">
              <a:off x="0" y="0"/>
              <a:ext cx="7619238" cy="856742"/>
            </a:xfrm>
            <a:custGeom>
              <a:avLst/>
              <a:gdLst/>
              <a:ahLst/>
              <a:cxnLst/>
              <a:rect r="r" b="b" t="t" l="l"/>
              <a:pathLst>
                <a:path h="856742" w="7619238">
                  <a:moveTo>
                    <a:pt x="7619238" y="0"/>
                  </a:moveTo>
                  <a:lnTo>
                    <a:pt x="428371" y="0"/>
                  </a:lnTo>
                  <a:cubicBezTo>
                    <a:pt x="191770" y="0"/>
                    <a:pt x="0" y="191770"/>
                    <a:pt x="0" y="428371"/>
                  </a:cubicBezTo>
                  <a:lnTo>
                    <a:pt x="0" y="856742"/>
                  </a:lnTo>
                  <a:lnTo>
                    <a:pt x="7619238"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2535950" y="-2457100"/>
            <a:ext cx="4325400" cy="4326000"/>
            <a:chOff x="0" y="0"/>
            <a:chExt cx="5767200" cy="5768000"/>
          </a:xfrm>
        </p:grpSpPr>
        <p:sp>
          <p:nvSpPr>
            <p:cNvPr name="Freeform 9" id="9"/>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10" id="10"/>
          <p:cNvGrpSpPr/>
          <p:nvPr/>
        </p:nvGrpSpPr>
        <p:grpSpPr>
          <a:xfrm rot="0">
            <a:off x="15586450" y="7604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2" id="12"/>
          <p:cNvSpPr/>
          <p:nvPr/>
        </p:nvSpPr>
        <p:spPr>
          <a:xfrm flipH="false" flipV="false" rot="0">
            <a:off x="1517875" y="5441494"/>
            <a:ext cx="11301259" cy="2302632"/>
          </a:xfrm>
          <a:custGeom>
            <a:avLst/>
            <a:gdLst/>
            <a:ahLst/>
            <a:cxnLst/>
            <a:rect r="r" b="b" t="t" l="l"/>
            <a:pathLst>
              <a:path h="2302632" w="11301259">
                <a:moveTo>
                  <a:pt x="0" y="0"/>
                </a:moveTo>
                <a:lnTo>
                  <a:pt x="11301259" y="0"/>
                </a:lnTo>
                <a:lnTo>
                  <a:pt x="11301259" y="2302631"/>
                </a:lnTo>
                <a:lnTo>
                  <a:pt x="0" y="2302631"/>
                </a:lnTo>
                <a:lnTo>
                  <a:pt x="0" y="0"/>
                </a:lnTo>
                <a:close/>
              </a:path>
            </a:pathLst>
          </a:custGeom>
          <a:blipFill>
            <a:blip r:embed="rId3"/>
            <a:stretch>
              <a:fillRect l="0" t="0" r="0" b="0"/>
            </a:stretch>
          </a:blipFill>
        </p:spPr>
      </p:sp>
      <p:sp>
        <p:nvSpPr>
          <p:cNvPr name="TextBox 13" id="13"/>
          <p:cNvSpPr txBox="true"/>
          <p:nvPr/>
        </p:nvSpPr>
        <p:spPr>
          <a:xfrm rot="0">
            <a:off x="1517875" y="2586496"/>
            <a:ext cx="11301259" cy="177292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Một </a:t>
            </a:r>
            <a:r>
              <a:rPr lang="en-US" sz="2799">
                <a:solidFill>
                  <a:srgbClr val="666666"/>
                </a:solidFill>
                <a:latin typeface="Poppins"/>
                <a:ea typeface="Poppins"/>
                <a:cs typeface="Poppins"/>
                <a:sym typeface="Poppins"/>
              </a:rPr>
              <a:t>trong những ứng dụng nổi bật của GenAI là khả năng tạo dữ liệu mẫu với nhiều định dạng khác nhau như JSON, CSV, bảng dữ liệu hoặc thậm chí các định dạng chuyên biệt như FASTA trong sinh học.</a:t>
            </a:r>
          </a:p>
        </p:txBody>
      </p:sp>
      <p:sp>
        <p:nvSpPr>
          <p:cNvPr name="TextBox 14" id="14"/>
          <p:cNvSpPr txBox="true"/>
          <p:nvPr/>
        </p:nvSpPr>
        <p:spPr>
          <a:xfrm rot="0">
            <a:off x="1517875" y="1071425"/>
            <a:ext cx="9552181"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Tạo</a:t>
            </a:r>
            <a:r>
              <a:rPr lang="en-US" sz="6000">
                <a:solidFill>
                  <a:srgbClr val="000000"/>
                </a:solidFill>
                <a:latin typeface="Arimo"/>
                <a:ea typeface="Arimo"/>
                <a:cs typeface="Arimo"/>
                <a:sym typeface="Arimo"/>
              </a:rPr>
              <a:t> dữ liệu mẫu với GenAI</a:t>
            </a:r>
          </a:p>
        </p:txBody>
      </p:sp>
      <p:sp>
        <p:nvSpPr>
          <p:cNvPr name="TextBox 15" id="15"/>
          <p:cNvSpPr txBox="true"/>
          <p:nvPr/>
        </p:nvSpPr>
        <p:spPr>
          <a:xfrm rot="0">
            <a:off x="1517875" y="4778516"/>
            <a:ext cx="3794643" cy="4584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Ví</a:t>
            </a:r>
            <a:r>
              <a:rPr lang="en-US" sz="2799">
                <a:solidFill>
                  <a:srgbClr val="666666"/>
                </a:solidFill>
                <a:latin typeface="Poppins"/>
                <a:ea typeface="Poppins"/>
                <a:cs typeface="Poppins"/>
                <a:sym typeface="Poppins"/>
              </a:rPr>
              <a:t> dụ dữ liệu JSON: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8900044"/>
        </a:gradFill>
      </p:bgPr>
    </p:bg>
    <p:spTree>
      <p:nvGrpSpPr>
        <p:cNvPr id="1" name=""/>
        <p:cNvGrpSpPr/>
        <p:nvPr/>
      </p:nvGrpSpPr>
      <p:grpSpPr>
        <a:xfrm>
          <a:off x="0" y="0"/>
          <a:ext cx="0" cy="0"/>
          <a:chOff x="0" y="0"/>
          <a:chExt cx="0" cy="0"/>
        </a:xfrm>
      </p:grpSpPr>
      <p:grpSp>
        <p:nvGrpSpPr>
          <p:cNvPr name="Group 2" id="2"/>
          <p:cNvGrpSpPr/>
          <p:nvPr/>
        </p:nvGrpSpPr>
        <p:grpSpPr>
          <a:xfrm rot="0">
            <a:off x="0" y="9644400"/>
            <a:ext cx="5715000" cy="642600"/>
            <a:chOff x="0" y="0"/>
            <a:chExt cx="7620000" cy="856800"/>
          </a:xfrm>
        </p:grpSpPr>
        <p:sp>
          <p:nvSpPr>
            <p:cNvPr name="Freeform 3" id="3"/>
            <p:cNvSpPr/>
            <p:nvPr/>
          </p:nvSpPr>
          <p:spPr>
            <a:xfrm flipH="false" flipV="false" rot="0">
              <a:off x="0" y="0"/>
              <a:ext cx="7620000" cy="856742"/>
            </a:xfrm>
            <a:custGeom>
              <a:avLst/>
              <a:gdLst/>
              <a:ahLst/>
              <a:cxnLst/>
              <a:rect r="r" b="b" t="t" l="l"/>
              <a:pathLst>
                <a:path h="856742" w="7620000">
                  <a:moveTo>
                    <a:pt x="0" y="0"/>
                  </a:moveTo>
                  <a:lnTo>
                    <a:pt x="7191629" y="0"/>
                  </a:lnTo>
                  <a:cubicBezTo>
                    <a:pt x="7428230" y="0"/>
                    <a:pt x="7620000" y="191770"/>
                    <a:pt x="7620000" y="428371"/>
                  </a:cubicBezTo>
                  <a:lnTo>
                    <a:pt x="7620000"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0">
            <a:off x="9858273" y="3157175"/>
            <a:ext cx="1817850" cy="1817850"/>
            <a:chOff x="0" y="0"/>
            <a:chExt cx="2423800" cy="2423800"/>
          </a:xfrm>
        </p:grpSpPr>
        <p:sp>
          <p:nvSpPr>
            <p:cNvPr name="Freeform 5" id="5"/>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grpSp>
        <p:nvGrpSpPr>
          <p:cNvPr name="Group 6" id="6"/>
          <p:cNvGrpSpPr/>
          <p:nvPr/>
        </p:nvGrpSpPr>
        <p:grpSpPr>
          <a:xfrm rot="0">
            <a:off x="2525773" y="3157175"/>
            <a:ext cx="1817850" cy="1817850"/>
            <a:chOff x="0" y="0"/>
            <a:chExt cx="2423800" cy="2423800"/>
          </a:xfrm>
        </p:grpSpPr>
        <p:sp>
          <p:nvSpPr>
            <p:cNvPr name="Freeform 7" id="7"/>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sp>
        <p:nvSpPr>
          <p:cNvPr name="TextBox 8" id="8"/>
          <p:cNvSpPr txBox="true"/>
          <p:nvPr/>
        </p:nvSpPr>
        <p:spPr>
          <a:xfrm rot="0">
            <a:off x="2626701" y="5115500"/>
            <a:ext cx="57019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Unit t</a:t>
            </a:r>
            <a:r>
              <a:rPr lang="en-US" sz="6000">
                <a:solidFill>
                  <a:srgbClr val="000000"/>
                </a:solidFill>
                <a:latin typeface="Arimo"/>
                <a:ea typeface="Arimo"/>
                <a:cs typeface="Arimo"/>
                <a:sym typeface="Arimo"/>
              </a:rPr>
              <a:t>est</a:t>
            </a:r>
          </a:p>
        </p:txBody>
      </p:sp>
      <p:sp>
        <p:nvSpPr>
          <p:cNvPr name="TextBox 9" id="9"/>
          <p:cNvSpPr txBox="true"/>
          <p:nvPr/>
        </p:nvSpPr>
        <p:spPr>
          <a:xfrm rot="0">
            <a:off x="9959215" y="6201350"/>
            <a:ext cx="6408335" cy="3381375"/>
          </a:xfrm>
          <a:prstGeom prst="rect">
            <a:avLst/>
          </a:prstGeom>
        </p:spPr>
        <p:txBody>
          <a:bodyPr anchor="t" rtlCol="false" tIns="0" lIns="0" bIns="0" rIns="0">
            <a:spAutoFit/>
          </a:bodyPr>
          <a:lstStyle/>
          <a:p>
            <a:pPr algn="just">
              <a:lnSpc>
                <a:spcPts val="3359"/>
              </a:lnSpc>
            </a:pPr>
            <a:r>
              <a:rPr lang="en-US" sz="2799">
                <a:solidFill>
                  <a:srgbClr val="666666"/>
                </a:solidFill>
                <a:latin typeface="Poppins"/>
                <a:ea typeface="Poppins"/>
                <a:cs typeface="Poppins"/>
                <a:sym typeface="Poppins"/>
              </a:rPr>
              <a:t>Pyt</a:t>
            </a:r>
            <a:r>
              <a:rPr lang="en-US" sz="2799">
                <a:solidFill>
                  <a:srgbClr val="666666"/>
                </a:solidFill>
                <a:latin typeface="Poppins"/>
                <a:ea typeface="Poppins"/>
                <a:cs typeface="Poppins"/>
                <a:sym typeface="Poppins"/>
              </a:rPr>
              <a:t>est được thiết kế đơn giản hóa và tối ưu hóa trải nghiệm của lập trình viên. Thay vì yêu cầu cấu trúc lớp, pytest cho phép viết test dưới dạng các hàm thông thường, sử dụng các câu lệnh assert trực tiếp, từ đó giúp mã kiểm thử trở nên ngắn gọn và dễ đọc hơn.</a:t>
            </a:r>
          </a:p>
        </p:txBody>
      </p:sp>
      <p:sp>
        <p:nvSpPr>
          <p:cNvPr name="TextBox 10" id="10"/>
          <p:cNvSpPr txBox="true"/>
          <p:nvPr/>
        </p:nvSpPr>
        <p:spPr>
          <a:xfrm rot="0">
            <a:off x="2525773" y="6201350"/>
            <a:ext cx="6102417" cy="2543175"/>
          </a:xfrm>
          <a:prstGeom prst="rect">
            <a:avLst/>
          </a:prstGeom>
        </p:spPr>
        <p:txBody>
          <a:bodyPr anchor="t" rtlCol="false" tIns="0" lIns="0" bIns="0" rIns="0">
            <a:spAutoFit/>
          </a:bodyPr>
          <a:lstStyle/>
          <a:p>
            <a:pPr algn="just">
              <a:lnSpc>
                <a:spcPts val="3359"/>
              </a:lnSpc>
            </a:pPr>
            <a:r>
              <a:rPr lang="en-US" sz="2799">
                <a:solidFill>
                  <a:srgbClr val="666666"/>
                </a:solidFill>
                <a:latin typeface="Poppins"/>
                <a:ea typeface="Poppins"/>
                <a:cs typeface="Poppins"/>
                <a:sym typeface="Poppins"/>
              </a:rPr>
              <a:t>U</a:t>
            </a:r>
            <a:r>
              <a:rPr lang="en-US" sz="2799">
                <a:solidFill>
                  <a:srgbClr val="666666"/>
                </a:solidFill>
                <a:latin typeface="Poppins"/>
                <a:ea typeface="Poppins"/>
                <a:cs typeface="Poppins"/>
                <a:sym typeface="Poppins"/>
              </a:rPr>
              <a:t>nittest là framework được tích hợp sẵn trong thư viện chuẩn của Python, do đó không yêu cầu cài đặt thêm và thường được sử dụng trong các hệ thống có tính ổn định cao hoặc mang tính kế thừa</a:t>
            </a:r>
          </a:p>
        </p:txBody>
      </p:sp>
      <p:sp>
        <p:nvSpPr>
          <p:cNvPr name="TextBox 11" id="11"/>
          <p:cNvSpPr txBox="true"/>
          <p:nvPr/>
        </p:nvSpPr>
        <p:spPr>
          <a:xfrm rot="0">
            <a:off x="1517875" y="614225"/>
            <a:ext cx="12162832" cy="18573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Công cụ </a:t>
            </a:r>
            <a:r>
              <a:rPr lang="en-US" sz="6000">
                <a:solidFill>
                  <a:srgbClr val="000000"/>
                </a:solidFill>
                <a:latin typeface="Arimo"/>
                <a:ea typeface="Arimo"/>
                <a:cs typeface="Arimo"/>
                <a:sym typeface="Arimo"/>
              </a:rPr>
              <a:t>và khung kiểm thử truyền thống</a:t>
            </a:r>
          </a:p>
        </p:txBody>
      </p:sp>
      <p:sp>
        <p:nvSpPr>
          <p:cNvPr name="Freeform 12" id="12"/>
          <p:cNvSpPr/>
          <p:nvPr/>
        </p:nvSpPr>
        <p:spPr>
          <a:xfrm flipH="false" flipV="false" rot="0">
            <a:off x="3102658" y="3733914"/>
            <a:ext cx="665992" cy="664370"/>
          </a:xfrm>
          <a:custGeom>
            <a:avLst/>
            <a:gdLst/>
            <a:ahLst/>
            <a:cxnLst/>
            <a:rect r="r" b="b" t="t" l="l"/>
            <a:pathLst>
              <a:path h="664370" w="665992">
                <a:moveTo>
                  <a:pt x="0" y="0"/>
                </a:moveTo>
                <a:lnTo>
                  <a:pt x="665992" y="0"/>
                </a:lnTo>
                <a:lnTo>
                  <a:pt x="665992" y="664370"/>
                </a:lnTo>
                <a:lnTo>
                  <a:pt x="0" y="6643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402476" y="3733912"/>
            <a:ext cx="729442" cy="664410"/>
          </a:xfrm>
          <a:custGeom>
            <a:avLst/>
            <a:gdLst/>
            <a:ahLst/>
            <a:cxnLst/>
            <a:rect r="r" b="b" t="t" l="l"/>
            <a:pathLst>
              <a:path h="664410" w="729442">
                <a:moveTo>
                  <a:pt x="0" y="0"/>
                </a:moveTo>
                <a:lnTo>
                  <a:pt x="729442" y="0"/>
                </a:lnTo>
                <a:lnTo>
                  <a:pt x="729442" y="664410"/>
                </a:lnTo>
                <a:lnTo>
                  <a:pt x="0" y="6644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3386150" y="-3774750"/>
            <a:ext cx="5962800" cy="5962800"/>
            <a:chOff x="0" y="0"/>
            <a:chExt cx="7950400" cy="7950400"/>
          </a:xfrm>
        </p:grpSpPr>
        <p:sp>
          <p:nvSpPr>
            <p:cNvPr name="Freeform 15" id="15"/>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16" id="16"/>
          <p:cNvGrpSpPr/>
          <p:nvPr/>
        </p:nvGrpSpPr>
        <p:grpSpPr>
          <a:xfrm rot="0">
            <a:off x="16367550" y="523900"/>
            <a:ext cx="2981400" cy="2981400"/>
            <a:chOff x="0" y="0"/>
            <a:chExt cx="3975200" cy="3975200"/>
          </a:xfrm>
        </p:grpSpPr>
        <p:sp>
          <p:nvSpPr>
            <p:cNvPr name="Freeform 17" id="17"/>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TextBox 18" id="18"/>
          <p:cNvSpPr txBox="true"/>
          <p:nvPr/>
        </p:nvSpPr>
        <p:spPr>
          <a:xfrm rot="0">
            <a:off x="9959215" y="5115500"/>
            <a:ext cx="57019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Pyt</a:t>
            </a:r>
            <a:r>
              <a:rPr lang="en-US" sz="6000">
                <a:solidFill>
                  <a:srgbClr val="000000"/>
                </a:solidFill>
                <a:latin typeface="Arimo"/>
                <a:ea typeface="Arimo"/>
                <a:cs typeface="Arimo"/>
                <a:sym typeface="Arimo"/>
              </a:rPr>
              <a:t>est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8900044"/>
        </a:gradFill>
      </p:bgPr>
    </p:bg>
    <p:spTree>
      <p:nvGrpSpPr>
        <p:cNvPr id="1" name=""/>
        <p:cNvGrpSpPr/>
        <p:nvPr/>
      </p:nvGrpSpPr>
      <p:grpSpPr>
        <a:xfrm>
          <a:off x="0" y="0"/>
          <a:ext cx="0" cy="0"/>
          <a:chOff x="0" y="0"/>
          <a:chExt cx="0" cy="0"/>
        </a:xfrm>
      </p:grpSpPr>
      <p:grpSp>
        <p:nvGrpSpPr>
          <p:cNvPr name="Group 2" id="2"/>
          <p:cNvGrpSpPr/>
          <p:nvPr/>
        </p:nvGrpSpPr>
        <p:grpSpPr>
          <a:xfrm rot="0">
            <a:off x="0" y="9644400"/>
            <a:ext cx="5715000" cy="642600"/>
            <a:chOff x="0" y="0"/>
            <a:chExt cx="7620000" cy="856800"/>
          </a:xfrm>
        </p:grpSpPr>
        <p:sp>
          <p:nvSpPr>
            <p:cNvPr name="Freeform 3" id="3"/>
            <p:cNvSpPr/>
            <p:nvPr/>
          </p:nvSpPr>
          <p:spPr>
            <a:xfrm flipH="false" flipV="false" rot="0">
              <a:off x="0" y="0"/>
              <a:ext cx="7620000" cy="856742"/>
            </a:xfrm>
            <a:custGeom>
              <a:avLst/>
              <a:gdLst/>
              <a:ahLst/>
              <a:cxnLst/>
              <a:rect r="r" b="b" t="t" l="l"/>
              <a:pathLst>
                <a:path h="856742" w="7620000">
                  <a:moveTo>
                    <a:pt x="0" y="0"/>
                  </a:moveTo>
                  <a:lnTo>
                    <a:pt x="7191629" y="0"/>
                  </a:lnTo>
                  <a:cubicBezTo>
                    <a:pt x="7428230" y="0"/>
                    <a:pt x="7620000" y="191770"/>
                    <a:pt x="7620000" y="428371"/>
                  </a:cubicBezTo>
                  <a:lnTo>
                    <a:pt x="7620000"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0">
            <a:off x="9858273" y="3157175"/>
            <a:ext cx="1817850" cy="1817850"/>
            <a:chOff x="0" y="0"/>
            <a:chExt cx="2423800" cy="2423800"/>
          </a:xfrm>
        </p:grpSpPr>
        <p:sp>
          <p:nvSpPr>
            <p:cNvPr name="Freeform 5" id="5"/>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grpSp>
        <p:nvGrpSpPr>
          <p:cNvPr name="Group 6" id="6"/>
          <p:cNvGrpSpPr/>
          <p:nvPr/>
        </p:nvGrpSpPr>
        <p:grpSpPr>
          <a:xfrm rot="0">
            <a:off x="2525773" y="3157175"/>
            <a:ext cx="1817850" cy="1817850"/>
            <a:chOff x="0" y="0"/>
            <a:chExt cx="2423800" cy="2423800"/>
          </a:xfrm>
        </p:grpSpPr>
        <p:sp>
          <p:nvSpPr>
            <p:cNvPr name="Freeform 7" id="7"/>
            <p:cNvSpPr/>
            <p:nvPr/>
          </p:nvSpPr>
          <p:spPr>
            <a:xfrm flipH="false" flipV="false" rot="0">
              <a:off x="0" y="0"/>
              <a:ext cx="2423922" cy="2423922"/>
            </a:xfrm>
            <a:custGeom>
              <a:avLst/>
              <a:gdLst/>
              <a:ahLst/>
              <a:cxnLst/>
              <a:rect r="r" b="b" t="t" l="l"/>
              <a:pathLst>
                <a:path h="2423922" w="2423922">
                  <a:moveTo>
                    <a:pt x="0" y="1211961"/>
                  </a:moveTo>
                  <a:cubicBezTo>
                    <a:pt x="0" y="542544"/>
                    <a:pt x="542544" y="0"/>
                    <a:pt x="1211961" y="0"/>
                  </a:cubicBezTo>
                  <a:lnTo>
                    <a:pt x="1211961" y="12700"/>
                  </a:lnTo>
                  <a:lnTo>
                    <a:pt x="1211961" y="0"/>
                  </a:lnTo>
                  <a:cubicBezTo>
                    <a:pt x="1881251" y="0"/>
                    <a:pt x="2423922" y="542544"/>
                    <a:pt x="2423922" y="1211961"/>
                  </a:cubicBezTo>
                  <a:lnTo>
                    <a:pt x="2411222" y="1211961"/>
                  </a:lnTo>
                  <a:lnTo>
                    <a:pt x="2423922" y="1211961"/>
                  </a:lnTo>
                  <a:cubicBezTo>
                    <a:pt x="2423922" y="1881251"/>
                    <a:pt x="1881378" y="2423922"/>
                    <a:pt x="1211961" y="2423922"/>
                  </a:cubicBezTo>
                  <a:lnTo>
                    <a:pt x="1211961" y="2411222"/>
                  </a:lnTo>
                  <a:lnTo>
                    <a:pt x="1211961" y="2423922"/>
                  </a:lnTo>
                  <a:cubicBezTo>
                    <a:pt x="542544" y="2423795"/>
                    <a:pt x="0" y="1881251"/>
                    <a:pt x="0" y="1211961"/>
                  </a:cubicBezTo>
                  <a:lnTo>
                    <a:pt x="12700" y="1211961"/>
                  </a:lnTo>
                  <a:lnTo>
                    <a:pt x="25400" y="1211961"/>
                  </a:lnTo>
                  <a:lnTo>
                    <a:pt x="12700" y="1211961"/>
                  </a:lnTo>
                  <a:lnTo>
                    <a:pt x="0" y="1211961"/>
                  </a:lnTo>
                  <a:moveTo>
                    <a:pt x="25400" y="1211961"/>
                  </a:moveTo>
                  <a:cubicBezTo>
                    <a:pt x="25400" y="1218946"/>
                    <a:pt x="19685" y="1224661"/>
                    <a:pt x="12700" y="1224661"/>
                  </a:cubicBezTo>
                  <a:cubicBezTo>
                    <a:pt x="5715" y="1224661"/>
                    <a:pt x="0" y="1218946"/>
                    <a:pt x="0" y="1211961"/>
                  </a:cubicBezTo>
                  <a:cubicBezTo>
                    <a:pt x="0" y="1204976"/>
                    <a:pt x="5715" y="1199261"/>
                    <a:pt x="12700" y="1199261"/>
                  </a:cubicBezTo>
                  <a:cubicBezTo>
                    <a:pt x="19685" y="1199261"/>
                    <a:pt x="25400" y="1204976"/>
                    <a:pt x="25400" y="1211961"/>
                  </a:cubicBezTo>
                  <a:cubicBezTo>
                    <a:pt x="25400" y="1867281"/>
                    <a:pt x="556641" y="2398522"/>
                    <a:pt x="1211961" y="2398522"/>
                  </a:cubicBezTo>
                  <a:cubicBezTo>
                    <a:pt x="1867281" y="2398522"/>
                    <a:pt x="2398522" y="1867281"/>
                    <a:pt x="2398522" y="1211961"/>
                  </a:cubicBezTo>
                  <a:cubicBezTo>
                    <a:pt x="2398522" y="556641"/>
                    <a:pt x="1867154" y="25400"/>
                    <a:pt x="1211961" y="25400"/>
                  </a:cubicBezTo>
                  <a:lnTo>
                    <a:pt x="1211961" y="12700"/>
                  </a:lnTo>
                  <a:lnTo>
                    <a:pt x="1211961" y="25400"/>
                  </a:lnTo>
                  <a:cubicBezTo>
                    <a:pt x="556641" y="25400"/>
                    <a:pt x="25400" y="556641"/>
                    <a:pt x="25400" y="1211961"/>
                  </a:cubicBezTo>
                  <a:close/>
                </a:path>
              </a:pathLst>
            </a:custGeom>
            <a:solidFill>
              <a:srgbClr val="000000"/>
            </a:solidFill>
          </p:spPr>
        </p:sp>
      </p:grpSp>
      <p:sp>
        <p:nvSpPr>
          <p:cNvPr name="TextBox 8" id="8"/>
          <p:cNvSpPr txBox="true"/>
          <p:nvPr/>
        </p:nvSpPr>
        <p:spPr>
          <a:xfrm rot="0">
            <a:off x="2525773" y="5116700"/>
            <a:ext cx="57019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GitHub Copilo</a:t>
            </a:r>
            <a:r>
              <a:rPr lang="en-US" sz="6000">
                <a:solidFill>
                  <a:srgbClr val="000000"/>
                </a:solidFill>
                <a:latin typeface="Arimo"/>
                <a:ea typeface="Arimo"/>
                <a:cs typeface="Arimo"/>
                <a:sym typeface="Arimo"/>
              </a:rPr>
              <a:t>t</a:t>
            </a:r>
          </a:p>
        </p:txBody>
      </p:sp>
      <p:sp>
        <p:nvSpPr>
          <p:cNvPr name="TextBox 9" id="9"/>
          <p:cNvSpPr txBox="true"/>
          <p:nvPr/>
        </p:nvSpPr>
        <p:spPr>
          <a:xfrm rot="0">
            <a:off x="9959215" y="6201350"/>
            <a:ext cx="6408335" cy="3381375"/>
          </a:xfrm>
          <a:prstGeom prst="rect">
            <a:avLst/>
          </a:prstGeom>
        </p:spPr>
        <p:txBody>
          <a:bodyPr anchor="t" rtlCol="false" tIns="0" lIns="0" bIns="0" rIns="0">
            <a:spAutoFit/>
          </a:bodyPr>
          <a:lstStyle/>
          <a:p>
            <a:pPr algn="just">
              <a:lnSpc>
                <a:spcPts val="3359"/>
              </a:lnSpc>
            </a:pPr>
            <a:r>
              <a:rPr lang="en-US" sz="2799">
                <a:solidFill>
                  <a:srgbClr val="666666"/>
                </a:solidFill>
                <a:latin typeface="Poppins"/>
                <a:ea typeface="Poppins"/>
                <a:cs typeface="Poppins"/>
                <a:sym typeface="Poppins"/>
              </a:rPr>
              <a:t>Cha</a:t>
            </a:r>
            <a:r>
              <a:rPr lang="en-US" sz="2799">
                <a:solidFill>
                  <a:srgbClr val="666666"/>
                </a:solidFill>
                <a:latin typeface="Poppins"/>
                <a:ea typeface="Poppins"/>
                <a:cs typeface="Poppins"/>
                <a:sym typeface="Poppins"/>
              </a:rPr>
              <a:t>tGPT thể hiện thế mạnh ở khả năng phân tích và suy luận. Khi một bài kiểm thử thất bại, có thể cung cấp thông tin về lỗi và đoạn mã liên quan, từ đó ChatGPT có thể giải thích nguyên nhân, chỉ ra các điểm bất hợp lý trong logic và đề xuất hướng khắc phục.</a:t>
            </a:r>
          </a:p>
        </p:txBody>
      </p:sp>
      <p:sp>
        <p:nvSpPr>
          <p:cNvPr name="TextBox 10" id="10"/>
          <p:cNvSpPr txBox="true"/>
          <p:nvPr/>
        </p:nvSpPr>
        <p:spPr>
          <a:xfrm rot="0">
            <a:off x="2525773" y="6201350"/>
            <a:ext cx="6102417" cy="2124075"/>
          </a:xfrm>
          <a:prstGeom prst="rect">
            <a:avLst/>
          </a:prstGeom>
        </p:spPr>
        <p:txBody>
          <a:bodyPr anchor="t" rtlCol="false" tIns="0" lIns="0" bIns="0" rIns="0">
            <a:spAutoFit/>
          </a:bodyPr>
          <a:lstStyle/>
          <a:p>
            <a:pPr algn="just">
              <a:lnSpc>
                <a:spcPts val="3359"/>
              </a:lnSpc>
            </a:pPr>
            <a:r>
              <a:rPr lang="en-US" sz="2799">
                <a:solidFill>
                  <a:srgbClr val="666666"/>
                </a:solidFill>
                <a:latin typeface="Poppins"/>
                <a:ea typeface="Poppins"/>
                <a:cs typeface="Poppins"/>
                <a:sym typeface="Poppins"/>
              </a:rPr>
              <a:t>Vớ</a:t>
            </a:r>
            <a:r>
              <a:rPr lang="en-US" sz="2799">
                <a:solidFill>
                  <a:srgbClr val="666666"/>
                </a:solidFill>
                <a:latin typeface="Poppins"/>
                <a:ea typeface="Poppins"/>
                <a:cs typeface="Poppins"/>
                <a:sym typeface="Poppins"/>
              </a:rPr>
              <a:t>i các cú pháp như @workspace/tests, công cụ này có thể quét toàn bộ dự án và sinh ra các test cases phù hợp với cấu trúc và logic sẵn có</a:t>
            </a:r>
          </a:p>
        </p:txBody>
      </p:sp>
      <p:sp>
        <p:nvSpPr>
          <p:cNvPr name="TextBox 11" id="11"/>
          <p:cNvSpPr txBox="true"/>
          <p:nvPr/>
        </p:nvSpPr>
        <p:spPr>
          <a:xfrm rot="0">
            <a:off x="1517875" y="614225"/>
            <a:ext cx="12181902" cy="18573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Công cụ </a:t>
            </a:r>
            <a:r>
              <a:rPr lang="en-US" sz="6000">
                <a:solidFill>
                  <a:srgbClr val="000000"/>
                </a:solidFill>
                <a:latin typeface="Arimo"/>
                <a:ea typeface="Arimo"/>
                <a:cs typeface="Arimo"/>
                <a:sym typeface="Arimo"/>
              </a:rPr>
              <a:t>và khung kiểm thử với GenAI</a:t>
            </a:r>
          </a:p>
        </p:txBody>
      </p:sp>
      <p:sp>
        <p:nvSpPr>
          <p:cNvPr name="Freeform 12" id="12"/>
          <p:cNvSpPr/>
          <p:nvPr/>
        </p:nvSpPr>
        <p:spPr>
          <a:xfrm flipH="false" flipV="false" rot="0">
            <a:off x="3102658" y="3733914"/>
            <a:ext cx="665992" cy="664370"/>
          </a:xfrm>
          <a:custGeom>
            <a:avLst/>
            <a:gdLst/>
            <a:ahLst/>
            <a:cxnLst/>
            <a:rect r="r" b="b" t="t" l="l"/>
            <a:pathLst>
              <a:path h="664370" w="665992">
                <a:moveTo>
                  <a:pt x="0" y="0"/>
                </a:moveTo>
                <a:lnTo>
                  <a:pt x="665992" y="0"/>
                </a:lnTo>
                <a:lnTo>
                  <a:pt x="665992" y="664370"/>
                </a:lnTo>
                <a:lnTo>
                  <a:pt x="0" y="6643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402476" y="3733912"/>
            <a:ext cx="729442" cy="664410"/>
          </a:xfrm>
          <a:custGeom>
            <a:avLst/>
            <a:gdLst/>
            <a:ahLst/>
            <a:cxnLst/>
            <a:rect r="r" b="b" t="t" l="l"/>
            <a:pathLst>
              <a:path h="664410" w="729442">
                <a:moveTo>
                  <a:pt x="0" y="0"/>
                </a:moveTo>
                <a:lnTo>
                  <a:pt x="729442" y="0"/>
                </a:lnTo>
                <a:lnTo>
                  <a:pt x="729442" y="664410"/>
                </a:lnTo>
                <a:lnTo>
                  <a:pt x="0" y="6644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3386150" y="-3774750"/>
            <a:ext cx="5962800" cy="5962800"/>
            <a:chOff x="0" y="0"/>
            <a:chExt cx="7950400" cy="7950400"/>
          </a:xfrm>
        </p:grpSpPr>
        <p:sp>
          <p:nvSpPr>
            <p:cNvPr name="Freeform 15" id="15"/>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16" id="16"/>
          <p:cNvGrpSpPr/>
          <p:nvPr/>
        </p:nvGrpSpPr>
        <p:grpSpPr>
          <a:xfrm rot="0">
            <a:off x="16367550" y="523900"/>
            <a:ext cx="2981400" cy="2981400"/>
            <a:chOff x="0" y="0"/>
            <a:chExt cx="3975200" cy="3975200"/>
          </a:xfrm>
        </p:grpSpPr>
        <p:sp>
          <p:nvSpPr>
            <p:cNvPr name="Freeform 17" id="17"/>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TextBox 18" id="18"/>
          <p:cNvSpPr txBox="true"/>
          <p:nvPr/>
        </p:nvSpPr>
        <p:spPr>
          <a:xfrm rot="0">
            <a:off x="9959215" y="5115500"/>
            <a:ext cx="57019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ChatGPT</a:t>
            </a:r>
          </a:p>
        </p:txBody>
      </p:sp>
    </p:spTree>
  </p:cSld>
  <p:clrMapOvr>
    <a:masterClrMapping/>
  </p:clrMapOvr>
</p:sld>
</file>

<file path=ppt/slides/slide17.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8900732"/>
        </a:gradFill>
      </p:bgPr>
    </p:bg>
    <p:spTree>
      <p:nvGrpSpPr>
        <p:cNvPr id="1" name=""/>
        <p:cNvGrpSpPr/>
        <p:nvPr/>
      </p:nvGrpSpPr>
      <p:grpSpPr>
        <a:xfrm>
          <a:off x="0" y="0"/>
          <a:ext cx="0" cy="0"/>
          <a:chOff x="0" y="0"/>
          <a:chExt cx="0" cy="0"/>
        </a:xfrm>
      </p:grpSpPr>
      <p:grpSp>
        <p:nvGrpSpPr>
          <p:cNvPr name="Group 2" id="2"/>
          <p:cNvGrpSpPr/>
          <p:nvPr/>
        </p:nvGrpSpPr>
        <p:grpSpPr>
          <a:xfrm rot="0">
            <a:off x="12573600" y="9644250"/>
            <a:ext cx="5714400" cy="642600"/>
            <a:chOff x="0" y="0"/>
            <a:chExt cx="7619200" cy="856800"/>
          </a:xfrm>
        </p:grpSpPr>
        <p:sp>
          <p:nvSpPr>
            <p:cNvPr name="Freeform 3" id="3"/>
            <p:cNvSpPr/>
            <p:nvPr/>
          </p:nvSpPr>
          <p:spPr>
            <a:xfrm flipH="false" flipV="false" rot="0">
              <a:off x="0" y="0"/>
              <a:ext cx="7619238" cy="856742"/>
            </a:xfrm>
            <a:custGeom>
              <a:avLst/>
              <a:gdLst/>
              <a:ahLst/>
              <a:cxnLst/>
              <a:rect r="r" b="b" t="t" l="l"/>
              <a:pathLst>
                <a:path h="856742" w="7619238">
                  <a:moveTo>
                    <a:pt x="7619238" y="0"/>
                  </a:moveTo>
                  <a:lnTo>
                    <a:pt x="428371" y="0"/>
                  </a:lnTo>
                  <a:cubicBezTo>
                    <a:pt x="191770" y="0"/>
                    <a:pt x="0" y="191770"/>
                    <a:pt x="0" y="428371"/>
                  </a:cubicBezTo>
                  <a:lnTo>
                    <a:pt x="0" y="856742"/>
                  </a:lnTo>
                  <a:lnTo>
                    <a:pt x="7619238"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2535950" y="-2457100"/>
            <a:ext cx="4325400" cy="4326000"/>
            <a:chOff x="0" y="0"/>
            <a:chExt cx="5767200" cy="5768000"/>
          </a:xfrm>
        </p:grpSpPr>
        <p:sp>
          <p:nvSpPr>
            <p:cNvPr name="Freeform 9" id="9"/>
            <p:cNvSpPr/>
            <p:nvPr/>
          </p:nvSpPr>
          <p:spPr>
            <a:xfrm flipH="false" flipV="false" rot="0">
              <a:off x="0" y="0"/>
              <a:ext cx="5767197" cy="5767959"/>
            </a:xfrm>
            <a:custGeom>
              <a:avLst/>
              <a:gdLst/>
              <a:ahLst/>
              <a:cxnLst/>
              <a:rect r="r" b="b" t="t" l="l"/>
              <a:pathLst>
                <a:path h="5767959" w="5767197">
                  <a:moveTo>
                    <a:pt x="0" y="2884043"/>
                  </a:moveTo>
                  <a:cubicBezTo>
                    <a:pt x="0" y="1291209"/>
                    <a:pt x="1291082" y="0"/>
                    <a:pt x="2883662" y="0"/>
                  </a:cubicBezTo>
                  <a:cubicBezTo>
                    <a:pt x="4476242" y="0"/>
                    <a:pt x="5767197" y="1291209"/>
                    <a:pt x="5767197" y="2884043"/>
                  </a:cubicBezTo>
                  <a:cubicBezTo>
                    <a:pt x="5767197" y="4476877"/>
                    <a:pt x="4476115" y="5767959"/>
                    <a:pt x="2883662" y="5767959"/>
                  </a:cubicBezTo>
                  <a:cubicBezTo>
                    <a:pt x="1291209" y="5767959"/>
                    <a:pt x="0" y="4476750"/>
                    <a:pt x="0" y="2884043"/>
                  </a:cubicBezTo>
                  <a:close/>
                </a:path>
              </a:pathLst>
            </a:custGeom>
            <a:solidFill>
              <a:srgbClr val="FFFFFF"/>
            </a:solidFill>
          </p:spPr>
        </p:sp>
      </p:grpSp>
      <p:grpSp>
        <p:nvGrpSpPr>
          <p:cNvPr name="Group 10" id="10"/>
          <p:cNvGrpSpPr/>
          <p:nvPr/>
        </p:nvGrpSpPr>
        <p:grpSpPr>
          <a:xfrm rot="0">
            <a:off x="15586450" y="7604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gradFill rotWithShape="true">
              <a:gsLst>
                <a:gs pos="0">
                  <a:srgbClr val="D149CE">
                    <a:alpha val="100000"/>
                  </a:srgbClr>
                </a:gs>
                <a:gs pos="100000">
                  <a:srgbClr val="43309F">
                    <a:alpha val="100000"/>
                  </a:srgbClr>
                </a:gs>
              </a:gsLst>
              <a:lin ang="5400012"/>
            </a:gradFill>
          </p:spPr>
        </p:sp>
      </p:grpSp>
      <p:sp>
        <p:nvSpPr>
          <p:cNvPr name="TextBox 12" id="12"/>
          <p:cNvSpPr txBox="true"/>
          <p:nvPr/>
        </p:nvSpPr>
        <p:spPr>
          <a:xfrm rot="0">
            <a:off x="1517875" y="2606601"/>
            <a:ext cx="12355451" cy="13347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Mặc</a:t>
            </a:r>
            <a:r>
              <a:rPr lang="en-US" sz="2799">
                <a:solidFill>
                  <a:srgbClr val="666666"/>
                </a:solidFill>
                <a:latin typeface="Poppins"/>
                <a:ea typeface="Poppins"/>
                <a:cs typeface="Poppins"/>
                <a:sym typeface="Poppins"/>
              </a:rPr>
              <a:t> dù GenAI mang lại nhiều lợi ích, việc sử dụng nó trong kiểm thử phần mềm cần được thực hiện một cách thận trọng. Các test cases do GenAI sinh ra có thể:</a:t>
            </a:r>
          </a:p>
        </p:txBody>
      </p:sp>
      <p:sp>
        <p:nvSpPr>
          <p:cNvPr name="TextBox 13" id="13"/>
          <p:cNvSpPr txBox="true"/>
          <p:nvPr/>
        </p:nvSpPr>
        <p:spPr>
          <a:xfrm rot="0">
            <a:off x="1517875" y="1071425"/>
            <a:ext cx="9552181"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Hạn</a:t>
            </a:r>
            <a:r>
              <a:rPr lang="en-US" sz="6000">
                <a:solidFill>
                  <a:srgbClr val="000000"/>
                </a:solidFill>
                <a:latin typeface="Arimo"/>
                <a:ea typeface="Arimo"/>
                <a:cs typeface="Arimo"/>
                <a:sym typeface="Arimo"/>
              </a:rPr>
              <a:t> chế thực tiễn</a:t>
            </a:r>
          </a:p>
        </p:txBody>
      </p:sp>
      <p:sp>
        <p:nvSpPr>
          <p:cNvPr name="TextBox 14" id="14"/>
          <p:cNvSpPr txBox="true"/>
          <p:nvPr/>
        </p:nvSpPr>
        <p:spPr>
          <a:xfrm rot="0">
            <a:off x="1517875" y="4304262"/>
            <a:ext cx="9552181" cy="458470"/>
          </a:xfrm>
          <a:prstGeom prst="rect">
            <a:avLst/>
          </a:prstGeom>
        </p:spPr>
        <p:txBody>
          <a:bodyPr anchor="t" rtlCol="false" tIns="0" lIns="0" bIns="0" rIns="0">
            <a:spAutoFit/>
          </a:bodyPr>
          <a:lstStyle/>
          <a:p>
            <a:pPr algn="l" marL="604519" indent="-302260" lvl="1">
              <a:lnSpc>
                <a:spcPts val="3499"/>
              </a:lnSpc>
              <a:buFont typeface="Arial"/>
              <a:buChar char="•"/>
            </a:pPr>
            <a:r>
              <a:rPr lang="en-US" sz="2799">
                <a:solidFill>
                  <a:srgbClr val="666666"/>
                </a:solidFill>
                <a:latin typeface="Poppins"/>
                <a:ea typeface="Poppins"/>
                <a:cs typeface="Poppins"/>
                <a:sym typeface="Poppins"/>
              </a:rPr>
              <a:t>K</a:t>
            </a:r>
            <a:r>
              <a:rPr lang="en-US" sz="2799">
                <a:solidFill>
                  <a:srgbClr val="666666"/>
                </a:solidFill>
                <a:latin typeface="Poppins"/>
                <a:ea typeface="Poppins"/>
                <a:cs typeface="Poppins"/>
                <a:sym typeface="Poppins"/>
              </a:rPr>
              <a:t>hông đầy đủ</a:t>
            </a:r>
          </a:p>
        </p:txBody>
      </p:sp>
      <p:sp>
        <p:nvSpPr>
          <p:cNvPr name="TextBox 15" id="15"/>
          <p:cNvSpPr txBox="true"/>
          <p:nvPr/>
        </p:nvSpPr>
        <p:spPr>
          <a:xfrm rot="0">
            <a:off x="1517875" y="4914339"/>
            <a:ext cx="9552181" cy="458470"/>
          </a:xfrm>
          <a:prstGeom prst="rect">
            <a:avLst/>
          </a:prstGeom>
        </p:spPr>
        <p:txBody>
          <a:bodyPr anchor="t" rtlCol="false" tIns="0" lIns="0" bIns="0" rIns="0">
            <a:spAutoFit/>
          </a:bodyPr>
          <a:lstStyle/>
          <a:p>
            <a:pPr algn="l" marL="604519" indent="-302260" lvl="1">
              <a:lnSpc>
                <a:spcPts val="3499"/>
              </a:lnSpc>
              <a:buFont typeface="Arial"/>
              <a:buChar char="•"/>
            </a:pPr>
            <a:r>
              <a:rPr lang="en-US" sz="2799">
                <a:solidFill>
                  <a:srgbClr val="666666"/>
                </a:solidFill>
                <a:latin typeface="Poppins"/>
                <a:ea typeface="Poppins"/>
                <a:cs typeface="Poppins"/>
                <a:sym typeface="Poppins"/>
              </a:rPr>
              <a:t>K</a:t>
            </a:r>
            <a:r>
              <a:rPr lang="en-US" sz="2799">
                <a:solidFill>
                  <a:srgbClr val="666666"/>
                </a:solidFill>
                <a:latin typeface="Poppins"/>
                <a:ea typeface="Poppins"/>
                <a:cs typeface="Poppins"/>
                <a:sym typeface="Poppins"/>
              </a:rPr>
              <a:t>hông chính xác về logic nghiệp vụ</a:t>
            </a:r>
          </a:p>
        </p:txBody>
      </p:sp>
      <p:sp>
        <p:nvSpPr>
          <p:cNvPr name="TextBox 16" id="16"/>
          <p:cNvSpPr txBox="true"/>
          <p:nvPr/>
        </p:nvSpPr>
        <p:spPr>
          <a:xfrm rot="0">
            <a:off x="1517875" y="5525209"/>
            <a:ext cx="9552181" cy="458470"/>
          </a:xfrm>
          <a:prstGeom prst="rect">
            <a:avLst/>
          </a:prstGeom>
        </p:spPr>
        <p:txBody>
          <a:bodyPr anchor="t" rtlCol="false" tIns="0" lIns="0" bIns="0" rIns="0">
            <a:spAutoFit/>
          </a:bodyPr>
          <a:lstStyle/>
          <a:p>
            <a:pPr algn="l" marL="604519" indent="-302260" lvl="1">
              <a:lnSpc>
                <a:spcPts val="3499"/>
              </a:lnSpc>
              <a:buFont typeface="Arial"/>
              <a:buChar char="•"/>
            </a:pPr>
            <a:r>
              <a:rPr lang="en-US" sz="2799">
                <a:solidFill>
                  <a:srgbClr val="666666"/>
                </a:solidFill>
                <a:latin typeface="Poppins"/>
                <a:ea typeface="Poppins"/>
                <a:cs typeface="Poppins"/>
                <a:sym typeface="Poppins"/>
              </a:rPr>
              <a:t>T</a:t>
            </a:r>
            <a:r>
              <a:rPr lang="en-US" sz="2799">
                <a:solidFill>
                  <a:srgbClr val="666666"/>
                </a:solidFill>
                <a:latin typeface="Poppins"/>
                <a:ea typeface="Poppins"/>
                <a:cs typeface="Poppins"/>
                <a:sym typeface="Poppins"/>
              </a:rPr>
              <a:t>hiếu các trường hợp đặc biệt quan trọng</a:t>
            </a:r>
          </a:p>
        </p:txBody>
      </p:sp>
      <p:sp>
        <p:nvSpPr>
          <p:cNvPr name="TextBox 17" id="17"/>
          <p:cNvSpPr txBox="true"/>
          <p:nvPr/>
        </p:nvSpPr>
        <p:spPr>
          <a:xfrm rot="0">
            <a:off x="1517875" y="6307529"/>
            <a:ext cx="12355451" cy="13347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N</a:t>
            </a:r>
            <a:r>
              <a:rPr lang="en-US" sz="2799">
                <a:solidFill>
                  <a:srgbClr val="666666"/>
                </a:solidFill>
                <a:latin typeface="Poppins"/>
                <a:ea typeface="Poppins"/>
                <a:cs typeface="Poppins"/>
                <a:sym typeface="Poppins"/>
              </a:rPr>
              <a:t>goài ra, kiểm thử không phải là hoạt động một lần mà là một quy trình lặp liên tục. Khi mã nguồn thay đổi, các test cũng cần được cập nhật tương ứng.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012"/>
        </a:gradFill>
      </p:bgPr>
    </p:bg>
    <p:spTree>
      <p:nvGrpSpPr>
        <p:cNvPr id="1" name=""/>
        <p:cNvGrpSpPr/>
        <p:nvPr/>
      </p:nvGrpSpPr>
      <p:grpSpPr>
        <a:xfrm>
          <a:off x="0" y="0"/>
          <a:ext cx="0" cy="0"/>
          <a:chOff x="0" y="0"/>
          <a:chExt cx="0" cy="0"/>
        </a:xfrm>
      </p:grpSpPr>
      <p:grpSp>
        <p:nvGrpSpPr>
          <p:cNvPr name="Group 2" id="2"/>
          <p:cNvGrpSpPr/>
          <p:nvPr/>
        </p:nvGrpSpPr>
        <p:grpSpPr>
          <a:xfrm rot="-10800000">
            <a:off x="0" y="0"/>
            <a:ext cx="5715000" cy="642600"/>
            <a:chOff x="0" y="0"/>
            <a:chExt cx="7620000" cy="856800"/>
          </a:xfrm>
        </p:grpSpPr>
        <p:sp>
          <p:nvSpPr>
            <p:cNvPr name="Freeform 3" id="3"/>
            <p:cNvSpPr/>
            <p:nvPr/>
          </p:nvSpPr>
          <p:spPr>
            <a:xfrm flipH="false" flipV="false" rot="0">
              <a:off x="0" y="0"/>
              <a:ext cx="7620000" cy="856742"/>
            </a:xfrm>
            <a:custGeom>
              <a:avLst/>
              <a:gdLst/>
              <a:ahLst/>
              <a:cxnLst/>
              <a:rect r="r" b="b" t="t" l="l"/>
              <a:pathLst>
                <a:path h="856742" w="7620000">
                  <a:moveTo>
                    <a:pt x="7620000" y="0"/>
                  </a:moveTo>
                  <a:lnTo>
                    <a:pt x="428371" y="0"/>
                  </a:lnTo>
                  <a:cubicBezTo>
                    <a:pt x="191770" y="0"/>
                    <a:pt x="0" y="191770"/>
                    <a:pt x="0" y="428371"/>
                  </a:cubicBezTo>
                  <a:lnTo>
                    <a:pt x="0" y="856742"/>
                  </a:lnTo>
                  <a:lnTo>
                    <a:pt x="762000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4" id="4"/>
          <p:cNvGrpSpPr/>
          <p:nvPr/>
        </p:nvGrpSpPr>
        <p:grpSpPr>
          <a:xfrm rot="0">
            <a:off x="15061800" y="964425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6" id="6"/>
          <p:cNvGrpSpPr/>
          <p:nvPr/>
        </p:nvGrpSpPr>
        <p:grpSpPr>
          <a:xfrm rot="0">
            <a:off x="11985400" y="77160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8" id="8"/>
          <p:cNvGrpSpPr/>
          <p:nvPr/>
        </p:nvGrpSpPr>
        <p:grpSpPr>
          <a:xfrm rot="0">
            <a:off x="15491400" y="-1483200"/>
            <a:ext cx="4325400" cy="4325400"/>
            <a:chOff x="0" y="0"/>
            <a:chExt cx="5767200" cy="5767200"/>
          </a:xfrm>
        </p:grpSpPr>
        <p:sp>
          <p:nvSpPr>
            <p:cNvPr name="Freeform 9" id="9"/>
            <p:cNvSpPr/>
            <p:nvPr/>
          </p:nvSpPr>
          <p:spPr>
            <a:xfrm flipH="false" flipV="false" rot="0">
              <a:off x="0" y="0"/>
              <a:ext cx="5767197" cy="5767197"/>
            </a:xfrm>
            <a:custGeom>
              <a:avLst/>
              <a:gdLst/>
              <a:ahLst/>
              <a:cxnLst/>
              <a:rect r="r" b="b" t="t" l="l"/>
              <a:pathLst>
                <a:path h="5767197" w="5767197">
                  <a:moveTo>
                    <a:pt x="0" y="2883662"/>
                  </a:moveTo>
                  <a:cubicBezTo>
                    <a:pt x="0" y="1291082"/>
                    <a:pt x="1291082" y="0"/>
                    <a:pt x="2883662" y="0"/>
                  </a:cubicBezTo>
                  <a:cubicBezTo>
                    <a:pt x="4476242" y="0"/>
                    <a:pt x="5767197" y="1291082"/>
                    <a:pt x="5767197" y="2883662"/>
                  </a:cubicBezTo>
                  <a:cubicBezTo>
                    <a:pt x="5767197" y="4476242"/>
                    <a:pt x="4476115" y="5767197"/>
                    <a:pt x="2883662" y="5767197"/>
                  </a:cubicBezTo>
                  <a:cubicBezTo>
                    <a:pt x="1291209" y="5767197"/>
                    <a:pt x="0" y="4476115"/>
                    <a:pt x="0" y="2883662"/>
                  </a:cubicBezTo>
                  <a:close/>
                </a:path>
              </a:pathLst>
            </a:custGeom>
            <a:gradFill rotWithShape="true">
              <a:gsLst>
                <a:gs pos="0">
                  <a:srgbClr val="D149CE">
                    <a:alpha val="100000"/>
                  </a:srgbClr>
                </a:gs>
                <a:gs pos="100000">
                  <a:srgbClr val="43309F">
                    <a:alpha val="100000"/>
                  </a:srgbClr>
                </a:gs>
              </a:gsLst>
              <a:lin ang="5400012"/>
            </a:gradFill>
          </p:spPr>
        </p:sp>
      </p:grpSp>
      <p:sp>
        <p:nvSpPr>
          <p:cNvPr name="AutoShape 10" id="10"/>
          <p:cNvSpPr/>
          <p:nvPr/>
        </p:nvSpPr>
        <p:spPr>
          <a:xfrm rot="28830">
            <a:off x="1416885" y="4140850"/>
            <a:ext cx="2271530" cy="0"/>
          </a:xfrm>
          <a:prstGeom prst="line">
            <a:avLst/>
          </a:prstGeom>
          <a:ln cap="rnd" w="9525">
            <a:solidFill>
              <a:srgbClr val="000000"/>
            </a:solidFill>
            <a:prstDash val="solid"/>
            <a:headEnd type="none" len="sm" w="sm"/>
            <a:tailEnd type="none" len="sm" w="sm"/>
          </a:ln>
        </p:spPr>
      </p:sp>
      <p:grpSp>
        <p:nvGrpSpPr>
          <p:cNvPr name="Group 11" id="11"/>
          <p:cNvGrpSpPr/>
          <p:nvPr/>
        </p:nvGrpSpPr>
        <p:grpSpPr>
          <a:xfrm rot="0">
            <a:off x="-3214150" y="6833800"/>
            <a:ext cx="5962800" cy="5962800"/>
            <a:chOff x="0" y="0"/>
            <a:chExt cx="7950400" cy="7950400"/>
          </a:xfrm>
        </p:grpSpPr>
        <p:sp>
          <p:nvSpPr>
            <p:cNvPr name="Freeform 12" id="12"/>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13" id="13"/>
          <p:cNvGrpSpPr/>
          <p:nvPr/>
        </p:nvGrpSpPr>
        <p:grpSpPr>
          <a:xfrm rot="0">
            <a:off x="1784100" y="8324500"/>
            <a:ext cx="2981400" cy="2981400"/>
            <a:chOff x="0" y="0"/>
            <a:chExt cx="3975200" cy="3975200"/>
          </a:xfrm>
        </p:grpSpPr>
        <p:sp>
          <p:nvSpPr>
            <p:cNvPr name="Freeform 14" id="14"/>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5" id="15"/>
          <p:cNvSpPr/>
          <p:nvPr/>
        </p:nvSpPr>
        <p:spPr>
          <a:xfrm flipH="false" flipV="false" rot="0">
            <a:off x="8855694" y="2686306"/>
            <a:ext cx="8809412" cy="5814212"/>
          </a:xfrm>
          <a:custGeom>
            <a:avLst/>
            <a:gdLst/>
            <a:ahLst/>
            <a:cxnLst/>
            <a:rect r="r" b="b" t="t" l="l"/>
            <a:pathLst>
              <a:path h="5814212" w="8809412">
                <a:moveTo>
                  <a:pt x="0" y="0"/>
                </a:moveTo>
                <a:lnTo>
                  <a:pt x="8809412" y="0"/>
                </a:lnTo>
                <a:lnTo>
                  <a:pt x="8809412" y="5814213"/>
                </a:lnTo>
                <a:lnTo>
                  <a:pt x="0" y="5814213"/>
                </a:lnTo>
                <a:lnTo>
                  <a:pt x="0" y="0"/>
                </a:lnTo>
                <a:close/>
              </a:path>
            </a:pathLst>
          </a:custGeom>
          <a:blipFill>
            <a:blip r:embed="rId3"/>
            <a:stretch>
              <a:fillRect l="0" t="0" r="0" b="0"/>
            </a:stretch>
          </a:blipFill>
        </p:spPr>
      </p:sp>
      <p:sp>
        <p:nvSpPr>
          <p:cNvPr name="TextBox 16" id="16"/>
          <p:cNvSpPr txBox="true"/>
          <p:nvPr/>
        </p:nvSpPr>
        <p:spPr>
          <a:xfrm rot="0">
            <a:off x="1416925" y="4593287"/>
            <a:ext cx="7727075" cy="1971675"/>
          </a:xfrm>
          <a:prstGeom prst="rect">
            <a:avLst/>
          </a:prstGeom>
        </p:spPr>
        <p:txBody>
          <a:bodyPr anchor="t" rtlCol="false" tIns="0" lIns="0" bIns="0" rIns="0">
            <a:spAutoFit/>
          </a:bodyPr>
          <a:lstStyle/>
          <a:p>
            <a:pPr algn="l">
              <a:lnSpc>
                <a:spcPts val="7679"/>
              </a:lnSpc>
            </a:pPr>
            <a:r>
              <a:rPr lang="en-US" sz="6399">
                <a:solidFill>
                  <a:srgbClr val="D149CE"/>
                </a:solidFill>
                <a:latin typeface="Arimo"/>
                <a:ea typeface="Arimo"/>
                <a:cs typeface="Arimo"/>
                <a:sym typeface="Arimo"/>
              </a:rPr>
              <a:t>GenAI cho quản lý thời gian và bộ nhớ</a:t>
            </a:r>
          </a:p>
        </p:txBody>
      </p:sp>
      <p:sp>
        <p:nvSpPr>
          <p:cNvPr name="TextBox 17" id="17"/>
          <p:cNvSpPr txBox="true"/>
          <p:nvPr/>
        </p:nvSpPr>
        <p:spPr>
          <a:xfrm rot="0">
            <a:off x="1517875" y="1892725"/>
            <a:ext cx="2069550" cy="1876425"/>
          </a:xfrm>
          <a:prstGeom prst="rect">
            <a:avLst/>
          </a:prstGeom>
        </p:spPr>
        <p:txBody>
          <a:bodyPr anchor="t" rtlCol="false" tIns="0" lIns="0" bIns="0" rIns="0">
            <a:spAutoFit/>
          </a:bodyPr>
          <a:lstStyle/>
          <a:p>
            <a:pPr algn="l">
              <a:lnSpc>
                <a:spcPts val="14400"/>
              </a:lnSpc>
            </a:pPr>
            <a:r>
              <a:rPr lang="en-US" sz="12000">
                <a:solidFill>
                  <a:srgbClr val="D149CE"/>
                </a:solidFill>
                <a:latin typeface="Arimo"/>
                <a:ea typeface="Arimo"/>
                <a:cs typeface="Arimo"/>
                <a:sym typeface="Arimo"/>
              </a:rPr>
              <a:t>03</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0" y="0"/>
                  </a:moveTo>
                  <a:lnTo>
                    <a:pt x="3873246" y="0"/>
                  </a:lnTo>
                  <a:cubicBezTo>
                    <a:pt x="4109847" y="0"/>
                    <a:pt x="4301617" y="191770"/>
                    <a:pt x="4301617" y="428371"/>
                  </a:cubicBezTo>
                  <a:lnTo>
                    <a:pt x="4301617"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0">
            <a:off x="16113700" y="-860850"/>
            <a:ext cx="2981400" cy="2981400"/>
            <a:chOff x="0" y="0"/>
            <a:chExt cx="3975200" cy="3975200"/>
          </a:xfrm>
        </p:grpSpPr>
        <p:sp>
          <p:nvSpPr>
            <p:cNvPr name="Freeform 5" id="5"/>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6" id="6"/>
          <p:cNvGrpSpPr/>
          <p:nvPr/>
        </p:nvGrpSpPr>
        <p:grpSpPr>
          <a:xfrm rot="0">
            <a:off x="15705700" y="9197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8" id="8"/>
          <p:cNvSpPr/>
          <p:nvPr/>
        </p:nvSpPr>
        <p:spPr>
          <a:xfrm flipH="false" flipV="false" rot="0">
            <a:off x="1517875" y="4931797"/>
            <a:ext cx="12162832" cy="2402163"/>
          </a:xfrm>
          <a:custGeom>
            <a:avLst/>
            <a:gdLst/>
            <a:ahLst/>
            <a:cxnLst/>
            <a:rect r="r" b="b" t="t" l="l"/>
            <a:pathLst>
              <a:path h="2402163" w="12162832">
                <a:moveTo>
                  <a:pt x="0" y="0"/>
                </a:moveTo>
                <a:lnTo>
                  <a:pt x="12162832" y="0"/>
                </a:lnTo>
                <a:lnTo>
                  <a:pt x="12162832" y="2402163"/>
                </a:lnTo>
                <a:lnTo>
                  <a:pt x="0" y="2402163"/>
                </a:lnTo>
                <a:lnTo>
                  <a:pt x="0" y="0"/>
                </a:lnTo>
                <a:close/>
              </a:path>
            </a:pathLst>
          </a:custGeom>
          <a:blipFill>
            <a:blip r:embed="rId3"/>
            <a:stretch>
              <a:fillRect l="-2822" t="0" r="-2822" b="-25403"/>
            </a:stretch>
          </a:blipFill>
        </p:spPr>
      </p:sp>
      <p:sp>
        <p:nvSpPr>
          <p:cNvPr name="TextBox 9" id="9"/>
          <p:cNvSpPr txBox="true"/>
          <p:nvPr/>
        </p:nvSpPr>
        <p:spPr>
          <a:xfrm rot="0">
            <a:off x="1517875" y="614225"/>
            <a:ext cx="12849347" cy="18573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Tầm quan </a:t>
            </a:r>
            <a:r>
              <a:rPr lang="en-US" sz="6000">
                <a:solidFill>
                  <a:srgbClr val="000000"/>
                </a:solidFill>
                <a:latin typeface="Arimo"/>
                <a:ea typeface="Arimo"/>
                <a:cs typeface="Arimo"/>
                <a:sym typeface="Arimo"/>
              </a:rPr>
              <a:t>trọng của việc quản lý hiệu năng và bộ nhớ</a:t>
            </a:r>
          </a:p>
        </p:txBody>
      </p:sp>
      <p:sp>
        <p:nvSpPr>
          <p:cNvPr name="TextBox 10" id="10"/>
          <p:cNvSpPr txBox="true"/>
          <p:nvPr/>
        </p:nvSpPr>
        <p:spPr>
          <a:xfrm rot="0">
            <a:off x="1517875" y="2796927"/>
            <a:ext cx="12162832" cy="177292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Tro</a:t>
            </a:r>
            <a:r>
              <a:rPr lang="en-US" sz="2799">
                <a:solidFill>
                  <a:srgbClr val="666666"/>
                </a:solidFill>
                <a:latin typeface="Poppins"/>
                <a:ea typeface="Poppins"/>
                <a:cs typeface="Poppins"/>
                <a:sym typeface="Poppins"/>
              </a:rPr>
              <a:t>ng bối cảnh dữ liệu lớn và các mô hình trí tuệ nhân tạo ngày càng mở rộng, hiệu năng không còn là một chỉ số phụ trợ mà trở thành một yếu tố gắn trực tiếp với chi phí vận hành và khả năng mở rộng hệ thống.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0" y="0"/>
                  </a:moveTo>
                  <a:lnTo>
                    <a:pt x="3873246" y="0"/>
                  </a:lnTo>
                  <a:cubicBezTo>
                    <a:pt x="4109847" y="0"/>
                    <a:pt x="4301617" y="191770"/>
                    <a:pt x="4301617" y="428371"/>
                  </a:cubicBezTo>
                  <a:lnTo>
                    <a:pt x="4301617"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0">
            <a:off x="16113700" y="-860850"/>
            <a:ext cx="2981400" cy="2981400"/>
            <a:chOff x="0" y="0"/>
            <a:chExt cx="3975200" cy="3975200"/>
          </a:xfrm>
        </p:grpSpPr>
        <p:sp>
          <p:nvSpPr>
            <p:cNvPr name="Freeform 5" id="5"/>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6" id="6"/>
          <p:cNvGrpSpPr/>
          <p:nvPr/>
        </p:nvGrpSpPr>
        <p:grpSpPr>
          <a:xfrm rot="0">
            <a:off x="15705700" y="9197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8" id="8"/>
          <p:cNvSpPr/>
          <p:nvPr/>
        </p:nvSpPr>
        <p:spPr>
          <a:xfrm flipH="false" flipV="false" rot="0">
            <a:off x="7699206" y="2777818"/>
            <a:ext cx="9905194" cy="5974877"/>
          </a:xfrm>
          <a:custGeom>
            <a:avLst/>
            <a:gdLst/>
            <a:ahLst/>
            <a:cxnLst/>
            <a:rect r="r" b="b" t="t" l="l"/>
            <a:pathLst>
              <a:path h="5974877" w="9905194">
                <a:moveTo>
                  <a:pt x="0" y="0"/>
                </a:moveTo>
                <a:lnTo>
                  <a:pt x="9905194" y="0"/>
                </a:lnTo>
                <a:lnTo>
                  <a:pt x="9905194" y="5974876"/>
                </a:lnTo>
                <a:lnTo>
                  <a:pt x="0" y="5974876"/>
                </a:lnTo>
                <a:lnTo>
                  <a:pt x="0" y="0"/>
                </a:lnTo>
                <a:close/>
              </a:path>
            </a:pathLst>
          </a:custGeom>
          <a:blipFill>
            <a:blip r:embed="rId3"/>
            <a:stretch>
              <a:fillRect l="0" t="0" r="0" b="0"/>
            </a:stretch>
          </a:blipFill>
        </p:spPr>
      </p:sp>
      <p:sp>
        <p:nvSpPr>
          <p:cNvPr name="TextBox 9" id="9"/>
          <p:cNvSpPr txBox="true"/>
          <p:nvPr/>
        </p:nvSpPr>
        <p:spPr>
          <a:xfrm rot="0">
            <a:off x="1517875" y="1071425"/>
            <a:ext cx="12849347"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Đ</a:t>
            </a:r>
            <a:r>
              <a:rPr lang="en-US" sz="6000">
                <a:solidFill>
                  <a:srgbClr val="000000"/>
                </a:solidFill>
                <a:latin typeface="Arimo"/>
                <a:ea typeface="Arimo"/>
                <a:cs typeface="Arimo"/>
                <a:sym typeface="Arimo"/>
              </a:rPr>
              <a:t>o lường thời gian chạy với GenAI</a:t>
            </a:r>
          </a:p>
        </p:txBody>
      </p:sp>
      <p:sp>
        <p:nvSpPr>
          <p:cNvPr name="TextBox 10" id="10"/>
          <p:cNvSpPr txBox="true"/>
          <p:nvPr/>
        </p:nvSpPr>
        <p:spPr>
          <a:xfrm rot="0">
            <a:off x="1517875" y="2739718"/>
            <a:ext cx="5528440" cy="177292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Vớ</a:t>
            </a:r>
            <a:r>
              <a:rPr lang="en-US" sz="2799">
                <a:solidFill>
                  <a:srgbClr val="666666"/>
                </a:solidFill>
                <a:latin typeface="Poppins"/>
                <a:ea typeface="Poppins"/>
                <a:cs typeface="Poppins"/>
                <a:sym typeface="Poppins"/>
              </a:rPr>
              <a:t>i thời gian chạy, chương dùng các lời gọi đo trước và sau khi thực thi để xác định chênh lệch thời gian của hàm.</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0" y="0"/>
                  </a:moveTo>
                  <a:lnTo>
                    <a:pt x="3873246" y="0"/>
                  </a:lnTo>
                  <a:cubicBezTo>
                    <a:pt x="4109847" y="0"/>
                    <a:pt x="4301617" y="191770"/>
                    <a:pt x="4301617" y="428371"/>
                  </a:cubicBezTo>
                  <a:lnTo>
                    <a:pt x="4301617"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0">
            <a:off x="16113700" y="-860850"/>
            <a:ext cx="2981400" cy="2981400"/>
            <a:chOff x="0" y="0"/>
            <a:chExt cx="3975200" cy="3975200"/>
          </a:xfrm>
        </p:grpSpPr>
        <p:sp>
          <p:nvSpPr>
            <p:cNvPr name="Freeform 5" id="5"/>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6" id="6"/>
          <p:cNvGrpSpPr/>
          <p:nvPr/>
        </p:nvGrpSpPr>
        <p:grpSpPr>
          <a:xfrm rot="0">
            <a:off x="15705700" y="9197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8" id="8"/>
          <p:cNvSpPr/>
          <p:nvPr/>
        </p:nvSpPr>
        <p:spPr>
          <a:xfrm flipH="false" flipV="false" rot="0">
            <a:off x="7942549" y="2734507"/>
            <a:ext cx="8593824" cy="4432562"/>
          </a:xfrm>
          <a:custGeom>
            <a:avLst/>
            <a:gdLst/>
            <a:ahLst/>
            <a:cxnLst/>
            <a:rect r="r" b="b" t="t" l="l"/>
            <a:pathLst>
              <a:path h="4432562" w="8593824">
                <a:moveTo>
                  <a:pt x="0" y="0"/>
                </a:moveTo>
                <a:lnTo>
                  <a:pt x="8593824" y="0"/>
                </a:lnTo>
                <a:lnTo>
                  <a:pt x="8593824" y="4432562"/>
                </a:lnTo>
                <a:lnTo>
                  <a:pt x="0" y="4432562"/>
                </a:lnTo>
                <a:lnTo>
                  <a:pt x="0" y="0"/>
                </a:lnTo>
                <a:close/>
              </a:path>
            </a:pathLst>
          </a:custGeom>
          <a:blipFill>
            <a:blip r:embed="rId3"/>
            <a:stretch>
              <a:fillRect l="0" t="0" r="-38097" b="0"/>
            </a:stretch>
          </a:blipFill>
        </p:spPr>
      </p:sp>
      <p:sp>
        <p:nvSpPr>
          <p:cNvPr name="TextBox 9" id="9"/>
          <p:cNvSpPr txBox="true"/>
          <p:nvPr/>
        </p:nvSpPr>
        <p:spPr>
          <a:xfrm rot="0">
            <a:off x="1517875" y="1071425"/>
            <a:ext cx="12849347"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Đ</a:t>
            </a:r>
            <a:r>
              <a:rPr lang="en-US" sz="6000">
                <a:solidFill>
                  <a:srgbClr val="000000"/>
                </a:solidFill>
                <a:latin typeface="Arimo"/>
                <a:ea typeface="Arimo"/>
                <a:cs typeface="Arimo"/>
                <a:sym typeface="Arimo"/>
              </a:rPr>
              <a:t>o lường hiệu năng với GenAI</a:t>
            </a:r>
          </a:p>
        </p:txBody>
      </p:sp>
      <p:sp>
        <p:nvSpPr>
          <p:cNvPr name="TextBox 10" id="10"/>
          <p:cNvSpPr txBox="true"/>
          <p:nvPr/>
        </p:nvSpPr>
        <p:spPr>
          <a:xfrm rot="0">
            <a:off x="1517875" y="2739718"/>
            <a:ext cx="5528440" cy="22110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Vớ</a:t>
            </a:r>
            <a:r>
              <a:rPr lang="en-US" sz="2799">
                <a:solidFill>
                  <a:srgbClr val="666666"/>
                </a:solidFill>
                <a:latin typeface="Poppins"/>
                <a:ea typeface="Poppins"/>
                <a:cs typeface="Poppins"/>
                <a:sym typeface="Poppins"/>
              </a:rPr>
              <a:t>i bộ nhớ, thư viện memory_profiler và decorator @profile cho phép theo dõi mức tiêu thụ RAM theo từng dòng mã.</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0" y="0"/>
                  </a:moveTo>
                  <a:lnTo>
                    <a:pt x="3873246" y="0"/>
                  </a:lnTo>
                  <a:cubicBezTo>
                    <a:pt x="4109847" y="0"/>
                    <a:pt x="4301617" y="191770"/>
                    <a:pt x="4301617" y="428371"/>
                  </a:cubicBezTo>
                  <a:lnTo>
                    <a:pt x="4301617"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0">
            <a:off x="16113700" y="-860850"/>
            <a:ext cx="2981400" cy="2981400"/>
            <a:chOff x="0" y="0"/>
            <a:chExt cx="3975200" cy="3975200"/>
          </a:xfrm>
        </p:grpSpPr>
        <p:sp>
          <p:nvSpPr>
            <p:cNvPr name="Freeform 5" id="5"/>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6" id="6"/>
          <p:cNvGrpSpPr/>
          <p:nvPr/>
        </p:nvGrpSpPr>
        <p:grpSpPr>
          <a:xfrm rot="0">
            <a:off x="15705700" y="9197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8" id="8"/>
          <p:cNvSpPr/>
          <p:nvPr/>
        </p:nvSpPr>
        <p:spPr>
          <a:xfrm flipH="false" flipV="false" rot="0">
            <a:off x="6840582" y="2777818"/>
            <a:ext cx="11066020" cy="4877735"/>
          </a:xfrm>
          <a:custGeom>
            <a:avLst/>
            <a:gdLst/>
            <a:ahLst/>
            <a:cxnLst/>
            <a:rect r="r" b="b" t="t" l="l"/>
            <a:pathLst>
              <a:path h="4877735" w="11066020">
                <a:moveTo>
                  <a:pt x="0" y="0"/>
                </a:moveTo>
                <a:lnTo>
                  <a:pt x="11066021" y="0"/>
                </a:lnTo>
                <a:lnTo>
                  <a:pt x="11066021" y="4877735"/>
                </a:lnTo>
                <a:lnTo>
                  <a:pt x="0" y="4877735"/>
                </a:lnTo>
                <a:lnTo>
                  <a:pt x="0" y="0"/>
                </a:lnTo>
                <a:close/>
              </a:path>
            </a:pathLst>
          </a:custGeom>
          <a:blipFill>
            <a:blip r:embed="rId3"/>
            <a:stretch>
              <a:fillRect l="0" t="0" r="-7293" b="0"/>
            </a:stretch>
          </a:blipFill>
        </p:spPr>
      </p:sp>
      <p:sp>
        <p:nvSpPr>
          <p:cNvPr name="TextBox 9" id="9"/>
          <p:cNvSpPr txBox="true"/>
          <p:nvPr/>
        </p:nvSpPr>
        <p:spPr>
          <a:xfrm rot="0">
            <a:off x="1517875" y="614225"/>
            <a:ext cx="12849347" cy="18573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Ước lượng dung lượng sử dụng với ChatGPT</a:t>
            </a:r>
          </a:p>
        </p:txBody>
      </p:sp>
      <p:sp>
        <p:nvSpPr>
          <p:cNvPr name="TextBox 10" id="10"/>
          <p:cNvSpPr txBox="true"/>
          <p:nvPr/>
        </p:nvSpPr>
        <p:spPr>
          <a:xfrm rot="0">
            <a:off x="1517875" y="2739718"/>
            <a:ext cx="4899084" cy="22110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Đ</a:t>
            </a:r>
            <a:r>
              <a:rPr lang="en-US" sz="2799">
                <a:solidFill>
                  <a:srgbClr val="666666"/>
                </a:solidFill>
                <a:latin typeface="Poppins"/>
                <a:ea typeface="Poppins"/>
                <a:cs typeface="Poppins"/>
                <a:sym typeface="Poppins"/>
              </a:rPr>
              <a:t>ể xác định dung lượng tối đa trong giới hạn thời gian chạy, tác giả đã vận dụng genAI theo cấu trúc prompt: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0" y="0"/>
                  </a:moveTo>
                  <a:lnTo>
                    <a:pt x="3873246" y="0"/>
                  </a:lnTo>
                  <a:cubicBezTo>
                    <a:pt x="4109847" y="0"/>
                    <a:pt x="4301617" y="191770"/>
                    <a:pt x="4301617" y="428371"/>
                  </a:cubicBezTo>
                  <a:lnTo>
                    <a:pt x="4301617"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0">
            <a:off x="16113700" y="-860850"/>
            <a:ext cx="2981400" cy="2981400"/>
            <a:chOff x="0" y="0"/>
            <a:chExt cx="3975200" cy="3975200"/>
          </a:xfrm>
        </p:grpSpPr>
        <p:sp>
          <p:nvSpPr>
            <p:cNvPr name="Freeform 5" id="5"/>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6" id="6"/>
          <p:cNvGrpSpPr/>
          <p:nvPr/>
        </p:nvGrpSpPr>
        <p:grpSpPr>
          <a:xfrm rot="0">
            <a:off x="15705700" y="9197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8" id="8"/>
          <p:cNvSpPr/>
          <p:nvPr/>
        </p:nvSpPr>
        <p:spPr>
          <a:xfrm flipH="false" flipV="false" rot="0">
            <a:off x="6853072" y="2777818"/>
            <a:ext cx="10951191" cy="4903315"/>
          </a:xfrm>
          <a:custGeom>
            <a:avLst/>
            <a:gdLst/>
            <a:ahLst/>
            <a:cxnLst/>
            <a:rect r="r" b="b" t="t" l="l"/>
            <a:pathLst>
              <a:path h="4903315" w="10951191">
                <a:moveTo>
                  <a:pt x="0" y="0"/>
                </a:moveTo>
                <a:lnTo>
                  <a:pt x="10951191" y="0"/>
                </a:lnTo>
                <a:lnTo>
                  <a:pt x="10951191" y="4903315"/>
                </a:lnTo>
                <a:lnTo>
                  <a:pt x="0" y="4903315"/>
                </a:lnTo>
                <a:lnTo>
                  <a:pt x="0" y="0"/>
                </a:lnTo>
                <a:close/>
              </a:path>
            </a:pathLst>
          </a:custGeom>
          <a:blipFill>
            <a:blip r:embed="rId3"/>
            <a:stretch>
              <a:fillRect l="0" t="0" r="-8706" b="0"/>
            </a:stretch>
          </a:blipFill>
        </p:spPr>
      </p:sp>
      <p:sp>
        <p:nvSpPr>
          <p:cNvPr name="TextBox 9" id="9"/>
          <p:cNvSpPr txBox="true"/>
          <p:nvPr/>
        </p:nvSpPr>
        <p:spPr>
          <a:xfrm rot="0">
            <a:off x="1517875" y="614225"/>
            <a:ext cx="12849347" cy="18573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Ước lượng thời gian thực thi với ChatGPT</a:t>
            </a:r>
          </a:p>
        </p:txBody>
      </p:sp>
      <p:sp>
        <p:nvSpPr>
          <p:cNvPr name="TextBox 10" id="10"/>
          <p:cNvSpPr txBox="true"/>
          <p:nvPr/>
        </p:nvSpPr>
        <p:spPr>
          <a:xfrm rot="0">
            <a:off x="1517875" y="2739718"/>
            <a:ext cx="4899084" cy="22110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Một cấu trúc tương tự đ</a:t>
            </a:r>
            <a:r>
              <a:rPr lang="en-US" sz="2799">
                <a:solidFill>
                  <a:srgbClr val="666666"/>
                </a:solidFill>
                <a:latin typeface="Poppins"/>
                <a:ea typeface="Poppins"/>
                <a:cs typeface="Poppins"/>
                <a:sym typeface="Poppins"/>
              </a:rPr>
              <a:t>ể xác định thời gian tối đa   với các ràng buộc về bộ nhớ cũng có thể được áp dụng: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0" y="0"/>
                  </a:moveTo>
                  <a:lnTo>
                    <a:pt x="3873246" y="0"/>
                  </a:lnTo>
                  <a:cubicBezTo>
                    <a:pt x="4109847" y="0"/>
                    <a:pt x="4301617" y="191770"/>
                    <a:pt x="4301617" y="428371"/>
                  </a:cubicBezTo>
                  <a:lnTo>
                    <a:pt x="4301617" y="856742"/>
                  </a:lnTo>
                  <a:lnTo>
                    <a:pt x="0"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0">
            <a:off x="16113700" y="-860850"/>
            <a:ext cx="2981400" cy="2981400"/>
            <a:chOff x="0" y="0"/>
            <a:chExt cx="3975200" cy="3975200"/>
          </a:xfrm>
        </p:grpSpPr>
        <p:sp>
          <p:nvSpPr>
            <p:cNvPr name="Freeform 5" id="5"/>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6" id="6"/>
          <p:cNvGrpSpPr/>
          <p:nvPr/>
        </p:nvGrpSpPr>
        <p:grpSpPr>
          <a:xfrm rot="0">
            <a:off x="15705700" y="919700"/>
            <a:ext cx="1275000" cy="1275000"/>
            <a:chOff x="0" y="0"/>
            <a:chExt cx="1700000" cy="1700000"/>
          </a:xfrm>
        </p:grpSpPr>
        <p:sp>
          <p:nvSpPr>
            <p:cNvPr name="Freeform 7" id="7"/>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8" id="8"/>
          <p:cNvSpPr/>
          <p:nvPr/>
        </p:nvSpPr>
        <p:spPr>
          <a:xfrm flipH="false" flipV="false" rot="0">
            <a:off x="6828072" y="2777818"/>
            <a:ext cx="11459928" cy="6129257"/>
          </a:xfrm>
          <a:custGeom>
            <a:avLst/>
            <a:gdLst/>
            <a:ahLst/>
            <a:cxnLst/>
            <a:rect r="r" b="b" t="t" l="l"/>
            <a:pathLst>
              <a:path h="6129257" w="11459928">
                <a:moveTo>
                  <a:pt x="0" y="0"/>
                </a:moveTo>
                <a:lnTo>
                  <a:pt x="11459928" y="0"/>
                </a:lnTo>
                <a:lnTo>
                  <a:pt x="11459928" y="6129256"/>
                </a:lnTo>
                <a:lnTo>
                  <a:pt x="0" y="6129256"/>
                </a:lnTo>
                <a:lnTo>
                  <a:pt x="0" y="0"/>
                </a:lnTo>
                <a:close/>
              </a:path>
            </a:pathLst>
          </a:custGeom>
          <a:blipFill>
            <a:blip r:embed="rId3"/>
            <a:stretch>
              <a:fillRect l="0" t="0" r="-3651" b="0"/>
            </a:stretch>
          </a:blipFill>
        </p:spPr>
      </p:sp>
      <p:sp>
        <p:nvSpPr>
          <p:cNvPr name="TextBox 9" id="9"/>
          <p:cNvSpPr txBox="true"/>
          <p:nvPr/>
        </p:nvSpPr>
        <p:spPr>
          <a:xfrm rot="0">
            <a:off x="1517875" y="614225"/>
            <a:ext cx="12849347" cy="18573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Tối ưu hóa mã nguồn bằng chained prompts</a:t>
            </a:r>
          </a:p>
        </p:txBody>
      </p:sp>
      <p:sp>
        <p:nvSpPr>
          <p:cNvPr name="TextBox 10" id="10"/>
          <p:cNvSpPr txBox="true"/>
          <p:nvPr/>
        </p:nvSpPr>
        <p:spPr>
          <a:xfrm rot="0">
            <a:off x="1517875" y="2739718"/>
            <a:ext cx="4899084" cy="221107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Cuối cùng, GenAI có thể vượt ra</a:t>
            </a:r>
            <a:r>
              <a:rPr lang="en-US" sz="2799">
                <a:solidFill>
                  <a:srgbClr val="666666"/>
                </a:solidFill>
                <a:latin typeface="Poppins"/>
                <a:ea typeface="Poppins"/>
                <a:cs typeface="Poppins"/>
                <a:sym typeface="Poppins"/>
              </a:rPr>
              <a:t> ngoài khả năng phân tích và ước lượng để tham gia vào quá trình thiết kế lại giải pháp.</a:t>
            </a:r>
          </a:p>
        </p:txBody>
      </p:sp>
      <p:sp>
        <p:nvSpPr>
          <p:cNvPr name="TextBox 11" id="11"/>
          <p:cNvSpPr txBox="true"/>
          <p:nvPr/>
        </p:nvSpPr>
        <p:spPr>
          <a:xfrm rot="0">
            <a:off x="1517875" y="5217488"/>
            <a:ext cx="4899084" cy="2649220"/>
          </a:xfrm>
          <a:prstGeom prst="rect">
            <a:avLst/>
          </a:prstGeom>
        </p:spPr>
        <p:txBody>
          <a:bodyPr anchor="t" rtlCol="false" tIns="0" lIns="0" bIns="0" rIns="0">
            <a:spAutoFit/>
          </a:bodyPr>
          <a:lstStyle/>
          <a:p>
            <a:pPr algn="just">
              <a:lnSpc>
                <a:spcPts val="3499"/>
              </a:lnSpc>
            </a:pPr>
            <a:r>
              <a:rPr lang="en-US" sz="2799">
                <a:solidFill>
                  <a:srgbClr val="666666"/>
                </a:solidFill>
                <a:latin typeface="Poppins"/>
                <a:ea typeface="Poppins"/>
                <a:cs typeface="Poppins"/>
                <a:sym typeface="Poppins"/>
              </a:rPr>
              <a:t>Kỹ thuật Chained prompts được sử</a:t>
            </a:r>
            <a:r>
              <a:rPr lang="en-US" sz="2799">
                <a:solidFill>
                  <a:srgbClr val="666666"/>
                </a:solidFill>
                <a:latin typeface="Poppins"/>
                <a:ea typeface="Poppins"/>
                <a:cs typeface="Poppins"/>
                <a:sym typeface="Poppins"/>
              </a:rPr>
              <a:t> dụng với yêu cầu một cách triển khai được cải tiến với độ phức tạp thời gian chạy tốt hơn để xử lý đầu vào là 1.000.000:</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012"/>
        </a:gradFill>
      </p:bgPr>
    </p:bg>
    <p:spTree>
      <p:nvGrpSpPr>
        <p:cNvPr id="1" name=""/>
        <p:cNvGrpSpPr/>
        <p:nvPr/>
      </p:nvGrpSpPr>
      <p:grpSpPr>
        <a:xfrm>
          <a:off x="0" y="0"/>
          <a:ext cx="0" cy="0"/>
          <a:chOff x="0" y="0"/>
          <a:chExt cx="0" cy="0"/>
        </a:xfrm>
      </p:grpSpPr>
      <p:grpSp>
        <p:nvGrpSpPr>
          <p:cNvPr name="Group 2" id="2"/>
          <p:cNvGrpSpPr/>
          <p:nvPr/>
        </p:nvGrpSpPr>
        <p:grpSpPr>
          <a:xfrm rot="-10800000">
            <a:off x="0" y="0"/>
            <a:ext cx="5715000" cy="642600"/>
            <a:chOff x="0" y="0"/>
            <a:chExt cx="7620000" cy="856800"/>
          </a:xfrm>
        </p:grpSpPr>
        <p:sp>
          <p:nvSpPr>
            <p:cNvPr name="Freeform 3" id="3"/>
            <p:cNvSpPr/>
            <p:nvPr/>
          </p:nvSpPr>
          <p:spPr>
            <a:xfrm flipH="false" flipV="false" rot="0">
              <a:off x="0" y="0"/>
              <a:ext cx="7620000" cy="856742"/>
            </a:xfrm>
            <a:custGeom>
              <a:avLst/>
              <a:gdLst/>
              <a:ahLst/>
              <a:cxnLst/>
              <a:rect r="r" b="b" t="t" l="l"/>
              <a:pathLst>
                <a:path h="856742" w="7620000">
                  <a:moveTo>
                    <a:pt x="7620000" y="0"/>
                  </a:moveTo>
                  <a:lnTo>
                    <a:pt x="428371" y="0"/>
                  </a:lnTo>
                  <a:cubicBezTo>
                    <a:pt x="191770" y="0"/>
                    <a:pt x="0" y="191770"/>
                    <a:pt x="0" y="428371"/>
                  </a:cubicBezTo>
                  <a:lnTo>
                    <a:pt x="0" y="856742"/>
                  </a:lnTo>
                  <a:lnTo>
                    <a:pt x="762000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4" id="4"/>
          <p:cNvGrpSpPr/>
          <p:nvPr/>
        </p:nvGrpSpPr>
        <p:grpSpPr>
          <a:xfrm rot="0">
            <a:off x="15061800" y="964425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sp>
        <p:nvSpPr>
          <p:cNvPr name="TextBox 6" id="6"/>
          <p:cNvSpPr txBox="true"/>
          <p:nvPr/>
        </p:nvSpPr>
        <p:spPr>
          <a:xfrm rot="0">
            <a:off x="1527410" y="3745337"/>
            <a:ext cx="6838322" cy="3914775"/>
          </a:xfrm>
          <a:prstGeom prst="rect">
            <a:avLst/>
          </a:prstGeom>
        </p:spPr>
        <p:txBody>
          <a:bodyPr anchor="t" rtlCol="false" tIns="0" lIns="0" bIns="0" rIns="0">
            <a:spAutoFit/>
          </a:bodyPr>
          <a:lstStyle/>
          <a:p>
            <a:pPr algn="l">
              <a:lnSpc>
                <a:spcPts val="7679"/>
              </a:lnSpc>
            </a:pPr>
            <a:r>
              <a:rPr lang="en-US" sz="6399">
                <a:solidFill>
                  <a:srgbClr val="D149CE"/>
                </a:solidFill>
                <a:latin typeface="Arimo"/>
                <a:ea typeface="Arimo"/>
                <a:cs typeface="Arimo"/>
                <a:sym typeface="Arimo"/>
              </a:rPr>
              <a:t>Đư</a:t>
            </a:r>
            <a:r>
              <a:rPr lang="en-US" sz="6399">
                <a:solidFill>
                  <a:srgbClr val="D149CE"/>
                </a:solidFill>
                <a:latin typeface="Arimo"/>
                <a:ea typeface="Arimo"/>
                <a:cs typeface="Arimo"/>
                <a:sym typeface="Arimo"/>
              </a:rPr>
              <a:t>a GenAI Vào Hoạt Động: Ghi Nhật Ký, Giám Sát và Xử Lý Lỗi</a:t>
            </a:r>
          </a:p>
        </p:txBody>
      </p:sp>
      <p:grpSp>
        <p:nvGrpSpPr>
          <p:cNvPr name="Group 7" id="7"/>
          <p:cNvGrpSpPr/>
          <p:nvPr/>
        </p:nvGrpSpPr>
        <p:grpSpPr>
          <a:xfrm rot="0">
            <a:off x="11985400" y="7716000"/>
            <a:ext cx="1275000" cy="1275000"/>
            <a:chOff x="0" y="0"/>
            <a:chExt cx="1700000" cy="1700000"/>
          </a:xfrm>
        </p:grpSpPr>
        <p:sp>
          <p:nvSpPr>
            <p:cNvPr name="Freeform 8" id="8"/>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9" id="9"/>
          <p:cNvGrpSpPr/>
          <p:nvPr/>
        </p:nvGrpSpPr>
        <p:grpSpPr>
          <a:xfrm rot="0">
            <a:off x="15491400" y="-1483200"/>
            <a:ext cx="4325400" cy="4325400"/>
            <a:chOff x="0" y="0"/>
            <a:chExt cx="5767200" cy="5767200"/>
          </a:xfrm>
        </p:grpSpPr>
        <p:sp>
          <p:nvSpPr>
            <p:cNvPr name="Freeform 10" id="10"/>
            <p:cNvSpPr/>
            <p:nvPr/>
          </p:nvSpPr>
          <p:spPr>
            <a:xfrm flipH="false" flipV="false" rot="0">
              <a:off x="0" y="0"/>
              <a:ext cx="5767197" cy="5767197"/>
            </a:xfrm>
            <a:custGeom>
              <a:avLst/>
              <a:gdLst/>
              <a:ahLst/>
              <a:cxnLst/>
              <a:rect r="r" b="b" t="t" l="l"/>
              <a:pathLst>
                <a:path h="5767197" w="5767197">
                  <a:moveTo>
                    <a:pt x="0" y="2883662"/>
                  </a:moveTo>
                  <a:cubicBezTo>
                    <a:pt x="0" y="1291082"/>
                    <a:pt x="1291082" y="0"/>
                    <a:pt x="2883662" y="0"/>
                  </a:cubicBezTo>
                  <a:cubicBezTo>
                    <a:pt x="4476242" y="0"/>
                    <a:pt x="5767197" y="1291082"/>
                    <a:pt x="5767197" y="2883662"/>
                  </a:cubicBezTo>
                  <a:cubicBezTo>
                    <a:pt x="5767197" y="4476242"/>
                    <a:pt x="4476115" y="5767197"/>
                    <a:pt x="2883662" y="5767197"/>
                  </a:cubicBezTo>
                  <a:cubicBezTo>
                    <a:pt x="1291209" y="5767197"/>
                    <a:pt x="0" y="4476115"/>
                    <a:pt x="0" y="2883662"/>
                  </a:cubicBezTo>
                  <a:close/>
                </a:path>
              </a:pathLst>
            </a:custGeom>
            <a:gradFill rotWithShape="true">
              <a:gsLst>
                <a:gs pos="0">
                  <a:srgbClr val="D149CE">
                    <a:alpha val="100000"/>
                  </a:srgbClr>
                </a:gs>
                <a:gs pos="100000">
                  <a:srgbClr val="43309F">
                    <a:alpha val="100000"/>
                  </a:srgbClr>
                </a:gs>
              </a:gsLst>
              <a:lin ang="5400012"/>
            </a:gradFill>
          </p:spPr>
        </p:sp>
      </p:grpSp>
      <p:sp>
        <p:nvSpPr>
          <p:cNvPr name="AutoShape 11" id="11"/>
          <p:cNvSpPr/>
          <p:nvPr/>
        </p:nvSpPr>
        <p:spPr>
          <a:xfrm flipV="true">
            <a:off x="1426460" y="3773912"/>
            <a:ext cx="2252380" cy="1185"/>
          </a:xfrm>
          <a:prstGeom prst="line">
            <a:avLst/>
          </a:prstGeom>
          <a:ln cap="rnd" w="9525">
            <a:solidFill>
              <a:srgbClr val="000000"/>
            </a:solidFill>
            <a:prstDash val="solid"/>
            <a:headEnd type="none" len="sm" w="sm"/>
            <a:tailEnd type="none" len="sm" w="sm"/>
          </a:ln>
        </p:spPr>
      </p:sp>
      <p:grpSp>
        <p:nvGrpSpPr>
          <p:cNvPr name="Group 12" id="12"/>
          <p:cNvGrpSpPr/>
          <p:nvPr/>
        </p:nvGrpSpPr>
        <p:grpSpPr>
          <a:xfrm rot="0">
            <a:off x="-3214150" y="6833800"/>
            <a:ext cx="5962800" cy="5962800"/>
            <a:chOff x="0" y="0"/>
            <a:chExt cx="7950400" cy="7950400"/>
          </a:xfrm>
        </p:grpSpPr>
        <p:sp>
          <p:nvSpPr>
            <p:cNvPr name="Freeform 13" id="13"/>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14" id="14"/>
          <p:cNvGrpSpPr/>
          <p:nvPr/>
        </p:nvGrpSpPr>
        <p:grpSpPr>
          <a:xfrm rot="0">
            <a:off x="1784100" y="8324500"/>
            <a:ext cx="2981400" cy="2981400"/>
            <a:chOff x="0" y="0"/>
            <a:chExt cx="3975200" cy="3975200"/>
          </a:xfrm>
        </p:grpSpPr>
        <p:sp>
          <p:nvSpPr>
            <p:cNvPr name="Freeform 15" id="15"/>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6" id="16"/>
          <p:cNvSpPr/>
          <p:nvPr/>
        </p:nvSpPr>
        <p:spPr>
          <a:xfrm flipH="false" flipV="false" rot="0">
            <a:off x="8482460" y="2265898"/>
            <a:ext cx="9171640" cy="5755204"/>
          </a:xfrm>
          <a:custGeom>
            <a:avLst/>
            <a:gdLst/>
            <a:ahLst/>
            <a:cxnLst/>
            <a:rect r="r" b="b" t="t" l="l"/>
            <a:pathLst>
              <a:path h="5755204" w="9171640">
                <a:moveTo>
                  <a:pt x="0" y="0"/>
                </a:moveTo>
                <a:lnTo>
                  <a:pt x="9171640" y="0"/>
                </a:lnTo>
                <a:lnTo>
                  <a:pt x="9171640" y="5755204"/>
                </a:lnTo>
                <a:lnTo>
                  <a:pt x="0" y="5755204"/>
                </a:lnTo>
                <a:lnTo>
                  <a:pt x="0" y="0"/>
                </a:lnTo>
                <a:close/>
              </a:path>
            </a:pathLst>
          </a:custGeom>
          <a:blipFill>
            <a:blip r:embed="rId3"/>
            <a:stretch>
              <a:fillRect l="0" t="0" r="0" b="0"/>
            </a:stretch>
          </a:blipFill>
        </p:spPr>
      </p:sp>
      <p:sp>
        <p:nvSpPr>
          <p:cNvPr name="TextBox 17" id="17"/>
          <p:cNvSpPr txBox="true"/>
          <p:nvPr/>
        </p:nvSpPr>
        <p:spPr>
          <a:xfrm rot="0">
            <a:off x="1517875" y="1892725"/>
            <a:ext cx="2069550" cy="1876425"/>
          </a:xfrm>
          <a:prstGeom prst="rect">
            <a:avLst/>
          </a:prstGeom>
        </p:spPr>
        <p:txBody>
          <a:bodyPr anchor="t" rtlCol="false" tIns="0" lIns="0" bIns="0" rIns="0">
            <a:spAutoFit/>
          </a:bodyPr>
          <a:lstStyle/>
          <a:p>
            <a:pPr algn="l">
              <a:lnSpc>
                <a:spcPts val="14400"/>
              </a:lnSpc>
            </a:pPr>
            <a:r>
              <a:rPr lang="en-US" sz="12000">
                <a:solidFill>
                  <a:srgbClr val="D149CE"/>
                </a:solidFill>
                <a:latin typeface="Arimo"/>
                <a:ea typeface="Arimo"/>
                <a:cs typeface="Arimo"/>
                <a:sym typeface="Arimo"/>
              </a:rPr>
              <a:t>04</a:t>
            </a:r>
          </a:p>
        </p:txBody>
      </p:sp>
    </p:spTree>
  </p:cSld>
  <p:clrMapOvr>
    <a:masterClrMapping/>
  </p:clrMapOvr>
</p:sld>
</file>

<file path=ppt/slides/slide26.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sp>
        <p:nvSpPr>
          <p:cNvPr name="TextBox 8" id="8"/>
          <p:cNvSpPr txBox="true"/>
          <p:nvPr/>
        </p:nvSpPr>
        <p:spPr>
          <a:xfrm rot="0">
            <a:off x="1517875" y="1071425"/>
            <a:ext cx="152521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Bối Cảnh &amp; Vấn Đề Đặt </a:t>
            </a:r>
            <a:r>
              <a:rPr lang="en-US" sz="6000">
                <a:solidFill>
                  <a:srgbClr val="000000"/>
                </a:solidFill>
                <a:latin typeface="Arimo"/>
                <a:ea typeface="Arimo"/>
                <a:cs typeface="Arimo"/>
                <a:sym typeface="Arimo"/>
              </a:rPr>
              <a:t>Ra</a:t>
            </a:r>
          </a:p>
        </p:txBody>
      </p:sp>
      <p:grpSp>
        <p:nvGrpSpPr>
          <p:cNvPr name="Group 9" id="9"/>
          <p:cNvGrpSpPr/>
          <p:nvPr/>
        </p:nvGrpSpPr>
        <p:grpSpPr>
          <a:xfrm rot="0">
            <a:off x="13880150" y="-1581500"/>
            <a:ext cx="2981400" cy="2981400"/>
            <a:chOff x="0" y="0"/>
            <a:chExt cx="3975200" cy="3975200"/>
          </a:xfrm>
        </p:grpSpPr>
        <p:sp>
          <p:nvSpPr>
            <p:cNvPr name="Freeform 10" id="10"/>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1" id="11"/>
          <p:cNvGrpSpPr/>
          <p:nvPr/>
        </p:nvGrpSpPr>
        <p:grpSpPr>
          <a:xfrm rot="0">
            <a:off x="15873000" y="441500"/>
            <a:ext cx="1275000" cy="1275000"/>
            <a:chOff x="0" y="0"/>
            <a:chExt cx="1700000" cy="1700000"/>
          </a:xfrm>
        </p:grpSpPr>
        <p:sp>
          <p:nvSpPr>
            <p:cNvPr name="Freeform 12" id="12"/>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3" id="13"/>
          <p:cNvGrpSpPr/>
          <p:nvPr/>
        </p:nvGrpSpPr>
        <p:grpSpPr>
          <a:xfrm rot="0">
            <a:off x="857250" y="3364706"/>
            <a:ext cx="7929562" cy="4786093"/>
            <a:chOff x="0" y="0"/>
            <a:chExt cx="10572750" cy="6381458"/>
          </a:xfrm>
        </p:grpSpPr>
        <p:sp>
          <p:nvSpPr>
            <p:cNvPr name="Freeform 14" id="14" descr="image.png"/>
            <p:cNvSpPr/>
            <p:nvPr/>
          </p:nvSpPr>
          <p:spPr>
            <a:xfrm flipH="false" flipV="false" rot="0">
              <a:off x="0" y="0"/>
              <a:ext cx="10572750" cy="6381496"/>
            </a:xfrm>
            <a:custGeom>
              <a:avLst/>
              <a:gdLst/>
              <a:ahLst/>
              <a:cxnLst/>
              <a:rect r="r" b="b" t="t" l="l"/>
              <a:pathLst>
                <a:path h="6381496" w="10572750">
                  <a:moveTo>
                    <a:pt x="0" y="0"/>
                  </a:moveTo>
                  <a:lnTo>
                    <a:pt x="10572750" y="0"/>
                  </a:lnTo>
                  <a:lnTo>
                    <a:pt x="10572750" y="6381496"/>
                  </a:lnTo>
                  <a:lnTo>
                    <a:pt x="0" y="6381496"/>
                  </a:lnTo>
                  <a:lnTo>
                    <a:pt x="0" y="0"/>
                  </a:lnTo>
                  <a:close/>
                </a:path>
              </a:pathLst>
            </a:custGeom>
            <a:solidFill>
              <a:srgbClr val="E8ECF4"/>
            </a:solidFill>
          </p:spPr>
        </p:sp>
      </p:grpSp>
      <p:grpSp>
        <p:nvGrpSpPr>
          <p:cNvPr name="Group 15" id="15"/>
          <p:cNvGrpSpPr/>
          <p:nvPr/>
        </p:nvGrpSpPr>
        <p:grpSpPr>
          <a:xfrm rot="0">
            <a:off x="9501188" y="3364706"/>
            <a:ext cx="7929562" cy="4786093"/>
            <a:chOff x="0" y="0"/>
            <a:chExt cx="10572750" cy="6381458"/>
          </a:xfrm>
        </p:grpSpPr>
        <p:sp>
          <p:nvSpPr>
            <p:cNvPr name="Freeform 16" id="16" descr="image.png"/>
            <p:cNvSpPr/>
            <p:nvPr/>
          </p:nvSpPr>
          <p:spPr>
            <a:xfrm flipH="false" flipV="false" rot="0">
              <a:off x="0" y="0"/>
              <a:ext cx="10572750" cy="6381496"/>
            </a:xfrm>
            <a:custGeom>
              <a:avLst/>
              <a:gdLst/>
              <a:ahLst/>
              <a:cxnLst/>
              <a:rect r="r" b="b" t="t" l="l"/>
              <a:pathLst>
                <a:path h="6381496" w="10572750">
                  <a:moveTo>
                    <a:pt x="0" y="0"/>
                  </a:moveTo>
                  <a:lnTo>
                    <a:pt x="10572750" y="0"/>
                  </a:lnTo>
                  <a:lnTo>
                    <a:pt x="10572750" y="6381496"/>
                  </a:lnTo>
                  <a:lnTo>
                    <a:pt x="0" y="6381496"/>
                  </a:lnTo>
                  <a:lnTo>
                    <a:pt x="0" y="0"/>
                  </a:lnTo>
                  <a:close/>
                </a:path>
              </a:pathLst>
            </a:custGeom>
            <a:solidFill>
              <a:srgbClr val="E8ECF4"/>
            </a:solidFill>
          </p:spPr>
        </p:sp>
      </p:grpSp>
      <p:sp>
        <p:nvSpPr>
          <p:cNvPr name="TextBox 17" id="17"/>
          <p:cNvSpPr txBox="true"/>
          <p:nvPr/>
        </p:nvSpPr>
        <p:spPr>
          <a:xfrm rot="0">
            <a:off x="1443037" y="3950494"/>
            <a:ext cx="7095887"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Nhu cầu Giám sát Bắt buộc</a:t>
            </a:r>
          </a:p>
        </p:txBody>
      </p:sp>
      <p:sp>
        <p:nvSpPr>
          <p:cNvPr name="TextBox 18" id="18"/>
          <p:cNvSpPr txBox="true"/>
          <p:nvPr/>
        </p:nvSpPr>
        <p:spPr>
          <a:xfrm rot="0">
            <a:off x="1443038" y="4507706"/>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Trong giai đoạn triển khai lên môi trường production, ba nhóm chức năng giám sát là bắt buộc:</a:t>
            </a:r>
          </a:p>
        </p:txBody>
      </p:sp>
      <p:sp>
        <p:nvSpPr>
          <p:cNvPr name="TextBox 19" id="19"/>
          <p:cNvSpPr txBox="true"/>
          <p:nvPr/>
        </p:nvSpPr>
        <p:spPr>
          <a:xfrm rot="0">
            <a:off x="10086975" y="3950494"/>
            <a:ext cx="7095887"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Vấn đề Vi phạm SRP</a:t>
            </a:r>
          </a:p>
        </p:txBody>
      </p:sp>
      <p:sp>
        <p:nvSpPr>
          <p:cNvPr name="TextBox 20" id="20"/>
          <p:cNvSpPr txBox="true"/>
          <p:nvPr/>
        </p:nvSpPr>
        <p:spPr>
          <a:xfrm rot="0">
            <a:off x="10086975" y="4507706"/>
            <a:ext cx="6757988"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Khi yêu cầu GenAI bổ sung các chức năng này mà không định hướng thiết kế, mã nguồn sinh ra thường bị nhúng thẳng vào hàm nghiệp vụ.</a:t>
            </a:r>
          </a:p>
        </p:txBody>
      </p:sp>
      <p:sp>
        <p:nvSpPr>
          <p:cNvPr name="TextBox 21" id="21"/>
          <p:cNvSpPr txBox="true"/>
          <p:nvPr/>
        </p:nvSpPr>
        <p:spPr>
          <a:xfrm rot="0">
            <a:off x="10086975" y="5956325"/>
            <a:ext cx="6757988"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Điều này vi phạm nghiêm trọng </a:t>
            </a:r>
            <a:r>
              <a:rPr lang="en-US" b="true" sz="2025">
                <a:solidFill>
                  <a:srgbClr val="000000"/>
                </a:solidFill>
                <a:latin typeface="Inter Bold"/>
                <a:ea typeface="Inter Bold"/>
                <a:cs typeface="Inter Bold"/>
                <a:sym typeface="Inter Bold"/>
              </a:rPr>
              <a:t>Nguyên tắc Đơn trách nhiệm (SRP - Single Responsibility Principle)</a:t>
            </a:r>
            <a:r>
              <a:rPr lang="en-US" sz="2025">
                <a:solidFill>
                  <a:srgbClr val="000000"/>
                </a:solidFill>
                <a:latin typeface="Inter"/>
                <a:ea typeface="Inter"/>
                <a:cs typeface="Inter"/>
                <a:sym typeface="Inter"/>
              </a:rPr>
              <a:t>, dẫn đến mã khó đọc và khó bảo trì.</a:t>
            </a:r>
          </a:p>
        </p:txBody>
      </p:sp>
      <p:sp>
        <p:nvSpPr>
          <p:cNvPr name="TextBox 22" id="22"/>
          <p:cNvSpPr txBox="true"/>
          <p:nvPr/>
        </p:nvSpPr>
        <p:spPr>
          <a:xfrm rot="0">
            <a:off x="1657350" y="5676814"/>
            <a:ext cx="142875" cy="423863"/>
          </a:xfrm>
          <a:prstGeom prst="rect">
            <a:avLst/>
          </a:prstGeom>
        </p:spPr>
        <p:txBody>
          <a:bodyPr anchor="t" rtlCol="false" tIns="0" lIns="0" bIns="0" rIns="0">
            <a:spAutoFit/>
          </a:bodyPr>
          <a:lstStyle/>
          <a:p>
            <a:pPr algn="l">
              <a:lnSpc>
                <a:spcPts val="2430"/>
              </a:lnSpc>
            </a:pPr>
            <a:r>
              <a:rPr lang="en-US" sz="2025">
                <a:solidFill>
                  <a:srgbClr val="000000"/>
                </a:solidFill>
                <a:latin typeface="Inter"/>
                <a:ea typeface="Inter"/>
                <a:cs typeface="Inter"/>
                <a:sym typeface="Inter"/>
              </a:rPr>
              <a:t>•</a:t>
            </a:r>
          </a:p>
        </p:txBody>
      </p:sp>
      <p:sp>
        <p:nvSpPr>
          <p:cNvPr name="TextBox 23" id="23"/>
          <p:cNvSpPr txBox="true"/>
          <p:nvPr/>
        </p:nvSpPr>
        <p:spPr>
          <a:xfrm rot="0">
            <a:off x="1895475" y="5544883"/>
            <a:ext cx="6305550" cy="554307"/>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Ghi nhật ký hoạt động hệ thống (Logging).</a:t>
            </a:r>
          </a:p>
        </p:txBody>
      </p:sp>
      <p:sp>
        <p:nvSpPr>
          <p:cNvPr name="TextBox 24" id="24"/>
          <p:cNvSpPr txBox="true"/>
          <p:nvPr/>
        </p:nvSpPr>
        <p:spPr>
          <a:xfrm rot="0">
            <a:off x="1657350" y="6302559"/>
            <a:ext cx="142875" cy="423863"/>
          </a:xfrm>
          <a:prstGeom prst="rect">
            <a:avLst/>
          </a:prstGeom>
        </p:spPr>
        <p:txBody>
          <a:bodyPr anchor="t" rtlCol="false" tIns="0" lIns="0" bIns="0" rIns="0">
            <a:spAutoFit/>
          </a:bodyPr>
          <a:lstStyle/>
          <a:p>
            <a:pPr algn="l">
              <a:lnSpc>
                <a:spcPts val="2430"/>
              </a:lnSpc>
            </a:pPr>
            <a:r>
              <a:rPr lang="en-US" sz="2025">
                <a:solidFill>
                  <a:srgbClr val="000000"/>
                </a:solidFill>
                <a:latin typeface="Inter"/>
                <a:ea typeface="Inter"/>
                <a:cs typeface="Inter"/>
                <a:sym typeface="Inter"/>
              </a:rPr>
              <a:t>•</a:t>
            </a:r>
          </a:p>
        </p:txBody>
      </p:sp>
      <p:sp>
        <p:nvSpPr>
          <p:cNvPr name="TextBox 25" id="25"/>
          <p:cNvSpPr txBox="true"/>
          <p:nvPr/>
        </p:nvSpPr>
        <p:spPr>
          <a:xfrm rot="0">
            <a:off x="1895475" y="6170638"/>
            <a:ext cx="6305550" cy="554307"/>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Theo dõi chỉ số hiệu năng (Monitoring).</a:t>
            </a:r>
          </a:p>
        </p:txBody>
      </p:sp>
      <p:sp>
        <p:nvSpPr>
          <p:cNvPr name="TextBox 26" id="26"/>
          <p:cNvSpPr txBox="true"/>
          <p:nvPr/>
        </p:nvSpPr>
        <p:spPr>
          <a:xfrm rot="0">
            <a:off x="1657350" y="6928304"/>
            <a:ext cx="142875" cy="423863"/>
          </a:xfrm>
          <a:prstGeom prst="rect">
            <a:avLst/>
          </a:prstGeom>
        </p:spPr>
        <p:txBody>
          <a:bodyPr anchor="t" rtlCol="false" tIns="0" lIns="0" bIns="0" rIns="0">
            <a:spAutoFit/>
          </a:bodyPr>
          <a:lstStyle/>
          <a:p>
            <a:pPr algn="l">
              <a:lnSpc>
                <a:spcPts val="2430"/>
              </a:lnSpc>
            </a:pPr>
            <a:r>
              <a:rPr lang="en-US" sz="2025">
                <a:solidFill>
                  <a:srgbClr val="000000"/>
                </a:solidFill>
                <a:latin typeface="Inter"/>
                <a:ea typeface="Inter"/>
                <a:cs typeface="Inter"/>
                <a:sym typeface="Inter"/>
              </a:rPr>
              <a:t>•</a:t>
            </a:r>
          </a:p>
        </p:txBody>
      </p:sp>
      <p:sp>
        <p:nvSpPr>
          <p:cNvPr name="TextBox 27" id="27"/>
          <p:cNvSpPr txBox="true"/>
          <p:nvPr/>
        </p:nvSpPr>
        <p:spPr>
          <a:xfrm rot="0">
            <a:off x="1895475" y="6796383"/>
            <a:ext cx="6305550" cy="554307"/>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Kiểm soát đầu vào không hợp lệ (Error Handling).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sp>
        <p:nvSpPr>
          <p:cNvPr name="TextBox 8" id="8"/>
          <p:cNvSpPr txBox="true"/>
          <p:nvPr/>
        </p:nvSpPr>
        <p:spPr>
          <a:xfrm rot="0">
            <a:off x="1517875" y="1071425"/>
            <a:ext cx="15252150" cy="942975"/>
          </a:xfrm>
          <a:prstGeom prst="rect">
            <a:avLst/>
          </a:prstGeom>
        </p:spPr>
        <p:txBody>
          <a:bodyPr anchor="t" rtlCol="false" tIns="0" lIns="0" bIns="0" rIns="0">
            <a:spAutoFit/>
          </a:bodyPr>
          <a:lstStyle/>
          <a:p>
            <a:pPr algn="l">
              <a:lnSpc>
                <a:spcPts val="7200"/>
              </a:lnSpc>
            </a:pPr>
            <a:r>
              <a:rPr lang="en-US" sz="6000">
                <a:solidFill>
                  <a:srgbClr val="000000"/>
                </a:solidFill>
                <a:latin typeface="Arimo"/>
                <a:ea typeface="Arimo"/>
                <a:cs typeface="Arimo"/>
                <a:sym typeface="Arimo"/>
              </a:rPr>
              <a:t>4 Phương Pháp Đề Xuất</a:t>
            </a:r>
          </a:p>
        </p:txBody>
      </p:sp>
      <p:grpSp>
        <p:nvGrpSpPr>
          <p:cNvPr name="Group 9" id="9"/>
          <p:cNvGrpSpPr/>
          <p:nvPr/>
        </p:nvGrpSpPr>
        <p:grpSpPr>
          <a:xfrm rot="0">
            <a:off x="13880150" y="-1581500"/>
            <a:ext cx="2981400" cy="2981400"/>
            <a:chOff x="0" y="0"/>
            <a:chExt cx="3975200" cy="3975200"/>
          </a:xfrm>
        </p:grpSpPr>
        <p:sp>
          <p:nvSpPr>
            <p:cNvPr name="Freeform 10" id="10"/>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1" id="11"/>
          <p:cNvGrpSpPr/>
          <p:nvPr/>
        </p:nvGrpSpPr>
        <p:grpSpPr>
          <a:xfrm rot="0">
            <a:off x="15873000" y="441500"/>
            <a:ext cx="1275000" cy="1275000"/>
            <a:chOff x="0" y="0"/>
            <a:chExt cx="1700000" cy="1700000"/>
          </a:xfrm>
        </p:grpSpPr>
        <p:sp>
          <p:nvSpPr>
            <p:cNvPr name="Freeform 12" id="12"/>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3" id="13"/>
          <p:cNvGrpSpPr/>
          <p:nvPr/>
        </p:nvGrpSpPr>
        <p:grpSpPr>
          <a:xfrm rot="0">
            <a:off x="857250" y="3021806"/>
            <a:ext cx="3714750" cy="5471893"/>
            <a:chOff x="0" y="0"/>
            <a:chExt cx="4953000" cy="7295858"/>
          </a:xfrm>
        </p:grpSpPr>
        <p:sp>
          <p:nvSpPr>
            <p:cNvPr name="Freeform 14" id="14" descr="image.png"/>
            <p:cNvSpPr/>
            <p:nvPr/>
          </p:nvSpPr>
          <p:spPr>
            <a:xfrm flipH="false" flipV="false" rot="0">
              <a:off x="0" y="0"/>
              <a:ext cx="4953000" cy="7295896"/>
            </a:xfrm>
            <a:custGeom>
              <a:avLst/>
              <a:gdLst/>
              <a:ahLst/>
              <a:cxnLst/>
              <a:rect r="r" b="b" t="t" l="l"/>
              <a:pathLst>
                <a:path h="7295896" w="4953000">
                  <a:moveTo>
                    <a:pt x="0" y="0"/>
                  </a:moveTo>
                  <a:lnTo>
                    <a:pt x="4953000" y="0"/>
                  </a:lnTo>
                  <a:lnTo>
                    <a:pt x="4953000" y="7295896"/>
                  </a:lnTo>
                  <a:lnTo>
                    <a:pt x="0" y="7295896"/>
                  </a:lnTo>
                  <a:lnTo>
                    <a:pt x="0" y="0"/>
                  </a:lnTo>
                  <a:close/>
                </a:path>
              </a:pathLst>
            </a:custGeom>
            <a:solidFill>
              <a:srgbClr val="E8ECF4"/>
            </a:solidFill>
          </p:spPr>
        </p:sp>
      </p:grpSp>
      <p:grpSp>
        <p:nvGrpSpPr>
          <p:cNvPr name="Group 15" id="15"/>
          <p:cNvGrpSpPr/>
          <p:nvPr/>
        </p:nvGrpSpPr>
        <p:grpSpPr>
          <a:xfrm rot="0">
            <a:off x="5143500" y="3021806"/>
            <a:ext cx="3714750" cy="5471893"/>
            <a:chOff x="0" y="0"/>
            <a:chExt cx="4953000" cy="7295858"/>
          </a:xfrm>
        </p:grpSpPr>
        <p:sp>
          <p:nvSpPr>
            <p:cNvPr name="Freeform 16" id="16" descr="image.png"/>
            <p:cNvSpPr/>
            <p:nvPr/>
          </p:nvSpPr>
          <p:spPr>
            <a:xfrm flipH="false" flipV="false" rot="0">
              <a:off x="0" y="0"/>
              <a:ext cx="4953000" cy="7295896"/>
            </a:xfrm>
            <a:custGeom>
              <a:avLst/>
              <a:gdLst/>
              <a:ahLst/>
              <a:cxnLst/>
              <a:rect r="r" b="b" t="t" l="l"/>
              <a:pathLst>
                <a:path h="7295896" w="4953000">
                  <a:moveTo>
                    <a:pt x="0" y="0"/>
                  </a:moveTo>
                  <a:lnTo>
                    <a:pt x="4953000" y="0"/>
                  </a:lnTo>
                  <a:lnTo>
                    <a:pt x="4953000" y="7295896"/>
                  </a:lnTo>
                  <a:lnTo>
                    <a:pt x="0" y="7295896"/>
                  </a:lnTo>
                  <a:lnTo>
                    <a:pt x="0" y="0"/>
                  </a:lnTo>
                  <a:close/>
                </a:path>
              </a:pathLst>
            </a:custGeom>
            <a:solidFill>
              <a:srgbClr val="E8ECF4"/>
            </a:solidFill>
          </p:spPr>
        </p:sp>
      </p:grpSp>
      <p:grpSp>
        <p:nvGrpSpPr>
          <p:cNvPr name="Group 17" id="17"/>
          <p:cNvGrpSpPr/>
          <p:nvPr/>
        </p:nvGrpSpPr>
        <p:grpSpPr>
          <a:xfrm rot="0">
            <a:off x="9429750" y="3021806"/>
            <a:ext cx="3714750" cy="5471893"/>
            <a:chOff x="0" y="0"/>
            <a:chExt cx="4953000" cy="7295858"/>
          </a:xfrm>
        </p:grpSpPr>
        <p:sp>
          <p:nvSpPr>
            <p:cNvPr name="Freeform 18" id="18" descr="image.png"/>
            <p:cNvSpPr/>
            <p:nvPr/>
          </p:nvSpPr>
          <p:spPr>
            <a:xfrm flipH="false" flipV="false" rot="0">
              <a:off x="0" y="0"/>
              <a:ext cx="4953000" cy="7295896"/>
            </a:xfrm>
            <a:custGeom>
              <a:avLst/>
              <a:gdLst/>
              <a:ahLst/>
              <a:cxnLst/>
              <a:rect r="r" b="b" t="t" l="l"/>
              <a:pathLst>
                <a:path h="7295896" w="4953000">
                  <a:moveTo>
                    <a:pt x="0" y="0"/>
                  </a:moveTo>
                  <a:lnTo>
                    <a:pt x="4953000" y="0"/>
                  </a:lnTo>
                  <a:lnTo>
                    <a:pt x="4953000" y="7295896"/>
                  </a:lnTo>
                  <a:lnTo>
                    <a:pt x="0" y="7295896"/>
                  </a:lnTo>
                  <a:lnTo>
                    <a:pt x="0" y="0"/>
                  </a:lnTo>
                  <a:close/>
                </a:path>
              </a:pathLst>
            </a:custGeom>
            <a:solidFill>
              <a:srgbClr val="E8ECF4"/>
            </a:solidFill>
          </p:spPr>
        </p:sp>
      </p:grpSp>
      <p:grpSp>
        <p:nvGrpSpPr>
          <p:cNvPr name="Group 19" id="19"/>
          <p:cNvGrpSpPr/>
          <p:nvPr/>
        </p:nvGrpSpPr>
        <p:grpSpPr>
          <a:xfrm rot="0">
            <a:off x="13716000" y="3021806"/>
            <a:ext cx="3714750" cy="5471893"/>
            <a:chOff x="0" y="0"/>
            <a:chExt cx="4953000" cy="7295858"/>
          </a:xfrm>
        </p:grpSpPr>
        <p:sp>
          <p:nvSpPr>
            <p:cNvPr name="Freeform 20" id="20" descr="image.png"/>
            <p:cNvSpPr/>
            <p:nvPr/>
          </p:nvSpPr>
          <p:spPr>
            <a:xfrm flipH="false" flipV="false" rot="0">
              <a:off x="0" y="0"/>
              <a:ext cx="4953000" cy="7295896"/>
            </a:xfrm>
            <a:custGeom>
              <a:avLst/>
              <a:gdLst/>
              <a:ahLst/>
              <a:cxnLst/>
              <a:rect r="r" b="b" t="t" l="l"/>
              <a:pathLst>
                <a:path h="7295896" w="4953000">
                  <a:moveTo>
                    <a:pt x="0" y="0"/>
                  </a:moveTo>
                  <a:lnTo>
                    <a:pt x="4953000" y="0"/>
                  </a:lnTo>
                  <a:lnTo>
                    <a:pt x="4953000" y="7295896"/>
                  </a:lnTo>
                  <a:lnTo>
                    <a:pt x="0" y="7295896"/>
                  </a:lnTo>
                  <a:lnTo>
                    <a:pt x="0" y="0"/>
                  </a:lnTo>
                  <a:close/>
                </a:path>
              </a:pathLst>
            </a:custGeom>
            <a:solidFill>
              <a:srgbClr val="E8ECF4"/>
            </a:solidFill>
          </p:spPr>
        </p:sp>
      </p:grpSp>
      <p:sp>
        <p:nvSpPr>
          <p:cNvPr name="TextBox 21" id="21"/>
          <p:cNvSpPr txBox="true"/>
          <p:nvPr/>
        </p:nvSpPr>
        <p:spPr>
          <a:xfrm rot="0">
            <a:off x="1229439" y="4593431"/>
            <a:ext cx="2970371" cy="971550"/>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Simple Chaining</a:t>
            </a:r>
          </a:p>
        </p:txBody>
      </p:sp>
      <p:sp>
        <p:nvSpPr>
          <p:cNvPr name="TextBox 22" id="22"/>
          <p:cNvSpPr txBox="true"/>
          <p:nvPr/>
        </p:nvSpPr>
        <p:spPr>
          <a:xfrm rot="0">
            <a:off x="1300162" y="5636419"/>
            <a:ext cx="2828925" cy="2200056"/>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Gửi từng yêu cầu riêng biệt và tuần tự đến GenAI để thêm dần các chức năng giám sát.</a:t>
            </a:r>
          </a:p>
        </p:txBody>
      </p:sp>
      <p:sp>
        <p:nvSpPr>
          <p:cNvPr name="TextBox 23" id="23"/>
          <p:cNvSpPr txBox="true"/>
          <p:nvPr/>
        </p:nvSpPr>
        <p:spPr>
          <a:xfrm rot="0">
            <a:off x="5793219" y="4593431"/>
            <a:ext cx="2415302" cy="485775"/>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Inverse CoT</a:t>
            </a:r>
          </a:p>
        </p:txBody>
      </p:sp>
      <p:sp>
        <p:nvSpPr>
          <p:cNvPr name="TextBox 24" id="24"/>
          <p:cNvSpPr txBox="true"/>
          <p:nvPr/>
        </p:nvSpPr>
        <p:spPr>
          <a:xfrm rot="0">
            <a:off x="5586412" y="5150644"/>
            <a:ext cx="2828925" cy="1788614"/>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Khai báo cấu trúc cấp cao (decorator) trước để Copilot suy luận phần triển khai.</a:t>
            </a:r>
          </a:p>
        </p:txBody>
      </p:sp>
      <p:sp>
        <p:nvSpPr>
          <p:cNvPr name="TextBox 25" id="25"/>
          <p:cNvSpPr txBox="true"/>
          <p:nvPr/>
        </p:nvSpPr>
        <p:spPr>
          <a:xfrm rot="0">
            <a:off x="9801939" y="4593431"/>
            <a:ext cx="2970371" cy="971550"/>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Few-Shot Learning</a:t>
            </a:r>
          </a:p>
        </p:txBody>
      </p:sp>
      <p:sp>
        <p:nvSpPr>
          <p:cNvPr name="TextBox 26" id="26"/>
          <p:cNvSpPr txBox="true"/>
          <p:nvPr/>
        </p:nvSpPr>
        <p:spPr>
          <a:xfrm rot="0">
            <a:off x="9872662" y="5636419"/>
            <a:ext cx="2828925" cy="1788614"/>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Cung cấp ví dụ mẫu để hướng dẫn GenAI theo phong cách mã cụ thể của dự án.</a:t>
            </a:r>
          </a:p>
        </p:txBody>
      </p:sp>
      <p:sp>
        <p:nvSpPr>
          <p:cNvPr name="TextBox 27" id="27"/>
          <p:cNvSpPr txBox="true"/>
          <p:nvPr/>
        </p:nvSpPr>
        <p:spPr>
          <a:xfrm rot="0">
            <a:off x="14373225" y="4593431"/>
            <a:ext cx="2400300" cy="485775"/>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Fine-Tuning</a:t>
            </a:r>
          </a:p>
        </p:txBody>
      </p:sp>
      <p:sp>
        <p:nvSpPr>
          <p:cNvPr name="TextBox 28" id="28"/>
          <p:cNvSpPr txBox="true"/>
          <p:nvPr/>
        </p:nvSpPr>
        <p:spPr>
          <a:xfrm rot="0">
            <a:off x="14158912" y="5150644"/>
            <a:ext cx="2828925" cy="2200056"/>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Huấn luyện bổ sung mô hình để tự động tuân thủ chuẩn mã trên toàn bộ kho lưu trữ.</a:t>
            </a:r>
          </a:p>
        </p:txBody>
      </p:sp>
      <p:grpSp>
        <p:nvGrpSpPr>
          <p:cNvPr name="Group 29" id="29"/>
          <p:cNvGrpSpPr/>
          <p:nvPr/>
        </p:nvGrpSpPr>
        <p:grpSpPr>
          <a:xfrm rot="0">
            <a:off x="2286000" y="3536156"/>
            <a:ext cx="857250" cy="685800"/>
            <a:chOff x="0" y="0"/>
            <a:chExt cx="1143000" cy="914400"/>
          </a:xfrm>
        </p:grpSpPr>
        <p:sp>
          <p:nvSpPr>
            <p:cNvPr name="Freeform 30" id="30" descr="image.png"/>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3"/>
              <a:stretch>
                <a:fillRect l="0" t="0" r="0" b="-409"/>
              </a:stretch>
            </a:blipFill>
          </p:spPr>
        </p:sp>
      </p:grpSp>
      <p:grpSp>
        <p:nvGrpSpPr>
          <p:cNvPr name="Group 31" id="31"/>
          <p:cNvGrpSpPr/>
          <p:nvPr/>
        </p:nvGrpSpPr>
        <p:grpSpPr>
          <a:xfrm rot="0">
            <a:off x="6572250" y="3536156"/>
            <a:ext cx="857250" cy="685800"/>
            <a:chOff x="0" y="0"/>
            <a:chExt cx="1143000" cy="914400"/>
          </a:xfrm>
        </p:grpSpPr>
        <p:sp>
          <p:nvSpPr>
            <p:cNvPr name="Freeform 32" id="32" descr="image.png"/>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4"/>
              <a:stretch>
                <a:fillRect l="0" t="0" r="0" b="-409"/>
              </a:stretch>
            </a:blipFill>
          </p:spPr>
        </p:sp>
      </p:grpSp>
      <p:grpSp>
        <p:nvGrpSpPr>
          <p:cNvPr name="Group 33" id="33"/>
          <p:cNvGrpSpPr/>
          <p:nvPr/>
        </p:nvGrpSpPr>
        <p:grpSpPr>
          <a:xfrm rot="0">
            <a:off x="10987088" y="3536156"/>
            <a:ext cx="600075" cy="685800"/>
            <a:chOff x="0" y="0"/>
            <a:chExt cx="800100" cy="914400"/>
          </a:xfrm>
        </p:grpSpPr>
        <p:sp>
          <p:nvSpPr>
            <p:cNvPr name="Freeform 34" id="34" descr="image.png"/>
            <p:cNvSpPr/>
            <p:nvPr/>
          </p:nvSpPr>
          <p:spPr>
            <a:xfrm flipH="false" flipV="false" rot="0">
              <a:off x="0" y="0"/>
              <a:ext cx="800100" cy="914400"/>
            </a:xfrm>
            <a:custGeom>
              <a:avLst/>
              <a:gdLst/>
              <a:ahLst/>
              <a:cxnLst/>
              <a:rect r="r" b="b" t="t" l="l"/>
              <a:pathLst>
                <a:path h="914400" w="800100">
                  <a:moveTo>
                    <a:pt x="0" y="0"/>
                  </a:moveTo>
                  <a:lnTo>
                    <a:pt x="800100" y="0"/>
                  </a:lnTo>
                  <a:lnTo>
                    <a:pt x="800100" y="914400"/>
                  </a:lnTo>
                  <a:lnTo>
                    <a:pt x="0" y="914400"/>
                  </a:lnTo>
                  <a:lnTo>
                    <a:pt x="0" y="0"/>
                  </a:lnTo>
                  <a:close/>
                </a:path>
              </a:pathLst>
            </a:custGeom>
            <a:blipFill>
              <a:blip r:embed="rId5"/>
              <a:stretch>
                <a:fillRect l="0" t="0" r="-292" b="0"/>
              </a:stretch>
            </a:blipFill>
          </p:spPr>
        </p:sp>
      </p:grpSp>
      <p:grpSp>
        <p:nvGrpSpPr>
          <p:cNvPr name="Group 35" id="35"/>
          <p:cNvGrpSpPr/>
          <p:nvPr/>
        </p:nvGrpSpPr>
        <p:grpSpPr>
          <a:xfrm rot="0">
            <a:off x="15230475" y="3536156"/>
            <a:ext cx="685800" cy="685800"/>
            <a:chOff x="0" y="0"/>
            <a:chExt cx="914400" cy="914400"/>
          </a:xfrm>
        </p:grpSpPr>
        <p:sp>
          <p:nvSpPr>
            <p:cNvPr name="Freeform 36" id="36"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6"/>
              <a:stretch>
                <a:fillRect l="0" t="0" r="0" b="0"/>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12" id="12"/>
          <p:cNvSpPr/>
          <p:nvPr/>
        </p:nvSpPr>
        <p:spPr>
          <a:xfrm flipH="false" flipV="false" rot="0">
            <a:off x="9144000" y="2013386"/>
            <a:ext cx="8651531" cy="7094255"/>
          </a:xfrm>
          <a:custGeom>
            <a:avLst/>
            <a:gdLst/>
            <a:ahLst/>
            <a:cxnLst/>
            <a:rect r="r" b="b" t="t" l="l"/>
            <a:pathLst>
              <a:path h="7094255" w="8651531">
                <a:moveTo>
                  <a:pt x="0" y="0"/>
                </a:moveTo>
                <a:lnTo>
                  <a:pt x="8651531" y="0"/>
                </a:lnTo>
                <a:lnTo>
                  <a:pt x="8651531" y="7094256"/>
                </a:lnTo>
                <a:lnTo>
                  <a:pt x="0" y="7094256"/>
                </a:lnTo>
                <a:lnTo>
                  <a:pt x="0" y="0"/>
                </a:lnTo>
                <a:close/>
              </a:path>
            </a:pathLst>
          </a:custGeom>
          <a:blipFill>
            <a:blip r:embed="rId3"/>
            <a:stretch>
              <a:fillRect l="0" t="0" r="0" b="0"/>
            </a:stretch>
          </a:blipFill>
        </p:spPr>
      </p:sp>
      <p:sp>
        <p:nvSpPr>
          <p:cNvPr name="TextBox 13" id="13"/>
          <p:cNvSpPr txBox="true"/>
          <p:nvPr/>
        </p:nvSpPr>
        <p:spPr>
          <a:xfrm rot="0">
            <a:off x="857250" y="857250"/>
            <a:ext cx="8326041"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4.2.1 Simple Chaining</a:t>
            </a:r>
          </a:p>
        </p:txBody>
      </p:sp>
      <p:sp>
        <p:nvSpPr>
          <p:cNvPr name="TextBox 14" id="14"/>
          <p:cNvSpPr txBox="true"/>
          <p:nvPr/>
        </p:nvSpPr>
        <p:spPr>
          <a:xfrm rot="0">
            <a:off x="857250" y="2085975"/>
            <a:ext cx="8326041"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Cơ chế hoạt động</a:t>
            </a:r>
          </a:p>
        </p:txBody>
      </p:sp>
      <p:sp>
        <p:nvSpPr>
          <p:cNvPr name="TextBox 15" id="15"/>
          <p:cNvSpPr txBox="true"/>
          <p:nvPr/>
        </p:nvSpPr>
        <p:spPr>
          <a:xfrm rot="0">
            <a:off x="857250" y="2643187"/>
            <a:ext cx="7929562"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Gửi từng yêu cầu tuần tự: ghi log, xác thực đầu vào, đếm số lần gọi hàm.</a:t>
            </a:r>
          </a:p>
        </p:txBody>
      </p:sp>
      <p:sp>
        <p:nvSpPr>
          <p:cNvPr name="TextBox 16" id="16"/>
          <p:cNvSpPr txBox="true"/>
          <p:nvPr/>
        </p:nvSpPr>
        <p:spPr>
          <a:xfrm rot="0">
            <a:off x="857250" y="3823249"/>
            <a:ext cx="8326041"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Kết quả &amp; Hạn chế</a:t>
            </a:r>
          </a:p>
        </p:txBody>
      </p:sp>
      <p:sp>
        <p:nvSpPr>
          <p:cNvPr name="TextBox 17" id="17"/>
          <p:cNvSpPr txBox="true"/>
          <p:nvPr/>
        </p:nvSpPr>
        <p:spPr>
          <a:xfrm rot="0">
            <a:off x="857250" y="4380462"/>
            <a:ext cx="7929562"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Đạt yêu cầu chức năng nhưng toàn bộ xử lý bị nhúng trực tiếp vào thân hàm (ví dụ: print_fizzbuzz).</a:t>
            </a:r>
          </a:p>
        </p:txBody>
      </p:sp>
      <p:sp>
        <p:nvSpPr>
          <p:cNvPr name="TextBox 18" id="18"/>
          <p:cNvSpPr txBox="true"/>
          <p:nvPr/>
        </p:nvSpPr>
        <p:spPr>
          <a:xfrm rot="0">
            <a:off x="857250" y="5417639"/>
            <a:ext cx="7929562" cy="1415034"/>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Độ dài hàm tăng đáng kể, khó kiểm thử độc lập, không thể tái sử dụng logic giám sát, vi phạm quy tắc thiết kế SRP. Phù hợp cho prototype nhanh.</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TextBox 12" id="12"/>
          <p:cNvSpPr txBox="true"/>
          <p:nvPr/>
        </p:nvSpPr>
        <p:spPr>
          <a:xfrm rot="0">
            <a:off x="857250" y="3090567"/>
            <a:ext cx="8326041"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Khái niệm</a:t>
            </a:r>
          </a:p>
        </p:txBody>
      </p:sp>
      <p:sp>
        <p:nvSpPr>
          <p:cNvPr name="TextBox 13" id="13"/>
          <p:cNvSpPr txBox="true"/>
          <p:nvPr/>
        </p:nvSpPr>
        <p:spPr>
          <a:xfrm rot="0">
            <a:off x="857250" y="3647780"/>
            <a:ext cx="7929562"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Tận dụng cơ chế gợi ý hoàn thành mã tự động của IDE. Đặt con trỏ phía trên phần mã đã tồn tại, hướng Copilot điền vào phần thiếu.</a:t>
            </a:r>
          </a:p>
        </p:txBody>
      </p:sp>
      <p:sp>
        <p:nvSpPr>
          <p:cNvPr name="TextBox 14" id="14"/>
          <p:cNvSpPr txBox="true"/>
          <p:nvPr/>
        </p:nvSpPr>
        <p:spPr>
          <a:xfrm rot="0">
            <a:off x="857250" y="5239274"/>
            <a:ext cx="8326041"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Cách thực hiện</a:t>
            </a:r>
          </a:p>
        </p:txBody>
      </p:sp>
      <p:sp>
        <p:nvSpPr>
          <p:cNvPr name="TextBox 15" id="15"/>
          <p:cNvSpPr txBox="true"/>
          <p:nvPr/>
        </p:nvSpPr>
        <p:spPr>
          <a:xfrm rot="0">
            <a:off x="857250" y="5796486"/>
            <a:ext cx="7929562"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Khai báo trước các decorator (ví dụ: @log_function_args, @increment_counter). Copilot nhận tín hiệu ngữ cảnh từ tên decorator và tự động sinh phần triển khai phía trên.</a:t>
            </a:r>
          </a:p>
        </p:txBody>
      </p:sp>
      <p:sp>
        <p:nvSpPr>
          <p:cNvPr name="TextBox 16" id="16"/>
          <p:cNvSpPr txBox="true"/>
          <p:nvPr/>
        </p:nvSpPr>
        <p:spPr>
          <a:xfrm rot="0">
            <a:off x="857250" y="7245096"/>
            <a:ext cx="7929562"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Tên decorator đóng vai trò như gợi ý ngữ nghĩa, giúp AI suy luận chức năng cần tạo ra.</a:t>
            </a:r>
          </a:p>
        </p:txBody>
      </p:sp>
      <p:grpSp>
        <p:nvGrpSpPr>
          <p:cNvPr name="Group 17" id="17"/>
          <p:cNvGrpSpPr/>
          <p:nvPr/>
        </p:nvGrpSpPr>
        <p:grpSpPr>
          <a:xfrm rot="0">
            <a:off x="8938534" y="2324233"/>
            <a:ext cx="8960084" cy="5638534"/>
            <a:chOff x="0" y="0"/>
            <a:chExt cx="10534650" cy="6629400"/>
          </a:xfrm>
        </p:grpSpPr>
        <p:sp>
          <p:nvSpPr>
            <p:cNvPr name="Freeform 18" id="18" descr="image.png"/>
            <p:cNvSpPr/>
            <p:nvPr/>
          </p:nvSpPr>
          <p:spPr>
            <a:xfrm flipH="false" flipV="false" rot="0">
              <a:off x="0" y="0"/>
              <a:ext cx="10534650" cy="6629400"/>
            </a:xfrm>
            <a:custGeom>
              <a:avLst/>
              <a:gdLst/>
              <a:ahLst/>
              <a:cxnLst/>
              <a:rect r="r" b="b" t="t" l="l"/>
              <a:pathLst>
                <a:path h="6629400" w="10534650">
                  <a:moveTo>
                    <a:pt x="0" y="0"/>
                  </a:moveTo>
                  <a:lnTo>
                    <a:pt x="10534650" y="0"/>
                  </a:lnTo>
                  <a:lnTo>
                    <a:pt x="10534650" y="6629400"/>
                  </a:lnTo>
                  <a:lnTo>
                    <a:pt x="0" y="6629400"/>
                  </a:lnTo>
                  <a:lnTo>
                    <a:pt x="0" y="0"/>
                  </a:lnTo>
                  <a:close/>
                </a:path>
              </a:pathLst>
            </a:custGeom>
            <a:blipFill>
              <a:blip r:embed="rId3"/>
              <a:stretch>
                <a:fillRect l="0" t="0" r="0" b="-498"/>
              </a:stretch>
            </a:blipFill>
          </p:spPr>
        </p:sp>
      </p:grpSp>
      <p:sp>
        <p:nvSpPr>
          <p:cNvPr name="TextBox 19" id="19"/>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4.2.2 Inverse CoT (CoT Ngược)</a:t>
            </a:r>
          </a:p>
        </p:txBody>
      </p:sp>
    </p:spTree>
  </p:cSld>
  <p:clrMapOvr>
    <a:masterClrMapping/>
  </p:clrMapOvr>
</p:sld>
</file>

<file path=ppt/slides/slide30.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aphicFrame>
        <p:nvGraphicFramePr>
          <p:cNvPr name="Table 12" id="12"/>
          <p:cNvGraphicFramePr>
            <a:graphicFrameLocks noGrp="true"/>
          </p:cNvGraphicFramePr>
          <p:nvPr/>
        </p:nvGraphicFramePr>
        <p:xfrm>
          <a:off x="857250" y="3861866"/>
          <a:ext cx="16535400" cy="3733800"/>
        </p:xfrm>
        <a:graphic>
          <a:graphicData uri="http://schemas.openxmlformats.org/drawingml/2006/table">
            <a:tbl>
              <a:tblPr/>
              <a:tblGrid>
                <a:gridCol w="2912490"/>
                <a:gridCol w="6680957"/>
                <a:gridCol w="6941953"/>
              </a:tblGrid>
              <a:tr h="933450">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8900044"/>
                          </a:gradFill>
                          <a:latin typeface="Inter Bold"/>
                          <a:ea typeface="Inter Bold"/>
                          <a:cs typeface="Inter Bold"/>
                          <a:sym typeface="Inter Bold"/>
                        </a:rPr>
                        <a:t>Tiêu chí</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8900044"/>
                          </a:gradFill>
                          <a:latin typeface="Inter Bold"/>
                          <a:ea typeface="Inter Bold"/>
                          <a:cs typeface="Inter Bold"/>
                          <a:sym typeface="Inter Bold"/>
                        </a:rPr>
                        <a:t>CoT Thông Thường</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8900044"/>
                          </a:gradFill>
                          <a:latin typeface="Inter Bold"/>
                          <a:ea typeface="Inter Bold"/>
                          <a:cs typeface="Inter Bold"/>
                          <a:sym typeface="Inter Bold"/>
                        </a:rPr>
                        <a:t>Inverse CoT</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Luồng thực thi</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Định nghĩa hàm cấp cao → gọi hàm con chưa có</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Khai báo @decorator → di chuyển con trỏ lên trên</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Hành động của AI</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Copilot điền hàm con phía dưới</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Copilot điền decorator phía trên</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Thứ tự mã nguồn</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Hàm con sau, hàm cha trước</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Decorator trước, hàm decorated sau</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bl>
          </a:graphicData>
        </a:graphic>
      </p:graphicFrame>
      <p:grpSp>
        <p:nvGrpSpPr>
          <p:cNvPr name="Group 13" id="13"/>
          <p:cNvGrpSpPr/>
          <p:nvPr/>
        </p:nvGrpSpPr>
        <p:grpSpPr>
          <a:xfrm rot="0">
            <a:off x="857250" y="4826270"/>
            <a:ext cx="2905716" cy="14288"/>
            <a:chOff x="0" y="0"/>
            <a:chExt cx="3874287" cy="19050"/>
          </a:xfrm>
        </p:grpSpPr>
        <p:sp>
          <p:nvSpPr>
            <p:cNvPr name="Freeform 14" id="14"/>
            <p:cNvSpPr/>
            <p:nvPr/>
          </p:nvSpPr>
          <p:spPr>
            <a:xfrm flipH="false" flipV="false" rot="0">
              <a:off x="0" y="0"/>
              <a:ext cx="3874262" cy="19050"/>
            </a:xfrm>
            <a:custGeom>
              <a:avLst/>
              <a:gdLst/>
              <a:ahLst/>
              <a:cxnLst/>
              <a:rect r="r" b="b" t="t" l="l"/>
              <a:pathLst>
                <a:path h="19050" w="3874262">
                  <a:moveTo>
                    <a:pt x="0" y="0"/>
                  </a:moveTo>
                  <a:lnTo>
                    <a:pt x="3874262" y="0"/>
                  </a:lnTo>
                  <a:lnTo>
                    <a:pt x="3874262" y="19050"/>
                  </a:lnTo>
                  <a:lnTo>
                    <a:pt x="0" y="19050"/>
                  </a:lnTo>
                  <a:close/>
                </a:path>
              </a:pathLst>
            </a:custGeom>
            <a:solidFill>
              <a:srgbClr val="334155"/>
            </a:solidFill>
          </p:spPr>
        </p:sp>
      </p:grpSp>
      <p:grpSp>
        <p:nvGrpSpPr>
          <p:cNvPr name="Group 15" id="15"/>
          <p:cNvGrpSpPr/>
          <p:nvPr/>
        </p:nvGrpSpPr>
        <p:grpSpPr>
          <a:xfrm rot="0">
            <a:off x="3762966" y="4826270"/>
            <a:ext cx="6702400" cy="14288"/>
            <a:chOff x="0" y="0"/>
            <a:chExt cx="8936533" cy="19050"/>
          </a:xfrm>
        </p:grpSpPr>
        <p:sp>
          <p:nvSpPr>
            <p:cNvPr name="Freeform 16" id="16"/>
            <p:cNvSpPr/>
            <p:nvPr/>
          </p:nvSpPr>
          <p:spPr>
            <a:xfrm flipH="false" flipV="false" rot="0">
              <a:off x="0" y="0"/>
              <a:ext cx="8936482" cy="19050"/>
            </a:xfrm>
            <a:custGeom>
              <a:avLst/>
              <a:gdLst/>
              <a:ahLst/>
              <a:cxnLst/>
              <a:rect r="r" b="b" t="t" l="l"/>
              <a:pathLst>
                <a:path h="19050" w="8936482">
                  <a:moveTo>
                    <a:pt x="0" y="0"/>
                  </a:moveTo>
                  <a:lnTo>
                    <a:pt x="8936482" y="0"/>
                  </a:lnTo>
                  <a:lnTo>
                    <a:pt x="8936482" y="19050"/>
                  </a:lnTo>
                  <a:lnTo>
                    <a:pt x="0" y="19050"/>
                  </a:lnTo>
                  <a:close/>
                </a:path>
              </a:pathLst>
            </a:custGeom>
            <a:solidFill>
              <a:srgbClr val="334155"/>
            </a:solidFill>
          </p:spPr>
        </p:sp>
      </p:grpSp>
      <p:grpSp>
        <p:nvGrpSpPr>
          <p:cNvPr name="Group 17" id="17"/>
          <p:cNvGrpSpPr/>
          <p:nvPr/>
        </p:nvGrpSpPr>
        <p:grpSpPr>
          <a:xfrm rot="0">
            <a:off x="10465365" y="4826270"/>
            <a:ext cx="6965375" cy="14288"/>
            <a:chOff x="0" y="0"/>
            <a:chExt cx="9287167" cy="19050"/>
          </a:xfrm>
        </p:grpSpPr>
        <p:sp>
          <p:nvSpPr>
            <p:cNvPr name="Freeform 18" id="18"/>
            <p:cNvSpPr/>
            <p:nvPr/>
          </p:nvSpPr>
          <p:spPr>
            <a:xfrm flipH="false" flipV="false" rot="0">
              <a:off x="0" y="0"/>
              <a:ext cx="9287129" cy="19050"/>
            </a:xfrm>
            <a:custGeom>
              <a:avLst/>
              <a:gdLst/>
              <a:ahLst/>
              <a:cxnLst/>
              <a:rect r="r" b="b" t="t" l="l"/>
              <a:pathLst>
                <a:path h="19050" w="9287129">
                  <a:moveTo>
                    <a:pt x="0" y="0"/>
                  </a:moveTo>
                  <a:lnTo>
                    <a:pt x="9287129" y="0"/>
                  </a:lnTo>
                  <a:lnTo>
                    <a:pt x="9287129" y="19050"/>
                  </a:lnTo>
                  <a:lnTo>
                    <a:pt x="0" y="19050"/>
                  </a:lnTo>
                  <a:close/>
                </a:path>
              </a:pathLst>
            </a:custGeom>
            <a:solidFill>
              <a:srgbClr val="334155"/>
            </a:solidFill>
          </p:spPr>
        </p:sp>
      </p:grpSp>
      <p:grpSp>
        <p:nvGrpSpPr>
          <p:cNvPr name="Group 19" id="19"/>
          <p:cNvGrpSpPr/>
          <p:nvPr/>
        </p:nvGrpSpPr>
        <p:grpSpPr>
          <a:xfrm rot="0">
            <a:off x="857250" y="5766349"/>
            <a:ext cx="2905716" cy="14288"/>
            <a:chOff x="0" y="0"/>
            <a:chExt cx="3874287" cy="19050"/>
          </a:xfrm>
        </p:grpSpPr>
        <p:sp>
          <p:nvSpPr>
            <p:cNvPr name="Freeform 20" id="20"/>
            <p:cNvSpPr/>
            <p:nvPr/>
          </p:nvSpPr>
          <p:spPr>
            <a:xfrm flipH="false" flipV="false" rot="0">
              <a:off x="0" y="0"/>
              <a:ext cx="3874262" cy="19050"/>
            </a:xfrm>
            <a:custGeom>
              <a:avLst/>
              <a:gdLst/>
              <a:ahLst/>
              <a:cxnLst/>
              <a:rect r="r" b="b" t="t" l="l"/>
              <a:pathLst>
                <a:path h="19050" w="3874262">
                  <a:moveTo>
                    <a:pt x="0" y="0"/>
                  </a:moveTo>
                  <a:lnTo>
                    <a:pt x="3874262" y="0"/>
                  </a:lnTo>
                  <a:lnTo>
                    <a:pt x="3874262" y="19050"/>
                  </a:lnTo>
                  <a:lnTo>
                    <a:pt x="0" y="19050"/>
                  </a:lnTo>
                  <a:close/>
                </a:path>
              </a:pathLst>
            </a:custGeom>
            <a:solidFill>
              <a:srgbClr val="334155"/>
            </a:solidFill>
          </p:spPr>
        </p:sp>
      </p:grpSp>
      <p:grpSp>
        <p:nvGrpSpPr>
          <p:cNvPr name="Group 21" id="21"/>
          <p:cNvGrpSpPr/>
          <p:nvPr/>
        </p:nvGrpSpPr>
        <p:grpSpPr>
          <a:xfrm rot="0">
            <a:off x="3762966" y="5766349"/>
            <a:ext cx="6702400" cy="14288"/>
            <a:chOff x="0" y="0"/>
            <a:chExt cx="8936533" cy="19050"/>
          </a:xfrm>
        </p:grpSpPr>
        <p:sp>
          <p:nvSpPr>
            <p:cNvPr name="Freeform 22" id="22"/>
            <p:cNvSpPr/>
            <p:nvPr/>
          </p:nvSpPr>
          <p:spPr>
            <a:xfrm flipH="false" flipV="false" rot="0">
              <a:off x="0" y="0"/>
              <a:ext cx="8936482" cy="19050"/>
            </a:xfrm>
            <a:custGeom>
              <a:avLst/>
              <a:gdLst/>
              <a:ahLst/>
              <a:cxnLst/>
              <a:rect r="r" b="b" t="t" l="l"/>
              <a:pathLst>
                <a:path h="19050" w="8936482">
                  <a:moveTo>
                    <a:pt x="0" y="0"/>
                  </a:moveTo>
                  <a:lnTo>
                    <a:pt x="8936482" y="0"/>
                  </a:lnTo>
                  <a:lnTo>
                    <a:pt x="8936482" y="19050"/>
                  </a:lnTo>
                  <a:lnTo>
                    <a:pt x="0" y="19050"/>
                  </a:lnTo>
                  <a:close/>
                </a:path>
              </a:pathLst>
            </a:custGeom>
            <a:solidFill>
              <a:srgbClr val="334155"/>
            </a:solidFill>
          </p:spPr>
        </p:sp>
      </p:grpSp>
      <p:grpSp>
        <p:nvGrpSpPr>
          <p:cNvPr name="Group 23" id="23"/>
          <p:cNvGrpSpPr/>
          <p:nvPr/>
        </p:nvGrpSpPr>
        <p:grpSpPr>
          <a:xfrm rot="0">
            <a:off x="10465365" y="5766349"/>
            <a:ext cx="6965375" cy="14288"/>
            <a:chOff x="0" y="0"/>
            <a:chExt cx="9287167" cy="19050"/>
          </a:xfrm>
        </p:grpSpPr>
        <p:sp>
          <p:nvSpPr>
            <p:cNvPr name="Freeform 24" id="24"/>
            <p:cNvSpPr/>
            <p:nvPr/>
          </p:nvSpPr>
          <p:spPr>
            <a:xfrm flipH="false" flipV="false" rot="0">
              <a:off x="0" y="0"/>
              <a:ext cx="9287129" cy="19050"/>
            </a:xfrm>
            <a:custGeom>
              <a:avLst/>
              <a:gdLst/>
              <a:ahLst/>
              <a:cxnLst/>
              <a:rect r="r" b="b" t="t" l="l"/>
              <a:pathLst>
                <a:path h="19050" w="9287129">
                  <a:moveTo>
                    <a:pt x="0" y="0"/>
                  </a:moveTo>
                  <a:lnTo>
                    <a:pt x="9287129" y="0"/>
                  </a:lnTo>
                  <a:lnTo>
                    <a:pt x="9287129" y="19050"/>
                  </a:lnTo>
                  <a:lnTo>
                    <a:pt x="0" y="19050"/>
                  </a:lnTo>
                  <a:close/>
                </a:path>
              </a:pathLst>
            </a:custGeom>
            <a:solidFill>
              <a:srgbClr val="334155"/>
            </a:solidFill>
          </p:spPr>
        </p:sp>
      </p:grpSp>
      <p:grpSp>
        <p:nvGrpSpPr>
          <p:cNvPr name="Group 25" id="25"/>
          <p:cNvGrpSpPr/>
          <p:nvPr/>
        </p:nvGrpSpPr>
        <p:grpSpPr>
          <a:xfrm rot="0">
            <a:off x="857250" y="6706419"/>
            <a:ext cx="2905716" cy="14288"/>
            <a:chOff x="0" y="0"/>
            <a:chExt cx="3874287" cy="19050"/>
          </a:xfrm>
        </p:grpSpPr>
        <p:sp>
          <p:nvSpPr>
            <p:cNvPr name="Freeform 26" id="26"/>
            <p:cNvSpPr/>
            <p:nvPr/>
          </p:nvSpPr>
          <p:spPr>
            <a:xfrm flipH="false" flipV="false" rot="0">
              <a:off x="0" y="0"/>
              <a:ext cx="3874262" cy="19050"/>
            </a:xfrm>
            <a:custGeom>
              <a:avLst/>
              <a:gdLst/>
              <a:ahLst/>
              <a:cxnLst/>
              <a:rect r="r" b="b" t="t" l="l"/>
              <a:pathLst>
                <a:path h="19050" w="3874262">
                  <a:moveTo>
                    <a:pt x="0" y="0"/>
                  </a:moveTo>
                  <a:lnTo>
                    <a:pt x="3874262" y="0"/>
                  </a:lnTo>
                  <a:lnTo>
                    <a:pt x="3874262" y="19050"/>
                  </a:lnTo>
                  <a:lnTo>
                    <a:pt x="0" y="19050"/>
                  </a:lnTo>
                  <a:close/>
                </a:path>
              </a:pathLst>
            </a:custGeom>
            <a:solidFill>
              <a:srgbClr val="334155"/>
            </a:solidFill>
          </p:spPr>
        </p:sp>
      </p:grpSp>
      <p:grpSp>
        <p:nvGrpSpPr>
          <p:cNvPr name="Group 27" id="27"/>
          <p:cNvGrpSpPr/>
          <p:nvPr/>
        </p:nvGrpSpPr>
        <p:grpSpPr>
          <a:xfrm rot="0">
            <a:off x="3762966" y="6706419"/>
            <a:ext cx="6702400" cy="14288"/>
            <a:chOff x="0" y="0"/>
            <a:chExt cx="8936533" cy="19050"/>
          </a:xfrm>
        </p:grpSpPr>
        <p:sp>
          <p:nvSpPr>
            <p:cNvPr name="Freeform 28" id="28"/>
            <p:cNvSpPr/>
            <p:nvPr/>
          </p:nvSpPr>
          <p:spPr>
            <a:xfrm flipH="false" flipV="false" rot="0">
              <a:off x="0" y="0"/>
              <a:ext cx="8936482" cy="19050"/>
            </a:xfrm>
            <a:custGeom>
              <a:avLst/>
              <a:gdLst/>
              <a:ahLst/>
              <a:cxnLst/>
              <a:rect r="r" b="b" t="t" l="l"/>
              <a:pathLst>
                <a:path h="19050" w="8936482">
                  <a:moveTo>
                    <a:pt x="0" y="0"/>
                  </a:moveTo>
                  <a:lnTo>
                    <a:pt x="8936482" y="0"/>
                  </a:lnTo>
                  <a:lnTo>
                    <a:pt x="8936482" y="19050"/>
                  </a:lnTo>
                  <a:lnTo>
                    <a:pt x="0" y="19050"/>
                  </a:lnTo>
                  <a:close/>
                </a:path>
              </a:pathLst>
            </a:custGeom>
            <a:solidFill>
              <a:srgbClr val="334155"/>
            </a:solidFill>
          </p:spPr>
        </p:sp>
      </p:grpSp>
      <p:grpSp>
        <p:nvGrpSpPr>
          <p:cNvPr name="Group 29" id="29"/>
          <p:cNvGrpSpPr/>
          <p:nvPr/>
        </p:nvGrpSpPr>
        <p:grpSpPr>
          <a:xfrm rot="0">
            <a:off x="10465365" y="6706419"/>
            <a:ext cx="6965375" cy="14288"/>
            <a:chOff x="0" y="0"/>
            <a:chExt cx="9287167" cy="19050"/>
          </a:xfrm>
        </p:grpSpPr>
        <p:sp>
          <p:nvSpPr>
            <p:cNvPr name="Freeform 30" id="30"/>
            <p:cNvSpPr/>
            <p:nvPr/>
          </p:nvSpPr>
          <p:spPr>
            <a:xfrm flipH="false" flipV="false" rot="0">
              <a:off x="0" y="0"/>
              <a:ext cx="9287129" cy="19050"/>
            </a:xfrm>
            <a:custGeom>
              <a:avLst/>
              <a:gdLst/>
              <a:ahLst/>
              <a:cxnLst/>
              <a:rect r="r" b="b" t="t" l="l"/>
              <a:pathLst>
                <a:path h="19050" w="9287129">
                  <a:moveTo>
                    <a:pt x="0" y="0"/>
                  </a:moveTo>
                  <a:lnTo>
                    <a:pt x="9287129" y="0"/>
                  </a:lnTo>
                  <a:lnTo>
                    <a:pt x="9287129" y="19050"/>
                  </a:lnTo>
                  <a:lnTo>
                    <a:pt x="0" y="19050"/>
                  </a:lnTo>
                  <a:close/>
                </a:path>
              </a:pathLst>
            </a:custGeom>
            <a:solidFill>
              <a:srgbClr val="334155"/>
            </a:solidFill>
          </p:spPr>
        </p:sp>
      </p:grpSp>
      <p:sp>
        <p:nvSpPr>
          <p:cNvPr name="TextBox 31" id="31"/>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So Sánh CoT và Inverse CoT</a:t>
            </a:r>
          </a:p>
        </p:txBody>
      </p:sp>
    </p:spTree>
  </p:cSld>
  <p:clrMapOvr>
    <a:masterClrMapping/>
  </p:clrMapOvr>
</p:sld>
</file>

<file path=ppt/slides/slide31.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2" id="12"/>
          <p:cNvGrpSpPr/>
          <p:nvPr/>
        </p:nvGrpSpPr>
        <p:grpSpPr>
          <a:xfrm rot="0">
            <a:off x="857250" y="3471862"/>
            <a:ext cx="7929562" cy="4571781"/>
            <a:chOff x="0" y="0"/>
            <a:chExt cx="10572750" cy="6095708"/>
          </a:xfrm>
        </p:grpSpPr>
        <p:sp>
          <p:nvSpPr>
            <p:cNvPr name="Freeform 13" id="13" descr="image.png"/>
            <p:cNvSpPr/>
            <p:nvPr/>
          </p:nvSpPr>
          <p:spPr>
            <a:xfrm flipH="false" flipV="false" rot="0">
              <a:off x="0" y="0"/>
              <a:ext cx="10572750" cy="6095746"/>
            </a:xfrm>
            <a:custGeom>
              <a:avLst/>
              <a:gdLst/>
              <a:ahLst/>
              <a:cxnLst/>
              <a:rect r="r" b="b" t="t" l="l"/>
              <a:pathLst>
                <a:path h="6095746" w="10572750">
                  <a:moveTo>
                    <a:pt x="0" y="0"/>
                  </a:moveTo>
                  <a:lnTo>
                    <a:pt x="10572750" y="0"/>
                  </a:lnTo>
                  <a:lnTo>
                    <a:pt x="10572750" y="6095746"/>
                  </a:lnTo>
                  <a:lnTo>
                    <a:pt x="0" y="6095746"/>
                  </a:lnTo>
                  <a:lnTo>
                    <a:pt x="0" y="0"/>
                  </a:lnTo>
                  <a:close/>
                </a:path>
              </a:pathLst>
            </a:custGeom>
            <a:solidFill>
              <a:srgbClr val="E8ECF4"/>
            </a:solidFill>
          </p:spPr>
        </p:sp>
      </p:grpSp>
      <p:grpSp>
        <p:nvGrpSpPr>
          <p:cNvPr name="Group 14" id="14"/>
          <p:cNvGrpSpPr/>
          <p:nvPr/>
        </p:nvGrpSpPr>
        <p:grpSpPr>
          <a:xfrm rot="0">
            <a:off x="9501188" y="3471862"/>
            <a:ext cx="7929562" cy="4571781"/>
            <a:chOff x="0" y="0"/>
            <a:chExt cx="10572750" cy="6095708"/>
          </a:xfrm>
        </p:grpSpPr>
        <p:sp>
          <p:nvSpPr>
            <p:cNvPr name="Freeform 15" id="15" descr="image.png"/>
            <p:cNvSpPr/>
            <p:nvPr/>
          </p:nvSpPr>
          <p:spPr>
            <a:xfrm flipH="false" flipV="false" rot="0">
              <a:off x="0" y="0"/>
              <a:ext cx="10572750" cy="6095746"/>
            </a:xfrm>
            <a:custGeom>
              <a:avLst/>
              <a:gdLst/>
              <a:ahLst/>
              <a:cxnLst/>
              <a:rect r="r" b="b" t="t" l="l"/>
              <a:pathLst>
                <a:path h="6095746" w="10572750">
                  <a:moveTo>
                    <a:pt x="0" y="0"/>
                  </a:moveTo>
                  <a:lnTo>
                    <a:pt x="10572750" y="0"/>
                  </a:lnTo>
                  <a:lnTo>
                    <a:pt x="10572750" y="6095746"/>
                  </a:lnTo>
                  <a:lnTo>
                    <a:pt x="0" y="6095746"/>
                  </a:lnTo>
                  <a:lnTo>
                    <a:pt x="0" y="0"/>
                  </a:lnTo>
                  <a:close/>
                </a:path>
              </a:pathLst>
            </a:custGeom>
            <a:solidFill>
              <a:srgbClr val="E8ECF4"/>
            </a:solidFill>
          </p:spPr>
        </p:sp>
      </p:grpSp>
      <p:sp>
        <p:nvSpPr>
          <p:cNvPr name="TextBox 16" id="16"/>
          <p:cNvSpPr txBox="true"/>
          <p:nvPr/>
        </p:nvSpPr>
        <p:spPr>
          <a:xfrm rot="0">
            <a:off x="1443037" y="4057650"/>
            <a:ext cx="7095887" cy="485775"/>
          </a:xfrm>
          <a:prstGeom prst="rect">
            <a:avLst/>
          </a:prstGeom>
        </p:spPr>
        <p:txBody>
          <a:bodyPr anchor="t" rtlCol="false" tIns="0" lIns="0" bIns="0" rIns="0">
            <a:spAutoFit/>
          </a:bodyPr>
          <a:lstStyle/>
          <a:p>
            <a:pPr algn="l">
              <a:lnSpc>
                <a:spcPts val="3779"/>
              </a:lnSpc>
            </a:pPr>
            <a:r>
              <a:rPr lang="en-US" sz="3150">
                <a:solidFill>
                  <a:srgbClr val="22C55E"/>
                </a:solidFill>
                <a:latin typeface="Inter"/>
                <a:ea typeface="Inter"/>
                <a:cs typeface="Inter"/>
                <a:sym typeface="Inter"/>
              </a:rPr>
              <a:t>Ưu điểm</a:t>
            </a:r>
          </a:p>
        </p:txBody>
      </p:sp>
      <p:sp>
        <p:nvSpPr>
          <p:cNvPr name="TextBox 17" id="17"/>
          <p:cNvSpPr txBox="true"/>
          <p:nvPr/>
        </p:nvSpPr>
        <p:spPr>
          <a:xfrm rot="0">
            <a:off x="1443038" y="4614863"/>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Tuân thủ hoàn toàn nguyên tắc SRP. Logic nghiệp vụ (FizzBuzz) sạch sẽ, tách biệt khỏi mã giám sát.</a:t>
            </a:r>
          </a:p>
        </p:txBody>
      </p:sp>
      <p:sp>
        <p:nvSpPr>
          <p:cNvPr name="TextBox 18" id="18"/>
          <p:cNvSpPr txBox="true"/>
          <p:nvPr/>
        </p:nvSpPr>
        <p:spPr>
          <a:xfrm rot="0">
            <a:off x="1443038" y="5652049"/>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Mã có tính mô-đun cao, decorator có thể tái sử dụng cho nhiều hàm khác.</a:t>
            </a:r>
          </a:p>
        </p:txBody>
      </p:sp>
      <p:sp>
        <p:nvSpPr>
          <p:cNvPr name="TextBox 19" id="19"/>
          <p:cNvSpPr txBox="true"/>
          <p:nvPr/>
        </p:nvSpPr>
        <p:spPr>
          <a:xfrm rot="0">
            <a:off x="1443038" y="6689227"/>
            <a:ext cx="6757988" cy="554307"/>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Tốc độ sinh mã cực nhanh do tận dụng tốt ngữ cảnh.</a:t>
            </a:r>
          </a:p>
        </p:txBody>
      </p:sp>
      <p:sp>
        <p:nvSpPr>
          <p:cNvPr name="TextBox 20" id="20"/>
          <p:cNvSpPr txBox="true"/>
          <p:nvPr/>
        </p:nvSpPr>
        <p:spPr>
          <a:xfrm rot="0">
            <a:off x="10086975" y="4057650"/>
            <a:ext cx="7095887" cy="485775"/>
          </a:xfrm>
          <a:prstGeom prst="rect">
            <a:avLst/>
          </a:prstGeom>
        </p:spPr>
        <p:txBody>
          <a:bodyPr anchor="t" rtlCol="false" tIns="0" lIns="0" bIns="0" rIns="0">
            <a:spAutoFit/>
          </a:bodyPr>
          <a:lstStyle/>
          <a:p>
            <a:pPr algn="l">
              <a:lnSpc>
                <a:spcPts val="3779"/>
              </a:lnSpc>
            </a:pPr>
            <a:r>
              <a:rPr lang="en-US" sz="3150">
                <a:solidFill>
                  <a:srgbClr val="EF4444"/>
                </a:solidFill>
                <a:latin typeface="Inter"/>
                <a:ea typeface="Inter"/>
                <a:cs typeface="Inter"/>
                <a:sym typeface="Inter"/>
              </a:rPr>
              <a:t>Nhược điểm &amp; Hạn chế</a:t>
            </a:r>
          </a:p>
        </p:txBody>
      </p:sp>
      <p:sp>
        <p:nvSpPr>
          <p:cNvPr name="TextBox 21" id="21"/>
          <p:cNvSpPr txBox="true"/>
          <p:nvPr/>
        </p:nvSpPr>
        <p:spPr>
          <a:xfrm rot="0">
            <a:off x="10086975" y="4614863"/>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Cách AI sử dụng thư viện (như logging, type hints, @wraps) phụ thuộc mạnh vào dữ liệu huấn luyện.</a:t>
            </a:r>
          </a:p>
        </p:txBody>
      </p:sp>
      <p:sp>
        <p:nvSpPr>
          <p:cNvPr name="TextBox 22" id="22"/>
          <p:cNvSpPr txBox="true"/>
          <p:nvPr/>
        </p:nvSpPr>
        <p:spPr>
          <a:xfrm rot="0">
            <a:off x="10086975" y="5652049"/>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Mã sinh ra có thể không phù hợp với quy chuẩn (style guide) cụ thể của từng dự án.</a:t>
            </a:r>
          </a:p>
        </p:txBody>
      </p:sp>
      <p:sp>
        <p:nvSpPr>
          <p:cNvPr name="TextBox 23" id="23"/>
          <p:cNvSpPr txBox="true"/>
          <p:nvPr/>
        </p:nvSpPr>
        <p:spPr>
          <a:xfrm rot="0">
            <a:off x="10086975" y="6689227"/>
            <a:ext cx="6757988" cy="554307"/>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Vẫn cần lập trình viên kiểm soát tính nhất quán.</a:t>
            </a:r>
          </a:p>
        </p:txBody>
      </p:sp>
      <p:sp>
        <p:nvSpPr>
          <p:cNvPr name="TextBox 24" id="24"/>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Đánh Giá Phương Pháp Inverse CoT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Freeform 12" id="12"/>
          <p:cNvSpPr/>
          <p:nvPr/>
        </p:nvSpPr>
        <p:spPr>
          <a:xfrm flipH="false" flipV="false" rot="0">
            <a:off x="9730212" y="1028700"/>
            <a:ext cx="7529088" cy="8206090"/>
          </a:xfrm>
          <a:custGeom>
            <a:avLst/>
            <a:gdLst/>
            <a:ahLst/>
            <a:cxnLst/>
            <a:rect r="r" b="b" t="t" l="l"/>
            <a:pathLst>
              <a:path h="8206090" w="7529088">
                <a:moveTo>
                  <a:pt x="0" y="0"/>
                </a:moveTo>
                <a:lnTo>
                  <a:pt x="7529088" y="0"/>
                </a:lnTo>
                <a:lnTo>
                  <a:pt x="7529088" y="8206090"/>
                </a:lnTo>
                <a:lnTo>
                  <a:pt x="0" y="8206090"/>
                </a:lnTo>
                <a:lnTo>
                  <a:pt x="0" y="0"/>
                </a:lnTo>
                <a:close/>
              </a:path>
            </a:pathLst>
          </a:custGeom>
          <a:blipFill>
            <a:blip r:embed="rId3"/>
            <a:stretch>
              <a:fillRect l="0" t="0" r="0" b="0"/>
            </a:stretch>
          </a:blipFill>
        </p:spPr>
      </p:sp>
      <p:sp>
        <p:nvSpPr>
          <p:cNvPr name="TextBox 13" id="13"/>
          <p:cNvSpPr txBox="true"/>
          <p:nvPr/>
        </p:nvSpPr>
        <p:spPr>
          <a:xfrm rot="0">
            <a:off x="857250" y="2769098"/>
            <a:ext cx="8326041"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Kiểm soát phong cách mã</a:t>
            </a:r>
          </a:p>
        </p:txBody>
      </p:sp>
      <p:sp>
        <p:nvSpPr>
          <p:cNvPr name="TextBox 14" id="14"/>
          <p:cNvSpPr txBox="true"/>
          <p:nvPr/>
        </p:nvSpPr>
        <p:spPr>
          <a:xfrm rot="0">
            <a:off x="857250" y="3326311"/>
            <a:ext cx="7929562"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Bổ sung ví dụ mẫu hoàn chỉnh vào prompt để hướng GenAI theo phong cách cụ thể của dự án, giải quyết hạn chế của Inverse CoT.</a:t>
            </a:r>
          </a:p>
        </p:txBody>
      </p:sp>
      <p:sp>
        <p:nvSpPr>
          <p:cNvPr name="TextBox 15" id="15"/>
          <p:cNvSpPr txBox="true"/>
          <p:nvPr/>
        </p:nvSpPr>
        <p:spPr>
          <a:xfrm rot="0">
            <a:off x="857250" y="4917805"/>
            <a:ext cx="8326041"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Nguyên tắc 5S cho ChatGPT</a:t>
            </a:r>
          </a:p>
        </p:txBody>
      </p:sp>
      <p:sp>
        <p:nvSpPr>
          <p:cNvPr name="TextBox 16" id="16"/>
          <p:cNvSpPr txBox="true"/>
          <p:nvPr/>
        </p:nvSpPr>
        <p:spPr>
          <a:xfrm rot="0">
            <a:off x="1071562" y="5606939"/>
            <a:ext cx="142875" cy="423863"/>
          </a:xfrm>
          <a:prstGeom prst="rect">
            <a:avLst/>
          </a:prstGeom>
        </p:spPr>
        <p:txBody>
          <a:bodyPr anchor="t" rtlCol="false" tIns="0" lIns="0" bIns="0" rIns="0">
            <a:spAutoFit/>
          </a:bodyPr>
          <a:lstStyle/>
          <a:p>
            <a:pPr algn="l">
              <a:lnSpc>
                <a:spcPts val="2430"/>
              </a:lnSpc>
            </a:pPr>
            <a:r>
              <a:rPr lang="en-US" sz="2025">
                <a:solidFill>
                  <a:srgbClr val="000000"/>
                </a:solidFill>
                <a:latin typeface="Inter"/>
                <a:ea typeface="Inter"/>
                <a:cs typeface="Inter"/>
                <a:sym typeface="Inter"/>
              </a:rPr>
              <a:t>•</a:t>
            </a:r>
          </a:p>
        </p:txBody>
      </p:sp>
      <p:sp>
        <p:nvSpPr>
          <p:cNvPr name="TextBox 17" id="17"/>
          <p:cNvSpPr txBox="true"/>
          <p:nvPr/>
        </p:nvSpPr>
        <p:spPr>
          <a:xfrm rot="0">
            <a:off x="1309688" y="5475018"/>
            <a:ext cx="7477125" cy="554307"/>
          </a:xfrm>
          <a:prstGeom prst="rect">
            <a:avLst/>
          </a:prstGeom>
        </p:spPr>
        <p:txBody>
          <a:bodyPr anchor="t" rtlCol="false" tIns="0" lIns="0" bIns="0" rIns="0">
            <a:spAutoFit/>
          </a:bodyPr>
          <a:lstStyle/>
          <a:p>
            <a:pPr algn="l">
              <a:lnSpc>
                <a:spcPts val="3887"/>
              </a:lnSpc>
            </a:pPr>
            <a:r>
              <a:rPr lang="en-US" b="true" sz="2025">
                <a:solidFill>
                  <a:srgbClr val="000000"/>
                </a:solidFill>
                <a:latin typeface="Inter Bold"/>
                <a:ea typeface="Inter Bold"/>
                <a:cs typeface="Inter Bold"/>
                <a:sym typeface="Inter Bold"/>
              </a:rPr>
              <a:t>Surround:</a:t>
            </a:r>
            <a:r>
              <a:rPr lang="en-US" sz="2025">
                <a:solidFill>
                  <a:srgbClr val="000000"/>
                </a:solidFill>
                <a:latin typeface="Inter"/>
                <a:ea typeface="Inter"/>
                <a:cs typeface="Inter"/>
                <a:sym typeface="Inter"/>
              </a:rPr>
              <a:t> Mô tả ngữ cảnh.</a:t>
            </a:r>
          </a:p>
        </p:txBody>
      </p:sp>
      <p:sp>
        <p:nvSpPr>
          <p:cNvPr name="TextBox 18" id="18"/>
          <p:cNvSpPr txBox="true"/>
          <p:nvPr/>
        </p:nvSpPr>
        <p:spPr>
          <a:xfrm rot="0">
            <a:off x="1071562" y="6232684"/>
            <a:ext cx="142875" cy="423863"/>
          </a:xfrm>
          <a:prstGeom prst="rect">
            <a:avLst/>
          </a:prstGeom>
        </p:spPr>
        <p:txBody>
          <a:bodyPr anchor="t" rtlCol="false" tIns="0" lIns="0" bIns="0" rIns="0">
            <a:spAutoFit/>
          </a:bodyPr>
          <a:lstStyle/>
          <a:p>
            <a:pPr algn="l">
              <a:lnSpc>
                <a:spcPts val="2430"/>
              </a:lnSpc>
            </a:pPr>
            <a:r>
              <a:rPr lang="en-US" sz="2025">
                <a:solidFill>
                  <a:srgbClr val="000000"/>
                </a:solidFill>
                <a:latin typeface="Inter"/>
                <a:ea typeface="Inter"/>
                <a:cs typeface="Inter"/>
                <a:sym typeface="Inter"/>
              </a:rPr>
              <a:t>•</a:t>
            </a:r>
          </a:p>
        </p:txBody>
      </p:sp>
      <p:sp>
        <p:nvSpPr>
          <p:cNvPr name="TextBox 19" id="19"/>
          <p:cNvSpPr txBox="true"/>
          <p:nvPr/>
        </p:nvSpPr>
        <p:spPr>
          <a:xfrm rot="0">
            <a:off x="1309688" y="6100763"/>
            <a:ext cx="7477125" cy="554307"/>
          </a:xfrm>
          <a:prstGeom prst="rect">
            <a:avLst/>
          </a:prstGeom>
        </p:spPr>
        <p:txBody>
          <a:bodyPr anchor="t" rtlCol="false" tIns="0" lIns="0" bIns="0" rIns="0">
            <a:spAutoFit/>
          </a:bodyPr>
          <a:lstStyle/>
          <a:p>
            <a:pPr algn="l">
              <a:lnSpc>
                <a:spcPts val="3887"/>
              </a:lnSpc>
            </a:pPr>
            <a:r>
              <a:rPr lang="en-US" b="true" sz="2025">
                <a:solidFill>
                  <a:srgbClr val="000000"/>
                </a:solidFill>
                <a:latin typeface="Inter Bold"/>
                <a:ea typeface="Inter Bold"/>
                <a:cs typeface="Inter Bold"/>
                <a:sym typeface="Inter Bold"/>
              </a:rPr>
              <a:t>Single Task:</a:t>
            </a:r>
            <a:r>
              <a:rPr lang="en-US" sz="2025">
                <a:solidFill>
                  <a:srgbClr val="000000"/>
                </a:solidFill>
                <a:latin typeface="Inter"/>
                <a:ea typeface="Inter"/>
                <a:cs typeface="Inter"/>
                <a:sym typeface="Inter"/>
              </a:rPr>
              <a:t> Một nhiệm vụ duy nhất.</a:t>
            </a:r>
          </a:p>
        </p:txBody>
      </p:sp>
      <p:sp>
        <p:nvSpPr>
          <p:cNvPr name="TextBox 20" id="20"/>
          <p:cNvSpPr txBox="true"/>
          <p:nvPr/>
        </p:nvSpPr>
        <p:spPr>
          <a:xfrm rot="0">
            <a:off x="1071562" y="6858429"/>
            <a:ext cx="142875" cy="423863"/>
          </a:xfrm>
          <a:prstGeom prst="rect">
            <a:avLst/>
          </a:prstGeom>
        </p:spPr>
        <p:txBody>
          <a:bodyPr anchor="t" rtlCol="false" tIns="0" lIns="0" bIns="0" rIns="0">
            <a:spAutoFit/>
          </a:bodyPr>
          <a:lstStyle/>
          <a:p>
            <a:pPr algn="l">
              <a:lnSpc>
                <a:spcPts val="2430"/>
              </a:lnSpc>
            </a:pPr>
            <a:r>
              <a:rPr lang="en-US" sz="2025">
                <a:solidFill>
                  <a:srgbClr val="000000"/>
                </a:solidFill>
                <a:latin typeface="Inter"/>
                <a:ea typeface="Inter"/>
                <a:cs typeface="Inter"/>
                <a:sym typeface="Inter"/>
              </a:rPr>
              <a:t>•</a:t>
            </a:r>
          </a:p>
        </p:txBody>
      </p:sp>
      <p:sp>
        <p:nvSpPr>
          <p:cNvPr name="TextBox 21" id="21"/>
          <p:cNvSpPr txBox="true"/>
          <p:nvPr/>
        </p:nvSpPr>
        <p:spPr>
          <a:xfrm rot="0">
            <a:off x="1309688" y="6726507"/>
            <a:ext cx="7477125" cy="554307"/>
          </a:xfrm>
          <a:prstGeom prst="rect">
            <a:avLst/>
          </a:prstGeom>
        </p:spPr>
        <p:txBody>
          <a:bodyPr anchor="t" rtlCol="false" tIns="0" lIns="0" bIns="0" rIns="0">
            <a:spAutoFit/>
          </a:bodyPr>
          <a:lstStyle/>
          <a:p>
            <a:pPr algn="l">
              <a:lnSpc>
                <a:spcPts val="3887"/>
              </a:lnSpc>
            </a:pPr>
            <a:r>
              <a:rPr lang="en-US" b="true" sz="2025">
                <a:solidFill>
                  <a:srgbClr val="000000"/>
                </a:solidFill>
                <a:latin typeface="Inter Bold"/>
                <a:ea typeface="Inter Bold"/>
                <a:cs typeface="Inter Bold"/>
                <a:sym typeface="Inter Bold"/>
              </a:rPr>
              <a:t>Specific:</a:t>
            </a:r>
            <a:r>
              <a:rPr lang="en-US" sz="2025">
                <a:solidFill>
                  <a:srgbClr val="000000"/>
                </a:solidFill>
                <a:latin typeface="Inter"/>
                <a:ea typeface="Inter"/>
                <a:cs typeface="Inter"/>
                <a:sym typeface="Inter"/>
              </a:rPr>
              <a:t> Cặp Incomplete -&gt; Complete code.</a:t>
            </a:r>
          </a:p>
        </p:txBody>
      </p:sp>
      <p:sp>
        <p:nvSpPr>
          <p:cNvPr name="TextBox 22" id="22"/>
          <p:cNvSpPr txBox="true"/>
          <p:nvPr/>
        </p:nvSpPr>
        <p:spPr>
          <a:xfrm rot="0">
            <a:off x="1071562" y="7484174"/>
            <a:ext cx="142875" cy="423863"/>
          </a:xfrm>
          <a:prstGeom prst="rect">
            <a:avLst/>
          </a:prstGeom>
        </p:spPr>
        <p:txBody>
          <a:bodyPr anchor="t" rtlCol="false" tIns="0" lIns="0" bIns="0" rIns="0">
            <a:spAutoFit/>
          </a:bodyPr>
          <a:lstStyle/>
          <a:p>
            <a:pPr algn="l">
              <a:lnSpc>
                <a:spcPts val="2430"/>
              </a:lnSpc>
            </a:pPr>
            <a:r>
              <a:rPr lang="en-US" sz="2025">
                <a:solidFill>
                  <a:srgbClr val="000000"/>
                </a:solidFill>
                <a:latin typeface="Inter"/>
                <a:ea typeface="Inter"/>
                <a:cs typeface="Inter"/>
                <a:sym typeface="Inter"/>
              </a:rPr>
              <a:t>•</a:t>
            </a:r>
          </a:p>
        </p:txBody>
      </p:sp>
      <p:sp>
        <p:nvSpPr>
          <p:cNvPr name="TextBox 23" id="23"/>
          <p:cNvSpPr txBox="true"/>
          <p:nvPr/>
        </p:nvSpPr>
        <p:spPr>
          <a:xfrm rot="0">
            <a:off x="1309688" y="7352262"/>
            <a:ext cx="7477125" cy="554307"/>
          </a:xfrm>
          <a:prstGeom prst="rect">
            <a:avLst/>
          </a:prstGeom>
        </p:spPr>
        <p:txBody>
          <a:bodyPr anchor="t" rtlCol="false" tIns="0" lIns="0" bIns="0" rIns="0">
            <a:spAutoFit/>
          </a:bodyPr>
          <a:lstStyle/>
          <a:p>
            <a:pPr algn="l">
              <a:lnSpc>
                <a:spcPts val="3887"/>
              </a:lnSpc>
            </a:pPr>
            <a:r>
              <a:rPr lang="en-US" b="true" sz="2025">
                <a:solidFill>
                  <a:srgbClr val="000000"/>
                </a:solidFill>
                <a:latin typeface="Inter Bold"/>
                <a:ea typeface="Inter Bold"/>
                <a:cs typeface="Inter Bold"/>
                <a:sym typeface="Inter Bold"/>
              </a:rPr>
              <a:t>Short:</a:t>
            </a:r>
            <a:r>
              <a:rPr lang="en-US" sz="2025">
                <a:solidFill>
                  <a:srgbClr val="000000"/>
                </a:solidFill>
                <a:latin typeface="Inter"/>
                <a:ea typeface="Inter"/>
                <a:cs typeface="Inter"/>
                <a:sym typeface="Inter"/>
              </a:rPr>
              <a:t> Mã nguồn chưa hoàn chỉnh cần điền.</a:t>
            </a:r>
          </a:p>
        </p:txBody>
      </p:sp>
      <p:sp>
        <p:nvSpPr>
          <p:cNvPr name="TextBox 24" id="24"/>
          <p:cNvSpPr txBox="true"/>
          <p:nvPr/>
        </p:nvSpPr>
        <p:spPr>
          <a:xfrm rot="0">
            <a:off x="1071562" y="8109928"/>
            <a:ext cx="142875" cy="423863"/>
          </a:xfrm>
          <a:prstGeom prst="rect">
            <a:avLst/>
          </a:prstGeom>
        </p:spPr>
        <p:txBody>
          <a:bodyPr anchor="t" rtlCol="false" tIns="0" lIns="0" bIns="0" rIns="0">
            <a:spAutoFit/>
          </a:bodyPr>
          <a:lstStyle/>
          <a:p>
            <a:pPr algn="l">
              <a:lnSpc>
                <a:spcPts val="2430"/>
              </a:lnSpc>
            </a:pPr>
            <a:r>
              <a:rPr lang="en-US" sz="2025">
                <a:solidFill>
                  <a:srgbClr val="000000"/>
                </a:solidFill>
                <a:latin typeface="Inter"/>
                <a:ea typeface="Inter"/>
                <a:cs typeface="Inter"/>
                <a:sym typeface="Inter"/>
              </a:rPr>
              <a:t>•</a:t>
            </a:r>
          </a:p>
        </p:txBody>
      </p:sp>
      <p:sp>
        <p:nvSpPr>
          <p:cNvPr name="TextBox 25" id="25"/>
          <p:cNvSpPr txBox="true"/>
          <p:nvPr/>
        </p:nvSpPr>
        <p:spPr>
          <a:xfrm rot="0">
            <a:off x="1309688" y="7978007"/>
            <a:ext cx="7477125" cy="554307"/>
          </a:xfrm>
          <a:prstGeom prst="rect">
            <a:avLst/>
          </a:prstGeom>
        </p:spPr>
        <p:txBody>
          <a:bodyPr anchor="t" rtlCol="false" tIns="0" lIns="0" bIns="0" rIns="0">
            <a:spAutoFit/>
          </a:bodyPr>
          <a:lstStyle/>
          <a:p>
            <a:pPr algn="l">
              <a:lnSpc>
                <a:spcPts val="3887"/>
              </a:lnSpc>
            </a:pPr>
            <a:r>
              <a:rPr lang="en-US" b="true" sz="2025">
                <a:solidFill>
                  <a:srgbClr val="000000"/>
                </a:solidFill>
                <a:latin typeface="Inter Bold"/>
                <a:ea typeface="Inter Bold"/>
                <a:cs typeface="Inter Bold"/>
                <a:sym typeface="Inter Bold"/>
              </a:rPr>
              <a:t>Signal:</a:t>
            </a:r>
            <a:r>
              <a:rPr lang="en-US" sz="2025">
                <a:solidFill>
                  <a:srgbClr val="000000"/>
                </a:solidFill>
                <a:latin typeface="Inter"/>
                <a:ea typeface="Inter"/>
                <a:cs typeface="Inter"/>
                <a:sym typeface="Inter"/>
              </a:rPr>
              <a:t> Tín hiệu khởi đầu (CODE:).</a:t>
            </a:r>
          </a:p>
        </p:txBody>
      </p:sp>
      <p:sp>
        <p:nvSpPr>
          <p:cNvPr name="TextBox 26" id="26"/>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4.2.3 Few-Shot Learning</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aphicFrame>
        <p:nvGraphicFramePr>
          <p:cNvPr name="Object 12" id="12"/>
          <p:cNvGraphicFramePr/>
          <p:nvPr/>
        </p:nvGraphicFramePr>
        <p:xfrm>
          <a:off x="1375459" y="1999942"/>
          <a:ext cx="5657850" cy="3771900"/>
        </p:xfrm>
        <a:graphic>
          <a:graphicData uri="http://schemas.openxmlformats.org/presentationml/2006/ole">
            <p:oleObj imgW="6781800" imgH="4902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3" id="13"/>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Đánh Giá: Không vs Có Few-Shot</a:t>
            </a:r>
          </a:p>
        </p:txBody>
      </p:sp>
    </p:spTree>
  </p:cSld>
  <p:clrMapOvr>
    <a:masterClrMapping/>
  </p:clrMapOvr>
</p:sld>
</file>

<file path=ppt/slides/slide34.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2" id="12"/>
          <p:cNvGrpSpPr/>
          <p:nvPr/>
        </p:nvGrpSpPr>
        <p:grpSpPr>
          <a:xfrm rot="0">
            <a:off x="857250" y="3579019"/>
            <a:ext cx="7929562" cy="4357468"/>
            <a:chOff x="0" y="0"/>
            <a:chExt cx="10572750" cy="5809958"/>
          </a:xfrm>
        </p:grpSpPr>
        <p:sp>
          <p:nvSpPr>
            <p:cNvPr name="Freeform 13" id="13" descr="image.png"/>
            <p:cNvSpPr/>
            <p:nvPr/>
          </p:nvSpPr>
          <p:spPr>
            <a:xfrm flipH="false" flipV="false" rot="0">
              <a:off x="0" y="0"/>
              <a:ext cx="10572750" cy="5809996"/>
            </a:xfrm>
            <a:custGeom>
              <a:avLst/>
              <a:gdLst/>
              <a:ahLst/>
              <a:cxnLst/>
              <a:rect r="r" b="b" t="t" l="l"/>
              <a:pathLst>
                <a:path h="5809996" w="10572750">
                  <a:moveTo>
                    <a:pt x="0" y="0"/>
                  </a:moveTo>
                  <a:lnTo>
                    <a:pt x="10572750" y="0"/>
                  </a:lnTo>
                  <a:lnTo>
                    <a:pt x="10572750" y="5809996"/>
                  </a:lnTo>
                  <a:lnTo>
                    <a:pt x="0" y="5809996"/>
                  </a:lnTo>
                  <a:lnTo>
                    <a:pt x="0" y="0"/>
                  </a:lnTo>
                  <a:close/>
                </a:path>
              </a:pathLst>
            </a:custGeom>
            <a:solidFill>
              <a:srgbClr val="E1E7EC"/>
            </a:solidFill>
          </p:spPr>
        </p:sp>
      </p:grpSp>
      <p:grpSp>
        <p:nvGrpSpPr>
          <p:cNvPr name="Group 14" id="14"/>
          <p:cNvGrpSpPr/>
          <p:nvPr/>
        </p:nvGrpSpPr>
        <p:grpSpPr>
          <a:xfrm rot="0">
            <a:off x="9501188" y="3579019"/>
            <a:ext cx="7929562" cy="4357468"/>
            <a:chOff x="0" y="0"/>
            <a:chExt cx="10572750" cy="5809958"/>
          </a:xfrm>
        </p:grpSpPr>
        <p:sp>
          <p:nvSpPr>
            <p:cNvPr name="Freeform 15" id="15" descr="image.png"/>
            <p:cNvSpPr/>
            <p:nvPr/>
          </p:nvSpPr>
          <p:spPr>
            <a:xfrm flipH="false" flipV="false" rot="0">
              <a:off x="0" y="0"/>
              <a:ext cx="10572750" cy="5809996"/>
            </a:xfrm>
            <a:custGeom>
              <a:avLst/>
              <a:gdLst/>
              <a:ahLst/>
              <a:cxnLst/>
              <a:rect r="r" b="b" t="t" l="l"/>
              <a:pathLst>
                <a:path h="5809996" w="10572750">
                  <a:moveTo>
                    <a:pt x="0" y="0"/>
                  </a:moveTo>
                  <a:lnTo>
                    <a:pt x="10572750" y="0"/>
                  </a:lnTo>
                  <a:lnTo>
                    <a:pt x="10572750" y="5809996"/>
                  </a:lnTo>
                  <a:lnTo>
                    <a:pt x="0" y="5809996"/>
                  </a:lnTo>
                  <a:lnTo>
                    <a:pt x="0" y="0"/>
                  </a:lnTo>
                  <a:close/>
                </a:path>
              </a:pathLst>
            </a:custGeom>
            <a:solidFill>
              <a:srgbClr val="E1E7EC"/>
            </a:solidFill>
          </p:spPr>
        </p:sp>
      </p:grpSp>
      <p:sp>
        <p:nvSpPr>
          <p:cNvPr name="TextBox 16" id="16"/>
          <p:cNvSpPr txBox="true"/>
          <p:nvPr/>
        </p:nvSpPr>
        <p:spPr>
          <a:xfrm rot="0">
            <a:off x="1443037" y="4164806"/>
            <a:ext cx="7095887"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Khái niệm</a:t>
            </a:r>
          </a:p>
        </p:txBody>
      </p:sp>
      <p:sp>
        <p:nvSpPr>
          <p:cNvPr name="TextBox 17" id="17"/>
          <p:cNvSpPr txBox="true"/>
          <p:nvPr/>
        </p:nvSpPr>
        <p:spPr>
          <a:xfrm rot="0">
            <a:off x="1443038" y="4722019"/>
            <a:ext cx="6757988"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Huấn luyện bổ sung một base model trên tập dữ liệu mẫu nhỏ (định dạng JSONL) để mô hình nhúng sẵn chuẩn mã của dự án vào trọng số (weights).</a:t>
            </a:r>
          </a:p>
        </p:txBody>
      </p:sp>
      <p:sp>
        <p:nvSpPr>
          <p:cNvPr name="TextBox 18" id="18"/>
          <p:cNvSpPr txBox="true"/>
          <p:nvPr/>
        </p:nvSpPr>
        <p:spPr>
          <a:xfrm rot="0">
            <a:off x="1443038" y="6170638"/>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Mỗi mẫu gồm: system prompt, user prompt và assistant response chuẩn.</a:t>
            </a:r>
          </a:p>
        </p:txBody>
      </p:sp>
      <p:sp>
        <p:nvSpPr>
          <p:cNvPr name="TextBox 19" id="19"/>
          <p:cNvSpPr txBox="true"/>
          <p:nvPr/>
        </p:nvSpPr>
        <p:spPr>
          <a:xfrm rot="0">
            <a:off x="10086975" y="4164806"/>
            <a:ext cx="7095887"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Ứng dụng</a:t>
            </a:r>
          </a:p>
        </p:txBody>
      </p:sp>
      <p:sp>
        <p:nvSpPr>
          <p:cNvPr name="TextBox 20" id="20"/>
          <p:cNvSpPr txBox="true"/>
          <p:nvPr/>
        </p:nvSpPr>
        <p:spPr>
          <a:xfrm rot="0">
            <a:off x="10086975" y="4722019"/>
            <a:ext cx="6757988" cy="554307"/>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Không phụ thuộc vào prompt trong từng lần yêu cầu.</a:t>
            </a:r>
          </a:p>
        </p:txBody>
      </p:sp>
      <p:sp>
        <p:nvSpPr>
          <p:cNvPr name="TextBox 21" id="21"/>
          <p:cNvSpPr txBox="true"/>
          <p:nvPr/>
        </p:nvSpPr>
        <p:spPr>
          <a:xfrm rot="0">
            <a:off x="10086975" y="5347764"/>
            <a:ext cx="6757988"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Rất phù hợp cho các hệ thống tự động quét, sinh và cải thiện mã nguồn trên toàn bộ kho lưu trữ ở quy mô lớn (hàng trăm tệp).</a:t>
            </a:r>
          </a:p>
        </p:txBody>
      </p:sp>
      <p:sp>
        <p:nvSpPr>
          <p:cNvPr name="TextBox 22" id="22"/>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4.2.4 Fine-Tuning</a:t>
            </a:r>
          </a:p>
        </p:txBody>
      </p:sp>
    </p:spTree>
  </p:cSld>
  <p:clrMapOvr>
    <a:masterClrMapping/>
  </p:clrMapOvr>
</p:sld>
</file>

<file path=ppt/slides/slide35.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aphicFrame>
        <p:nvGraphicFramePr>
          <p:cNvPr name="Table 12" id="12"/>
          <p:cNvGraphicFramePr>
            <a:graphicFrameLocks noGrp="true"/>
          </p:cNvGraphicFramePr>
          <p:nvPr/>
        </p:nvGraphicFramePr>
        <p:xfrm>
          <a:off x="857250" y="3391941"/>
          <a:ext cx="16554450" cy="4667250"/>
        </p:xfrm>
        <a:graphic>
          <a:graphicData uri="http://schemas.openxmlformats.org/drawingml/2006/table">
            <a:tbl>
              <a:tblPr/>
              <a:tblGrid>
                <a:gridCol w="5284392"/>
                <a:gridCol w="5708570"/>
                <a:gridCol w="5561488"/>
              </a:tblGrid>
              <a:tr h="933450">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Tiêu chí</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Base model (Mặc định)</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Fine-tuned model</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Cách bắt đầu phản hồi</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Giải thích bằng lời → Mã code</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Mã code trực tiếp</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Phong cách logging</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Biến đổi tùy prompt</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Nhất quán theo mẫu đào tạo</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Sử dụng @functools.wraps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Tùy nghi</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Luôn có</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Kiểm soát phong cách</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Thông qua Prompt (ngắn hạn)</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Nhúng vào trọng số (dài hạn)</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r>
            </a:tbl>
          </a:graphicData>
        </a:graphic>
      </p:graphicFrame>
      <p:grpSp>
        <p:nvGrpSpPr>
          <p:cNvPr name="Group 13" id="13"/>
          <p:cNvGrpSpPr/>
          <p:nvPr/>
        </p:nvGrpSpPr>
        <p:grpSpPr>
          <a:xfrm rot="0">
            <a:off x="857250" y="4356344"/>
            <a:ext cx="5289280" cy="14288"/>
            <a:chOff x="0" y="0"/>
            <a:chExt cx="7052373" cy="19050"/>
          </a:xfrm>
        </p:grpSpPr>
        <p:sp>
          <p:nvSpPr>
            <p:cNvPr name="Freeform 14" id="14"/>
            <p:cNvSpPr/>
            <p:nvPr/>
          </p:nvSpPr>
          <p:spPr>
            <a:xfrm flipH="false" flipV="false" rot="0">
              <a:off x="0" y="0"/>
              <a:ext cx="7052310" cy="19050"/>
            </a:xfrm>
            <a:custGeom>
              <a:avLst/>
              <a:gdLst/>
              <a:ahLst/>
              <a:cxnLst/>
              <a:rect r="r" b="b" t="t" l="l"/>
              <a:pathLst>
                <a:path h="19050" w="7052310">
                  <a:moveTo>
                    <a:pt x="0" y="0"/>
                  </a:moveTo>
                  <a:lnTo>
                    <a:pt x="7052310" y="0"/>
                  </a:lnTo>
                  <a:lnTo>
                    <a:pt x="7052310" y="19050"/>
                  </a:lnTo>
                  <a:lnTo>
                    <a:pt x="0" y="19050"/>
                  </a:lnTo>
                  <a:close/>
                </a:path>
              </a:pathLst>
            </a:custGeom>
            <a:solidFill>
              <a:srgbClr val="334155"/>
            </a:solidFill>
          </p:spPr>
        </p:sp>
      </p:grpSp>
      <p:grpSp>
        <p:nvGrpSpPr>
          <p:cNvPr name="Group 15" id="15"/>
          <p:cNvGrpSpPr/>
          <p:nvPr/>
        </p:nvGrpSpPr>
        <p:grpSpPr>
          <a:xfrm rot="0">
            <a:off x="6146530" y="4356344"/>
            <a:ext cx="5716114" cy="14288"/>
            <a:chOff x="0" y="0"/>
            <a:chExt cx="7621486" cy="19050"/>
          </a:xfrm>
        </p:grpSpPr>
        <p:sp>
          <p:nvSpPr>
            <p:cNvPr name="Freeform 16" id="16"/>
            <p:cNvSpPr/>
            <p:nvPr/>
          </p:nvSpPr>
          <p:spPr>
            <a:xfrm flipH="false" flipV="false" rot="0">
              <a:off x="0" y="0"/>
              <a:ext cx="7621524" cy="19050"/>
            </a:xfrm>
            <a:custGeom>
              <a:avLst/>
              <a:gdLst/>
              <a:ahLst/>
              <a:cxnLst/>
              <a:rect r="r" b="b" t="t" l="l"/>
              <a:pathLst>
                <a:path h="19050" w="7621524">
                  <a:moveTo>
                    <a:pt x="0" y="0"/>
                  </a:moveTo>
                  <a:lnTo>
                    <a:pt x="7621524" y="0"/>
                  </a:lnTo>
                  <a:lnTo>
                    <a:pt x="7621524" y="19050"/>
                  </a:lnTo>
                  <a:lnTo>
                    <a:pt x="0" y="19050"/>
                  </a:lnTo>
                  <a:close/>
                </a:path>
              </a:pathLst>
            </a:custGeom>
            <a:solidFill>
              <a:srgbClr val="334155"/>
            </a:solidFill>
          </p:spPr>
        </p:sp>
      </p:grpSp>
      <p:grpSp>
        <p:nvGrpSpPr>
          <p:cNvPr name="Group 17" id="17"/>
          <p:cNvGrpSpPr/>
          <p:nvPr/>
        </p:nvGrpSpPr>
        <p:grpSpPr>
          <a:xfrm rot="0">
            <a:off x="11862645" y="4356344"/>
            <a:ext cx="5568105" cy="14288"/>
            <a:chOff x="0" y="0"/>
            <a:chExt cx="7424141" cy="19050"/>
          </a:xfrm>
        </p:grpSpPr>
        <p:sp>
          <p:nvSpPr>
            <p:cNvPr name="Freeform 18" id="18"/>
            <p:cNvSpPr/>
            <p:nvPr/>
          </p:nvSpPr>
          <p:spPr>
            <a:xfrm flipH="false" flipV="false" rot="0">
              <a:off x="0" y="0"/>
              <a:ext cx="7424166" cy="19050"/>
            </a:xfrm>
            <a:custGeom>
              <a:avLst/>
              <a:gdLst/>
              <a:ahLst/>
              <a:cxnLst/>
              <a:rect r="r" b="b" t="t" l="l"/>
              <a:pathLst>
                <a:path h="19050" w="7424166">
                  <a:moveTo>
                    <a:pt x="0" y="0"/>
                  </a:moveTo>
                  <a:lnTo>
                    <a:pt x="7424166" y="0"/>
                  </a:lnTo>
                  <a:lnTo>
                    <a:pt x="7424166" y="19050"/>
                  </a:lnTo>
                  <a:lnTo>
                    <a:pt x="0" y="19050"/>
                  </a:lnTo>
                  <a:close/>
                </a:path>
              </a:pathLst>
            </a:custGeom>
            <a:solidFill>
              <a:srgbClr val="334155"/>
            </a:solidFill>
          </p:spPr>
        </p:sp>
      </p:grpSp>
      <p:grpSp>
        <p:nvGrpSpPr>
          <p:cNvPr name="Group 19" id="19"/>
          <p:cNvGrpSpPr/>
          <p:nvPr/>
        </p:nvGrpSpPr>
        <p:grpSpPr>
          <a:xfrm rot="0">
            <a:off x="857250" y="5296424"/>
            <a:ext cx="5289280" cy="14288"/>
            <a:chOff x="0" y="0"/>
            <a:chExt cx="7052373" cy="19050"/>
          </a:xfrm>
        </p:grpSpPr>
        <p:sp>
          <p:nvSpPr>
            <p:cNvPr name="Freeform 20" id="20"/>
            <p:cNvSpPr/>
            <p:nvPr/>
          </p:nvSpPr>
          <p:spPr>
            <a:xfrm flipH="false" flipV="false" rot="0">
              <a:off x="0" y="0"/>
              <a:ext cx="7052310" cy="19050"/>
            </a:xfrm>
            <a:custGeom>
              <a:avLst/>
              <a:gdLst/>
              <a:ahLst/>
              <a:cxnLst/>
              <a:rect r="r" b="b" t="t" l="l"/>
              <a:pathLst>
                <a:path h="19050" w="7052310">
                  <a:moveTo>
                    <a:pt x="0" y="0"/>
                  </a:moveTo>
                  <a:lnTo>
                    <a:pt x="7052310" y="0"/>
                  </a:lnTo>
                  <a:lnTo>
                    <a:pt x="7052310" y="19050"/>
                  </a:lnTo>
                  <a:lnTo>
                    <a:pt x="0" y="19050"/>
                  </a:lnTo>
                  <a:close/>
                </a:path>
              </a:pathLst>
            </a:custGeom>
            <a:solidFill>
              <a:srgbClr val="334155"/>
            </a:solidFill>
          </p:spPr>
        </p:sp>
      </p:grpSp>
      <p:grpSp>
        <p:nvGrpSpPr>
          <p:cNvPr name="Group 21" id="21"/>
          <p:cNvGrpSpPr/>
          <p:nvPr/>
        </p:nvGrpSpPr>
        <p:grpSpPr>
          <a:xfrm rot="0">
            <a:off x="6146530" y="5296424"/>
            <a:ext cx="5716114" cy="14288"/>
            <a:chOff x="0" y="0"/>
            <a:chExt cx="7621486" cy="19050"/>
          </a:xfrm>
        </p:grpSpPr>
        <p:sp>
          <p:nvSpPr>
            <p:cNvPr name="Freeform 22" id="22"/>
            <p:cNvSpPr/>
            <p:nvPr/>
          </p:nvSpPr>
          <p:spPr>
            <a:xfrm flipH="false" flipV="false" rot="0">
              <a:off x="0" y="0"/>
              <a:ext cx="7621524" cy="19050"/>
            </a:xfrm>
            <a:custGeom>
              <a:avLst/>
              <a:gdLst/>
              <a:ahLst/>
              <a:cxnLst/>
              <a:rect r="r" b="b" t="t" l="l"/>
              <a:pathLst>
                <a:path h="19050" w="7621524">
                  <a:moveTo>
                    <a:pt x="0" y="0"/>
                  </a:moveTo>
                  <a:lnTo>
                    <a:pt x="7621524" y="0"/>
                  </a:lnTo>
                  <a:lnTo>
                    <a:pt x="7621524" y="19050"/>
                  </a:lnTo>
                  <a:lnTo>
                    <a:pt x="0" y="19050"/>
                  </a:lnTo>
                  <a:close/>
                </a:path>
              </a:pathLst>
            </a:custGeom>
            <a:solidFill>
              <a:srgbClr val="334155"/>
            </a:solidFill>
          </p:spPr>
        </p:sp>
      </p:grpSp>
      <p:grpSp>
        <p:nvGrpSpPr>
          <p:cNvPr name="Group 23" id="23"/>
          <p:cNvGrpSpPr/>
          <p:nvPr/>
        </p:nvGrpSpPr>
        <p:grpSpPr>
          <a:xfrm rot="0">
            <a:off x="11862645" y="5296424"/>
            <a:ext cx="5568105" cy="14288"/>
            <a:chOff x="0" y="0"/>
            <a:chExt cx="7424141" cy="19050"/>
          </a:xfrm>
        </p:grpSpPr>
        <p:sp>
          <p:nvSpPr>
            <p:cNvPr name="Freeform 24" id="24"/>
            <p:cNvSpPr/>
            <p:nvPr/>
          </p:nvSpPr>
          <p:spPr>
            <a:xfrm flipH="false" flipV="false" rot="0">
              <a:off x="0" y="0"/>
              <a:ext cx="7424166" cy="19050"/>
            </a:xfrm>
            <a:custGeom>
              <a:avLst/>
              <a:gdLst/>
              <a:ahLst/>
              <a:cxnLst/>
              <a:rect r="r" b="b" t="t" l="l"/>
              <a:pathLst>
                <a:path h="19050" w="7424166">
                  <a:moveTo>
                    <a:pt x="0" y="0"/>
                  </a:moveTo>
                  <a:lnTo>
                    <a:pt x="7424166" y="0"/>
                  </a:lnTo>
                  <a:lnTo>
                    <a:pt x="7424166" y="19050"/>
                  </a:lnTo>
                  <a:lnTo>
                    <a:pt x="0" y="19050"/>
                  </a:lnTo>
                  <a:close/>
                </a:path>
              </a:pathLst>
            </a:custGeom>
            <a:solidFill>
              <a:srgbClr val="334155"/>
            </a:solidFill>
          </p:spPr>
        </p:sp>
      </p:grpSp>
      <p:grpSp>
        <p:nvGrpSpPr>
          <p:cNvPr name="Group 25" id="25"/>
          <p:cNvGrpSpPr/>
          <p:nvPr/>
        </p:nvGrpSpPr>
        <p:grpSpPr>
          <a:xfrm rot="0">
            <a:off x="857250" y="6236494"/>
            <a:ext cx="5289280" cy="14288"/>
            <a:chOff x="0" y="0"/>
            <a:chExt cx="7052373" cy="19050"/>
          </a:xfrm>
        </p:grpSpPr>
        <p:sp>
          <p:nvSpPr>
            <p:cNvPr name="Freeform 26" id="26"/>
            <p:cNvSpPr/>
            <p:nvPr/>
          </p:nvSpPr>
          <p:spPr>
            <a:xfrm flipH="false" flipV="false" rot="0">
              <a:off x="0" y="0"/>
              <a:ext cx="7052310" cy="19050"/>
            </a:xfrm>
            <a:custGeom>
              <a:avLst/>
              <a:gdLst/>
              <a:ahLst/>
              <a:cxnLst/>
              <a:rect r="r" b="b" t="t" l="l"/>
              <a:pathLst>
                <a:path h="19050" w="7052310">
                  <a:moveTo>
                    <a:pt x="0" y="0"/>
                  </a:moveTo>
                  <a:lnTo>
                    <a:pt x="7052310" y="0"/>
                  </a:lnTo>
                  <a:lnTo>
                    <a:pt x="7052310" y="19050"/>
                  </a:lnTo>
                  <a:lnTo>
                    <a:pt x="0" y="19050"/>
                  </a:lnTo>
                  <a:close/>
                </a:path>
              </a:pathLst>
            </a:custGeom>
            <a:solidFill>
              <a:srgbClr val="334155"/>
            </a:solidFill>
          </p:spPr>
        </p:sp>
      </p:grpSp>
      <p:grpSp>
        <p:nvGrpSpPr>
          <p:cNvPr name="Group 27" id="27"/>
          <p:cNvGrpSpPr/>
          <p:nvPr/>
        </p:nvGrpSpPr>
        <p:grpSpPr>
          <a:xfrm rot="0">
            <a:off x="6146530" y="6236494"/>
            <a:ext cx="5716114" cy="14288"/>
            <a:chOff x="0" y="0"/>
            <a:chExt cx="7621486" cy="19050"/>
          </a:xfrm>
        </p:grpSpPr>
        <p:sp>
          <p:nvSpPr>
            <p:cNvPr name="Freeform 28" id="28"/>
            <p:cNvSpPr/>
            <p:nvPr/>
          </p:nvSpPr>
          <p:spPr>
            <a:xfrm flipH="false" flipV="false" rot="0">
              <a:off x="0" y="0"/>
              <a:ext cx="7621524" cy="19050"/>
            </a:xfrm>
            <a:custGeom>
              <a:avLst/>
              <a:gdLst/>
              <a:ahLst/>
              <a:cxnLst/>
              <a:rect r="r" b="b" t="t" l="l"/>
              <a:pathLst>
                <a:path h="19050" w="7621524">
                  <a:moveTo>
                    <a:pt x="0" y="0"/>
                  </a:moveTo>
                  <a:lnTo>
                    <a:pt x="7621524" y="0"/>
                  </a:lnTo>
                  <a:lnTo>
                    <a:pt x="7621524" y="19050"/>
                  </a:lnTo>
                  <a:lnTo>
                    <a:pt x="0" y="19050"/>
                  </a:lnTo>
                  <a:close/>
                </a:path>
              </a:pathLst>
            </a:custGeom>
            <a:solidFill>
              <a:srgbClr val="334155"/>
            </a:solidFill>
          </p:spPr>
        </p:sp>
      </p:grpSp>
      <p:grpSp>
        <p:nvGrpSpPr>
          <p:cNvPr name="Group 29" id="29"/>
          <p:cNvGrpSpPr/>
          <p:nvPr/>
        </p:nvGrpSpPr>
        <p:grpSpPr>
          <a:xfrm rot="0">
            <a:off x="11862645" y="6236494"/>
            <a:ext cx="5568105" cy="14288"/>
            <a:chOff x="0" y="0"/>
            <a:chExt cx="7424141" cy="19050"/>
          </a:xfrm>
        </p:grpSpPr>
        <p:sp>
          <p:nvSpPr>
            <p:cNvPr name="Freeform 30" id="30"/>
            <p:cNvSpPr/>
            <p:nvPr/>
          </p:nvSpPr>
          <p:spPr>
            <a:xfrm flipH="false" flipV="false" rot="0">
              <a:off x="0" y="0"/>
              <a:ext cx="7424166" cy="19050"/>
            </a:xfrm>
            <a:custGeom>
              <a:avLst/>
              <a:gdLst/>
              <a:ahLst/>
              <a:cxnLst/>
              <a:rect r="r" b="b" t="t" l="l"/>
              <a:pathLst>
                <a:path h="19050" w="7424166">
                  <a:moveTo>
                    <a:pt x="0" y="0"/>
                  </a:moveTo>
                  <a:lnTo>
                    <a:pt x="7424166" y="0"/>
                  </a:lnTo>
                  <a:lnTo>
                    <a:pt x="7424166" y="19050"/>
                  </a:lnTo>
                  <a:lnTo>
                    <a:pt x="0" y="19050"/>
                  </a:lnTo>
                  <a:close/>
                </a:path>
              </a:pathLst>
            </a:custGeom>
            <a:solidFill>
              <a:srgbClr val="334155"/>
            </a:solidFill>
          </p:spPr>
        </p:sp>
      </p:grpSp>
      <p:grpSp>
        <p:nvGrpSpPr>
          <p:cNvPr name="Group 31" id="31"/>
          <p:cNvGrpSpPr/>
          <p:nvPr/>
        </p:nvGrpSpPr>
        <p:grpSpPr>
          <a:xfrm rot="0">
            <a:off x="857250" y="7176564"/>
            <a:ext cx="5289280" cy="14288"/>
            <a:chOff x="0" y="0"/>
            <a:chExt cx="7052373" cy="19050"/>
          </a:xfrm>
        </p:grpSpPr>
        <p:sp>
          <p:nvSpPr>
            <p:cNvPr name="Freeform 32" id="32"/>
            <p:cNvSpPr/>
            <p:nvPr/>
          </p:nvSpPr>
          <p:spPr>
            <a:xfrm flipH="false" flipV="false" rot="0">
              <a:off x="0" y="0"/>
              <a:ext cx="7052310" cy="19050"/>
            </a:xfrm>
            <a:custGeom>
              <a:avLst/>
              <a:gdLst/>
              <a:ahLst/>
              <a:cxnLst/>
              <a:rect r="r" b="b" t="t" l="l"/>
              <a:pathLst>
                <a:path h="19050" w="7052310">
                  <a:moveTo>
                    <a:pt x="0" y="0"/>
                  </a:moveTo>
                  <a:lnTo>
                    <a:pt x="7052310" y="0"/>
                  </a:lnTo>
                  <a:lnTo>
                    <a:pt x="7052310" y="19050"/>
                  </a:lnTo>
                  <a:lnTo>
                    <a:pt x="0" y="19050"/>
                  </a:lnTo>
                  <a:close/>
                </a:path>
              </a:pathLst>
            </a:custGeom>
            <a:solidFill>
              <a:srgbClr val="334155"/>
            </a:solidFill>
          </p:spPr>
        </p:sp>
      </p:grpSp>
      <p:grpSp>
        <p:nvGrpSpPr>
          <p:cNvPr name="Group 33" id="33"/>
          <p:cNvGrpSpPr/>
          <p:nvPr/>
        </p:nvGrpSpPr>
        <p:grpSpPr>
          <a:xfrm rot="0">
            <a:off x="6146530" y="7176564"/>
            <a:ext cx="5716114" cy="14288"/>
            <a:chOff x="0" y="0"/>
            <a:chExt cx="7621486" cy="19050"/>
          </a:xfrm>
        </p:grpSpPr>
        <p:sp>
          <p:nvSpPr>
            <p:cNvPr name="Freeform 34" id="34"/>
            <p:cNvSpPr/>
            <p:nvPr/>
          </p:nvSpPr>
          <p:spPr>
            <a:xfrm flipH="false" flipV="false" rot="0">
              <a:off x="0" y="0"/>
              <a:ext cx="7621524" cy="19050"/>
            </a:xfrm>
            <a:custGeom>
              <a:avLst/>
              <a:gdLst/>
              <a:ahLst/>
              <a:cxnLst/>
              <a:rect r="r" b="b" t="t" l="l"/>
              <a:pathLst>
                <a:path h="19050" w="7621524">
                  <a:moveTo>
                    <a:pt x="0" y="0"/>
                  </a:moveTo>
                  <a:lnTo>
                    <a:pt x="7621524" y="0"/>
                  </a:lnTo>
                  <a:lnTo>
                    <a:pt x="7621524" y="19050"/>
                  </a:lnTo>
                  <a:lnTo>
                    <a:pt x="0" y="19050"/>
                  </a:lnTo>
                  <a:close/>
                </a:path>
              </a:pathLst>
            </a:custGeom>
            <a:solidFill>
              <a:srgbClr val="334155"/>
            </a:solidFill>
          </p:spPr>
        </p:sp>
      </p:grpSp>
      <p:grpSp>
        <p:nvGrpSpPr>
          <p:cNvPr name="Group 35" id="35"/>
          <p:cNvGrpSpPr/>
          <p:nvPr/>
        </p:nvGrpSpPr>
        <p:grpSpPr>
          <a:xfrm rot="0">
            <a:off x="11862645" y="7176564"/>
            <a:ext cx="5568105" cy="14288"/>
            <a:chOff x="0" y="0"/>
            <a:chExt cx="7424141" cy="19050"/>
          </a:xfrm>
        </p:grpSpPr>
        <p:sp>
          <p:nvSpPr>
            <p:cNvPr name="Freeform 36" id="36"/>
            <p:cNvSpPr/>
            <p:nvPr/>
          </p:nvSpPr>
          <p:spPr>
            <a:xfrm flipH="false" flipV="false" rot="0">
              <a:off x="0" y="0"/>
              <a:ext cx="7424166" cy="19050"/>
            </a:xfrm>
            <a:custGeom>
              <a:avLst/>
              <a:gdLst/>
              <a:ahLst/>
              <a:cxnLst/>
              <a:rect r="r" b="b" t="t" l="l"/>
              <a:pathLst>
                <a:path h="19050" w="7424166">
                  <a:moveTo>
                    <a:pt x="0" y="0"/>
                  </a:moveTo>
                  <a:lnTo>
                    <a:pt x="7424166" y="0"/>
                  </a:lnTo>
                  <a:lnTo>
                    <a:pt x="7424166" y="19050"/>
                  </a:lnTo>
                  <a:lnTo>
                    <a:pt x="0" y="19050"/>
                  </a:lnTo>
                  <a:close/>
                </a:path>
              </a:pathLst>
            </a:custGeom>
            <a:solidFill>
              <a:srgbClr val="334155"/>
            </a:solidFill>
          </p:spPr>
        </p:sp>
      </p:grpSp>
      <p:sp>
        <p:nvSpPr>
          <p:cNvPr name="TextBox 37" id="37"/>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So Sánh Base Model và Fine-Tuned</a:t>
            </a:r>
          </a:p>
        </p:txBody>
      </p:sp>
    </p:spTree>
  </p:cSld>
  <p:clrMapOvr>
    <a:masterClrMapping/>
  </p:clrMapOvr>
</p:sld>
</file>

<file path=ppt/slides/slide36.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aphicFrame>
        <p:nvGraphicFramePr>
          <p:cNvPr name="Table 12" id="12"/>
          <p:cNvGraphicFramePr>
            <a:graphicFrameLocks noGrp="true"/>
          </p:cNvGraphicFramePr>
          <p:nvPr/>
        </p:nvGraphicFramePr>
        <p:xfrm>
          <a:off x="857250" y="3391941"/>
          <a:ext cx="16535400" cy="4667250"/>
        </p:xfrm>
        <a:graphic>
          <a:graphicData uri="http://schemas.openxmlformats.org/drawingml/2006/table">
            <a:tbl>
              <a:tblPr/>
              <a:tblGrid>
                <a:gridCol w="3693355"/>
                <a:gridCol w="3813877"/>
                <a:gridCol w="9028168"/>
              </a:tblGrid>
              <a:tr h="933450">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Phương pháp</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Chất lượng mã</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Đặc điểm nổi bật</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Simple Chaining</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EF4444"/>
                          </a:solidFill>
                          <a:latin typeface="Inter"/>
                          <a:ea typeface="Inter"/>
                          <a:cs typeface="Inter"/>
                          <a:sym typeface="Inter"/>
                        </a:rPr>
                        <a:t>Thấp - vi phạm SRP</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Nhanh, dễ dùng, không cần kiến thức thiết kế.</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Inverse CoT</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22C55E"/>
                          </a:solidFill>
                          <a:latin typeface="Inter"/>
                          <a:ea typeface="Inter"/>
                          <a:cs typeface="Inter"/>
                          <a:sym typeface="Inter"/>
                        </a:rPr>
                        <a:t>Cao - tuân thủ SRP</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Tốc độ cao, tận dụng tín hiệu ngữ cảnh từ decorator.</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Few-Shot Learning</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3B82F6"/>
                          </a:solidFill>
                          <a:latin typeface="Inter"/>
                          <a:ea typeface="Inter"/>
                          <a:cs typeface="Inter"/>
                          <a:sym typeface="Inter"/>
                        </a:rPr>
                        <a:t>Rất cao - đúng style</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Kiểm soát phong cách linh hoạt thông qua prompt mẫu.</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Fine-Tuning</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3B82F6"/>
                          </a:solidFill>
                          <a:latin typeface="Inter"/>
                          <a:ea typeface="Inter"/>
                          <a:cs typeface="Inter"/>
                          <a:sym typeface="Inter"/>
                        </a:rPr>
                        <a:t>Rất cao - nhất quán</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Chi phí thiết lập lớn, phù hợp tự động hóa quy mô lớn.</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r>
            </a:tbl>
          </a:graphicData>
        </a:graphic>
      </p:graphicFrame>
      <p:grpSp>
        <p:nvGrpSpPr>
          <p:cNvPr name="Group 13" id="13"/>
          <p:cNvGrpSpPr/>
          <p:nvPr/>
        </p:nvGrpSpPr>
        <p:grpSpPr>
          <a:xfrm rot="0">
            <a:off x="857250" y="4356344"/>
            <a:ext cx="3692423" cy="14288"/>
            <a:chOff x="0" y="0"/>
            <a:chExt cx="4923231" cy="19050"/>
          </a:xfrm>
        </p:grpSpPr>
        <p:sp>
          <p:nvSpPr>
            <p:cNvPr name="Freeform 14" id="14"/>
            <p:cNvSpPr/>
            <p:nvPr/>
          </p:nvSpPr>
          <p:spPr>
            <a:xfrm flipH="false" flipV="false" rot="0">
              <a:off x="0" y="0"/>
              <a:ext cx="4923282" cy="19050"/>
            </a:xfrm>
            <a:custGeom>
              <a:avLst/>
              <a:gdLst/>
              <a:ahLst/>
              <a:cxnLst/>
              <a:rect r="r" b="b" t="t" l="l"/>
              <a:pathLst>
                <a:path h="19050" w="4923282">
                  <a:moveTo>
                    <a:pt x="0" y="0"/>
                  </a:moveTo>
                  <a:lnTo>
                    <a:pt x="4923282" y="0"/>
                  </a:lnTo>
                  <a:lnTo>
                    <a:pt x="4923282" y="19050"/>
                  </a:lnTo>
                  <a:lnTo>
                    <a:pt x="0" y="19050"/>
                  </a:lnTo>
                  <a:close/>
                </a:path>
              </a:pathLst>
            </a:custGeom>
            <a:solidFill>
              <a:srgbClr val="334155"/>
            </a:solidFill>
          </p:spPr>
        </p:sp>
      </p:grpSp>
      <p:grpSp>
        <p:nvGrpSpPr>
          <p:cNvPr name="Group 15" id="15"/>
          <p:cNvGrpSpPr/>
          <p:nvPr/>
        </p:nvGrpSpPr>
        <p:grpSpPr>
          <a:xfrm rot="0">
            <a:off x="4549673" y="4356344"/>
            <a:ext cx="3813867" cy="14288"/>
            <a:chOff x="0" y="0"/>
            <a:chExt cx="5085156" cy="19050"/>
          </a:xfrm>
        </p:grpSpPr>
        <p:sp>
          <p:nvSpPr>
            <p:cNvPr name="Freeform 16" id="16"/>
            <p:cNvSpPr/>
            <p:nvPr/>
          </p:nvSpPr>
          <p:spPr>
            <a:xfrm flipH="false" flipV="false" rot="0">
              <a:off x="0" y="0"/>
              <a:ext cx="5085207" cy="19050"/>
            </a:xfrm>
            <a:custGeom>
              <a:avLst/>
              <a:gdLst/>
              <a:ahLst/>
              <a:cxnLst/>
              <a:rect r="r" b="b" t="t" l="l"/>
              <a:pathLst>
                <a:path h="19050" w="5085207">
                  <a:moveTo>
                    <a:pt x="0" y="0"/>
                  </a:moveTo>
                  <a:lnTo>
                    <a:pt x="5085207" y="0"/>
                  </a:lnTo>
                  <a:lnTo>
                    <a:pt x="5085207" y="19050"/>
                  </a:lnTo>
                  <a:lnTo>
                    <a:pt x="0" y="19050"/>
                  </a:lnTo>
                  <a:close/>
                </a:path>
              </a:pathLst>
            </a:custGeom>
            <a:solidFill>
              <a:srgbClr val="334155"/>
            </a:solidFill>
          </p:spPr>
        </p:sp>
      </p:grpSp>
      <p:grpSp>
        <p:nvGrpSpPr>
          <p:cNvPr name="Group 17" id="17"/>
          <p:cNvGrpSpPr/>
          <p:nvPr/>
        </p:nvGrpSpPr>
        <p:grpSpPr>
          <a:xfrm rot="0">
            <a:off x="8363541" y="4356344"/>
            <a:ext cx="9067200" cy="14288"/>
            <a:chOff x="0" y="0"/>
            <a:chExt cx="12089600" cy="19050"/>
          </a:xfrm>
        </p:grpSpPr>
        <p:sp>
          <p:nvSpPr>
            <p:cNvPr name="Freeform 18" id="18"/>
            <p:cNvSpPr/>
            <p:nvPr/>
          </p:nvSpPr>
          <p:spPr>
            <a:xfrm flipH="false" flipV="false" rot="0">
              <a:off x="0" y="0"/>
              <a:ext cx="12089638" cy="19050"/>
            </a:xfrm>
            <a:custGeom>
              <a:avLst/>
              <a:gdLst/>
              <a:ahLst/>
              <a:cxnLst/>
              <a:rect r="r" b="b" t="t" l="l"/>
              <a:pathLst>
                <a:path h="19050" w="12089638">
                  <a:moveTo>
                    <a:pt x="0" y="0"/>
                  </a:moveTo>
                  <a:lnTo>
                    <a:pt x="12089638" y="0"/>
                  </a:lnTo>
                  <a:lnTo>
                    <a:pt x="12089638" y="19050"/>
                  </a:lnTo>
                  <a:lnTo>
                    <a:pt x="0" y="19050"/>
                  </a:lnTo>
                  <a:close/>
                </a:path>
              </a:pathLst>
            </a:custGeom>
            <a:solidFill>
              <a:srgbClr val="334155"/>
            </a:solidFill>
          </p:spPr>
        </p:sp>
      </p:grpSp>
      <p:grpSp>
        <p:nvGrpSpPr>
          <p:cNvPr name="Group 19" id="19"/>
          <p:cNvGrpSpPr/>
          <p:nvPr/>
        </p:nvGrpSpPr>
        <p:grpSpPr>
          <a:xfrm rot="0">
            <a:off x="857250" y="5296424"/>
            <a:ext cx="3692423" cy="14288"/>
            <a:chOff x="0" y="0"/>
            <a:chExt cx="4923231" cy="19050"/>
          </a:xfrm>
        </p:grpSpPr>
        <p:sp>
          <p:nvSpPr>
            <p:cNvPr name="Freeform 20" id="20"/>
            <p:cNvSpPr/>
            <p:nvPr/>
          </p:nvSpPr>
          <p:spPr>
            <a:xfrm flipH="false" flipV="false" rot="0">
              <a:off x="0" y="0"/>
              <a:ext cx="4923282" cy="19050"/>
            </a:xfrm>
            <a:custGeom>
              <a:avLst/>
              <a:gdLst/>
              <a:ahLst/>
              <a:cxnLst/>
              <a:rect r="r" b="b" t="t" l="l"/>
              <a:pathLst>
                <a:path h="19050" w="4923282">
                  <a:moveTo>
                    <a:pt x="0" y="0"/>
                  </a:moveTo>
                  <a:lnTo>
                    <a:pt x="4923282" y="0"/>
                  </a:lnTo>
                  <a:lnTo>
                    <a:pt x="4923282" y="19050"/>
                  </a:lnTo>
                  <a:lnTo>
                    <a:pt x="0" y="19050"/>
                  </a:lnTo>
                  <a:close/>
                </a:path>
              </a:pathLst>
            </a:custGeom>
            <a:solidFill>
              <a:srgbClr val="334155"/>
            </a:solidFill>
          </p:spPr>
        </p:sp>
      </p:grpSp>
      <p:grpSp>
        <p:nvGrpSpPr>
          <p:cNvPr name="Group 21" id="21"/>
          <p:cNvGrpSpPr/>
          <p:nvPr/>
        </p:nvGrpSpPr>
        <p:grpSpPr>
          <a:xfrm rot="0">
            <a:off x="4549673" y="5296424"/>
            <a:ext cx="3813867" cy="14288"/>
            <a:chOff x="0" y="0"/>
            <a:chExt cx="5085156" cy="19050"/>
          </a:xfrm>
        </p:grpSpPr>
        <p:sp>
          <p:nvSpPr>
            <p:cNvPr name="Freeform 22" id="22"/>
            <p:cNvSpPr/>
            <p:nvPr/>
          </p:nvSpPr>
          <p:spPr>
            <a:xfrm flipH="false" flipV="false" rot="0">
              <a:off x="0" y="0"/>
              <a:ext cx="5085207" cy="19050"/>
            </a:xfrm>
            <a:custGeom>
              <a:avLst/>
              <a:gdLst/>
              <a:ahLst/>
              <a:cxnLst/>
              <a:rect r="r" b="b" t="t" l="l"/>
              <a:pathLst>
                <a:path h="19050" w="5085207">
                  <a:moveTo>
                    <a:pt x="0" y="0"/>
                  </a:moveTo>
                  <a:lnTo>
                    <a:pt x="5085207" y="0"/>
                  </a:lnTo>
                  <a:lnTo>
                    <a:pt x="5085207" y="19050"/>
                  </a:lnTo>
                  <a:lnTo>
                    <a:pt x="0" y="19050"/>
                  </a:lnTo>
                  <a:close/>
                </a:path>
              </a:pathLst>
            </a:custGeom>
            <a:solidFill>
              <a:srgbClr val="334155"/>
            </a:solidFill>
          </p:spPr>
        </p:sp>
      </p:grpSp>
      <p:grpSp>
        <p:nvGrpSpPr>
          <p:cNvPr name="Group 23" id="23"/>
          <p:cNvGrpSpPr/>
          <p:nvPr/>
        </p:nvGrpSpPr>
        <p:grpSpPr>
          <a:xfrm rot="0">
            <a:off x="8363541" y="5296424"/>
            <a:ext cx="9067200" cy="14288"/>
            <a:chOff x="0" y="0"/>
            <a:chExt cx="12089600" cy="19050"/>
          </a:xfrm>
        </p:grpSpPr>
        <p:sp>
          <p:nvSpPr>
            <p:cNvPr name="Freeform 24" id="24"/>
            <p:cNvSpPr/>
            <p:nvPr/>
          </p:nvSpPr>
          <p:spPr>
            <a:xfrm flipH="false" flipV="false" rot="0">
              <a:off x="0" y="0"/>
              <a:ext cx="12089638" cy="19050"/>
            </a:xfrm>
            <a:custGeom>
              <a:avLst/>
              <a:gdLst/>
              <a:ahLst/>
              <a:cxnLst/>
              <a:rect r="r" b="b" t="t" l="l"/>
              <a:pathLst>
                <a:path h="19050" w="12089638">
                  <a:moveTo>
                    <a:pt x="0" y="0"/>
                  </a:moveTo>
                  <a:lnTo>
                    <a:pt x="12089638" y="0"/>
                  </a:lnTo>
                  <a:lnTo>
                    <a:pt x="12089638" y="19050"/>
                  </a:lnTo>
                  <a:lnTo>
                    <a:pt x="0" y="19050"/>
                  </a:lnTo>
                  <a:close/>
                </a:path>
              </a:pathLst>
            </a:custGeom>
            <a:solidFill>
              <a:srgbClr val="334155"/>
            </a:solidFill>
          </p:spPr>
        </p:sp>
      </p:grpSp>
      <p:grpSp>
        <p:nvGrpSpPr>
          <p:cNvPr name="Group 25" id="25"/>
          <p:cNvGrpSpPr/>
          <p:nvPr/>
        </p:nvGrpSpPr>
        <p:grpSpPr>
          <a:xfrm rot="0">
            <a:off x="857250" y="6236494"/>
            <a:ext cx="3692423" cy="14288"/>
            <a:chOff x="0" y="0"/>
            <a:chExt cx="4923231" cy="19050"/>
          </a:xfrm>
        </p:grpSpPr>
        <p:sp>
          <p:nvSpPr>
            <p:cNvPr name="Freeform 26" id="26"/>
            <p:cNvSpPr/>
            <p:nvPr/>
          </p:nvSpPr>
          <p:spPr>
            <a:xfrm flipH="false" flipV="false" rot="0">
              <a:off x="0" y="0"/>
              <a:ext cx="4923282" cy="19050"/>
            </a:xfrm>
            <a:custGeom>
              <a:avLst/>
              <a:gdLst/>
              <a:ahLst/>
              <a:cxnLst/>
              <a:rect r="r" b="b" t="t" l="l"/>
              <a:pathLst>
                <a:path h="19050" w="4923282">
                  <a:moveTo>
                    <a:pt x="0" y="0"/>
                  </a:moveTo>
                  <a:lnTo>
                    <a:pt x="4923282" y="0"/>
                  </a:lnTo>
                  <a:lnTo>
                    <a:pt x="4923282" y="19050"/>
                  </a:lnTo>
                  <a:lnTo>
                    <a:pt x="0" y="19050"/>
                  </a:lnTo>
                  <a:close/>
                </a:path>
              </a:pathLst>
            </a:custGeom>
            <a:solidFill>
              <a:srgbClr val="334155"/>
            </a:solidFill>
          </p:spPr>
        </p:sp>
      </p:grpSp>
      <p:grpSp>
        <p:nvGrpSpPr>
          <p:cNvPr name="Group 27" id="27"/>
          <p:cNvGrpSpPr/>
          <p:nvPr/>
        </p:nvGrpSpPr>
        <p:grpSpPr>
          <a:xfrm rot="0">
            <a:off x="4549673" y="6236494"/>
            <a:ext cx="3813867" cy="14288"/>
            <a:chOff x="0" y="0"/>
            <a:chExt cx="5085156" cy="19050"/>
          </a:xfrm>
        </p:grpSpPr>
        <p:sp>
          <p:nvSpPr>
            <p:cNvPr name="Freeform 28" id="28"/>
            <p:cNvSpPr/>
            <p:nvPr/>
          </p:nvSpPr>
          <p:spPr>
            <a:xfrm flipH="false" flipV="false" rot="0">
              <a:off x="0" y="0"/>
              <a:ext cx="5085207" cy="19050"/>
            </a:xfrm>
            <a:custGeom>
              <a:avLst/>
              <a:gdLst/>
              <a:ahLst/>
              <a:cxnLst/>
              <a:rect r="r" b="b" t="t" l="l"/>
              <a:pathLst>
                <a:path h="19050" w="5085207">
                  <a:moveTo>
                    <a:pt x="0" y="0"/>
                  </a:moveTo>
                  <a:lnTo>
                    <a:pt x="5085207" y="0"/>
                  </a:lnTo>
                  <a:lnTo>
                    <a:pt x="5085207" y="19050"/>
                  </a:lnTo>
                  <a:lnTo>
                    <a:pt x="0" y="19050"/>
                  </a:lnTo>
                  <a:close/>
                </a:path>
              </a:pathLst>
            </a:custGeom>
            <a:solidFill>
              <a:srgbClr val="334155"/>
            </a:solidFill>
          </p:spPr>
        </p:sp>
      </p:grpSp>
      <p:grpSp>
        <p:nvGrpSpPr>
          <p:cNvPr name="Group 29" id="29"/>
          <p:cNvGrpSpPr/>
          <p:nvPr/>
        </p:nvGrpSpPr>
        <p:grpSpPr>
          <a:xfrm rot="0">
            <a:off x="8363541" y="6236494"/>
            <a:ext cx="9067200" cy="14288"/>
            <a:chOff x="0" y="0"/>
            <a:chExt cx="12089600" cy="19050"/>
          </a:xfrm>
        </p:grpSpPr>
        <p:sp>
          <p:nvSpPr>
            <p:cNvPr name="Freeform 30" id="30"/>
            <p:cNvSpPr/>
            <p:nvPr/>
          </p:nvSpPr>
          <p:spPr>
            <a:xfrm flipH="false" flipV="false" rot="0">
              <a:off x="0" y="0"/>
              <a:ext cx="12089638" cy="19050"/>
            </a:xfrm>
            <a:custGeom>
              <a:avLst/>
              <a:gdLst/>
              <a:ahLst/>
              <a:cxnLst/>
              <a:rect r="r" b="b" t="t" l="l"/>
              <a:pathLst>
                <a:path h="19050" w="12089638">
                  <a:moveTo>
                    <a:pt x="0" y="0"/>
                  </a:moveTo>
                  <a:lnTo>
                    <a:pt x="12089638" y="0"/>
                  </a:lnTo>
                  <a:lnTo>
                    <a:pt x="12089638" y="19050"/>
                  </a:lnTo>
                  <a:lnTo>
                    <a:pt x="0" y="19050"/>
                  </a:lnTo>
                  <a:close/>
                </a:path>
              </a:pathLst>
            </a:custGeom>
            <a:solidFill>
              <a:srgbClr val="334155"/>
            </a:solidFill>
          </p:spPr>
        </p:sp>
      </p:grpSp>
      <p:grpSp>
        <p:nvGrpSpPr>
          <p:cNvPr name="Group 31" id="31"/>
          <p:cNvGrpSpPr/>
          <p:nvPr/>
        </p:nvGrpSpPr>
        <p:grpSpPr>
          <a:xfrm rot="0">
            <a:off x="857250" y="7176564"/>
            <a:ext cx="3692423" cy="14288"/>
            <a:chOff x="0" y="0"/>
            <a:chExt cx="4923231" cy="19050"/>
          </a:xfrm>
        </p:grpSpPr>
        <p:sp>
          <p:nvSpPr>
            <p:cNvPr name="Freeform 32" id="32"/>
            <p:cNvSpPr/>
            <p:nvPr/>
          </p:nvSpPr>
          <p:spPr>
            <a:xfrm flipH="false" flipV="false" rot="0">
              <a:off x="0" y="0"/>
              <a:ext cx="4923282" cy="19050"/>
            </a:xfrm>
            <a:custGeom>
              <a:avLst/>
              <a:gdLst/>
              <a:ahLst/>
              <a:cxnLst/>
              <a:rect r="r" b="b" t="t" l="l"/>
              <a:pathLst>
                <a:path h="19050" w="4923282">
                  <a:moveTo>
                    <a:pt x="0" y="0"/>
                  </a:moveTo>
                  <a:lnTo>
                    <a:pt x="4923282" y="0"/>
                  </a:lnTo>
                  <a:lnTo>
                    <a:pt x="4923282" y="19050"/>
                  </a:lnTo>
                  <a:lnTo>
                    <a:pt x="0" y="19050"/>
                  </a:lnTo>
                  <a:close/>
                </a:path>
              </a:pathLst>
            </a:custGeom>
            <a:solidFill>
              <a:srgbClr val="334155"/>
            </a:solidFill>
          </p:spPr>
        </p:sp>
      </p:grpSp>
      <p:grpSp>
        <p:nvGrpSpPr>
          <p:cNvPr name="Group 33" id="33"/>
          <p:cNvGrpSpPr/>
          <p:nvPr/>
        </p:nvGrpSpPr>
        <p:grpSpPr>
          <a:xfrm rot="0">
            <a:off x="4549673" y="7176564"/>
            <a:ext cx="3813867" cy="14288"/>
            <a:chOff x="0" y="0"/>
            <a:chExt cx="5085156" cy="19050"/>
          </a:xfrm>
        </p:grpSpPr>
        <p:sp>
          <p:nvSpPr>
            <p:cNvPr name="Freeform 34" id="34"/>
            <p:cNvSpPr/>
            <p:nvPr/>
          </p:nvSpPr>
          <p:spPr>
            <a:xfrm flipH="false" flipV="false" rot="0">
              <a:off x="0" y="0"/>
              <a:ext cx="5085207" cy="19050"/>
            </a:xfrm>
            <a:custGeom>
              <a:avLst/>
              <a:gdLst/>
              <a:ahLst/>
              <a:cxnLst/>
              <a:rect r="r" b="b" t="t" l="l"/>
              <a:pathLst>
                <a:path h="19050" w="5085207">
                  <a:moveTo>
                    <a:pt x="0" y="0"/>
                  </a:moveTo>
                  <a:lnTo>
                    <a:pt x="5085207" y="0"/>
                  </a:lnTo>
                  <a:lnTo>
                    <a:pt x="5085207" y="19050"/>
                  </a:lnTo>
                  <a:lnTo>
                    <a:pt x="0" y="19050"/>
                  </a:lnTo>
                  <a:close/>
                </a:path>
              </a:pathLst>
            </a:custGeom>
            <a:solidFill>
              <a:srgbClr val="334155"/>
            </a:solidFill>
          </p:spPr>
        </p:sp>
      </p:grpSp>
      <p:grpSp>
        <p:nvGrpSpPr>
          <p:cNvPr name="Group 35" id="35"/>
          <p:cNvGrpSpPr/>
          <p:nvPr/>
        </p:nvGrpSpPr>
        <p:grpSpPr>
          <a:xfrm rot="0">
            <a:off x="8363541" y="7176564"/>
            <a:ext cx="9067200" cy="14288"/>
            <a:chOff x="0" y="0"/>
            <a:chExt cx="12089600" cy="19050"/>
          </a:xfrm>
        </p:grpSpPr>
        <p:sp>
          <p:nvSpPr>
            <p:cNvPr name="Freeform 36" id="36"/>
            <p:cNvSpPr/>
            <p:nvPr/>
          </p:nvSpPr>
          <p:spPr>
            <a:xfrm flipH="false" flipV="false" rot="0">
              <a:off x="0" y="0"/>
              <a:ext cx="12089638" cy="19050"/>
            </a:xfrm>
            <a:custGeom>
              <a:avLst/>
              <a:gdLst/>
              <a:ahLst/>
              <a:cxnLst/>
              <a:rect r="r" b="b" t="t" l="l"/>
              <a:pathLst>
                <a:path h="19050" w="12089638">
                  <a:moveTo>
                    <a:pt x="0" y="0"/>
                  </a:moveTo>
                  <a:lnTo>
                    <a:pt x="12089638" y="0"/>
                  </a:lnTo>
                  <a:lnTo>
                    <a:pt x="12089638" y="19050"/>
                  </a:lnTo>
                  <a:lnTo>
                    <a:pt x="0" y="19050"/>
                  </a:lnTo>
                  <a:close/>
                </a:path>
              </a:pathLst>
            </a:custGeom>
            <a:solidFill>
              <a:srgbClr val="334155"/>
            </a:solidFill>
          </p:spPr>
        </p:sp>
      </p:grpSp>
      <p:sp>
        <p:nvSpPr>
          <p:cNvPr name="TextBox 37" id="37"/>
          <p:cNvSpPr txBox="true"/>
          <p:nvPr/>
        </p:nvSpPr>
        <p:spPr>
          <a:xfrm rot="0">
            <a:off x="857250" y="857250"/>
            <a:ext cx="6123027" cy="647700"/>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So Sánh 4 Phương Pháp</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012"/>
        </a:gradFill>
      </p:bgPr>
    </p:bg>
    <p:spTree>
      <p:nvGrpSpPr>
        <p:cNvPr id="1" name=""/>
        <p:cNvGrpSpPr/>
        <p:nvPr/>
      </p:nvGrpSpPr>
      <p:grpSpPr>
        <a:xfrm>
          <a:off x="0" y="0"/>
          <a:ext cx="0" cy="0"/>
          <a:chOff x="0" y="0"/>
          <a:chExt cx="0" cy="0"/>
        </a:xfrm>
      </p:grpSpPr>
      <p:grpSp>
        <p:nvGrpSpPr>
          <p:cNvPr name="Group 2" id="2"/>
          <p:cNvGrpSpPr/>
          <p:nvPr/>
        </p:nvGrpSpPr>
        <p:grpSpPr>
          <a:xfrm rot="-10800000">
            <a:off x="0" y="0"/>
            <a:ext cx="5715000" cy="642600"/>
            <a:chOff x="0" y="0"/>
            <a:chExt cx="7620000" cy="856800"/>
          </a:xfrm>
        </p:grpSpPr>
        <p:sp>
          <p:nvSpPr>
            <p:cNvPr name="Freeform 3" id="3"/>
            <p:cNvSpPr/>
            <p:nvPr/>
          </p:nvSpPr>
          <p:spPr>
            <a:xfrm flipH="false" flipV="false" rot="0">
              <a:off x="0" y="0"/>
              <a:ext cx="7620000" cy="856742"/>
            </a:xfrm>
            <a:custGeom>
              <a:avLst/>
              <a:gdLst/>
              <a:ahLst/>
              <a:cxnLst/>
              <a:rect r="r" b="b" t="t" l="l"/>
              <a:pathLst>
                <a:path h="856742" w="7620000">
                  <a:moveTo>
                    <a:pt x="7620000" y="0"/>
                  </a:moveTo>
                  <a:lnTo>
                    <a:pt x="428371" y="0"/>
                  </a:lnTo>
                  <a:cubicBezTo>
                    <a:pt x="191770" y="0"/>
                    <a:pt x="0" y="191770"/>
                    <a:pt x="0" y="428371"/>
                  </a:cubicBezTo>
                  <a:lnTo>
                    <a:pt x="0" y="856742"/>
                  </a:lnTo>
                  <a:lnTo>
                    <a:pt x="762000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4" id="4"/>
          <p:cNvGrpSpPr/>
          <p:nvPr/>
        </p:nvGrpSpPr>
        <p:grpSpPr>
          <a:xfrm rot="0">
            <a:off x="15061800" y="964425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sp>
        <p:nvSpPr>
          <p:cNvPr name="TextBox 6" id="6"/>
          <p:cNvSpPr txBox="true"/>
          <p:nvPr/>
        </p:nvSpPr>
        <p:spPr>
          <a:xfrm rot="0">
            <a:off x="1416925" y="4107513"/>
            <a:ext cx="8592750" cy="2943225"/>
          </a:xfrm>
          <a:prstGeom prst="rect">
            <a:avLst/>
          </a:prstGeom>
        </p:spPr>
        <p:txBody>
          <a:bodyPr anchor="t" rtlCol="false" tIns="0" lIns="0" bIns="0" rIns="0">
            <a:spAutoFit/>
          </a:bodyPr>
          <a:lstStyle/>
          <a:p>
            <a:pPr algn="l">
              <a:lnSpc>
                <a:spcPts val="7679"/>
              </a:lnSpc>
            </a:pPr>
            <a:r>
              <a:rPr lang="en-US" sz="6399">
                <a:solidFill>
                  <a:srgbClr val="D149CE"/>
                </a:solidFill>
                <a:latin typeface="Arimo"/>
                <a:ea typeface="Arimo"/>
                <a:cs typeface="Arimo"/>
                <a:sym typeface="Arimo"/>
              </a:rPr>
              <a:t>Kiến Trúc, Thiết</a:t>
            </a:r>
            <a:r>
              <a:rPr lang="en-US" sz="6399">
                <a:solidFill>
                  <a:srgbClr val="D149CE"/>
                </a:solidFill>
                <a:latin typeface="Arimo"/>
                <a:ea typeface="Arimo"/>
                <a:cs typeface="Arimo"/>
                <a:sym typeface="Arimo"/>
              </a:rPr>
              <a:t> Kế Và Tương Lai Của Kỹ Thuật Phần Mềm</a:t>
            </a:r>
          </a:p>
        </p:txBody>
      </p:sp>
      <p:grpSp>
        <p:nvGrpSpPr>
          <p:cNvPr name="Group 7" id="7"/>
          <p:cNvGrpSpPr/>
          <p:nvPr/>
        </p:nvGrpSpPr>
        <p:grpSpPr>
          <a:xfrm rot="0">
            <a:off x="11985400" y="7716000"/>
            <a:ext cx="1275000" cy="1275000"/>
            <a:chOff x="0" y="0"/>
            <a:chExt cx="1700000" cy="1700000"/>
          </a:xfrm>
        </p:grpSpPr>
        <p:sp>
          <p:nvSpPr>
            <p:cNvPr name="Freeform 8" id="8"/>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9" id="9"/>
          <p:cNvGrpSpPr/>
          <p:nvPr/>
        </p:nvGrpSpPr>
        <p:grpSpPr>
          <a:xfrm rot="0">
            <a:off x="15491400" y="-1483200"/>
            <a:ext cx="4325400" cy="4325400"/>
            <a:chOff x="0" y="0"/>
            <a:chExt cx="5767200" cy="5767200"/>
          </a:xfrm>
        </p:grpSpPr>
        <p:sp>
          <p:nvSpPr>
            <p:cNvPr name="Freeform 10" id="10"/>
            <p:cNvSpPr/>
            <p:nvPr/>
          </p:nvSpPr>
          <p:spPr>
            <a:xfrm flipH="false" flipV="false" rot="0">
              <a:off x="0" y="0"/>
              <a:ext cx="5767197" cy="5767197"/>
            </a:xfrm>
            <a:custGeom>
              <a:avLst/>
              <a:gdLst/>
              <a:ahLst/>
              <a:cxnLst/>
              <a:rect r="r" b="b" t="t" l="l"/>
              <a:pathLst>
                <a:path h="5767197" w="5767197">
                  <a:moveTo>
                    <a:pt x="0" y="2883662"/>
                  </a:moveTo>
                  <a:cubicBezTo>
                    <a:pt x="0" y="1291082"/>
                    <a:pt x="1291082" y="0"/>
                    <a:pt x="2883662" y="0"/>
                  </a:cubicBezTo>
                  <a:cubicBezTo>
                    <a:pt x="4476242" y="0"/>
                    <a:pt x="5767197" y="1291082"/>
                    <a:pt x="5767197" y="2883662"/>
                  </a:cubicBezTo>
                  <a:cubicBezTo>
                    <a:pt x="5767197" y="4476242"/>
                    <a:pt x="4476115" y="5767197"/>
                    <a:pt x="2883662" y="5767197"/>
                  </a:cubicBezTo>
                  <a:cubicBezTo>
                    <a:pt x="1291209" y="5767197"/>
                    <a:pt x="0" y="4476115"/>
                    <a:pt x="0" y="2883662"/>
                  </a:cubicBezTo>
                  <a:close/>
                </a:path>
              </a:pathLst>
            </a:custGeom>
            <a:gradFill rotWithShape="true">
              <a:gsLst>
                <a:gs pos="0">
                  <a:srgbClr val="D149CE">
                    <a:alpha val="100000"/>
                  </a:srgbClr>
                </a:gs>
                <a:gs pos="100000">
                  <a:srgbClr val="43309F">
                    <a:alpha val="100000"/>
                  </a:srgbClr>
                </a:gs>
              </a:gsLst>
              <a:lin ang="5400012"/>
            </a:gradFill>
          </p:spPr>
        </p:sp>
      </p:grpSp>
      <p:sp>
        <p:nvSpPr>
          <p:cNvPr name="AutoShape 11" id="11"/>
          <p:cNvSpPr/>
          <p:nvPr/>
        </p:nvSpPr>
        <p:spPr>
          <a:xfrm rot="28830">
            <a:off x="1416885" y="4140850"/>
            <a:ext cx="2271530" cy="0"/>
          </a:xfrm>
          <a:prstGeom prst="line">
            <a:avLst/>
          </a:prstGeom>
          <a:ln cap="rnd" w="9525">
            <a:solidFill>
              <a:srgbClr val="000000"/>
            </a:solidFill>
            <a:prstDash val="solid"/>
            <a:headEnd type="none" len="sm" w="sm"/>
            <a:tailEnd type="none" len="sm" w="sm"/>
          </a:ln>
        </p:spPr>
      </p:sp>
      <p:grpSp>
        <p:nvGrpSpPr>
          <p:cNvPr name="Group 12" id="12"/>
          <p:cNvGrpSpPr/>
          <p:nvPr/>
        </p:nvGrpSpPr>
        <p:grpSpPr>
          <a:xfrm rot="0">
            <a:off x="-3214150" y="6833800"/>
            <a:ext cx="5962800" cy="5962800"/>
            <a:chOff x="0" y="0"/>
            <a:chExt cx="7950400" cy="7950400"/>
          </a:xfrm>
        </p:grpSpPr>
        <p:sp>
          <p:nvSpPr>
            <p:cNvPr name="Freeform 13" id="13"/>
            <p:cNvSpPr/>
            <p:nvPr/>
          </p:nvSpPr>
          <p:spPr>
            <a:xfrm flipH="false" flipV="false" rot="0">
              <a:off x="0" y="0"/>
              <a:ext cx="7950454" cy="7950454"/>
            </a:xfrm>
            <a:custGeom>
              <a:avLst/>
              <a:gdLst/>
              <a:ahLst/>
              <a:cxnLst/>
              <a:rect r="r" b="b" t="t" l="l"/>
              <a:pathLst>
                <a:path h="7950454" w="7950454">
                  <a:moveTo>
                    <a:pt x="0" y="3975227"/>
                  </a:moveTo>
                  <a:cubicBezTo>
                    <a:pt x="0" y="1779778"/>
                    <a:pt x="1779778" y="0"/>
                    <a:pt x="3975227" y="0"/>
                  </a:cubicBezTo>
                  <a:cubicBezTo>
                    <a:pt x="6170676" y="0"/>
                    <a:pt x="7950454" y="1779778"/>
                    <a:pt x="7950454" y="3975227"/>
                  </a:cubicBezTo>
                  <a:cubicBezTo>
                    <a:pt x="7950454" y="6170676"/>
                    <a:pt x="6170676" y="7950454"/>
                    <a:pt x="3975227" y="7950454"/>
                  </a:cubicBezTo>
                  <a:cubicBezTo>
                    <a:pt x="1779778" y="7950454"/>
                    <a:pt x="0" y="6170676"/>
                    <a:pt x="0" y="3975227"/>
                  </a:cubicBezTo>
                  <a:close/>
                </a:path>
              </a:pathLst>
            </a:custGeom>
            <a:solidFill>
              <a:srgbClr val="FFFFFF"/>
            </a:solidFill>
          </p:spPr>
        </p:sp>
      </p:grpSp>
      <p:grpSp>
        <p:nvGrpSpPr>
          <p:cNvPr name="Group 14" id="14"/>
          <p:cNvGrpSpPr/>
          <p:nvPr/>
        </p:nvGrpSpPr>
        <p:grpSpPr>
          <a:xfrm rot="0">
            <a:off x="1784100" y="8324500"/>
            <a:ext cx="2981400" cy="2981400"/>
            <a:chOff x="0" y="0"/>
            <a:chExt cx="3975200" cy="3975200"/>
          </a:xfrm>
        </p:grpSpPr>
        <p:sp>
          <p:nvSpPr>
            <p:cNvPr name="Freeform 15" id="15"/>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16" id="16"/>
          <p:cNvSpPr/>
          <p:nvPr/>
        </p:nvSpPr>
        <p:spPr>
          <a:xfrm flipH="false" flipV="false" rot="0">
            <a:off x="10889959" y="2416704"/>
            <a:ext cx="6369341" cy="6353418"/>
          </a:xfrm>
          <a:custGeom>
            <a:avLst/>
            <a:gdLst/>
            <a:ahLst/>
            <a:cxnLst/>
            <a:rect r="r" b="b" t="t" l="l"/>
            <a:pathLst>
              <a:path h="6353418" w="6369341">
                <a:moveTo>
                  <a:pt x="0" y="0"/>
                </a:moveTo>
                <a:lnTo>
                  <a:pt x="6369341" y="0"/>
                </a:lnTo>
                <a:lnTo>
                  <a:pt x="6369341" y="6353417"/>
                </a:lnTo>
                <a:lnTo>
                  <a:pt x="0" y="6353417"/>
                </a:lnTo>
                <a:lnTo>
                  <a:pt x="0" y="0"/>
                </a:lnTo>
                <a:close/>
              </a:path>
            </a:pathLst>
          </a:custGeom>
          <a:blipFill>
            <a:blip r:embed="rId3"/>
            <a:stretch>
              <a:fillRect l="0" t="0" r="0" b="0"/>
            </a:stretch>
          </a:blipFill>
        </p:spPr>
      </p:sp>
      <p:sp>
        <p:nvSpPr>
          <p:cNvPr name="TextBox 17" id="17"/>
          <p:cNvSpPr txBox="true"/>
          <p:nvPr/>
        </p:nvSpPr>
        <p:spPr>
          <a:xfrm rot="0">
            <a:off x="1517875" y="1892725"/>
            <a:ext cx="2069550" cy="1876425"/>
          </a:xfrm>
          <a:prstGeom prst="rect">
            <a:avLst/>
          </a:prstGeom>
        </p:spPr>
        <p:txBody>
          <a:bodyPr anchor="t" rtlCol="false" tIns="0" lIns="0" bIns="0" rIns="0">
            <a:spAutoFit/>
          </a:bodyPr>
          <a:lstStyle/>
          <a:p>
            <a:pPr algn="l">
              <a:lnSpc>
                <a:spcPts val="14400"/>
              </a:lnSpc>
            </a:pPr>
            <a:r>
              <a:rPr lang="en-US" sz="12000">
                <a:solidFill>
                  <a:srgbClr val="D149CE"/>
                </a:solidFill>
                <a:latin typeface="Arimo"/>
                <a:ea typeface="Arimo"/>
                <a:cs typeface="Arimo"/>
                <a:sym typeface="Arimo"/>
              </a:rPr>
              <a:t>05</a:t>
            </a:r>
          </a:p>
        </p:txBody>
      </p:sp>
    </p:spTree>
  </p:cSld>
  <p:clrMapOvr>
    <a:masterClrMapping/>
  </p:clrMapOvr>
</p:sld>
</file>

<file path=ppt/slides/slide38.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2" id="12"/>
          <p:cNvGrpSpPr/>
          <p:nvPr/>
        </p:nvGrpSpPr>
        <p:grpSpPr>
          <a:xfrm rot="0">
            <a:off x="857250" y="5729288"/>
            <a:ext cx="16573500" cy="57150"/>
            <a:chOff x="0" y="0"/>
            <a:chExt cx="22098000" cy="76200"/>
          </a:xfrm>
        </p:grpSpPr>
        <p:sp>
          <p:nvSpPr>
            <p:cNvPr name="Freeform 13" id="13"/>
            <p:cNvSpPr/>
            <p:nvPr/>
          </p:nvSpPr>
          <p:spPr>
            <a:xfrm flipH="false" flipV="false" rot="0">
              <a:off x="0" y="0"/>
              <a:ext cx="22098000" cy="76200"/>
            </a:xfrm>
            <a:custGeom>
              <a:avLst/>
              <a:gdLst/>
              <a:ahLst/>
              <a:cxnLst/>
              <a:rect r="r" b="b" t="t" l="l"/>
              <a:pathLst>
                <a:path h="76200" w="22098000">
                  <a:moveTo>
                    <a:pt x="0" y="0"/>
                  </a:moveTo>
                  <a:lnTo>
                    <a:pt x="22098000" y="0"/>
                  </a:lnTo>
                  <a:lnTo>
                    <a:pt x="22098000" y="76200"/>
                  </a:lnTo>
                  <a:lnTo>
                    <a:pt x="0" y="76200"/>
                  </a:lnTo>
                  <a:close/>
                </a:path>
              </a:pathLst>
            </a:custGeom>
            <a:solidFill>
              <a:srgbClr val="334155"/>
            </a:solidFill>
          </p:spPr>
        </p:sp>
      </p:grpSp>
      <p:sp>
        <p:nvSpPr>
          <p:cNvPr name="TextBox 14" id="14"/>
          <p:cNvSpPr txBox="true"/>
          <p:nvPr/>
        </p:nvSpPr>
        <p:spPr>
          <a:xfrm rot="0">
            <a:off x="761952" y="6115050"/>
            <a:ext cx="4002453" cy="414338"/>
          </a:xfrm>
          <a:prstGeom prst="rect">
            <a:avLst/>
          </a:prstGeom>
        </p:spPr>
        <p:txBody>
          <a:bodyPr anchor="t" rtlCol="false" tIns="0" lIns="0" bIns="0" rIns="0">
            <a:spAutoFit/>
          </a:bodyPr>
          <a:lstStyle/>
          <a:p>
            <a:pPr algn="ctr">
              <a:lnSpc>
                <a:spcPts val="3240"/>
              </a:lnSpc>
            </a:pPr>
            <a:r>
              <a:rPr lang="en-US" sz="2700">
                <a:solidFill>
                  <a:srgbClr val="3B82F6"/>
                </a:solidFill>
                <a:latin typeface="Inter"/>
                <a:ea typeface="Inter"/>
                <a:cs typeface="Inter"/>
                <a:sym typeface="Inter"/>
              </a:rPr>
              <a:t>2012</a:t>
            </a:r>
          </a:p>
        </p:txBody>
      </p:sp>
      <p:sp>
        <p:nvSpPr>
          <p:cNvPr name="TextBox 15" id="15"/>
          <p:cNvSpPr txBox="true"/>
          <p:nvPr/>
        </p:nvSpPr>
        <p:spPr>
          <a:xfrm rot="0">
            <a:off x="857250" y="6600825"/>
            <a:ext cx="3811857" cy="1788614"/>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Mô hình AlexNet (CNN) nhận dạng ảnh xuất sắc, mở ra kỷ nguyên ứng dụng Học Sâu (Deep Learning).</a:t>
            </a:r>
          </a:p>
        </p:txBody>
      </p:sp>
      <p:sp>
        <p:nvSpPr>
          <p:cNvPr name="TextBox 16" id="16"/>
          <p:cNvSpPr txBox="true"/>
          <p:nvPr/>
        </p:nvSpPr>
        <p:spPr>
          <a:xfrm rot="0">
            <a:off x="5015836" y="2911973"/>
            <a:ext cx="4002453" cy="414338"/>
          </a:xfrm>
          <a:prstGeom prst="rect">
            <a:avLst/>
          </a:prstGeom>
        </p:spPr>
        <p:txBody>
          <a:bodyPr anchor="t" rtlCol="false" tIns="0" lIns="0" bIns="0" rIns="0">
            <a:spAutoFit/>
          </a:bodyPr>
          <a:lstStyle/>
          <a:p>
            <a:pPr algn="ctr">
              <a:lnSpc>
                <a:spcPts val="3240"/>
              </a:lnSpc>
            </a:pPr>
            <a:r>
              <a:rPr lang="en-US" sz="2700">
                <a:solidFill>
                  <a:srgbClr val="3B82F6"/>
                </a:solidFill>
                <a:latin typeface="Inter"/>
                <a:ea typeface="Inter"/>
                <a:cs typeface="Inter"/>
                <a:sym typeface="Inter"/>
              </a:rPr>
              <a:t>2017</a:t>
            </a:r>
          </a:p>
        </p:txBody>
      </p:sp>
      <p:sp>
        <p:nvSpPr>
          <p:cNvPr name="TextBox 17" id="17"/>
          <p:cNvSpPr txBox="true"/>
          <p:nvPr/>
        </p:nvSpPr>
        <p:spPr>
          <a:xfrm rot="0">
            <a:off x="5111125" y="3397748"/>
            <a:ext cx="3811857" cy="1788614"/>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Kiến trúc Transformer ra đời (cơ chế Attention), là nền tảng cho các Mô Hình Ngôn Ngữ Lớn (LLM) hiện đại.</a:t>
            </a:r>
          </a:p>
        </p:txBody>
      </p:sp>
      <p:sp>
        <p:nvSpPr>
          <p:cNvPr name="TextBox 18" id="18"/>
          <p:cNvSpPr txBox="true"/>
          <p:nvPr/>
        </p:nvSpPr>
        <p:spPr>
          <a:xfrm rot="0">
            <a:off x="9269711" y="6115050"/>
            <a:ext cx="4002453" cy="414338"/>
          </a:xfrm>
          <a:prstGeom prst="rect">
            <a:avLst/>
          </a:prstGeom>
        </p:spPr>
        <p:txBody>
          <a:bodyPr anchor="t" rtlCol="false" tIns="0" lIns="0" bIns="0" rIns="0">
            <a:spAutoFit/>
          </a:bodyPr>
          <a:lstStyle/>
          <a:p>
            <a:pPr algn="ctr">
              <a:lnSpc>
                <a:spcPts val="3240"/>
              </a:lnSpc>
            </a:pPr>
            <a:r>
              <a:rPr lang="en-US" sz="2700">
                <a:solidFill>
                  <a:srgbClr val="3B82F6"/>
                </a:solidFill>
                <a:latin typeface="Inter"/>
                <a:ea typeface="Inter"/>
                <a:cs typeface="Inter"/>
                <a:sym typeface="Inter"/>
              </a:rPr>
              <a:t>2022</a:t>
            </a:r>
          </a:p>
        </p:txBody>
      </p:sp>
      <p:sp>
        <p:nvSpPr>
          <p:cNvPr name="TextBox 19" id="19"/>
          <p:cNvSpPr txBox="true"/>
          <p:nvPr/>
        </p:nvSpPr>
        <p:spPr>
          <a:xfrm rot="0">
            <a:off x="9365009" y="6600825"/>
            <a:ext cx="3811857" cy="1377182"/>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Sự ra mắt của ChatGPT. Người dùng phổ thông tương tác với AI bằng ngôn ngữ tự nhiên.</a:t>
            </a:r>
          </a:p>
        </p:txBody>
      </p:sp>
      <p:sp>
        <p:nvSpPr>
          <p:cNvPr name="TextBox 20" id="20"/>
          <p:cNvSpPr txBox="true"/>
          <p:nvPr/>
        </p:nvSpPr>
        <p:spPr>
          <a:xfrm rot="0">
            <a:off x="13523595" y="2911973"/>
            <a:ext cx="4002453" cy="414338"/>
          </a:xfrm>
          <a:prstGeom prst="rect">
            <a:avLst/>
          </a:prstGeom>
        </p:spPr>
        <p:txBody>
          <a:bodyPr anchor="t" rtlCol="false" tIns="0" lIns="0" bIns="0" rIns="0">
            <a:spAutoFit/>
          </a:bodyPr>
          <a:lstStyle/>
          <a:p>
            <a:pPr algn="ctr">
              <a:lnSpc>
                <a:spcPts val="3240"/>
              </a:lnSpc>
            </a:pPr>
            <a:r>
              <a:rPr lang="en-US" sz="2700">
                <a:solidFill>
                  <a:srgbClr val="3B82F6"/>
                </a:solidFill>
                <a:latin typeface="Inter"/>
                <a:ea typeface="Inter"/>
                <a:cs typeface="Inter"/>
                <a:sym typeface="Inter"/>
              </a:rPr>
              <a:t>2023 - Nay</a:t>
            </a:r>
          </a:p>
        </p:txBody>
      </p:sp>
      <p:sp>
        <p:nvSpPr>
          <p:cNvPr name="TextBox 21" id="21"/>
          <p:cNvSpPr txBox="true"/>
          <p:nvPr/>
        </p:nvSpPr>
        <p:spPr>
          <a:xfrm rot="0">
            <a:off x="13618893" y="3397748"/>
            <a:ext cx="3811857" cy="1788614"/>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GenAI tích hợp trực tiếp vào IDE (Copilot), thay đổi cách viết, kiểm tra và thiết kế phần mềm hằng ngày.</a:t>
            </a:r>
          </a:p>
        </p:txBody>
      </p:sp>
      <p:grpSp>
        <p:nvGrpSpPr>
          <p:cNvPr name="Group 22" id="22"/>
          <p:cNvGrpSpPr/>
          <p:nvPr/>
        </p:nvGrpSpPr>
        <p:grpSpPr>
          <a:xfrm rot="0">
            <a:off x="2591733" y="5586412"/>
            <a:ext cx="342900" cy="342900"/>
            <a:chOff x="0" y="0"/>
            <a:chExt cx="457200" cy="457200"/>
          </a:xfrm>
        </p:grpSpPr>
        <p:sp>
          <p:nvSpPr>
            <p:cNvPr name="Freeform 23" id="23"/>
            <p:cNvSpPr/>
            <p:nvPr/>
          </p:nvSpPr>
          <p:spPr>
            <a:xfrm flipH="false" flipV="false" rot="0">
              <a:off x="38100" y="38100"/>
              <a:ext cx="381000" cy="381000"/>
            </a:xfrm>
            <a:custGeom>
              <a:avLst/>
              <a:gdLst/>
              <a:ahLst/>
              <a:cxnLst/>
              <a:rect r="r" b="b" t="t" l="l"/>
              <a:pathLst>
                <a:path h="381000" w="381000">
                  <a:moveTo>
                    <a:pt x="0" y="190500"/>
                  </a:moveTo>
                  <a:cubicBezTo>
                    <a:pt x="0" y="85344"/>
                    <a:pt x="85344" y="0"/>
                    <a:pt x="190500" y="0"/>
                  </a:cubicBezTo>
                  <a:cubicBezTo>
                    <a:pt x="295656" y="0"/>
                    <a:pt x="381000" y="85344"/>
                    <a:pt x="381000" y="190500"/>
                  </a:cubicBezTo>
                  <a:cubicBezTo>
                    <a:pt x="381000" y="295656"/>
                    <a:pt x="295656" y="381000"/>
                    <a:pt x="190500" y="381000"/>
                  </a:cubicBezTo>
                  <a:cubicBezTo>
                    <a:pt x="85344" y="381000"/>
                    <a:pt x="0" y="295656"/>
                    <a:pt x="0" y="190500"/>
                  </a:cubicBezTo>
                  <a:close/>
                </a:path>
              </a:pathLst>
            </a:custGeom>
            <a:solidFill>
              <a:srgbClr val="3B82F6"/>
            </a:solidFill>
          </p:spPr>
        </p:sp>
        <p:sp>
          <p:nvSpPr>
            <p:cNvPr name="Freeform 24" id="24"/>
            <p:cNvSpPr/>
            <p:nvPr/>
          </p:nvSpPr>
          <p:spPr>
            <a:xfrm flipH="false" flipV="false" rot="0">
              <a:off x="0" y="0"/>
              <a:ext cx="457200" cy="457200"/>
            </a:xfrm>
            <a:custGeom>
              <a:avLst/>
              <a:gdLst/>
              <a:ahLst/>
              <a:cxnLst/>
              <a:rect r="r" b="b" t="t" l="l"/>
              <a:pathLst>
                <a:path h="457200" w="457200">
                  <a:moveTo>
                    <a:pt x="0" y="228600"/>
                  </a:moveTo>
                  <a:cubicBezTo>
                    <a:pt x="0" y="102362"/>
                    <a:pt x="102362" y="0"/>
                    <a:pt x="228600" y="0"/>
                  </a:cubicBezTo>
                  <a:cubicBezTo>
                    <a:pt x="249682" y="0"/>
                    <a:pt x="266700" y="17018"/>
                    <a:pt x="266700" y="38100"/>
                  </a:cubicBezTo>
                  <a:lnTo>
                    <a:pt x="228600" y="38100"/>
                  </a:lnTo>
                  <a:lnTo>
                    <a:pt x="228600" y="0"/>
                  </a:lnTo>
                  <a:lnTo>
                    <a:pt x="228600" y="38100"/>
                  </a:lnTo>
                  <a:lnTo>
                    <a:pt x="228600" y="0"/>
                  </a:lnTo>
                  <a:cubicBezTo>
                    <a:pt x="354838" y="0"/>
                    <a:pt x="457200" y="102362"/>
                    <a:pt x="457200" y="228600"/>
                  </a:cubicBezTo>
                  <a:cubicBezTo>
                    <a:pt x="457200" y="243078"/>
                    <a:pt x="449072" y="256286"/>
                    <a:pt x="436118" y="262636"/>
                  </a:cubicBezTo>
                  <a:lnTo>
                    <a:pt x="419100" y="228600"/>
                  </a:lnTo>
                  <a:lnTo>
                    <a:pt x="457200" y="228600"/>
                  </a:lnTo>
                  <a:cubicBezTo>
                    <a:pt x="457200" y="354838"/>
                    <a:pt x="354838" y="457200"/>
                    <a:pt x="228600" y="457200"/>
                  </a:cubicBezTo>
                  <a:lnTo>
                    <a:pt x="228600" y="419100"/>
                  </a:lnTo>
                  <a:lnTo>
                    <a:pt x="228600" y="457200"/>
                  </a:lnTo>
                  <a:cubicBezTo>
                    <a:pt x="102362" y="457200"/>
                    <a:pt x="0" y="354838"/>
                    <a:pt x="0" y="228600"/>
                  </a:cubicBezTo>
                  <a:moveTo>
                    <a:pt x="76200" y="228600"/>
                  </a:moveTo>
                  <a:lnTo>
                    <a:pt x="38100" y="228600"/>
                  </a:lnTo>
                  <a:lnTo>
                    <a:pt x="76200" y="228600"/>
                  </a:lnTo>
                  <a:cubicBezTo>
                    <a:pt x="76200" y="312801"/>
                    <a:pt x="144399" y="381000"/>
                    <a:pt x="228600" y="381000"/>
                  </a:cubicBezTo>
                  <a:cubicBezTo>
                    <a:pt x="312801" y="381000"/>
                    <a:pt x="381000" y="312801"/>
                    <a:pt x="381000" y="228600"/>
                  </a:cubicBezTo>
                  <a:cubicBezTo>
                    <a:pt x="381000" y="214122"/>
                    <a:pt x="389128" y="200914"/>
                    <a:pt x="402082" y="194564"/>
                  </a:cubicBezTo>
                  <a:lnTo>
                    <a:pt x="419100" y="228600"/>
                  </a:lnTo>
                  <a:lnTo>
                    <a:pt x="381000" y="228600"/>
                  </a:lnTo>
                  <a:cubicBezTo>
                    <a:pt x="381000" y="144399"/>
                    <a:pt x="312801" y="76200"/>
                    <a:pt x="228600" y="76200"/>
                  </a:cubicBezTo>
                  <a:cubicBezTo>
                    <a:pt x="207518" y="76200"/>
                    <a:pt x="190500" y="59182"/>
                    <a:pt x="190500" y="38100"/>
                  </a:cubicBezTo>
                  <a:lnTo>
                    <a:pt x="228600" y="38100"/>
                  </a:lnTo>
                  <a:lnTo>
                    <a:pt x="228600" y="76200"/>
                  </a:lnTo>
                  <a:cubicBezTo>
                    <a:pt x="144399" y="76200"/>
                    <a:pt x="76200" y="144399"/>
                    <a:pt x="76200" y="228600"/>
                  </a:cubicBezTo>
                  <a:close/>
                </a:path>
              </a:pathLst>
            </a:custGeom>
            <a:solidFill>
              <a:srgbClr val="FFFFFF"/>
            </a:solidFill>
          </p:spPr>
        </p:sp>
      </p:grpSp>
      <p:grpSp>
        <p:nvGrpSpPr>
          <p:cNvPr name="Group 25" id="25"/>
          <p:cNvGrpSpPr/>
          <p:nvPr/>
        </p:nvGrpSpPr>
        <p:grpSpPr>
          <a:xfrm rot="0">
            <a:off x="6845608" y="5586412"/>
            <a:ext cx="342900" cy="342900"/>
            <a:chOff x="0" y="0"/>
            <a:chExt cx="457200" cy="457200"/>
          </a:xfrm>
        </p:grpSpPr>
        <p:sp>
          <p:nvSpPr>
            <p:cNvPr name="Freeform 26" id="26"/>
            <p:cNvSpPr/>
            <p:nvPr/>
          </p:nvSpPr>
          <p:spPr>
            <a:xfrm flipH="false" flipV="false" rot="0">
              <a:off x="38100" y="38100"/>
              <a:ext cx="381000" cy="381000"/>
            </a:xfrm>
            <a:custGeom>
              <a:avLst/>
              <a:gdLst/>
              <a:ahLst/>
              <a:cxnLst/>
              <a:rect r="r" b="b" t="t" l="l"/>
              <a:pathLst>
                <a:path h="381000" w="381000">
                  <a:moveTo>
                    <a:pt x="0" y="190500"/>
                  </a:moveTo>
                  <a:cubicBezTo>
                    <a:pt x="0" y="85344"/>
                    <a:pt x="85344" y="0"/>
                    <a:pt x="190500" y="0"/>
                  </a:cubicBezTo>
                  <a:cubicBezTo>
                    <a:pt x="295656" y="0"/>
                    <a:pt x="381000" y="85344"/>
                    <a:pt x="381000" y="190500"/>
                  </a:cubicBezTo>
                  <a:cubicBezTo>
                    <a:pt x="381000" y="295656"/>
                    <a:pt x="295656" y="381000"/>
                    <a:pt x="190500" y="381000"/>
                  </a:cubicBezTo>
                  <a:cubicBezTo>
                    <a:pt x="85344" y="381000"/>
                    <a:pt x="0" y="295656"/>
                    <a:pt x="0" y="190500"/>
                  </a:cubicBezTo>
                  <a:close/>
                </a:path>
              </a:pathLst>
            </a:custGeom>
            <a:solidFill>
              <a:srgbClr val="3B82F6"/>
            </a:solidFill>
          </p:spPr>
        </p:sp>
        <p:sp>
          <p:nvSpPr>
            <p:cNvPr name="Freeform 27" id="27"/>
            <p:cNvSpPr/>
            <p:nvPr/>
          </p:nvSpPr>
          <p:spPr>
            <a:xfrm flipH="false" flipV="false" rot="0">
              <a:off x="0" y="0"/>
              <a:ext cx="457200" cy="457200"/>
            </a:xfrm>
            <a:custGeom>
              <a:avLst/>
              <a:gdLst/>
              <a:ahLst/>
              <a:cxnLst/>
              <a:rect r="r" b="b" t="t" l="l"/>
              <a:pathLst>
                <a:path h="457200" w="457200">
                  <a:moveTo>
                    <a:pt x="0" y="228600"/>
                  </a:moveTo>
                  <a:cubicBezTo>
                    <a:pt x="0" y="102362"/>
                    <a:pt x="102362" y="0"/>
                    <a:pt x="228600" y="0"/>
                  </a:cubicBezTo>
                  <a:cubicBezTo>
                    <a:pt x="249682" y="0"/>
                    <a:pt x="266700" y="17018"/>
                    <a:pt x="266700" y="38100"/>
                  </a:cubicBezTo>
                  <a:lnTo>
                    <a:pt x="228600" y="38100"/>
                  </a:lnTo>
                  <a:lnTo>
                    <a:pt x="228600" y="0"/>
                  </a:lnTo>
                  <a:lnTo>
                    <a:pt x="228600" y="38100"/>
                  </a:lnTo>
                  <a:lnTo>
                    <a:pt x="228600" y="0"/>
                  </a:lnTo>
                  <a:cubicBezTo>
                    <a:pt x="354838" y="0"/>
                    <a:pt x="457200" y="102362"/>
                    <a:pt x="457200" y="228600"/>
                  </a:cubicBezTo>
                  <a:cubicBezTo>
                    <a:pt x="457200" y="243078"/>
                    <a:pt x="449072" y="256286"/>
                    <a:pt x="436118" y="262636"/>
                  </a:cubicBezTo>
                  <a:lnTo>
                    <a:pt x="419100" y="228600"/>
                  </a:lnTo>
                  <a:lnTo>
                    <a:pt x="457200" y="228600"/>
                  </a:lnTo>
                  <a:cubicBezTo>
                    <a:pt x="457200" y="354838"/>
                    <a:pt x="354838" y="457200"/>
                    <a:pt x="228600" y="457200"/>
                  </a:cubicBezTo>
                  <a:lnTo>
                    <a:pt x="228600" y="419100"/>
                  </a:lnTo>
                  <a:lnTo>
                    <a:pt x="228600" y="457200"/>
                  </a:lnTo>
                  <a:cubicBezTo>
                    <a:pt x="102362" y="457200"/>
                    <a:pt x="0" y="354838"/>
                    <a:pt x="0" y="228600"/>
                  </a:cubicBezTo>
                  <a:moveTo>
                    <a:pt x="76200" y="228600"/>
                  </a:moveTo>
                  <a:lnTo>
                    <a:pt x="38100" y="228600"/>
                  </a:lnTo>
                  <a:lnTo>
                    <a:pt x="76200" y="228600"/>
                  </a:lnTo>
                  <a:cubicBezTo>
                    <a:pt x="76200" y="312801"/>
                    <a:pt x="144399" y="381000"/>
                    <a:pt x="228600" y="381000"/>
                  </a:cubicBezTo>
                  <a:cubicBezTo>
                    <a:pt x="312801" y="381000"/>
                    <a:pt x="381000" y="312801"/>
                    <a:pt x="381000" y="228600"/>
                  </a:cubicBezTo>
                  <a:cubicBezTo>
                    <a:pt x="381000" y="214122"/>
                    <a:pt x="389128" y="200914"/>
                    <a:pt x="402082" y="194564"/>
                  </a:cubicBezTo>
                  <a:lnTo>
                    <a:pt x="419100" y="228600"/>
                  </a:lnTo>
                  <a:lnTo>
                    <a:pt x="381000" y="228600"/>
                  </a:lnTo>
                  <a:cubicBezTo>
                    <a:pt x="381000" y="144399"/>
                    <a:pt x="312801" y="76200"/>
                    <a:pt x="228600" y="76200"/>
                  </a:cubicBezTo>
                  <a:cubicBezTo>
                    <a:pt x="207518" y="76200"/>
                    <a:pt x="190500" y="59182"/>
                    <a:pt x="190500" y="38100"/>
                  </a:cubicBezTo>
                  <a:lnTo>
                    <a:pt x="228600" y="38100"/>
                  </a:lnTo>
                  <a:lnTo>
                    <a:pt x="228600" y="76200"/>
                  </a:lnTo>
                  <a:cubicBezTo>
                    <a:pt x="144399" y="76200"/>
                    <a:pt x="76200" y="144399"/>
                    <a:pt x="76200" y="228600"/>
                  </a:cubicBezTo>
                  <a:close/>
                </a:path>
              </a:pathLst>
            </a:custGeom>
            <a:solidFill>
              <a:srgbClr val="FFFFFF"/>
            </a:solidFill>
          </p:spPr>
        </p:sp>
      </p:grpSp>
      <p:grpSp>
        <p:nvGrpSpPr>
          <p:cNvPr name="Group 28" id="28"/>
          <p:cNvGrpSpPr/>
          <p:nvPr/>
        </p:nvGrpSpPr>
        <p:grpSpPr>
          <a:xfrm rot="0">
            <a:off x="11099492" y="5586412"/>
            <a:ext cx="342900" cy="342900"/>
            <a:chOff x="0" y="0"/>
            <a:chExt cx="457200" cy="457200"/>
          </a:xfrm>
        </p:grpSpPr>
        <p:sp>
          <p:nvSpPr>
            <p:cNvPr name="Freeform 29" id="29"/>
            <p:cNvSpPr/>
            <p:nvPr/>
          </p:nvSpPr>
          <p:spPr>
            <a:xfrm flipH="false" flipV="false" rot="0">
              <a:off x="38100" y="38100"/>
              <a:ext cx="381000" cy="381000"/>
            </a:xfrm>
            <a:custGeom>
              <a:avLst/>
              <a:gdLst/>
              <a:ahLst/>
              <a:cxnLst/>
              <a:rect r="r" b="b" t="t" l="l"/>
              <a:pathLst>
                <a:path h="381000" w="381000">
                  <a:moveTo>
                    <a:pt x="0" y="190500"/>
                  </a:moveTo>
                  <a:cubicBezTo>
                    <a:pt x="0" y="85344"/>
                    <a:pt x="85344" y="0"/>
                    <a:pt x="190500" y="0"/>
                  </a:cubicBezTo>
                  <a:cubicBezTo>
                    <a:pt x="295656" y="0"/>
                    <a:pt x="381000" y="85344"/>
                    <a:pt x="381000" y="190500"/>
                  </a:cubicBezTo>
                  <a:cubicBezTo>
                    <a:pt x="381000" y="295656"/>
                    <a:pt x="295656" y="381000"/>
                    <a:pt x="190500" y="381000"/>
                  </a:cubicBezTo>
                  <a:cubicBezTo>
                    <a:pt x="85344" y="381000"/>
                    <a:pt x="0" y="295656"/>
                    <a:pt x="0" y="190500"/>
                  </a:cubicBezTo>
                  <a:close/>
                </a:path>
              </a:pathLst>
            </a:custGeom>
            <a:solidFill>
              <a:srgbClr val="3B82F6"/>
            </a:solidFill>
          </p:spPr>
        </p:sp>
        <p:sp>
          <p:nvSpPr>
            <p:cNvPr name="Freeform 30" id="30"/>
            <p:cNvSpPr/>
            <p:nvPr/>
          </p:nvSpPr>
          <p:spPr>
            <a:xfrm flipH="false" flipV="false" rot="0">
              <a:off x="0" y="0"/>
              <a:ext cx="457200" cy="457200"/>
            </a:xfrm>
            <a:custGeom>
              <a:avLst/>
              <a:gdLst/>
              <a:ahLst/>
              <a:cxnLst/>
              <a:rect r="r" b="b" t="t" l="l"/>
              <a:pathLst>
                <a:path h="457200" w="457200">
                  <a:moveTo>
                    <a:pt x="0" y="228600"/>
                  </a:moveTo>
                  <a:cubicBezTo>
                    <a:pt x="0" y="102362"/>
                    <a:pt x="102362" y="0"/>
                    <a:pt x="228600" y="0"/>
                  </a:cubicBezTo>
                  <a:cubicBezTo>
                    <a:pt x="249682" y="0"/>
                    <a:pt x="266700" y="17018"/>
                    <a:pt x="266700" y="38100"/>
                  </a:cubicBezTo>
                  <a:lnTo>
                    <a:pt x="228600" y="38100"/>
                  </a:lnTo>
                  <a:lnTo>
                    <a:pt x="228600" y="0"/>
                  </a:lnTo>
                  <a:lnTo>
                    <a:pt x="228600" y="38100"/>
                  </a:lnTo>
                  <a:lnTo>
                    <a:pt x="228600" y="0"/>
                  </a:lnTo>
                  <a:cubicBezTo>
                    <a:pt x="354838" y="0"/>
                    <a:pt x="457200" y="102362"/>
                    <a:pt x="457200" y="228600"/>
                  </a:cubicBezTo>
                  <a:cubicBezTo>
                    <a:pt x="457200" y="243078"/>
                    <a:pt x="449072" y="256286"/>
                    <a:pt x="436118" y="262636"/>
                  </a:cubicBezTo>
                  <a:lnTo>
                    <a:pt x="419100" y="228600"/>
                  </a:lnTo>
                  <a:lnTo>
                    <a:pt x="457200" y="228600"/>
                  </a:lnTo>
                  <a:cubicBezTo>
                    <a:pt x="457200" y="354838"/>
                    <a:pt x="354838" y="457200"/>
                    <a:pt x="228600" y="457200"/>
                  </a:cubicBezTo>
                  <a:lnTo>
                    <a:pt x="228600" y="419100"/>
                  </a:lnTo>
                  <a:lnTo>
                    <a:pt x="228600" y="457200"/>
                  </a:lnTo>
                  <a:cubicBezTo>
                    <a:pt x="102362" y="457200"/>
                    <a:pt x="0" y="354838"/>
                    <a:pt x="0" y="228600"/>
                  </a:cubicBezTo>
                  <a:moveTo>
                    <a:pt x="76200" y="228600"/>
                  </a:moveTo>
                  <a:lnTo>
                    <a:pt x="38100" y="228600"/>
                  </a:lnTo>
                  <a:lnTo>
                    <a:pt x="76200" y="228600"/>
                  </a:lnTo>
                  <a:cubicBezTo>
                    <a:pt x="76200" y="312801"/>
                    <a:pt x="144399" y="381000"/>
                    <a:pt x="228600" y="381000"/>
                  </a:cubicBezTo>
                  <a:cubicBezTo>
                    <a:pt x="312801" y="381000"/>
                    <a:pt x="381000" y="312801"/>
                    <a:pt x="381000" y="228600"/>
                  </a:cubicBezTo>
                  <a:cubicBezTo>
                    <a:pt x="381000" y="214122"/>
                    <a:pt x="389128" y="200914"/>
                    <a:pt x="402082" y="194564"/>
                  </a:cubicBezTo>
                  <a:lnTo>
                    <a:pt x="419100" y="228600"/>
                  </a:lnTo>
                  <a:lnTo>
                    <a:pt x="381000" y="228600"/>
                  </a:lnTo>
                  <a:cubicBezTo>
                    <a:pt x="381000" y="144399"/>
                    <a:pt x="312801" y="76200"/>
                    <a:pt x="228600" y="76200"/>
                  </a:cubicBezTo>
                  <a:cubicBezTo>
                    <a:pt x="207518" y="76200"/>
                    <a:pt x="190500" y="59182"/>
                    <a:pt x="190500" y="38100"/>
                  </a:cubicBezTo>
                  <a:lnTo>
                    <a:pt x="228600" y="38100"/>
                  </a:lnTo>
                  <a:lnTo>
                    <a:pt x="228600" y="76200"/>
                  </a:lnTo>
                  <a:cubicBezTo>
                    <a:pt x="144399" y="76200"/>
                    <a:pt x="76200" y="144399"/>
                    <a:pt x="76200" y="228600"/>
                  </a:cubicBezTo>
                  <a:close/>
                </a:path>
              </a:pathLst>
            </a:custGeom>
            <a:solidFill>
              <a:srgbClr val="FFFFFF"/>
            </a:solidFill>
          </p:spPr>
        </p:sp>
      </p:grpSp>
      <p:grpSp>
        <p:nvGrpSpPr>
          <p:cNvPr name="Group 31" id="31"/>
          <p:cNvGrpSpPr/>
          <p:nvPr/>
        </p:nvGrpSpPr>
        <p:grpSpPr>
          <a:xfrm rot="0">
            <a:off x="15353367" y="5586412"/>
            <a:ext cx="342900" cy="342900"/>
            <a:chOff x="0" y="0"/>
            <a:chExt cx="457200" cy="457200"/>
          </a:xfrm>
        </p:grpSpPr>
        <p:sp>
          <p:nvSpPr>
            <p:cNvPr name="Freeform 32" id="32"/>
            <p:cNvSpPr/>
            <p:nvPr/>
          </p:nvSpPr>
          <p:spPr>
            <a:xfrm flipH="false" flipV="false" rot="0">
              <a:off x="38100" y="38100"/>
              <a:ext cx="381000" cy="381000"/>
            </a:xfrm>
            <a:custGeom>
              <a:avLst/>
              <a:gdLst/>
              <a:ahLst/>
              <a:cxnLst/>
              <a:rect r="r" b="b" t="t" l="l"/>
              <a:pathLst>
                <a:path h="381000" w="381000">
                  <a:moveTo>
                    <a:pt x="0" y="190500"/>
                  </a:moveTo>
                  <a:cubicBezTo>
                    <a:pt x="0" y="85344"/>
                    <a:pt x="85344" y="0"/>
                    <a:pt x="190500" y="0"/>
                  </a:cubicBezTo>
                  <a:cubicBezTo>
                    <a:pt x="295656" y="0"/>
                    <a:pt x="381000" y="85344"/>
                    <a:pt x="381000" y="190500"/>
                  </a:cubicBezTo>
                  <a:cubicBezTo>
                    <a:pt x="381000" y="295656"/>
                    <a:pt x="295656" y="381000"/>
                    <a:pt x="190500" y="381000"/>
                  </a:cubicBezTo>
                  <a:cubicBezTo>
                    <a:pt x="85344" y="381000"/>
                    <a:pt x="0" y="295656"/>
                    <a:pt x="0" y="190500"/>
                  </a:cubicBezTo>
                  <a:close/>
                </a:path>
              </a:pathLst>
            </a:custGeom>
            <a:solidFill>
              <a:srgbClr val="3B82F6"/>
            </a:solidFill>
          </p:spPr>
        </p:sp>
        <p:sp>
          <p:nvSpPr>
            <p:cNvPr name="Freeform 33" id="33"/>
            <p:cNvSpPr/>
            <p:nvPr/>
          </p:nvSpPr>
          <p:spPr>
            <a:xfrm flipH="false" flipV="false" rot="0">
              <a:off x="0" y="0"/>
              <a:ext cx="457200" cy="457200"/>
            </a:xfrm>
            <a:custGeom>
              <a:avLst/>
              <a:gdLst/>
              <a:ahLst/>
              <a:cxnLst/>
              <a:rect r="r" b="b" t="t" l="l"/>
              <a:pathLst>
                <a:path h="457200" w="457200">
                  <a:moveTo>
                    <a:pt x="0" y="228600"/>
                  </a:moveTo>
                  <a:cubicBezTo>
                    <a:pt x="0" y="102362"/>
                    <a:pt x="102362" y="0"/>
                    <a:pt x="228600" y="0"/>
                  </a:cubicBezTo>
                  <a:cubicBezTo>
                    <a:pt x="249682" y="0"/>
                    <a:pt x="266700" y="17018"/>
                    <a:pt x="266700" y="38100"/>
                  </a:cubicBezTo>
                  <a:lnTo>
                    <a:pt x="228600" y="38100"/>
                  </a:lnTo>
                  <a:lnTo>
                    <a:pt x="228600" y="0"/>
                  </a:lnTo>
                  <a:lnTo>
                    <a:pt x="228600" y="38100"/>
                  </a:lnTo>
                  <a:lnTo>
                    <a:pt x="228600" y="0"/>
                  </a:lnTo>
                  <a:cubicBezTo>
                    <a:pt x="354838" y="0"/>
                    <a:pt x="457200" y="102362"/>
                    <a:pt x="457200" y="228600"/>
                  </a:cubicBezTo>
                  <a:cubicBezTo>
                    <a:pt x="457200" y="243078"/>
                    <a:pt x="449072" y="256286"/>
                    <a:pt x="436118" y="262636"/>
                  </a:cubicBezTo>
                  <a:lnTo>
                    <a:pt x="419100" y="228600"/>
                  </a:lnTo>
                  <a:lnTo>
                    <a:pt x="457200" y="228600"/>
                  </a:lnTo>
                  <a:cubicBezTo>
                    <a:pt x="457200" y="354838"/>
                    <a:pt x="354838" y="457200"/>
                    <a:pt x="228600" y="457200"/>
                  </a:cubicBezTo>
                  <a:lnTo>
                    <a:pt x="228600" y="419100"/>
                  </a:lnTo>
                  <a:lnTo>
                    <a:pt x="228600" y="457200"/>
                  </a:lnTo>
                  <a:cubicBezTo>
                    <a:pt x="102362" y="457200"/>
                    <a:pt x="0" y="354838"/>
                    <a:pt x="0" y="228600"/>
                  </a:cubicBezTo>
                  <a:moveTo>
                    <a:pt x="76200" y="228600"/>
                  </a:moveTo>
                  <a:lnTo>
                    <a:pt x="38100" y="228600"/>
                  </a:lnTo>
                  <a:lnTo>
                    <a:pt x="76200" y="228600"/>
                  </a:lnTo>
                  <a:cubicBezTo>
                    <a:pt x="76200" y="312801"/>
                    <a:pt x="144399" y="381000"/>
                    <a:pt x="228600" y="381000"/>
                  </a:cubicBezTo>
                  <a:cubicBezTo>
                    <a:pt x="312801" y="381000"/>
                    <a:pt x="381000" y="312801"/>
                    <a:pt x="381000" y="228600"/>
                  </a:cubicBezTo>
                  <a:cubicBezTo>
                    <a:pt x="381000" y="214122"/>
                    <a:pt x="389128" y="200914"/>
                    <a:pt x="402082" y="194564"/>
                  </a:cubicBezTo>
                  <a:lnTo>
                    <a:pt x="419100" y="228600"/>
                  </a:lnTo>
                  <a:lnTo>
                    <a:pt x="381000" y="228600"/>
                  </a:lnTo>
                  <a:cubicBezTo>
                    <a:pt x="381000" y="144399"/>
                    <a:pt x="312801" y="76200"/>
                    <a:pt x="228600" y="76200"/>
                  </a:cubicBezTo>
                  <a:cubicBezTo>
                    <a:pt x="207518" y="76200"/>
                    <a:pt x="190500" y="59182"/>
                    <a:pt x="190500" y="38100"/>
                  </a:cubicBezTo>
                  <a:lnTo>
                    <a:pt x="228600" y="38100"/>
                  </a:lnTo>
                  <a:lnTo>
                    <a:pt x="228600" y="76200"/>
                  </a:lnTo>
                  <a:cubicBezTo>
                    <a:pt x="144399" y="76200"/>
                    <a:pt x="76200" y="144399"/>
                    <a:pt x="76200" y="228600"/>
                  </a:cubicBezTo>
                  <a:close/>
                </a:path>
              </a:pathLst>
            </a:custGeom>
            <a:solidFill>
              <a:srgbClr val="FFFFFF"/>
            </a:solidFill>
          </p:spPr>
        </p:sp>
      </p:grpSp>
      <p:sp>
        <p:nvSpPr>
          <p:cNvPr name="TextBox 34" id="34"/>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Tiến Trình Phát Triển Trí Tuệ Nhân Tạo</a:t>
            </a:r>
          </a:p>
        </p:txBody>
      </p:sp>
    </p:spTree>
  </p:cSld>
  <p:clrMapOvr>
    <a:masterClrMapping/>
  </p:clrMapOvr>
</p:sld>
</file>

<file path=ppt/slides/slide39.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TextBox 12" id="12"/>
          <p:cNvSpPr txBox="true"/>
          <p:nvPr/>
        </p:nvSpPr>
        <p:spPr>
          <a:xfrm rot="0">
            <a:off x="857250" y="3257550"/>
            <a:ext cx="5887045" cy="504825"/>
          </a:xfrm>
          <a:prstGeom prst="rect">
            <a:avLst/>
          </a:prstGeom>
        </p:spPr>
        <p:txBody>
          <a:bodyPr anchor="t" rtlCol="false" tIns="0" lIns="0" bIns="0" rIns="0">
            <a:spAutoFit/>
          </a:bodyPr>
          <a:lstStyle/>
          <a:p>
            <a:pPr algn="l">
              <a:lnSpc>
                <a:spcPts val="4019"/>
              </a:lnSpc>
            </a:pPr>
            <a:r>
              <a:rPr lang="en-US" sz="3349">
                <a:solidFill>
                  <a:srgbClr val="000000"/>
                </a:solidFill>
                <a:latin typeface="Inter"/>
                <a:ea typeface="Inter"/>
                <a:cs typeface="Inter"/>
                <a:sym typeface="Inter"/>
              </a:rPr>
              <a:t>Tăng Năng Suất = Tăng Cung</a:t>
            </a:r>
          </a:p>
        </p:txBody>
      </p:sp>
      <p:sp>
        <p:nvSpPr>
          <p:cNvPr name="TextBox 13" id="13"/>
          <p:cNvSpPr txBox="true"/>
          <p:nvPr/>
        </p:nvSpPr>
        <p:spPr>
          <a:xfrm rot="0">
            <a:off x="857250" y="3805238"/>
            <a:ext cx="7929562" cy="1549146"/>
          </a:xfrm>
          <a:prstGeom prst="rect">
            <a:avLst/>
          </a:prstGeom>
        </p:spPr>
        <p:txBody>
          <a:bodyPr anchor="t" rtlCol="false" tIns="0" lIns="0" bIns="0" rIns="0">
            <a:spAutoFit/>
          </a:bodyPr>
          <a:lstStyle/>
          <a:p>
            <a:pPr algn="l">
              <a:lnSpc>
                <a:spcPts val="4271"/>
              </a:lnSpc>
            </a:pPr>
            <a:r>
              <a:rPr lang="en-US" sz="2224">
                <a:solidFill>
                  <a:srgbClr val="000000"/>
                </a:solidFill>
                <a:latin typeface="Inter"/>
                <a:ea typeface="Inter"/>
                <a:cs typeface="Inter"/>
                <a:sym typeface="Inter"/>
              </a:rPr>
              <a:t>Lập trình viên tạo mã nhanh hơn, duy trì chất lượng cao. Tự động hóa kiểm thử và tài liệu giúp gia tăng tổng lượng phần mềm cung cấp ra thị trường.</a:t>
            </a:r>
          </a:p>
        </p:txBody>
      </p:sp>
      <p:sp>
        <p:nvSpPr>
          <p:cNvPr name="TextBox 14" id="14"/>
          <p:cNvSpPr txBox="true"/>
          <p:nvPr/>
        </p:nvSpPr>
        <p:spPr>
          <a:xfrm rot="0">
            <a:off x="9558338" y="3257550"/>
            <a:ext cx="4956572" cy="504825"/>
          </a:xfrm>
          <a:prstGeom prst="rect">
            <a:avLst/>
          </a:prstGeom>
        </p:spPr>
        <p:txBody>
          <a:bodyPr anchor="t" rtlCol="false" tIns="0" lIns="0" bIns="0" rIns="0">
            <a:spAutoFit/>
          </a:bodyPr>
          <a:lstStyle/>
          <a:p>
            <a:pPr algn="l">
              <a:lnSpc>
                <a:spcPts val="4019"/>
              </a:lnSpc>
            </a:pPr>
            <a:r>
              <a:rPr lang="en-US" sz="3349">
                <a:solidFill>
                  <a:srgbClr val="000000"/>
                </a:solidFill>
                <a:latin typeface="Inter"/>
                <a:ea typeface="Inter"/>
                <a:cs typeface="Inter"/>
                <a:sym typeface="Inter"/>
              </a:rPr>
              <a:t>Giảm Chi Phí = Tăng Cầu</a:t>
            </a:r>
          </a:p>
        </p:txBody>
      </p:sp>
      <p:sp>
        <p:nvSpPr>
          <p:cNvPr name="TextBox 15" id="15"/>
          <p:cNvSpPr txBox="true"/>
          <p:nvPr/>
        </p:nvSpPr>
        <p:spPr>
          <a:xfrm rot="0">
            <a:off x="9558338" y="3805238"/>
            <a:ext cx="7929562" cy="1549146"/>
          </a:xfrm>
          <a:prstGeom prst="rect">
            <a:avLst/>
          </a:prstGeom>
        </p:spPr>
        <p:txBody>
          <a:bodyPr anchor="t" rtlCol="false" tIns="0" lIns="0" bIns="0" rIns="0">
            <a:spAutoFit/>
          </a:bodyPr>
          <a:lstStyle/>
          <a:p>
            <a:pPr algn="l">
              <a:lnSpc>
                <a:spcPts val="4271"/>
              </a:lnSpc>
            </a:pPr>
            <a:r>
              <a:rPr lang="en-US" sz="2224">
                <a:solidFill>
                  <a:srgbClr val="000000"/>
                </a:solidFill>
                <a:latin typeface="Inter"/>
                <a:ea typeface="Inter"/>
                <a:cs typeface="Inter"/>
                <a:sym typeface="Inter"/>
              </a:rPr>
              <a:t>Nhu cầu sử dụng phần mềm tăng lên do nhiều bài toán trước đây không hiệu quả chi phí nay trở nên khả thi. Doanh nghiệp tự động hóa nhiều hơn.</a:t>
            </a:r>
          </a:p>
        </p:txBody>
      </p:sp>
      <p:sp>
        <p:nvSpPr>
          <p:cNvPr name="TextBox 16" id="16"/>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5.2 Tác Động Kinh Tế Của GenAI</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2" id="12"/>
          <p:cNvGrpSpPr/>
          <p:nvPr/>
        </p:nvGrpSpPr>
        <p:grpSpPr>
          <a:xfrm rot="0">
            <a:off x="857250" y="3433239"/>
            <a:ext cx="5143500" cy="4649019"/>
            <a:chOff x="0" y="0"/>
            <a:chExt cx="6858000" cy="6198692"/>
          </a:xfrm>
        </p:grpSpPr>
        <p:sp>
          <p:nvSpPr>
            <p:cNvPr name="Freeform 13" id="13" descr="image.png"/>
            <p:cNvSpPr/>
            <p:nvPr/>
          </p:nvSpPr>
          <p:spPr>
            <a:xfrm flipH="false" flipV="false" rot="0">
              <a:off x="0" y="0"/>
              <a:ext cx="6858000" cy="6198743"/>
            </a:xfrm>
            <a:custGeom>
              <a:avLst/>
              <a:gdLst/>
              <a:ahLst/>
              <a:cxnLst/>
              <a:rect r="r" b="b" t="t" l="l"/>
              <a:pathLst>
                <a:path h="6198743" w="6858000">
                  <a:moveTo>
                    <a:pt x="0" y="0"/>
                  </a:moveTo>
                  <a:lnTo>
                    <a:pt x="6858000" y="0"/>
                  </a:lnTo>
                  <a:lnTo>
                    <a:pt x="6858000" y="6198743"/>
                  </a:lnTo>
                  <a:lnTo>
                    <a:pt x="0" y="6198743"/>
                  </a:lnTo>
                  <a:lnTo>
                    <a:pt x="0" y="0"/>
                  </a:lnTo>
                  <a:close/>
                </a:path>
              </a:pathLst>
            </a:custGeom>
            <a:solidFill>
              <a:srgbClr val="E8ECF4"/>
            </a:solidFill>
          </p:spPr>
        </p:sp>
      </p:grpSp>
      <p:grpSp>
        <p:nvGrpSpPr>
          <p:cNvPr name="Group 14" id="14"/>
          <p:cNvGrpSpPr/>
          <p:nvPr/>
        </p:nvGrpSpPr>
        <p:grpSpPr>
          <a:xfrm rot="0">
            <a:off x="6572250" y="3433239"/>
            <a:ext cx="5143500" cy="4649019"/>
            <a:chOff x="0" y="0"/>
            <a:chExt cx="6858000" cy="6198692"/>
          </a:xfrm>
        </p:grpSpPr>
        <p:sp>
          <p:nvSpPr>
            <p:cNvPr name="Freeform 15" id="15" descr="image.png"/>
            <p:cNvSpPr/>
            <p:nvPr/>
          </p:nvSpPr>
          <p:spPr>
            <a:xfrm flipH="false" flipV="false" rot="0">
              <a:off x="0" y="0"/>
              <a:ext cx="6858000" cy="6198743"/>
            </a:xfrm>
            <a:custGeom>
              <a:avLst/>
              <a:gdLst/>
              <a:ahLst/>
              <a:cxnLst/>
              <a:rect r="r" b="b" t="t" l="l"/>
              <a:pathLst>
                <a:path h="6198743" w="6858000">
                  <a:moveTo>
                    <a:pt x="0" y="0"/>
                  </a:moveTo>
                  <a:lnTo>
                    <a:pt x="6858000" y="0"/>
                  </a:lnTo>
                  <a:lnTo>
                    <a:pt x="6858000" y="6198743"/>
                  </a:lnTo>
                  <a:lnTo>
                    <a:pt x="0" y="6198743"/>
                  </a:lnTo>
                  <a:lnTo>
                    <a:pt x="0" y="0"/>
                  </a:lnTo>
                  <a:close/>
                </a:path>
              </a:pathLst>
            </a:custGeom>
            <a:solidFill>
              <a:srgbClr val="E8ECF4"/>
            </a:solidFill>
          </p:spPr>
        </p:sp>
      </p:grpSp>
      <p:grpSp>
        <p:nvGrpSpPr>
          <p:cNvPr name="Group 16" id="16"/>
          <p:cNvGrpSpPr/>
          <p:nvPr/>
        </p:nvGrpSpPr>
        <p:grpSpPr>
          <a:xfrm rot="0">
            <a:off x="12287250" y="3433239"/>
            <a:ext cx="5143500" cy="4649019"/>
            <a:chOff x="0" y="0"/>
            <a:chExt cx="6858000" cy="6198692"/>
          </a:xfrm>
        </p:grpSpPr>
        <p:sp>
          <p:nvSpPr>
            <p:cNvPr name="Freeform 17" id="17" descr="image.png"/>
            <p:cNvSpPr/>
            <p:nvPr/>
          </p:nvSpPr>
          <p:spPr>
            <a:xfrm flipH="false" flipV="false" rot="0">
              <a:off x="0" y="0"/>
              <a:ext cx="6858000" cy="6198743"/>
            </a:xfrm>
            <a:custGeom>
              <a:avLst/>
              <a:gdLst/>
              <a:ahLst/>
              <a:cxnLst/>
              <a:rect r="r" b="b" t="t" l="l"/>
              <a:pathLst>
                <a:path h="6198743" w="6858000">
                  <a:moveTo>
                    <a:pt x="0" y="0"/>
                  </a:moveTo>
                  <a:lnTo>
                    <a:pt x="6858000" y="0"/>
                  </a:lnTo>
                  <a:lnTo>
                    <a:pt x="6858000" y="6198743"/>
                  </a:lnTo>
                  <a:lnTo>
                    <a:pt x="0" y="6198743"/>
                  </a:lnTo>
                  <a:lnTo>
                    <a:pt x="0" y="0"/>
                  </a:lnTo>
                  <a:close/>
                </a:path>
              </a:pathLst>
            </a:custGeom>
            <a:solidFill>
              <a:srgbClr val="E8ECF4"/>
            </a:solidFill>
          </p:spPr>
        </p:sp>
      </p:grpSp>
      <p:sp>
        <p:nvSpPr>
          <p:cNvPr name="TextBox 18" id="18"/>
          <p:cNvSpPr txBox="true"/>
          <p:nvPr/>
        </p:nvSpPr>
        <p:spPr>
          <a:xfrm rot="0">
            <a:off x="1403747" y="5004864"/>
            <a:ext cx="4050506" cy="485775"/>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Tăng Tốc Phát Triển</a:t>
            </a:r>
          </a:p>
        </p:txBody>
      </p:sp>
      <p:sp>
        <p:nvSpPr>
          <p:cNvPr name="TextBox 19" id="19"/>
          <p:cNvSpPr txBox="true"/>
          <p:nvPr/>
        </p:nvSpPr>
        <p:spPr>
          <a:xfrm rot="0">
            <a:off x="1300162" y="5562076"/>
            <a:ext cx="4257675" cy="1377182"/>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Phần mềm là nền tảng kinh tế số. Giá trị gia tăng cao hơn chi phí nhờ sự hỗ trợ của AI.</a:t>
            </a:r>
          </a:p>
        </p:txBody>
      </p:sp>
      <p:sp>
        <p:nvSpPr>
          <p:cNvPr name="TextBox 20" id="20"/>
          <p:cNvSpPr txBox="true"/>
          <p:nvPr/>
        </p:nvSpPr>
        <p:spPr>
          <a:xfrm rot="0">
            <a:off x="6923722" y="5004864"/>
            <a:ext cx="4440555" cy="485775"/>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Chi Phí Tiếp Cận Thấp</a:t>
            </a:r>
          </a:p>
        </p:txBody>
      </p:sp>
      <p:sp>
        <p:nvSpPr>
          <p:cNvPr name="TextBox 21" id="21"/>
          <p:cNvSpPr txBox="true"/>
          <p:nvPr/>
        </p:nvSpPr>
        <p:spPr>
          <a:xfrm rot="0">
            <a:off x="7015162" y="5562076"/>
            <a:ext cx="4257675" cy="1377182"/>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Chi phí công cụ GenAI chỉ dưới $25/tháng, rào cản tiếp cận gần như không có.</a:t>
            </a:r>
          </a:p>
        </p:txBody>
      </p:sp>
      <p:sp>
        <p:nvSpPr>
          <p:cNvPr name="TextBox 22" id="22"/>
          <p:cNvSpPr txBox="true"/>
          <p:nvPr/>
        </p:nvSpPr>
        <p:spPr>
          <a:xfrm rot="0">
            <a:off x="12623721" y="5004864"/>
            <a:ext cx="4470559" cy="971550"/>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Dân Chủ Hóa Lập Trình</a:t>
            </a:r>
          </a:p>
        </p:txBody>
      </p:sp>
      <p:sp>
        <p:nvSpPr>
          <p:cNvPr name="TextBox 23" id="23"/>
          <p:cNvSpPr txBox="true"/>
          <p:nvPr/>
        </p:nvSpPr>
        <p:spPr>
          <a:xfrm rot="0">
            <a:off x="12730162" y="6047851"/>
            <a:ext cx="4257675" cy="1377182"/>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Chuyên gia ngành khác có thể tự xây dựng công cụ nhờ GenAI hướng dẫn cú pháp.</a:t>
            </a:r>
          </a:p>
        </p:txBody>
      </p:sp>
      <p:grpSp>
        <p:nvGrpSpPr>
          <p:cNvPr name="Group 24" id="24"/>
          <p:cNvGrpSpPr/>
          <p:nvPr/>
        </p:nvGrpSpPr>
        <p:grpSpPr>
          <a:xfrm rot="0">
            <a:off x="3086100" y="3947589"/>
            <a:ext cx="685800" cy="685800"/>
            <a:chOff x="0" y="0"/>
            <a:chExt cx="914400" cy="914400"/>
          </a:xfrm>
        </p:grpSpPr>
        <p:sp>
          <p:nvSpPr>
            <p:cNvPr name="Freeform 25" id="25"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3"/>
              <a:stretch>
                <a:fillRect l="0" t="0" r="0" b="0"/>
              </a:stretch>
            </a:blipFill>
          </p:spPr>
        </p:sp>
      </p:grpSp>
      <p:grpSp>
        <p:nvGrpSpPr>
          <p:cNvPr name="Group 26" id="26"/>
          <p:cNvGrpSpPr/>
          <p:nvPr/>
        </p:nvGrpSpPr>
        <p:grpSpPr>
          <a:xfrm rot="0">
            <a:off x="8843962" y="3947589"/>
            <a:ext cx="600075" cy="685800"/>
            <a:chOff x="0" y="0"/>
            <a:chExt cx="800100" cy="914400"/>
          </a:xfrm>
        </p:grpSpPr>
        <p:sp>
          <p:nvSpPr>
            <p:cNvPr name="Freeform 27" id="27" descr="image.png"/>
            <p:cNvSpPr/>
            <p:nvPr/>
          </p:nvSpPr>
          <p:spPr>
            <a:xfrm flipH="false" flipV="false" rot="0">
              <a:off x="0" y="0"/>
              <a:ext cx="800100" cy="914400"/>
            </a:xfrm>
            <a:custGeom>
              <a:avLst/>
              <a:gdLst/>
              <a:ahLst/>
              <a:cxnLst/>
              <a:rect r="r" b="b" t="t" l="l"/>
              <a:pathLst>
                <a:path h="914400" w="800100">
                  <a:moveTo>
                    <a:pt x="0" y="0"/>
                  </a:moveTo>
                  <a:lnTo>
                    <a:pt x="800100" y="0"/>
                  </a:lnTo>
                  <a:lnTo>
                    <a:pt x="800100" y="914400"/>
                  </a:lnTo>
                  <a:lnTo>
                    <a:pt x="0" y="914400"/>
                  </a:lnTo>
                  <a:lnTo>
                    <a:pt x="0" y="0"/>
                  </a:lnTo>
                  <a:close/>
                </a:path>
              </a:pathLst>
            </a:custGeom>
            <a:blipFill>
              <a:blip r:embed="rId4"/>
              <a:stretch>
                <a:fillRect l="0" t="0" r="0" b="-2083"/>
              </a:stretch>
            </a:blipFill>
          </p:spPr>
        </p:sp>
      </p:grpSp>
      <p:grpSp>
        <p:nvGrpSpPr>
          <p:cNvPr name="Group 28" id="28"/>
          <p:cNvGrpSpPr/>
          <p:nvPr/>
        </p:nvGrpSpPr>
        <p:grpSpPr>
          <a:xfrm rot="0">
            <a:off x="14430375" y="3947589"/>
            <a:ext cx="857250" cy="685800"/>
            <a:chOff x="0" y="0"/>
            <a:chExt cx="1143000" cy="914400"/>
          </a:xfrm>
        </p:grpSpPr>
        <p:sp>
          <p:nvSpPr>
            <p:cNvPr name="Freeform 29" id="29" descr="image.png"/>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5"/>
              <a:stretch>
                <a:fillRect l="0" t="0" r="0" b="-409"/>
              </a:stretch>
            </a:blipFill>
          </p:spPr>
        </p:sp>
      </p:grpSp>
      <p:sp>
        <p:nvSpPr>
          <p:cNvPr name="TextBox 30" id="30"/>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Chuỗi Tác Động Kinh Tế Cơ Bản</a:t>
            </a:r>
          </a:p>
        </p:txBody>
      </p:sp>
    </p:spTree>
  </p:cSld>
  <p:clrMapOvr>
    <a:masterClrMapping/>
  </p:clrMapOvr>
</p:sld>
</file>

<file path=ppt/slides/slide41.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2" id="12"/>
          <p:cNvGrpSpPr/>
          <p:nvPr/>
        </p:nvGrpSpPr>
        <p:grpSpPr>
          <a:xfrm rot="0">
            <a:off x="857250" y="3784844"/>
            <a:ext cx="7929562" cy="3946027"/>
            <a:chOff x="0" y="0"/>
            <a:chExt cx="10572750" cy="5261369"/>
          </a:xfrm>
        </p:grpSpPr>
        <p:sp>
          <p:nvSpPr>
            <p:cNvPr name="Freeform 13" id="13" descr="image.png"/>
            <p:cNvSpPr/>
            <p:nvPr/>
          </p:nvSpPr>
          <p:spPr>
            <a:xfrm flipH="false" flipV="false" rot="0">
              <a:off x="0" y="0"/>
              <a:ext cx="10572750" cy="5261356"/>
            </a:xfrm>
            <a:custGeom>
              <a:avLst/>
              <a:gdLst/>
              <a:ahLst/>
              <a:cxnLst/>
              <a:rect r="r" b="b" t="t" l="l"/>
              <a:pathLst>
                <a:path h="5261356" w="10572750">
                  <a:moveTo>
                    <a:pt x="0" y="0"/>
                  </a:moveTo>
                  <a:lnTo>
                    <a:pt x="10572750" y="0"/>
                  </a:lnTo>
                  <a:lnTo>
                    <a:pt x="10572750" y="5261356"/>
                  </a:lnTo>
                  <a:lnTo>
                    <a:pt x="0" y="5261356"/>
                  </a:lnTo>
                  <a:lnTo>
                    <a:pt x="0" y="0"/>
                  </a:lnTo>
                  <a:close/>
                </a:path>
              </a:pathLst>
            </a:custGeom>
            <a:solidFill>
              <a:srgbClr val="E8ECF4"/>
            </a:solidFill>
          </p:spPr>
        </p:sp>
      </p:grpSp>
      <p:grpSp>
        <p:nvGrpSpPr>
          <p:cNvPr name="Group 14" id="14"/>
          <p:cNvGrpSpPr/>
          <p:nvPr/>
        </p:nvGrpSpPr>
        <p:grpSpPr>
          <a:xfrm rot="0">
            <a:off x="9501188" y="3784844"/>
            <a:ext cx="7929562" cy="3946027"/>
            <a:chOff x="0" y="0"/>
            <a:chExt cx="10572750" cy="5261369"/>
          </a:xfrm>
        </p:grpSpPr>
        <p:sp>
          <p:nvSpPr>
            <p:cNvPr name="Freeform 15" id="15" descr="image.png"/>
            <p:cNvSpPr/>
            <p:nvPr/>
          </p:nvSpPr>
          <p:spPr>
            <a:xfrm flipH="false" flipV="false" rot="0">
              <a:off x="0" y="0"/>
              <a:ext cx="10572750" cy="5261356"/>
            </a:xfrm>
            <a:custGeom>
              <a:avLst/>
              <a:gdLst/>
              <a:ahLst/>
              <a:cxnLst/>
              <a:rect r="r" b="b" t="t" l="l"/>
              <a:pathLst>
                <a:path h="5261356" w="10572750">
                  <a:moveTo>
                    <a:pt x="0" y="0"/>
                  </a:moveTo>
                  <a:lnTo>
                    <a:pt x="10572750" y="0"/>
                  </a:lnTo>
                  <a:lnTo>
                    <a:pt x="10572750" y="5261356"/>
                  </a:lnTo>
                  <a:lnTo>
                    <a:pt x="0" y="5261356"/>
                  </a:lnTo>
                  <a:lnTo>
                    <a:pt x="0" y="0"/>
                  </a:lnTo>
                  <a:close/>
                </a:path>
              </a:pathLst>
            </a:custGeom>
            <a:solidFill>
              <a:srgbClr val="E8ECF4"/>
            </a:solidFill>
          </p:spPr>
        </p:sp>
      </p:grpSp>
      <p:sp>
        <p:nvSpPr>
          <p:cNvPr name="TextBox 16" id="16"/>
          <p:cNvSpPr txBox="true"/>
          <p:nvPr/>
        </p:nvSpPr>
        <p:spPr>
          <a:xfrm rot="0">
            <a:off x="1443037" y="4370632"/>
            <a:ext cx="7095887"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Lợi ích tập trung vào Senior</a:t>
            </a:r>
          </a:p>
        </p:txBody>
      </p:sp>
      <p:sp>
        <p:nvSpPr>
          <p:cNvPr name="TextBox 17" id="17"/>
          <p:cNvSpPr txBox="true"/>
          <p:nvPr/>
        </p:nvSpPr>
        <p:spPr>
          <a:xfrm rot="0">
            <a:off x="1443038" y="4927844"/>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Lập trình viên kinh nghiệm tận dụng công cụ để tăng tốc nhưng vẫn kiểm soát tốt kiến trúc.</a:t>
            </a:r>
          </a:p>
        </p:txBody>
      </p:sp>
      <p:sp>
        <p:nvSpPr>
          <p:cNvPr name="TextBox 18" id="18"/>
          <p:cNvSpPr txBox="true"/>
          <p:nvPr/>
        </p:nvSpPr>
        <p:spPr>
          <a:xfrm rot="0">
            <a:off x="1443038" y="5965031"/>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Giải phóng thời gian khỏi việc lặp lại để tập trung ra quyết định kỹ thuật giá trị cao.</a:t>
            </a:r>
          </a:p>
        </p:txBody>
      </p:sp>
      <p:sp>
        <p:nvSpPr>
          <p:cNvPr name="TextBox 19" id="19"/>
          <p:cNvSpPr txBox="true"/>
          <p:nvPr/>
        </p:nvSpPr>
        <p:spPr>
          <a:xfrm rot="0">
            <a:off x="10086975" y="4370632"/>
            <a:ext cx="7095887" cy="485775"/>
          </a:xfrm>
          <a:prstGeom prst="rect">
            <a:avLst/>
          </a:prstGeom>
        </p:spPr>
        <p:txBody>
          <a:bodyPr anchor="t" rtlCol="false" tIns="0" lIns="0" bIns="0" rIns="0">
            <a:spAutoFit/>
          </a:bodyPr>
          <a:lstStyle/>
          <a:p>
            <a:pPr algn="l">
              <a:lnSpc>
                <a:spcPts val="3779"/>
              </a:lnSpc>
            </a:pPr>
            <a:r>
              <a:rPr lang="en-US" sz="3150">
                <a:solidFill>
                  <a:srgbClr val="000000"/>
                </a:solidFill>
                <a:latin typeface="Inter"/>
                <a:ea typeface="Inter"/>
                <a:cs typeface="Inter"/>
                <a:sym typeface="Inter"/>
              </a:rPr>
              <a:t>Sự chuyển dịch của Junior</a:t>
            </a:r>
          </a:p>
        </p:txBody>
      </p:sp>
      <p:sp>
        <p:nvSpPr>
          <p:cNvPr name="TextBox 20" id="20"/>
          <p:cNvSpPr txBox="true"/>
          <p:nvPr/>
        </p:nvSpPr>
        <p:spPr>
          <a:xfrm rot="0">
            <a:off x="10086975" y="4927844"/>
            <a:ext cx="6757988"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Không bị thay thế hoàn toàn. Vai trò chuyển dần từ viết mã thủ công sang giám sát, đánh giá và tinh chỉnh mã do AI tạo ra.</a:t>
            </a:r>
          </a:p>
        </p:txBody>
      </p:sp>
      <p:sp>
        <p:nvSpPr>
          <p:cNvPr name="TextBox 21" id="21"/>
          <p:cNvSpPr txBox="true"/>
          <p:nvPr/>
        </p:nvSpPr>
        <p:spPr>
          <a:xfrm rot="0">
            <a:off x="10086975" y="6376464"/>
            <a:ext cx="6757988" cy="554307"/>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Quá trình đào tạo kinh nghiệm thực tế vẫn rất cần thiết.</a:t>
            </a:r>
          </a:p>
        </p:txBody>
      </p:sp>
      <p:sp>
        <p:nvSpPr>
          <p:cNvPr name="TextBox 22" id="22"/>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Thay Đổi Trên Thị Trường Lao Động</a:t>
            </a:r>
          </a:p>
        </p:txBody>
      </p:sp>
    </p:spTree>
  </p:cSld>
  <p:clrMapOvr>
    <a:masterClrMapping/>
  </p:clrMapOvr>
</p:sld>
</file>

<file path=ppt/slides/slide42.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aphicFrame>
        <p:nvGraphicFramePr>
          <p:cNvPr name="Table 12" id="12"/>
          <p:cNvGraphicFramePr>
            <a:graphicFrameLocks noGrp="true"/>
          </p:cNvGraphicFramePr>
          <p:nvPr/>
        </p:nvGraphicFramePr>
        <p:xfrm>
          <a:off x="857250" y="3861866"/>
          <a:ext cx="16554450" cy="3733800"/>
        </p:xfrm>
        <a:graphic>
          <a:graphicData uri="http://schemas.openxmlformats.org/drawingml/2006/table">
            <a:tbl>
              <a:tblPr/>
              <a:tblGrid>
                <a:gridCol w="3493059"/>
                <a:gridCol w="4687447"/>
                <a:gridCol w="8373944"/>
              </a:tblGrid>
              <a:tr h="933450">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Mức tác động</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Lĩnh vực SWEBOK</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c>
                  <a:txBody>
                    <a:bodyPr anchor="t" rtlCol="false"/>
                    <a:lstStyle/>
                    <a:p>
                      <a:pPr algn="l">
                        <a:lnSpc>
                          <a:spcPts val="2700"/>
                        </a:lnSpc>
                        <a:defRPr/>
                      </a:pPr>
                      <a:r>
                        <a:rPr lang="en-US" b="true" sz="2250">
                          <a:gradFill>
                            <a:gsLst>
                              <a:gs pos="0">
                                <a:srgbClr val="FFFFFF">
                                  <a:alpha val="100000"/>
                                </a:srgbClr>
                              </a:gs>
                              <a:gs pos="100000">
                                <a:srgbClr val="F3F3F3">
                                  <a:alpha val="100000"/>
                                </a:srgbClr>
                              </a:gs>
                            </a:gsLst>
                            <a:lin ang="10800025"/>
                          </a:gradFill>
                          <a:latin typeface="Inter Bold"/>
                          <a:ea typeface="Inter Bold"/>
                          <a:cs typeface="Inter Bold"/>
                          <a:sym typeface="Inter Bold"/>
                        </a:rPr>
                        <a:t>Ghi chú</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293B"/>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Trực tiếp - Cao</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Software Construction, Testing</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Cải tiến đo lường được trong tốc độ và chất lượng mã nguồn.</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Gián tiếp - Trung bình</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Maintenance, Quality</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000000"/>
                          </a:solidFill>
                          <a:latin typeface="Inter"/>
                          <a:ea typeface="Inter"/>
                          <a:cs typeface="Inter"/>
                          <a:sym typeface="Inter"/>
                        </a:rPr>
                        <a:t>Đọc hiểu mã và đề xuất lỗi, vẫn cần con người quyết định.</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r>
              <a:tr h="933450">
                <a:tc>
                  <a:txBody>
                    <a:bodyPr anchor="t" rtlCol="false"/>
                    <a:lstStyle/>
                    <a:p>
                      <a:pPr algn="l">
                        <a:lnSpc>
                          <a:spcPts val="2430"/>
                        </a:lnSpc>
                        <a:defRPr/>
                      </a:pPr>
                      <a:r>
                        <a:rPr lang="en-US" b="true" sz="2025">
                          <a:solidFill>
                            <a:srgbClr val="000000"/>
                          </a:solidFill>
                          <a:latin typeface="Inter Bold"/>
                          <a:ea typeface="Inter Bold"/>
                          <a:cs typeface="Inter Bold"/>
                          <a:sym typeface="Inter Bold"/>
                        </a:rPr>
                        <a:t>Hạn chế - Thấp</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Kiến trúc, Quản lý, Yêu cầu...</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000000"/>
                          </a:solidFill>
                          <a:latin typeface="Inter"/>
                          <a:ea typeface="Inter"/>
                          <a:cs typeface="Inter"/>
                          <a:sym typeface="Inter"/>
                        </a:rPr>
                        <a:t>14/18 lĩnh vực cốt lõi vẫn phụ thuộc hoàn toàn vào kỹ sư.</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bl>
          </a:graphicData>
        </a:graphic>
      </p:graphicFrame>
      <p:grpSp>
        <p:nvGrpSpPr>
          <p:cNvPr name="Group 13" id="13"/>
          <p:cNvGrpSpPr/>
          <p:nvPr/>
        </p:nvGrpSpPr>
        <p:grpSpPr>
          <a:xfrm rot="0">
            <a:off x="857250" y="4826270"/>
            <a:ext cx="3486598" cy="14288"/>
            <a:chOff x="0" y="0"/>
            <a:chExt cx="4648797" cy="19050"/>
          </a:xfrm>
        </p:grpSpPr>
        <p:sp>
          <p:nvSpPr>
            <p:cNvPr name="Freeform 14" id="14"/>
            <p:cNvSpPr/>
            <p:nvPr/>
          </p:nvSpPr>
          <p:spPr>
            <a:xfrm flipH="false" flipV="false" rot="0">
              <a:off x="0" y="0"/>
              <a:ext cx="4648835" cy="19050"/>
            </a:xfrm>
            <a:custGeom>
              <a:avLst/>
              <a:gdLst/>
              <a:ahLst/>
              <a:cxnLst/>
              <a:rect r="r" b="b" t="t" l="l"/>
              <a:pathLst>
                <a:path h="19050" w="4648835">
                  <a:moveTo>
                    <a:pt x="0" y="0"/>
                  </a:moveTo>
                  <a:lnTo>
                    <a:pt x="4648835" y="0"/>
                  </a:lnTo>
                  <a:lnTo>
                    <a:pt x="4648835" y="19050"/>
                  </a:lnTo>
                  <a:lnTo>
                    <a:pt x="0" y="19050"/>
                  </a:lnTo>
                  <a:close/>
                </a:path>
              </a:pathLst>
            </a:custGeom>
            <a:solidFill>
              <a:srgbClr val="334155"/>
            </a:solidFill>
          </p:spPr>
        </p:sp>
      </p:grpSp>
      <p:grpSp>
        <p:nvGrpSpPr>
          <p:cNvPr name="Group 15" id="15"/>
          <p:cNvGrpSpPr/>
          <p:nvPr/>
        </p:nvGrpSpPr>
        <p:grpSpPr>
          <a:xfrm rot="0">
            <a:off x="4343848" y="4826270"/>
            <a:ext cx="4688529" cy="14288"/>
            <a:chOff x="0" y="0"/>
            <a:chExt cx="6251372" cy="19050"/>
          </a:xfrm>
        </p:grpSpPr>
        <p:sp>
          <p:nvSpPr>
            <p:cNvPr name="Freeform 16" id="16"/>
            <p:cNvSpPr/>
            <p:nvPr/>
          </p:nvSpPr>
          <p:spPr>
            <a:xfrm flipH="false" flipV="false" rot="0">
              <a:off x="0" y="0"/>
              <a:ext cx="6251321" cy="19050"/>
            </a:xfrm>
            <a:custGeom>
              <a:avLst/>
              <a:gdLst/>
              <a:ahLst/>
              <a:cxnLst/>
              <a:rect r="r" b="b" t="t" l="l"/>
              <a:pathLst>
                <a:path h="19050" w="6251321">
                  <a:moveTo>
                    <a:pt x="0" y="0"/>
                  </a:moveTo>
                  <a:lnTo>
                    <a:pt x="6251321" y="0"/>
                  </a:lnTo>
                  <a:lnTo>
                    <a:pt x="6251321" y="19050"/>
                  </a:lnTo>
                  <a:lnTo>
                    <a:pt x="0" y="19050"/>
                  </a:lnTo>
                  <a:close/>
                </a:path>
              </a:pathLst>
            </a:custGeom>
            <a:solidFill>
              <a:srgbClr val="334155"/>
            </a:solidFill>
          </p:spPr>
        </p:sp>
      </p:grpSp>
      <p:grpSp>
        <p:nvGrpSpPr>
          <p:cNvPr name="Group 17" id="17"/>
          <p:cNvGrpSpPr/>
          <p:nvPr/>
        </p:nvGrpSpPr>
        <p:grpSpPr>
          <a:xfrm rot="0">
            <a:off x="9032377" y="4826270"/>
            <a:ext cx="8398373" cy="14288"/>
            <a:chOff x="0" y="0"/>
            <a:chExt cx="11197831" cy="19050"/>
          </a:xfrm>
        </p:grpSpPr>
        <p:sp>
          <p:nvSpPr>
            <p:cNvPr name="Freeform 18" id="18"/>
            <p:cNvSpPr/>
            <p:nvPr/>
          </p:nvSpPr>
          <p:spPr>
            <a:xfrm flipH="false" flipV="false" rot="0">
              <a:off x="0" y="0"/>
              <a:ext cx="11197844" cy="19050"/>
            </a:xfrm>
            <a:custGeom>
              <a:avLst/>
              <a:gdLst/>
              <a:ahLst/>
              <a:cxnLst/>
              <a:rect r="r" b="b" t="t" l="l"/>
              <a:pathLst>
                <a:path h="19050" w="11197844">
                  <a:moveTo>
                    <a:pt x="0" y="0"/>
                  </a:moveTo>
                  <a:lnTo>
                    <a:pt x="11197844" y="0"/>
                  </a:lnTo>
                  <a:lnTo>
                    <a:pt x="11197844" y="19050"/>
                  </a:lnTo>
                  <a:lnTo>
                    <a:pt x="0" y="19050"/>
                  </a:lnTo>
                  <a:close/>
                </a:path>
              </a:pathLst>
            </a:custGeom>
            <a:solidFill>
              <a:srgbClr val="334155"/>
            </a:solidFill>
          </p:spPr>
        </p:sp>
      </p:grpSp>
      <p:grpSp>
        <p:nvGrpSpPr>
          <p:cNvPr name="Group 19" id="19"/>
          <p:cNvGrpSpPr/>
          <p:nvPr/>
        </p:nvGrpSpPr>
        <p:grpSpPr>
          <a:xfrm rot="0">
            <a:off x="857250" y="5766349"/>
            <a:ext cx="3486598" cy="14288"/>
            <a:chOff x="0" y="0"/>
            <a:chExt cx="4648797" cy="19050"/>
          </a:xfrm>
        </p:grpSpPr>
        <p:sp>
          <p:nvSpPr>
            <p:cNvPr name="Freeform 20" id="20"/>
            <p:cNvSpPr/>
            <p:nvPr/>
          </p:nvSpPr>
          <p:spPr>
            <a:xfrm flipH="false" flipV="false" rot="0">
              <a:off x="0" y="0"/>
              <a:ext cx="4648835" cy="19050"/>
            </a:xfrm>
            <a:custGeom>
              <a:avLst/>
              <a:gdLst/>
              <a:ahLst/>
              <a:cxnLst/>
              <a:rect r="r" b="b" t="t" l="l"/>
              <a:pathLst>
                <a:path h="19050" w="4648835">
                  <a:moveTo>
                    <a:pt x="0" y="0"/>
                  </a:moveTo>
                  <a:lnTo>
                    <a:pt x="4648835" y="0"/>
                  </a:lnTo>
                  <a:lnTo>
                    <a:pt x="4648835" y="19050"/>
                  </a:lnTo>
                  <a:lnTo>
                    <a:pt x="0" y="19050"/>
                  </a:lnTo>
                  <a:close/>
                </a:path>
              </a:pathLst>
            </a:custGeom>
            <a:solidFill>
              <a:srgbClr val="334155"/>
            </a:solidFill>
          </p:spPr>
        </p:sp>
      </p:grpSp>
      <p:grpSp>
        <p:nvGrpSpPr>
          <p:cNvPr name="Group 21" id="21"/>
          <p:cNvGrpSpPr/>
          <p:nvPr/>
        </p:nvGrpSpPr>
        <p:grpSpPr>
          <a:xfrm rot="0">
            <a:off x="4343848" y="5766349"/>
            <a:ext cx="4688529" cy="14288"/>
            <a:chOff x="0" y="0"/>
            <a:chExt cx="6251372" cy="19050"/>
          </a:xfrm>
        </p:grpSpPr>
        <p:sp>
          <p:nvSpPr>
            <p:cNvPr name="Freeform 22" id="22"/>
            <p:cNvSpPr/>
            <p:nvPr/>
          </p:nvSpPr>
          <p:spPr>
            <a:xfrm flipH="false" flipV="false" rot="0">
              <a:off x="0" y="0"/>
              <a:ext cx="6251321" cy="19050"/>
            </a:xfrm>
            <a:custGeom>
              <a:avLst/>
              <a:gdLst/>
              <a:ahLst/>
              <a:cxnLst/>
              <a:rect r="r" b="b" t="t" l="l"/>
              <a:pathLst>
                <a:path h="19050" w="6251321">
                  <a:moveTo>
                    <a:pt x="0" y="0"/>
                  </a:moveTo>
                  <a:lnTo>
                    <a:pt x="6251321" y="0"/>
                  </a:lnTo>
                  <a:lnTo>
                    <a:pt x="6251321" y="19050"/>
                  </a:lnTo>
                  <a:lnTo>
                    <a:pt x="0" y="19050"/>
                  </a:lnTo>
                  <a:close/>
                </a:path>
              </a:pathLst>
            </a:custGeom>
            <a:solidFill>
              <a:srgbClr val="334155"/>
            </a:solidFill>
          </p:spPr>
        </p:sp>
      </p:grpSp>
      <p:grpSp>
        <p:nvGrpSpPr>
          <p:cNvPr name="Group 23" id="23"/>
          <p:cNvGrpSpPr/>
          <p:nvPr/>
        </p:nvGrpSpPr>
        <p:grpSpPr>
          <a:xfrm rot="0">
            <a:off x="9032377" y="5766349"/>
            <a:ext cx="8398373" cy="14288"/>
            <a:chOff x="0" y="0"/>
            <a:chExt cx="11197831" cy="19050"/>
          </a:xfrm>
        </p:grpSpPr>
        <p:sp>
          <p:nvSpPr>
            <p:cNvPr name="Freeform 24" id="24"/>
            <p:cNvSpPr/>
            <p:nvPr/>
          </p:nvSpPr>
          <p:spPr>
            <a:xfrm flipH="false" flipV="false" rot="0">
              <a:off x="0" y="0"/>
              <a:ext cx="11197844" cy="19050"/>
            </a:xfrm>
            <a:custGeom>
              <a:avLst/>
              <a:gdLst/>
              <a:ahLst/>
              <a:cxnLst/>
              <a:rect r="r" b="b" t="t" l="l"/>
              <a:pathLst>
                <a:path h="19050" w="11197844">
                  <a:moveTo>
                    <a:pt x="0" y="0"/>
                  </a:moveTo>
                  <a:lnTo>
                    <a:pt x="11197844" y="0"/>
                  </a:lnTo>
                  <a:lnTo>
                    <a:pt x="11197844" y="19050"/>
                  </a:lnTo>
                  <a:lnTo>
                    <a:pt x="0" y="19050"/>
                  </a:lnTo>
                  <a:close/>
                </a:path>
              </a:pathLst>
            </a:custGeom>
            <a:solidFill>
              <a:srgbClr val="334155"/>
            </a:solidFill>
          </p:spPr>
        </p:sp>
      </p:grpSp>
      <p:grpSp>
        <p:nvGrpSpPr>
          <p:cNvPr name="Group 25" id="25"/>
          <p:cNvGrpSpPr/>
          <p:nvPr/>
        </p:nvGrpSpPr>
        <p:grpSpPr>
          <a:xfrm rot="0">
            <a:off x="857250" y="6706419"/>
            <a:ext cx="3486598" cy="14288"/>
            <a:chOff x="0" y="0"/>
            <a:chExt cx="4648797" cy="19050"/>
          </a:xfrm>
        </p:grpSpPr>
        <p:sp>
          <p:nvSpPr>
            <p:cNvPr name="Freeform 26" id="26"/>
            <p:cNvSpPr/>
            <p:nvPr/>
          </p:nvSpPr>
          <p:spPr>
            <a:xfrm flipH="false" flipV="false" rot="0">
              <a:off x="0" y="0"/>
              <a:ext cx="4648835" cy="19050"/>
            </a:xfrm>
            <a:custGeom>
              <a:avLst/>
              <a:gdLst/>
              <a:ahLst/>
              <a:cxnLst/>
              <a:rect r="r" b="b" t="t" l="l"/>
              <a:pathLst>
                <a:path h="19050" w="4648835">
                  <a:moveTo>
                    <a:pt x="0" y="0"/>
                  </a:moveTo>
                  <a:lnTo>
                    <a:pt x="4648835" y="0"/>
                  </a:lnTo>
                  <a:lnTo>
                    <a:pt x="4648835" y="19050"/>
                  </a:lnTo>
                  <a:lnTo>
                    <a:pt x="0" y="19050"/>
                  </a:lnTo>
                  <a:close/>
                </a:path>
              </a:pathLst>
            </a:custGeom>
            <a:solidFill>
              <a:srgbClr val="334155"/>
            </a:solidFill>
          </p:spPr>
        </p:sp>
      </p:grpSp>
      <p:grpSp>
        <p:nvGrpSpPr>
          <p:cNvPr name="Group 27" id="27"/>
          <p:cNvGrpSpPr/>
          <p:nvPr/>
        </p:nvGrpSpPr>
        <p:grpSpPr>
          <a:xfrm rot="0">
            <a:off x="4343848" y="6706419"/>
            <a:ext cx="4688529" cy="14288"/>
            <a:chOff x="0" y="0"/>
            <a:chExt cx="6251372" cy="19050"/>
          </a:xfrm>
        </p:grpSpPr>
        <p:sp>
          <p:nvSpPr>
            <p:cNvPr name="Freeform 28" id="28"/>
            <p:cNvSpPr/>
            <p:nvPr/>
          </p:nvSpPr>
          <p:spPr>
            <a:xfrm flipH="false" flipV="false" rot="0">
              <a:off x="0" y="0"/>
              <a:ext cx="6251321" cy="19050"/>
            </a:xfrm>
            <a:custGeom>
              <a:avLst/>
              <a:gdLst/>
              <a:ahLst/>
              <a:cxnLst/>
              <a:rect r="r" b="b" t="t" l="l"/>
              <a:pathLst>
                <a:path h="19050" w="6251321">
                  <a:moveTo>
                    <a:pt x="0" y="0"/>
                  </a:moveTo>
                  <a:lnTo>
                    <a:pt x="6251321" y="0"/>
                  </a:lnTo>
                  <a:lnTo>
                    <a:pt x="6251321" y="19050"/>
                  </a:lnTo>
                  <a:lnTo>
                    <a:pt x="0" y="19050"/>
                  </a:lnTo>
                  <a:close/>
                </a:path>
              </a:pathLst>
            </a:custGeom>
            <a:solidFill>
              <a:srgbClr val="334155"/>
            </a:solidFill>
          </p:spPr>
        </p:sp>
      </p:grpSp>
      <p:grpSp>
        <p:nvGrpSpPr>
          <p:cNvPr name="Group 29" id="29"/>
          <p:cNvGrpSpPr/>
          <p:nvPr/>
        </p:nvGrpSpPr>
        <p:grpSpPr>
          <a:xfrm rot="0">
            <a:off x="9032377" y="6706419"/>
            <a:ext cx="8398373" cy="14288"/>
            <a:chOff x="0" y="0"/>
            <a:chExt cx="11197831" cy="19050"/>
          </a:xfrm>
        </p:grpSpPr>
        <p:sp>
          <p:nvSpPr>
            <p:cNvPr name="Freeform 30" id="30"/>
            <p:cNvSpPr/>
            <p:nvPr/>
          </p:nvSpPr>
          <p:spPr>
            <a:xfrm flipH="false" flipV="false" rot="0">
              <a:off x="0" y="0"/>
              <a:ext cx="11197844" cy="19050"/>
            </a:xfrm>
            <a:custGeom>
              <a:avLst/>
              <a:gdLst/>
              <a:ahLst/>
              <a:cxnLst/>
              <a:rect r="r" b="b" t="t" l="l"/>
              <a:pathLst>
                <a:path h="19050" w="11197844">
                  <a:moveTo>
                    <a:pt x="0" y="0"/>
                  </a:moveTo>
                  <a:lnTo>
                    <a:pt x="11197844" y="0"/>
                  </a:lnTo>
                  <a:lnTo>
                    <a:pt x="11197844" y="19050"/>
                  </a:lnTo>
                  <a:lnTo>
                    <a:pt x="0" y="19050"/>
                  </a:lnTo>
                  <a:close/>
                </a:path>
              </a:pathLst>
            </a:custGeom>
            <a:solidFill>
              <a:srgbClr val="334155"/>
            </a:solidFill>
          </p:spPr>
        </p:sp>
      </p:grpSp>
      <p:sp>
        <p:nvSpPr>
          <p:cNvPr name="TextBox 31" id="31"/>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Ảnh Hưởng Tới Cốt Lõi Ngành (SWEBOK 2024)</a:t>
            </a:r>
          </a:p>
        </p:txBody>
      </p:sp>
    </p:spTree>
  </p:cSld>
  <p:clrMapOvr>
    <a:masterClrMapping/>
  </p:clrMapOvr>
</p:sld>
</file>

<file path=ppt/slides/slide43.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2" id="12"/>
          <p:cNvGrpSpPr/>
          <p:nvPr/>
        </p:nvGrpSpPr>
        <p:grpSpPr>
          <a:xfrm rot="0">
            <a:off x="857250" y="3579019"/>
            <a:ext cx="7929562" cy="4357468"/>
            <a:chOff x="0" y="0"/>
            <a:chExt cx="10572750" cy="5809958"/>
          </a:xfrm>
        </p:grpSpPr>
        <p:sp>
          <p:nvSpPr>
            <p:cNvPr name="Freeform 13" id="13" descr="image.png"/>
            <p:cNvSpPr/>
            <p:nvPr/>
          </p:nvSpPr>
          <p:spPr>
            <a:xfrm flipH="false" flipV="false" rot="0">
              <a:off x="0" y="0"/>
              <a:ext cx="10572750" cy="5809996"/>
            </a:xfrm>
            <a:custGeom>
              <a:avLst/>
              <a:gdLst/>
              <a:ahLst/>
              <a:cxnLst/>
              <a:rect r="r" b="b" t="t" l="l"/>
              <a:pathLst>
                <a:path h="5809996" w="10572750">
                  <a:moveTo>
                    <a:pt x="0" y="0"/>
                  </a:moveTo>
                  <a:lnTo>
                    <a:pt x="10572750" y="0"/>
                  </a:lnTo>
                  <a:lnTo>
                    <a:pt x="10572750" y="5809996"/>
                  </a:lnTo>
                  <a:lnTo>
                    <a:pt x="0" y="5809996"/>
                  </a:lnTo>
                  <a:lnTo>
                    <a:pt x="0" y="0"/>
                  </a:lnTo>
                  <a:close/>
                </a:path>
              </a:pathLst>
            </a:custGeom>
            <a:solidFill>
              <a:srgbClr val="CFD7E7"/>
            </a:solidFill>
          </p:spPr>
        </p:sp>
      </p:grpSp>
      <p:grpSp>
        <p:nvGrpSpPr>
          <p:cNvPr name="Group 14" id="14"/>
          <p:cNvGrpSpPr/>
          <p:nvPr/>
        </p:nvGrpSpPr>
        <p:grpSpPr>
          <a:xfrm rot="0">
            <a:off x="9501188" y="3579019"/>
            <a:ext cx="7929562" cy="4357468"/>
            <a:chOff x="0" y="0"/>
            <a:chExt cx="10572750" cy="5809958"/>
          </a:xfrm>
        </p:grpSpPr>
        <p:sp>
          <p:nvSpPr>
            <p:cNvPr name="Freeform 15" id="15" descr="image.png"/>
            <p:cNvSpPr/>
            <p:nvPr/>
          </p:nvSpPr>
          <p:spPr>
            <a:xfrm flipH="false" flipV="false" rot="0">
              <a:off x="0" y="0"/>
              <a:ext cx="10572750" cy="5809996"/>
            </a:xfrm>
            <a:custGeom>
              <a:avLst/>
              <a:gdLst/>
              <a:ahLst/>
              <a:cxnLst/>
              <a:rect r="r" b="b" t="t" l="l"/>
              <a:pathLst>
                <a:path h="5809996" w="10572750">
                  <a:moveTo>
                    <a:pt x="0" y="0"/>
                  </a:moveTo>
                  <a:lnTo>
                    <a:pt x="10572750" y="0"/>
                  </a:lnTo>
                  <a:lnTo>
                    <a:pt x="10572750" y="5809996"/>
                  </a:lnTo>
                  <a:lnTo>
                    <a:pt x="0" y="5809996"/>
                  </a:lnTo>
                  <a:lnTo>
                    <a:pt x="0" y="0"/>
                  </a:lnTo>
                  <a:close/>
                </a:path>
              </a:pathLst>
            </a:custGeom>
            <a:solidFill>
              <a:srgbClr val="CFD7E7"/>
            </a:solidFill>
          </p:spPr>
        </p:sp>
      </p:grpSp>
      <p:sp>
        <p:nvSpPr>
          <p:cNvPr name="TextBox 16" id="16"/>
          <p:cNvSpPr txBox="true"/>
          <p:nvPr/>
        </p:nvSpPr>
        <p:spPr>
          <a:xfrm rot="0">
            <a:off x="1443037" y="4164806"/>
            <a:ext cx="7095887" cy="485775"/>
          </a:xfrm>
          <a:prstGeom prst="rect">
            <a:avLst/>
          </a:prstGeom>
        </p:spPr>
        <p:txBody>
          <a:bodyPr anchor="t" rtlCol="false" tIns="0" lIns="0" bIns="0" rIns="0">
            <a:spAutoFit/>
          </a:bodyPr>
          <a:lstStyle/>
          <a:p>
            <a:pPr algn="l">
              <a:lnSpc>
                <a:spcPts val="3779"/>
              </a:lnSpc>
            </a:pPr>
            <a:r>
              <a:rPr lang="en-US" sz="3150">
                <a:solidFill>
                  <a:srgbClr val="3B82F6"/>
                </a:solidFill>
                <a:latin typeface="Inter"/>
                <a:ea typeface="Inter"/>
                <a:cs typeface="Inter"/>
                <a:sym typeface="Inter"/>
              </a:rPr>
              <a:t>Ngắn hạn (1 - 3 năm)</a:t>
            </a:r>
          </a:p>
        </p:txBody>
      </p:sp>
      <p:sp>
        <p:nvSpPr>
          <p:cNvPr name="TextBox 17" id="17"/>
          <p:cNvSpPr txBox="true"/>
          <p:nvPr/>
        </p:nvSpPr>
        <p:spPr>
          <a:xfrm rot="0">
            <a:off x="1443038" y="4722019"/>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Sự phổ biến nhanh chóng của IDE tích hợp AI (Copilot, Cursor, Windsurf).</a:t>
            </a:r>
          </a:p>
        </p:txBody>
      </p:sp>
      <p:sp>
        <p:nvSpPr>
          <p:cNvPr name="TextBox 18" id="18"/>
          <p:cNvSpPr txBox="true"/>
          <p:nvPr/>
        </p:nvSpPr>
        <p:spPr>
          <a:xfrm rot="0">
            <a:off x="1443038" y="5759196"/>
            <a:ext cx="6757988"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Làm việc với AI trở thành quy trình tiêu chuẩn trong viết mã, kiểm thử và sinh tài liệu. Năng suất lập trình viên tăng vọt.</a:t>
            </a:r>
          </a:p>
        </p:txBody>
      </p:sp>
      <p:sp>
        <p:nvSpPr>
          <p:cNvPr name="TextBox 19" id="19"/>
          <p:cNvSpPr txBox="true"/>
          <p:nvPr/>
        </p:nvSpPr>
        <p:spPr>
          <a:xfrm rot="0">
            <a:off x="10086975" y="4164806"/>
            <a:ext cx="7095887" cy="485775"/>
          </a:xfrm>
          <a:prstGeom prst="rect">
            <a:avLst/>
          </a:prstGeom>
        </p:spPr>
        <p:txBody>
          <a:bodyPr anchor="t" rtlCol="false" tIns="0" lIns="0" bIns="0" rIns="0">
            <a:spAutoFit/>
          </a:bodyPr>
          <a:lstStyle/>
          <a:p>
            <a:pPr algn="l">
              <a:lnSpc>
                <a:spcPts val="3779"/>
              </a:lnSpc>
            </a:pPr>
            <a:r>
              <a:rPr lang="en-US" sz="3150">
                <a:solidFill>
                  <a:srgbClr val="3B82F6"/>
                </a:solidFill>
                <a:latin typeface="Inter"/>
                <a:ea typeface="Inter"/>
                <a:cs typeface="Inter"/>
                <a:sym typeface="Inter"/>
              </a:rPr>
              <a:t>Dài hạn (5 năm+)</a:t>
            </a:r>
          </a:p>
        </p:txBody>
      </p:sp>
      <p:sp>
        <p:nvSpPr>
          <p:cNvPr name="TextBox 20" id="20"/>
          <p:cNvSpPr txBox="true"/>
          <p:nvPr/>
        </p:nvSpPr>
        <p:spPr>
          <a:xfrm rot="0">
            <a:off x="10086975" y="4722019"/>
            <a:ext cx="6757988" cy="1377182"/>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Chuyển từ hỗ trợ viết mã sang tự động sinh chương trình hoàn chỉnh từ tài liệu đặc tả (yêu cầu, UML, Mockup).</a:t>
            </a:r>
          </a:p>
        </p:txBody>
      </p:sp>
      <p:sp>
        <p:nvSpPr>
          <p:cNvPr name="TextBox 21" id="21"/>
          <p:cNvSpPr txBox="true"/>
          <p:nvPr/>
        </p:nvSpPr>
        <p:spPr>
          <a:xfrm rot="0">
            <a:off x="10086975" y="6170638"/>
            <a:ext cx="6757988" cy="965749"/>
          </a:xfrm>
          <a:prstGeom prst="rect">
            <a:avLst/>
          </a:prstGeom>
        </p:spPr>
        <p:txBody>
          <a:bodyPr anchor="t" rtlCol="false" tIns="0" lIns="0" bIns="0" rIns="0">
            <a:spAutoFit/>
          </a:bodyPr>
          <a:lstStyle/>
          <a:p>
            <a:pPr algn="l">
              <a:lnSpc>
                <a:spcPts val="3887"/>
              </a:lnSpc>
            </a:pPr>
            <a:r>
              <a:rPr lang="en-US" sz="2025">
                <a:solidFill>
                  <a:srgbClr val="000000"/>
                </a:solidFill>
                <a:latin typeface="Inter"/>
                <a:ea typeface="Inter"/>
                <a:cs typeface="Inter"/>
                <a:sym typeface="Inter"/>
              </a:rPr>
              <a:t>Tuy nhiên, thiết kế hệ thống và vận hành vẫn cần con người định hướng.</a:t>
            </a:r>
          </a:p>
        </p:txBody>
      </p:sp>
      <p:sp>
        <p:nvSpPr>
          <p:cNvPr name="TextBox 22" id="22"/>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Xu Hướng Tương Lai Của GenAI</a:t>
            </a:r>
          </a:p>
        </p:txBody>
      </p:sp>
    </p:spTree>
  </p:cSld>
  <p:clrMapOvr>
    <a:masterClrMapping/>
  </p:clrMapOvr>
</p:sld>
</file>

<file path=ppt/slides/slide44.xml><?xml version="1.0" encoding="utf-8"?>
<p:sld xmlns:p="http://schemas.openxmlformats.org/presentationml/2006/main" xmlns:a="http://schemas.openxmlformats.org/drawingml/2006/main">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sp>
        <p:nvSpPr>
          <p:cNvPr name="TextBox 12" id="12"/>
          <p:cNvSpPr txBox="true"/>
          <p:nvPr/>
        </p:nvSpPr>
        <p:spPr>
          <a:xfrm rot="0">
            <a:off x="857250" y="857250"/>
            <a:ext cx="8326041"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Hiện Tượng "Vibe Coding"</a:t>
            </a:r>
          </a:p>
        </p:txBody>
      </p:sp>
      <p:sp>
        <p:nvSpPr>
          <p:cNvPr name="TextBox 13" id="13"/>
          <p:cNvSpPr txBox="true"/>
          <p:nvPr/>
        </p:nvSpPr>
        <p:spPr>
          <a:xfrm rot="0">
            <a:off x="857250" y="2085975"/>
            <a:ext cx="2029778" cy="504825"/>
          </a:xfrm>
          <a:prstGeom prst="rect">
            <a:avLst/>
          </a:prstGeom>
        </p:spPr>
        <p:txBody>
          <a:bodyPr anchor="t" rtlCol="false" tIns="0" lIns="0" bIns="0" rIns="0">
            <a:spAutoFit/>
          </a:bodyPr>
          <a:lstStyle/>
          <a:p>
            <a:pPr algn="l">
              <a:lnSpc>
                <a:spcPts val="4019"/>
              </a:lnSpc>
            </a:pPr>
            <a:r>
              <a:rPr lang="en-US" b="true" sz="3349">
                <a:solidFill>
                  <a:srgbClr val="000000"/>
                </a:solidFill>
                <a:latin typeface="Inter Bold"/>
                <a:ea typeface="Inter Bold"/>
                <a:cs typeface="Inter Bold"/>
                <a:sym typeface="Inter Bold"/>
              </a:rPr>
              <a:t>Khái niệm</a:t>
            </a:r>
          </a:p>
        </p:txBody>
      </p:sp>
      <p:sp>
        <p:nvSpPr>
          <p:cNvPr name="TextBox 14" id="14"/>
          <p:cNvSpPr txBox="true"/>
          <p:nvPr/>
        </p:nvSpPr>
        <p:spPr>
          <a:xfrm rot="0">
            <a:off x="857250" y="2605087"/>
            <a:ext cx="7929562" cy="1855471"/>
          </a:xfrm>
          <a:prstGeom prst="rect">
            <a:avLst/>
          </a:prstGeom>
        </p:spPr>
        <p:txBody>
          <a:bodyPr anchor="t" rtlCol="false" tIns="0" lIns="0" bIns="0" rIns="0">
            <a:spAutoFit/>
          </a:bodyPr>
          <a:lstStyle/>
          <a:p>
            <a:pPr algn="l">
              <a:lnSpc>
                <a:spcPts val="5039"/>
              </a:lnSpc>
            </a:pPr>
            <a:r>
              <a:rPr lang="en-US" sz="2624">
                <a:solidFill>
                  <a:srgbClr val="000000"/>
                </a:solidFill>
                <a:latin typeface="Inter"/>
                <a:ea typeface="Inter"/>
                <a:cs typeface="Inter"/>
                <a:sym typeface="Inter"/>
              </a:rPr>
              <a:t>Lập trình bằng cách mô tả yêu cầu bằng ngôn ngữ tự nhiên, để mô hình tự sinh toàn bộ mã nguồn. Hữu ích cho prototype nhanh.</a:t>
            </a:r>
          </a:p>
        </p:txBody>
      </p:sp>
      <p:sp>
        <p:nvSpPr>
          <p:cNvPr name="TextBox 15" id="15"/>
          <p:cNvSpPr txBox="true"/>
          <p:nvPr/>
        </p:nvSpPr>
        <p:spPr>
          <a:xfrm rot="0">
            <a:off x="9144000" y="4554878"/>
            <a:ext cx="4814769" cy="504825"/>
          </a:xfrm>
          <a:prstGeom prst="rect">
            <a:avLst/>
          </a:prstGeom>
        </p:spPr>
        <p:txBody>
          <a:bodyPr anchor="t" rtlCol="false" tIns="0" lIns="0" bIns="0" rIns="0">
            <a:spAutoFit/>
          </a:bodyPr>
          <a:lstStyle/>
          <a:p>
            <a:pPr algn="l">
              <a:lnSpc>
                <a:spcPts val="4019"/>
              </a:lnSpc>
            </a:pPr>
            <a:r>
              <a:rPr lang="en-US" b="true" sz="3349">
                <a:solidFill>
                  <a:srgbClr val="000000"/>
                </a:solidFill>
                <a:latin typeface="Inter Bold"/>
                <a:ea typeface="Inter Bold"/>
                <a:cs typeface="Inter Bold"/>
                <a:sym typeface="Inter Bold"/>
              </a:rPr>
              <a:t>Hệ lụy: Vibe Debugging</a:t>
            </a:r>
          </a:p>
        </p:txBody>
      </p:sp>
      <p:sp>
        <p:nvSpPr>
          <p:cNvPr name="TextBox 16" id="16"/>
          <p:cNvSpPr txBox="true"/>
          <p:nvPr/>
        </p:nvSpPr>
        <p:spPr>
          <a:xfrm rot="0">
            <a:off x="9144000" y="5073990"/>
            <a:ext cx="7929562" cy="1855471"/>
          </a:xfrm>
          <a:prstGeom prst="rect">
            <a:avLst/>
          </a:prstGeom>
        </p:spPr>
        <p:txBody>
          <a:bodyPr anchor="t" rtlCol="false" tIns="0" lIns="0" bIns="0" rIns="0">
            <a:spAutoFit/>
          </a:bodyPr>
          <a:lstStyle/>
          <a:p>
            <a:pPr algn="l">
              <a:lnSpc>
                <a:spcPts val="5039"/>
              </a:lnSpc>
            </a:pPr>
            <a:r>
              <a:rPr lang="en-US" sz="2624">
                <a:solidFill>
                  <a:srgbClr val="000000"/>
                </a:solidFill>
                <a:latin typeface="Inter"/>
                <a:ea typeface="Inter"/>
                <a:cs typeface="Inter"/>
                <a:sym typeface="Inter"/>
              </a:rPr>
              <a:t>Áp dụng cho hệ thống lớn sẽ sinh ra mã thiếu cấu trúc, khó bảo trì. Người sửa lỗi không thể hiểu logic ẩn bên trong (Vibe Debugging).</a:t>
            </a:r>
          </a:p>
        </p:txBody>
      </p:sp>
      <p:sp>
        <p:nvSpPr>
          <p:cNvPr name="TextBox 17" id="17"/>
          <p:cNvSpPr txBox="true"/>
          <p:nvPr/>
        </p:nvSpPr>
        <p:spPr>
          <a:xfrm rot="0">
            <a:off x="1028700" y="7715104"/>
            <a:ext cx="14513600" cy="579121"/>
          </a:xfrm>
          <a:prstGeom prst="rect">
            <a:avLst/>
          </a:prstGeom>
        </p:spPr>
        <p:txBody>
          <a:bodyPr anchor="t" rtlCol="false" tIns="0" lIns="0" bIns="0" rIns="0">
            <a:spAutoFit/>
          </a:bodyPr>
          <a:lstStyle/>
          <a:p>
            <a:pPr algn="l">
              <a:lnSpc>
                <a:spcPts val="5039"/>
              </a:lnSpc>
            </a:pPr>
            <a:r>
              <a:rPr lang="en-US" b="true" sz="2624">
                <a:solidFill>
                  <a:srgbClr val="000000"/>
                </a:solidFill>
                <a:latin typeface="Inter Bold"/>
                <a:ea typeface="Inter Bold"/>
                <a:cs typeface="Inter Bold"/>
                <a:sym typeface="Inter Bold"/>
              </a:rPr>
              <a:t>Kết luận:</a:t>
            </a:r>
            <a:r>
              <a:rPr lang="en-US" sz="2624">
                <a:solidFill>
                  <a:srgbClr val="000000"/>
                </a:solidFill>
                <a:latin typeface="Inter"/>
                <a:ea typeface="Inter"/>
                <a:cs typeface="Inter"/>
                <a:sym typeface="Inter"/>
              </a:rPr>
              <a:t> Tương lai là sự kết hợp: Con người quản lý kiến trúc, GenAI hỗ trợ triển khai chi tiết.</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108014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3226200" cy="642600"/>
            <a:chOff x="0" y="0"/>
            <a:chExt cx="4301600" cy="856800"/>
          </a:xfrm>
        </p:grpSpPr>
        <p:sp>
          <p:nvSpPr>
            <p:cNvPr name="Freeform 5" id="5"/>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554950" y="8849250"/>
            <a:ext cx="2981400" cy="2982000"/>
            <a:chOff x="0" y="0"/>
            <a:chExt cx="3975200" cy="3976000"/>
          </a:xfrm>
        </p:grpSpPr>
        <p:sp>
          <p:nvSpPr>
            <p:cNvPr name="Freeform 7" id="7"/>
            <p:cNvSpPr/>
            <p:nvPr/>
          </p:nvSpPr>
          <p:spPr>
            <a:xfrm flipH="false" flipV="false" rot="0">
              <a:off x="0" y="0"/>
              <a:ext cx="3975100" cy="3976116"/>
            </a:xfrm>
            <a:custGeom>
              <a:avLst/>
              <a:gdLst/>
              <a:ahLst/>
              <a:cxnLst/>
              <a:rect r="r" b="b" t="t" l="l"/>
              <a:pathLst>
                <a:path h="3976116" w="3975100">
                  <a:moveTo>
                    <a:pt x="0" y="1988058"/>
                  </a:moveTo>
                  <a:cubicBezTo>
                    <a:pt x="0" y="890016"/>
                    <a:pt x="889889" y="0"/>
                    <a:pt x="1987550" y="0"/>
                  </a:cubicBezTo>
                  <a:cubicBezTo>
                    <a:pt x="3085211" y="0"/>
                    <a:pt x="3975100" y="890016"/>
                    <a:pt x="3975100" y="1988058"/>
                  </a:cubicBezTo>
                  <a:cubicBezTo>
                    <a:pt x="3975100" y="3086100"/>
                    <a:pt x="3085211" y="3976116"/>
                    <a:pt x="1987550" y="3976116"/>
                  </a:cubicBezTo>
                  <a:cubicBezTo>
                    <a:pt x="889889" y="3976116"/>
                    <a:pt x="0" y="3085973"/>
                    <a:pt x="0" y="1988058"/>
                  </a:cubicBezTo>
                  <a:close/>
                </a:path>
              </a:pathLst>
            </a:custGeom>
            <a:solidFill>
              <a:srgbClr val="FFFFFF"/>
            </a:solidFill>
          </p:spPr>
        </p:sp>
      </p:grpSp>
      <p:grpSp>
        <p:nvGrpSpPr>
          <p:cNvPr name="Group 8" id="8"/>
          <p:cNvGrpSpPr/>
          <p:nvPr/>
        </p:nvGrpSpPr>
        <p:grpSpPr>
          <a:xfrm rot="0">
            <a:off x="13880150" y="-15815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10" id="10"/>
          <p:cNvGrpSpPr/>
          <p:nvPr/>
        </p:nvGrpSpPr>
        <p:grpSpPr>
          <a:xfrm rot="0">
            <a:off x="15873000" y="441500"/>
            <a:ext cx="1275000" cy="1275000"/>
            <a:chOff x="0" y="0"/>
            <a:chExt cx="1700000" cy="1700000"/>
          </a:xfrm>
        </p:grpSpPr>
        <p:sp>
          <p:nvSpPr>
            <p:cNvPr name="Freeform 11" id="11"/>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12" id="12"/>
          <p:cNvGrpSpPr/>
          <p:nvPr/>
        </p:nvGrpSpPr>
        <p:grpSpPr>
          <a:xfrm rot="0">
            <a:off x="857250" y="3433239"/>
            <a:ext cx="5143500" cy="4649019"/>
            <a:chOff x="0" y="0"/>
            <a:chExt cx="6858000" cy="6198692"/>
          </a:xfrm>
        </p:grpSpPr>
        <p:sp>
          <p:nvSpPr>
            <p:cNvPr name="Freeform 13" id="13" descr="image.png"/>
            <p:cNvSpPr/>
            <p:nvPr/>
          </p:nvSpPr>
          <p:spPr>
            <a:xfrm flipH="false" flipV="false" rot="0">
              <a:off x="0" y="0"/>
              <a:ext cx="6858000" cy="6198743"/>
            </a:xfrm>
            <a:custGeom>
              <a:avLst/>
              <a:gdLst/>
              <a:ahLst/>
              <a:cxnLst/>
              <a:rect r="r" b="b" t="t" l="l"/>
              <a:pathLst>
                <a:path h="6198743" w="6858000">
                  <a:moveTo>
                    <a:pt x="0" y="0"/>
                  </a:moveTo>
                  <a:lnTo>
                    <a:pt x="6858000" y="0"/>
                  </a:lnTo>
                  <a:lnTo>
                    <a:pt x="6858000" y="6198743"/>
                  </a:lnTo>
                  <a:lnTo>
                    <a:pt x="0" y="6198743"/>
                  </a:lnTo>
                  <a:lnTo>
                    <a:pt x="0" y="0"/>
                  </a:lnTo>
                  <a:close/>
                </a:path>
              </a:pathLst>
            </a:custGeom>
            <a:solidFill>
              <a:srgbClr val="E8ECF4"/>
            </a:solidFill>
          </p:spPr>
        </p:sp>
      </p:grpSp>
      <p:grpSp>
        <p:nvGrpSpPr>
          <p:cNvPr name="Group 14" id="14"/>
          <p:cNvGrpSpPr/>
          <p:nvPr/>
        </p:nvGrpSpPr>
        <p:grpSpPr>
          <a:xfrm rot="0">
            <a:off x="6572250" y="3433239"/>
            <a:ext cx="5143500" cy="4649019"/>
            <a:chOff x="0" y="0"/>
            <a:chExt cx="6858000" cy="6198692"/>
          </a:xfrm>
        </p:grpSpPr>
        <p:sp>
          <p:nvSpPr>
            <p:cNvPr name="Freeform 15" id="15" descr="image.png"/>
            <p:cNvSpPr/>
            <p:nvPr/>
          </p:nvSpPr>
          <p:spPr>
            <a:xfrm flipH="false" flipV="false" rot="0">
              <a:off x="0" y="0"/>
              <a:ext cx="6858000" cy="6198743"/>
            </a:xfrm>
            <a:custGeom>
              <a:avLst/>
              <a:gdLst/>
              <a:ahLst/>
              <a:cxnLst/>
              <a:rect r="r" b="b" t="t" l="l"/>
              <a:pathLst>
                <a:path h="6198743" w="6858000">
                  <a:moveTo>
                    <a:pt x="0" y="0"/>
                  </a:moveTo>
                  <a:lnTo>
                    <a:pt x="6858000" y="0"/>
                  </a:lnTo>
                  <a:lnTo>
                    <a:pt x="6858000" y="6198743"/>
                  </a:lnTo>
                  <a:lnTo>
                    <a:pt x="0" y="6198743"/>
                  </a:lnTo>
                  <a:lnTo>
                    <a:pt x="0" y="0"/>
                  </a:lnTo>
                  <a:close/>
                </a:path>
              </a:pathLst>
            </a:custGeom>
            <a:solidFill>
              <a:srgbClr val="E8ECF4"/>
            </a:solidFill>
          </p:spPr>
        </p:sp>
      </p:grpSp>
      <p:grpSp>
        <p:nvGrpSpPr>
          <p:cNvPr name="Group 16" id="16"/>
          <p:cNvGrpSpPr/>
          <p:nvPr/>
        </p:nvGrpSpPr>
        <p:grpSpPr>
          <a:xfrm rot="0">
            <a:off x="12287250" y="3433239"/>
            <a:ext cx="5143500" cy="4649019"/>
            <a:chOff x="0" y="0"/>
            <a:chExt cx="6858000" cy="6198692"/>
          </a:xfrm>
        </p:grpSpPr>
        <p:sp>
          <p:nvSpPr>
            <p:cNvPr name="Freeform 17" id="17" descr="image.png"/>
            <p:cNvSpPr/>
            <p:nvPr/>
          </p:nvSpPr>
          <p:spPr>
            <a:xfrm flipH="false" flipV="false" rot="0">
              <a:off x="0" y="0"/>
              <a:ext cx="6858000" cy="6198743"/>
            </a:xfrm>
            <a:custGeom>
              <a:avLst/>
              <a:gdLst/>
              <a:ahLst/>
              <a:cxnLst/>
              <a:rect r="r" b="b" t="t" l="l"/>
              <a:pathLst>
                <a:path h="6198743" w="6858000">
                  <a:moveTo>
                    <a:pt x="0" y="0"/>
                  </a:moveTo>
                  <a:lnTo>
                    <a:pt x="6858000" y="0"/>
                  </a:lnTo>
                  <a:lnTo>
                    <a:pt x="6858000" y="6198743"/>
                  </a:lnTo>
                  <a:lnTo>
                    <a:pt x="0" y="6198743"/>
                  </a:lnTo>
                  <a:lnTo>
                    <a:pt x="0" y="0"/>
                  </a:lnTo>
                  <a:close/>
                </a:path>
              </a:pathLst>
            </a:custGeom>
            <a:solidFill>
              <a:srgbClr val="E8ECF4"/>
            </a:solidFill>
          </p:spPr>
        </p:sp>
      </p:grpSp>
      <p:sp>
        <p:nvSpPr>
          <p:cNvPr name="TextBox 18" id="18"/>
          <p:cNvSpPr txBox="true"/>
          <p:nvPr/>
        </p:nvSpPr>
        <p:spPr>
          <a:xfrm rot="0">
            <a:off x="1313736" y="5004864"/>
            <a:ext cx="4230529" cy="485775"/>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Trách Nhiệm Pháp Lý</a:t>
            </a:r>
          </a:p>
        </p:txBody>
      </p:sp>
      <p:sp>
        <p:nvSpPr>
          <p:cNvPr name="TextBox 19" id="19"/>
          <p:cNvSpPr txBox="true"/>
          <p:nvPr/>
        </p:nvSpPr>
        <p:spPr>
          <a:xfrm rot="0">
            <a:off x="1300162" y="5562076"/>
            <a:ext cx="4257675" cy="1377182"/>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Ai chịu trách nhiệm khi mã AI gây lỗi trong y tế, tài chính, giao thông?</a:t>
            </a:r>
          </a:p>
        </p:txBody>
      </p:sp>
      <p:sp>
        <p:nvSpPr>
          <p:cNvPr name="TextBox 20" id="20"/>
          <p:cNvSpPr txBox="true"/>
          <p:nvPr/>
        </p:nvSpPr>
        <p:spPr>
          <a:xfrm rot="0">
            <a:off x="7163753" y="5004864"/>
            <a:ext cx="3960495" cy="485775"/>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Vi Phạm Bản Quyền</a:t>
            </a:r>
          </a:p>
        </p:txBody>
      </p:sp>
      <p:sp>
        <p:nvSpPr>
          <p:cNvPr name="TextBox 21" id="21"/>
          <p:cNvSpPr txBox="true"/>
          <p:nvPr/>
        </p:nvSpPr>
        <p:spPr>
          <a:xfrm rot="0">
            <a:off x="7015162" y="5562076"/>
            <a:ext cx="4257675" cy="1377182"/>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Nguy cơ AI sinh mã tương tự với mã nguồn đóng được bảo vệ bản quyền.</a:t>
            </a:r>
          </a:p>
        </p:txBody>
      </p:sp>
      <p:sp>
        <p:nvSpPr>
          <p:cNvPr name="TextBox 22" id="22"/>
          <p:cNvSpPr txBox="true"/>
          <p:nvPr/>
        </p:nvSpPr>
        <p:spPr>
          <a:xfrm rot="0">
            <a:off x="12623721" y="5004864"/>
            <a:ext cx="4470559" cy="971550"/>
          </a:xfrm>
          <a:prstGeom prst="rect">
            <a:avLst/>
          </a:prstGeom>
        </p:spPr>
        <p:txBody>
          <a:bodyPr anchor="t" rtlCol="false" tIns="0" lIns="0" bIns="0" rIns="0">
            <a:spAutoFit/>
          </a:bodyPr>
          <a:lstStyle/>
          <a:p>
            <a:pPr algn="ctr">
              <a:lnSpc>
                <a:spcPts val="3779"/>
              </a:lnSpc>
            </a:pPr>
            <a:r>
              <a:rPr lang="en-US" sz="3150">
                <a:solidFill>
                  <a:srgbClr val="000000"/>
                </a:solidFill>
                <a:latin typeface="Inter"/>
                <a:ea typeface="Inter"/>
                <a:cs typeface="Inter"/>
                <a:sym typeface="Inter"/>
              </a:rPr>
              <a:t>Giáo Dục &amp; Tuyển Dụng</a:t>
            </a:r>
          </a:p>
        </p:txBody>
      </p:sp>
      <p:sp>
        <p:nvSpPr>
          <p:cNvPr name="TextBox 23" id="23"/>
          <p:cNvSpPr txBox="true"/>
          <p:nvPr/>
        </p:nvSpPr>
        <p:spPr>
          <a:xfrm rot="0">
            <a:off x="12730162" y="6047851"/>
            <a:ext cx="4257675" cy="1377182"/>
          </a:xfrm>
          <a:prstGeom prst="rect">
            <a:avLst/>
          </a:prstGeom>
        </p:spPr>
        <p:txBody>
          <a:bodyPr anchor="t" rtlCol="false" tIns="0" lIns="0" bIns="0" rIns="0">
            <a:spAutoFit/>
          </a:bodyPr>
          <a:lstStyle/>
          <a:p>
            <a:pPr algn="ctr">
              <a:lnSpc>
                <a:spcPts val="3887"/>
              </a:lnSpc>
            </a:pPr>
            <a:r>
              <a:rPr lang="en-US" sz="2025">
                <a:solidFill>
                  <a:srgbClr val="000000"/>
                </a:solidFill>
                <a:latin typeface="Inter"/>
                <a:ea typeface="Inter"/>
                <a:cs typeface="Inter"/>
                <a:sym typeface="Inter"/>
              </a:rPr>
              <a:t>Kiểm tra lập trình truyền thống không còn phản ánh năng lực dùng AI.</a:t>
            </a:r>
          </a:p>
        </p:txBody>
      </p:sp>
      <p:grpSp>
        <p:nvGrpSpPr>
          <p:cNvPr name="Group 24" id="24"/>
          <p:cNvGrpSpPr/>
          <p:nvPr/>
        </p:nvGrpSpPr>
        <p:grpSpPr>
          <a:xfrm rot="0">
            <a:off x="3086100" y="3947589"/>
            <a:ext cx="685800" cy="685800"/>
            <a:chOff x="0" y="0"/>
            <a:chExt cx="914400" cy="914400"/>
          </a:xfrm>
        </p:grpSpPr>
        <p:sp>
          <p:nvSpPr>
            <p:cNvPr name="Freeform 25" id="25"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3"/>
              <a:stretch>
                <a:fillRect l="0" t="0" r="0" b="0"/>
              </a:stretch>
            </a:blipFill>
          </p:spPr>
        </p:sp>
      </p:grpSp>
      <p:grpSp>
        <p:nvGrpSpPr>
          <p:cNvPr name="Group 26" id="26"/>
          <p:cNvGrpSpPr/>
          <p:nvPr/>
        </p:nvGrpSpPr>
        <p:grpSpPr>
          <a:xfrm rot="0">
            <a:off x="8801100" y="3947589"/>
            <a:ext cx="685800" cy="685800"/>
            <a:chOff x="0" y="0"/>
            <a:chExt cx="914400" cy="914400"/>
          </a:xfrm>
        </p:grpSpPr>
        <p:sp>
          <p:nvSpPr>
            <p:cNvPr name="Freeform 27" id="27"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2083"/>
              </a:stretch>
            </a:blipFill>
          </p:spPr>
        </p:sp>
      </p:grpSp>
      <p:grpSp>
        <p:nvGrpSpPr>
          <p:cNvPr name="Group 28" id="28"/>
          <p:cNvGrpSpPr/>
          <p:nvPr/>
        </p:nvGrpSpPr>
        <p:grpSpPr>
          <a:xfrm rot="0">
            <a:off x="14558962" y="3947589"/>
            <a:ext cx="600075" cy="685800"/>
            <a:chOff x="0" y="0"/>
            <a:chExt cx="800100" cy="914400"/>
          </a:xfrm>
        </p:grpSpPr>
        <p:sp>
          <p:nvSpPr>
            <p:cNvPr name="Freeform 29" id="29" descr="image.png"/>
            <p:cNvSpPr/>
            <p:nvPr/>
          </p:nvSpPr>
          <p:spPr>
            <a:xfrm flipH="false" flipV="false" rot="0">
              <a:off x="0" y="0"/>
              <a:ext cx="800100" cy="914400"/>
            </a:xfrm>
            <a:custGeom>
              <a:avLst/>
              <a:gdLst/>
              <a:ahLst/>
              <a:cxnLst/>
              <a:rect r="r" b="b" t="t" l="l"/>
              <a:pathLst>
                <a:path h="914400" w="800100">
                  <a:moveTo>
                    <a:pt x="0" y="0"/>
                  </a:moveTo>
                  <a:lnTo>
                    <a:pt x="800100" y="0"/>
                  </a:lnTo>
                  <a:lnTo>
                    <a:pt x="800100" y="914400"/>
                  </a:lnTo>
                  <a:lnTo>
                    <a:pt x="0" y="914400"/>
                  </a:lnTo>
                  <a:lnTo>
                    <a:pt x="0" y="0"/>
                  </a:lnTo>
                  <a:close/>
                </a:path>
              </a:pathLst>
            </a:custGeom>
            <a:blipFill>
              <a:blip r:embed="rId5"/>
              <a:stretch>
                <a:fillRect l="0" t="0" r="-292" b="0"/>
              </a:stretch>
            </a:blipFill>
          </p:spPr>
        </p:sp>
      </p:grpSp>
      <p:sp>
        <p:nvSpPr>
          <p:cNvPr name="TextBox 30" id="30"/>
          <p:cNvSpPr txBox="true"/>
          <p:nvPr/>
        </p:nvSpPr>
        <p:spPr>
          <a:xfrm rot="0">
            <a:off x="857250" y="857250"/>
            <a:ext cx="17402175" cy="657225"/>
          </a:xfrm>
          <a:prstGeom prst="rect">
            <a:avLst/>
          </a:prstGeom>
        </p:spPr>
        <p:txBody>
          <a:bodyPr anchor="t" rtlCol="false" tIns="0" lIns="0" bIns="0" rIns="0">
            <a:spAutoFit/>
          </a:bodyPr>
          <a:lstStyle/>
          <a:p>
            <a:pPr algn="l">
              <a:lnSpc>
                <a:spcPts val="5130"/>
              </a:lnSpc>
            </a:pPr>
            <a:r>
              <a:rPr lang="en-US" sz="4275">
                <a:solidFill>
                  <a:srgbClr val="3B82F6"/>
                </a:solidFill>
                <a:latin typeface="Inter"/>
                <a:ea typeface="Inter"/>
                <a:cs typeface="Inter"/>
                <a:sym typeface="Inter"/>
              </a:rPr>
              <a:t>Rủi Ro, Quản Trị &amp; Pháp Lý</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F3F3F3">
                <a:alpha val="100000"/>
              </a:srgbClr>
            </a:gs>
          </a:gsLst>
          <a:lin ang="5400700"/>
        </a:gradFill>
      </p:bgPr>
    </p:bg>
    <p:spTree>
      <p:nvGrpSpPr>
        <p:cNvPr id="1" name=""/>
        <p:cNvGrpSpPr/>
        <p:nvPr/>
      </p:nvGrpSpPr>
      <p:grpSpPr>
        <a:xfrm>
          <a:off x="0" y="0"/>
          <a:ext cx="0" cy="0"/>
          <a:chOff x="0" y="0"/>
          <a:chExt cx="0" cy="0"/>
        </a:xfrm>
      </p:grpSpPr>
      <p:grpSp>
        <p:nvGrpSpPr>
          <p:cNvPr name="Group 2" id="2"/>
          <p:cNvGrpSpPr/>
          <p:nvPr/>
        </p:nvGrpSpPr>
        <p:grpSpPr>
          <a:xfrm rot="0">
            <a:off x="15061800" y="9644250"/>
            <a:ext cx="3226200" cy="642600"/>
            <a:chOff x="0" y="0"/>
            <a:chExt cx="4301600" cy="856800"/>
          </a:xfrm>
        </p:grpSpPr>
        <p:sp>
          <p:nvSpPr>
            <p:cNvPr name="Freeform 3" id="3"/>
            <p:cNvSpPr/>
            <p:nvPr/>
          </p:nvSpPr>
          <p:spPr>
            <a:xfrm flipH="false" flipV="false" rot="0">
              <a:off x="0" y="0"/>
              <a:ext cx="4301617" cy="856742"/>
            </a:xfrm>
            <a:custGeom>
              <a:avLst/>
              <a:gdLst/>
              <a:ahLst/>
              <a:cxnLst/>
              <a:rect r="r" b="b" t="t" l="l"/>
              <a:pathLst>
                <a:path h="856742" w="4301617">
                  <a:moveTo>
                    <a:pt x="4301617" y="0"/>
                  </a:moveTo>
                  <a:lnTo>
                    <a:pt x="428371" y="0"/>
                  </a:lnTo>
                  <a:cubicBezTo>
                    <a:pt x="191770" y="0"/>
                    <a:pt x="0" y="191770"/>
                    <a:pt x="0" y="428371"/>
                  </a:cubicBezTo>
                  <a:lnTo>
                    <a:pt x="0" y="856742"/>
                  </a:lnTo>
                  <a:lnTo>
                    <a:pt x="4301617" y="856742"/>
                  </a:lnTo>
                  <a:close/>
                </a:path>
              </a:pathLst>
            </a:custGeom>
            <a:gradFill rotWithShape="true">
              <a:gsLst>
                <a:gs pos="0">
                  <a:srgbClr val="D149CE">
                    <a:alpha val="100000"/>
                  </a:srgbClr>
                </a:gs>
                <a:gs pos="100000">
                  <a:srgbClr val="43309F">
                    <a:alpha val="100000"/>
                  </a:srgbClr>
                </a:gs>
              </a:gsLst>
              <a:lin ang="889145"/>
            </a:gradFill>
          </p:spPr>
        </p:sp>
      </p:grpSp>
      <p:grpSp>
        <p:nvGrpSpPr>
          <p:cNvPr name="Group 4" id="4"/>
          <p:cNvGrpSpPr/>
          <p:nvPr/>
        </p:nvGrpSpPr>
        <p:grpSpPr>
          <a:xfrm rot="-10800000">
            <a:off x="0" y="0"/>
            <a:ext cx="5715000" cy="642600"/>
            <a:chOff x="0" y="0"/>
            <a:chExt cx="7620000" cy="856800"/>
          </a:xfrm>
        </p:grpSpPr>
        <p:sp>
          <p:nvSpPr>
            <p:cNvPr name="Freeform 5" id="5"/>
            <p:cNvSpPr/>
            <p:nvPr/>
          </p:nvSpPr>
          <p:spPr>
            <a:xfrm flipH="false" flipV="false" rot="0">
              <a:off x="0" y="0"/>
              <a:ext cx="7620000" cy="856742"/>
            </a:xfrm>
            <a:custGeom>
              <a:avLst/>
              <a:gdLst/>
              <a:ahLst/>
              <a:cxnLst/>
              <a:rect r="r" b="b" t="t" l="l"/>
              <a:pathLst>
                <a:path h="856742" w="7620000">
                  <a:moveTo>
                    <a:pt x="7620000" y="0"/>
                  </a:moveTo>
                  <a:lnTo>
                    <a:pt x="428371" y="0"/>
                  </a:lnTo>
                  <a:cubicBezTo>
                    <a:pt x="191770" y="0"/>
                    <a:pt x="0" y="191770"/>
                    <a:pt x="0" y="428371"/>
                  </a:cubicBezTo>
                  <a:lnTo>
                    <a:pt x="0" y="856742"/>
                  </a:lnTo>
                  <a:lnTo>
                    <a:pt x="7620000" y="856742"/>
                  </a:lnTo>
                  <a:close/>
                </a:path>
              </a:pathLst>
            </a:custGeom>
            <a:gradFill rotWithShape="true">
              <a:gsLst>
                <a:gs pos="0">
                  <a:srgbClr val="D149CE">
                    <a:alpha val="100000"/>
                  </a:srgbClr>
                </a:gs>
                <a:gs pos="100000">
                  <a:srgbClr val="43309F">
                    <a:alpha val="100000"/>
                  </a:srgbClr>
                </a:gs>
              </a:gsLst>
              <a:lin ang="11689145"/>
            </a:gradFill>
          </p:spPr>
        </p:sp>
      </p:grpSp>
      <p:grpSp>
        <p:nvGrpSpPr>
          <p:cNvPr name="Group 6" id="6"/>
          <p:cNvGrpSpPr/>
          <p:nvPr/>
        </p:nvGrpSpPr>
        <p:grpSpPr>
          <a:xfrm rot="0">
            <a:off x="12109200" y="-2190850"/>
            <a:ext cx="2981400" cy="2981400"/>
            <a:chOff x="0" y="0"/>
            <a:chExt cx="3975200" cy="3975200"/>
          </a:xfrm>
        </p:grpSpPr>
        <p:sp>
          <p:nvSpPr>
            <p:cNvPr name="Freeform 7" id="7"/>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grpSp>
        <p:nvGrpSpPr>
          <p:cNvPr name="Group 8" id="8"/>
          <p:cNvGrpSpPr/>
          <p:nvPr/>
        </p:nvGrpSpPr>
        <p:grpSpPr>
          <a:xfrm rot="0">
            <a:off x="-1554900" y="8835900"/>
            <a:ext cx="2981400" cy="2981400"/>
            <a:chOff x="0" y="0"/>
            <a:chExt cx="3975200" cy="3975200"/>
          </a:xfrm>
        </p:grpSpPr>
        <p:sp>
          <p:nvSpPr>
            <p:cNvPr name="Freeform 9" id="9"/>
            <p:cNvSpPr/>
            <p:nvPr/>
          </p:nvSpPr>
          <p:spPr>
            <a:xfrm flipH="false" flipV="false" rot="0">
              <a:off x="0" y="0"/>
              <a:ext cx="3975100" cy="3975100"/>
            </a:xfrm>
            <a:custGeom>
              <a:avLst/>
              <a:gdLst/>
              <a:ahLst/>
              <a:cxnLst/>
              <a:rect r="r" b="b" t="t" l="l"/>
              <a:pathLst>
                <a:path h="3975100" w="3975100">
                  <a:moveTo>
                    <a:pt x="0" y="1987550"/>
                  </a:moveTo>
                  <a:cubicBezTo>
                    <a:pt x="0" y="889889"/>
                    <a:pt x="889889" y="0"/>
                    <a:pt x="1987550" y="0"/>
                  </a:cubicBezTo>
                  <a:cubicBezTo>
                    <a:pt x="3085211" y="0"/>
                    <a:pt x="3975100" y="889889"/>
                    <a:pt x="3975100" y="1987550"/>
                  </a:cubicBezTo>
                  <a:cubicBezTo>
                    <a:pt x="3975100" y="3085211"/>
                    <a:pt x="3085211" y="3975100"/>
                    <a:pt x="1987550" y="3975100"/>
                  </a:cubicBezTo>
                  <a:cubicBezTo>
                    <a:pt x="889889" y="3975100"/>
                    <a:pt x="0" y="3085338"/>
                    <a:pt x="0" y="1987550"/>
                  </a:cubicBezTo>
                  <a:close/>
                </a:path>
              </a:pathLst>
            </a:custGeom>
            <a:gradFill rotWithShape="true">
              <a:gsLst>
                <a:gs pos="0">
                  <a:srgbClr val="D149CE">
                    <a:alpha val="100000"/>
                  </a:srgbClr>
                </a:gs>
                <a:gs pos="100000">
                  <a:srgbClr val="43309F">
                    <a:alpha val="100000"/>
                  </a:srgbClr>
                </a:gs>
              </a:gsLst>
              <a:lin ang="5400012"/>
            </a:gradFill>
          </p:spPr>
        </p:sp>
      </p:grpSp>
      <p:sp>
        <p:nvSpPr>
          <p:cNvPr name="TextBox 10" id="10"/>
          <p:cNvSpPr txBox="true"/>
          <p:nvPr/>
        </p:nvSpPr>
        <p:spPr>
          <a:xfrm rot="0">
            <a:off x="1517875" y="1122800"/>
            <a:ext cx="7932150" cy="1610775"/>
          </a:xfrm>
          <a:prstGeom prst="rect">
            <a:avLst/>
          </a:prstGeom>
        </p:spPr>
        <p:txBody>
          <a:bodyPr anchor="t" rtlCol="false" tIns="0" lIns="0" bIns="0" rIns="0">
            <a:spAutoFit/>
          </a:bodyPr>
          <a:lstStyle/>
          <a:p>
            <a:pPr algn="l">
              <a:lnSpc>
                <a:spcPts val="17280"/>
              </a:lnSpc>
            </a:pPr>
            <a:r>
              <a:rPr lang="en-US" sz="14400">
                <a:solidFill>
                  <a:srgbClr val="000000"/>
                </a:solidFill>
                <a:latin typeface="Arimo"/>
                <a:ea typeface="Arimo"/>
                <a:cs typeface="Arimo"/>
                <a:sym typeface="Arimo"/>
              </a:rPr>
              <a:t>Thanks!</a:t>
            </a:r>
          </a:p>
        </p:txBody>
      </p:sp>
      <p:sp>
        <p:nvSpPr>
          <p:cNvPr name="AutoShape 11" id="11"/>
          <p:cNvSpPr/>
          <p:nvPr/>
        </p:nvSpPr>
        <p:spPr>
          <a:xfrm rot="25544">
            <a:off x="1416890" y="3334400"/>
            <a:ext cx="2563721" cy="0"/>
          </a:xfrm>
          <a:prstGeom prst="line">
            <a:avLst/>
          </a:prstGeom>
          <a:ln cap="rnd" w="9525">
            <a:solidFill>
              <a:srgbClr val="000000"/>
            </a:solidFill>
            <a:prstDash val="solid"/>
            <a:headEnd type="none" len="sm" w="sm"/>
            <a:tailEnd type="none" len="sm" w="sm"/>
          </a:ln>
        </p:spPr>
      </p:sp>
      <p:sp>
        <p:nvSpPr>
          <p:cNvPr name="Freeform 12" id="12"/>
          <p:cNvSpPr/>
          <p:nvPr/>
        </p:nvSpPr>
        <p:spPr>
          <a:xfrm flipH="false" flipV="false" rot="0">
            <a:off x="1664656" y="6494590"/>
            <a:ext cx="427194" cy="427172"/>
          </a:xfrm>
          <a:custGeom>
            <a:avLst/>
            <a:gdLst/>
            <a:ahLst/>
            <a:cxnLst/>
            <a:rect r="r" b="b" t="t" l="l"/>
            <a:pathLst>
              <a:path h="427172" w="427194">
                <a:moveTo>
                  <a:pt x="0" y="0"/>
                </a:moveTo>
                <a:lnTo>
                  <a:pt x="427194" y="0"/>
                </a:lnTo>
                <a:lnTo>
                  <a:pt x="427194" y="427172"/>
                </a:lnTo>
                <a:lnTo>
                  <a:pt x="0" y="4271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788708" y="6494590"/>
            <a:ext cx="427148" cy="427172"/>
          </a:xfrm>
          <a:custGeom>
            <a:avLst/>
            <a:gdLst/>
            <a:ahLst/>
            <a:cxnLst/>
            <a:rect r="r" b="b" t="t" l="l"/>
            <a:pathLst>
              <a:path h="427172" w="427148">
                <a:moveTo>
                  <a:pt x="0" y="0"/>
                </a:moveTo>
                <a:lnTo>
                  <a:pt x="427148" y="0"/>
                </a:lnTo>
                <a:lnTo>
                  <a:pt x="427148" y="427172"/>
                </a:lnTo>
                <a:lnTo>
                  <a:pt x="0" y="4271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5036860" y="6533422"/>
            <a:ext cx="428524" cy="349506"/>
          </a:xfrm>
          <a:custGeom>
            <a:avLst/>
            <a:gdLst/>
            <a:ahLst/>
            <a:cxnLst/>
            <a:rect r="r" b="b" t="t" l="l"/>
            <a:pathLst>
              <a:path h="349506" w="428524">
                <a:moveTo>
                  <a:pt x="0" y="0"/>
                </a:moveTo>
                <a:lnTo>
                  <a:pt x="428524" y="0"/>
                </a:lnTo>
                <a:lnTo>
                  <a:pt x="428524" y="349506"/>
                </a:lnTo>
                <a:lnTo>
                  <a:pt x="0" y="349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3912222" y="6494060"/>
            <a:ext cx="428230" cy="428230"/>
          </a:xfrm>
          <a:custGeom>
            <a:avLst/>
            <a:gdLst/>
            <a:ahLst/>
            <a:cxnLst/>
            <a:rect r="r" b="b" t="t" l="l"/>
            <a:pathLst>
              <a:path h="428230" w="428230">
                <a:moveTo>
                  <a:pt x="0" y="0"/>
                </a:moveTo>
                <a:lnTo>
                  <a:pt x="428230" y="0"/>
                </a:lnTo>
                <a:lnTo>
                  <a:pt x="428230" y="428230"/>
                </a:lnTo>
                <a:lnTo>
                  <a:pt x="0" y="4282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6" id="16"/>
          <p:cNvGrpSpPr/>
          <p:nvPr/>
        </p:nvGrpSpPr>
        <p:grpSpPr>
          <a:xfrm rot="0">
            <a:off x="1416925" y="6246849"/>
            <a:ext cx="922650" cy="922650"/>
            <a:chOff x="0" y="0"/>
            <a:chExt cx="1230200" cy="1230200"/>
          </a:xfrm>
        </p:grpSpPr>
        <p:sp>
          <p:nvSpPr>
            <p:cNvPr name="Freeform 17" id="17"/>
            <p:cNvSpPr/>
            <p:nvPr/>
          </p:nvSpPr>
          <p:spPr>
            <a:xfrm flipH="false" flipV="false" rot="0">
              <a:off x="0" y="0"/>
              <a:ext cx="1230249" cy="1230122"/>
            </a:xfrm>
            <a:custGeom>
              <a:avLst/>
              <a:gdLst/>
              <a:ahLst/>
              <a:cxnLst/>
              <a:rect r="r" b="b" t="t" l="l"/>
              <a:pathLst>
                <a:path h="1230122" w="1230249">
                  <a:moveTo>
                    <a:pt x="0" y="615061"/>
                  </a:moveTo>
                  <a:cubicBezTo>
                    <a:pt x="0" y="275336"/>
                    <a:pt x="275336" y="0"/>
                    <a:pt x="615061" y="0"/>
                  </a:cubicBezTo>
                  <a:lnTo>
                    <a:pt x="615061" y="12700"/>
                  </a:lnTo>
                  <a:lnTo>
                    <a:pt x="615061" y="0"/>
                  </a:lnTo>
                  <a:cubicBezTo>
                    <a:pt x="954786" y="0"/>
                    <a:pt x="1230249" y="275336"/>
                    <a:pt x="1230249" y="615061"/>
                  </a:cubicBezTo>
                  <a:lnTo>
                    <a:pt x="1217549" y="615061"/>
                  </a:lnTo>
                  <a:lnTo>
                    <a:pt x="1230249" y="615061"/>
                  </a:lnTo>
                  <a:cubicBezTo>
                    <a:pt x="1230249" y="954786"/>
                    <a:pt x="954913" y="1230122"/>
                    <a:pt x="615188" y="1230122"/>
                  </a:cubicBezTo>
                  <a:lnTo>
                    <a:pt x="615188" y="1217422"/>
                  </a:lnTo>
                  <a:lnTo>
                    <a:pt x="615188" y="1230122"/>
                  </a:lnTo>
                  <a:cubicBezTo>
                    <a:pt x="275336" y="1230249"/>
                    <a:pt x="0" y="954786"/>
                    <a:pt x="0" y="615061"/>
                  </a:cubicBezTo>
                  <a:lnTo>
                    <a:pt x="12700" y="615061"/>
                  </a:lnTo>
                  <a:lnTo>
                    <a:pt x="25400" y="615061"/>
                  </a:lnTo>
                  <a:lnTo>
                    <a:pt x="12700" y="615061"/>
                  </a:lnTo>
                  <a:lnTo>
                    <a:pt x="0" y="615061"/>
                  </a:lnTo>
                  <a:moveTo>
                    <a:pt x="25400" y="615061"/>
                  </a:moveTo>
                  <a:cubicBezTo>
                    <a:pt x="25400" y="622046"/>
                    <a:pt x="19685" y="627761"/>
                    <a:pt x="12700" y="627761"/>
                  </a:cubicBezTo>
                  <a:cubicBezTo>
                    <a:pt x="5715" y="627761"/>
                    <a:pt x="0" y="622046"/>
                    <a:pt x="0" y="615061"/>
                  </a:cubicBezTo>
                  <a:cubicBezTo>
                    <a:pt x="0" y="608076"/>
                    <a:pt x="5715" y="602361"/>
                    <a:pt x="12700" y="602361"/>
                  </a:cubicBezTo>
                  <a:cubicBezTo>
                    <a:pt x="19685" y="602361"/>
                    <a:pt x="25400" y="608076"/>
                    <a:pt x="25400" y="615061"/>
                  </a:cubicBezTo>
                  <a:cubicBezTo>
                    <a:pt x="25400" y="940816"/>
                    <a:pt x="289433" y="1204849"/>
                    <a:pt x="615061" y="1204849"/>
                  </a:cubicBezTo>
                  <a:cubicBezTo>
                    <a:pt x="940689" y="1204849"/>
                    <a:pt x="1204849" y="940816"/>
                    <a:pt x="1204849" y="615061"/>
                  </a:cubicBezTo>
                  <a:cubicBezTo>
                    <a:pt x="1204849" y="289306"/>
                    <a:pt x="940816" y="25400"/>
                    <a:pt x="615061" y="25400"/>
                  </a:cubicBezTo>
                  <a:lnTo>
                    <a:pt x="615061" y="12700"/>
                  </a:lnTo>
                  <a:lnTo>
                    <a:pt x="615061" y="25400"/>
                  </a:lnTo>
                  <a:cubicBezTo>
                    <a:pt x="289433" y="25400"/>
                    <a:pt x="25400" y="289433"/>
                    <a:pt x="25400" y="615061"/>
                  </a:cubicBezTo>
                  <a:close/>
                </a:path>
              </a:pathLst>
            </a:custGeom>
            <a:solidFill>
              <a:srgbClr val="000000"/>
            </a:solidFill>
          </p:spPr>
        </p:sp>
      </p:grpSp>
      <p:grpSp>
        <p:nvGrpSpPr>
          <p:cNvPr name="Group 18" id="18"/>
          <p:cNvGrpSpPr/>
          <p:nvPr/>
        </p:nvGrpSpPr>
        <p:grpSpPr>
          <a:xfrm rot="0">
            <a:off x="2540975" y="6246849"/>
            <a:ext cx="922650" cy="922650"/>
            <a:chOff x="0" y="0"/>
            <a:chExt cx="1230200" cy="1230200"/>
          </a:xfrm>
        </p:grpSpPr>
        <p:sp>
          <p:nvSpPr>
            <p:cNvPr name="Freeform 19" id="19"/>
            <p:cNvSpPr/>
            <p:nvPr/>
          </p:nvSpPr>
          <p:spPr>
            <a:xfrm flipH="false" flipV="false" rot="0">
              <a:off x="0" y="0"/>
              <a:ext cx="1230249" cy="1230122"/>
            </a:xfrm>
            <a:custGeom>
              <a:avLst/>
              <a:gdLst/>
              <a:ahLst/>
              <a:cxnLst/>
              <a:rect r="r" b="b" t="t" l="l"/>
              <a:pathLst>
                <a:path h="1230122" w="1230249">
                  <a:moveTo>
                    <a:pt x="0" y="615061"/>
                  </a:moveTo>
                  <a:cubicBezTo>
                    <a:pt x="0" y="275336"/>
                    <a:pt x="275336" y="0"/>
                    <a:pt x="615061" y="0"/>
                  </a:cubicBezTo>
                  <a:lnTo>
                    <a:pt x="615061" y="12700"/>
                  </a:lnTo>
                  <a:lnTo>
                    <a:pt x="615061" y="0"/>
                  </a:lnTo>
                  <a:cubicBezTo>
                    <a:pt x="954786" y="0"/>
                    <a:pt x="1230249" y="275336"/>
                    <a:pt x="1230249" y="615061"/>
                  </a:cubicBezTo>
                  <a:lnTo>
                    <a:pt x="1217549" y="615061"/>
                  </a:lnTo>
                  <a:lnTo>
                    <a:pt x="1230249" y="615061"/>
                  </a:lnTo>
                  <a:cubicBezTo>
                    <a:pt x="1230249" y="954786"/>
                    <a:pt x="954913" y="1230122"/>
                    <a:pt x="615188" y="1230122"/>
                  </a:cubicBezTo>
                  <a:lnTo>
                    <a:pt x="615188" y="1217422"/>
                  </a:lnTo>
                  <a:lnTo>
                    <a:pt x="615188" y="1230122"/>
                  </a:lnTo>
                  <a:cubicBezTo>
                    <a:pt x="275336" y="1230249"/>
                    <a:pt x="0" y="954786"/>
                    <a:pt x="0" y="615061"/>
                  </a:cubicBezTo>
                  <a:lnTo>
                    <a:pt x="12700" y="615061"/>
                  </a:lnTo>
                  <a:lnTo>
                    <a:pt x="25400" y="615061"/>
                  </a:lnTo>
                  <a:lnTo>
                    <a:pt x="12700" y="615061"/>
                  </a:lnTo>
                  <a:lnTo>
                    <a:pt x="0" y="615061"/>
                  </a:lnTo>
                  <a:moveTo>
                    <a:pt x="25400" y="615061"/>
                  </a:moveTo>
                  <a:cubicBezTo>
                    <a:pt x="25400" y="622046"/>
                    <a:pt x="19685" y="627761"/>
                    <a:pt x="12700" y="627761"/>
                  </a:cubicBezTo>
                  <a:cubicBezTo>
                    <a:pt x="5715" y="627761"/>
                    <a:pt x="0" y="622046"/>
                    <a:pt x="0" y="615061"/>
                  </a:cubicBezTo>
                  <a:cubicBezTo>
                    <a:pt x="0" y="608076"/>
                    <a:pt x="5715" y="602361"/>
                    <a:pt x="12700" y="602361"/>
                  </a:cubicBezTo>
                  <a:cubicBezTo>
                    <a:pt x="19685" y="602361"/>
                    <a:pt x="25400" y="608076"/>
                    <a:pt x="25400" y="615061"/>
                  </a:cubicBezTo>
                  <a:cubicBezTo>
                    <a:pt x="25400" y="940816"/>
                    <a:pt x="289433" y="1204849"/>
                    <a:pt x="615061" y="1204849"/>
                  </a:cubicBezTo>
                  <a:cubicBezTo>
                    <a:pt x="940689" y="1204849"/>
                    <a:pt x="1204849" y="940816"/>
                    <a:pt x="1204849" y="615061"/>
                  </a:cubicBezTo>
                  <a:cubicBezTo>
                    <a:pt x="1204849" y="289306"/>
                    <a:pt x="940816" y="25400"/>
                    <a:pt x="615061" y="25400"/>
                  </a:cubicBezTo>
                  <a:lnTo>
                    <a:pt x="615061" y="12700"/>
                  </a:lnTo>
                  <a:lnTo>
                    <a:pt x="615061" y="25400"/>
                  </a:lnTo>
                  <a:cubicBezTo>
                    <a:pt x="289433" y="25400"/>
                    <a:pt x="25400" y="289433"/>
                    <a:pt x="25400" y="615061"/>
                  </a:cubicBezTo>
                  <a:close/>
                </a:path>
              </a:pathLst>
            </a:custGeom>
            <a:solidFill>
              <a:srgbClr val="000000"/>
            </a:solidFill>
          </p:spPr>
        </p:sp>
      </p:grpSp>
      <p:grpSp>
        <p:nvGrpSpPr>
          <p:cNvPr name="Group 20" id="20"/>
          <p:cNvGrpSpPr/>
          <p:nvPr/>
        </p:nvGrpSpPr>
        <p:grpSpPr>
          <a:xfrm rot="0">
            <a:off x="3665025" y="6246849"/>
            <a:ext cx="922650" cy="922650"/>
            <a:chOff x="0" y="0"/>
            <a:chExt cx="1230200" cy="1230200"/>
          </a:xfrm>
        </p:grpSpPr>
        <p:sp>
          <p:nvSpPr>
            <p:cNvPr name="Freeform 21" id="21"/>
            <p:cNvSpPr/>
            <p:nvPr/>
          </p:nvSpPr>
          <p:spPr>
            <a:xfrm flipH="false" flipV="false" rot="0">
              <a:off x="0" y="0"/>
              <a:ext cx="1230249" cy="1230122"/>
            </a:xfrm>
            <a:custGeom>
              <a:avLst/>
              <a:gdLst/>
              <a:ahLst/>
              <a:cxnLst/>
              <a:rect r="r" b="b" t="t" l="l"/>
              <a:pathLst>
                <a:path h="1230122" w="1230249">
                  <a:moveTo>
                    <a:pt x="0" y="615061"/>
                  </a:moveTo>
                  <a:cubicBezTo>
                    <a:pt x="0" y="275336"/>
                    <a:pt x="275336" y="0"/>
                    <a:pt x="615061" y="0"/>
                  </a:cubicBezTo>
                  <a:lnTo>
                    <a:pt x="615061" y="12700"/>
                  </a:lnTo>
                  <a:lnTo>
                    <a:pt x="615061" y="0"/>
                  </a:lnTo>
                  <a:cubicBezTo>
                    <a:pt x="954786" y="0"/>
                    <a:pt x="1230249" y="275336"/>
                    <a:pt x="1230249" y="615061"/>
                  </a:cubicBezTo>
                  <a:lnTo>
                    <a:pt x="1217549" y="615061"/>
                  </a:lnTo>
                  <a:lnTo>
                    <a:pt x="1230249" y="615061"/>
                  </a:lnTo>
                  <a:cubicBezTo>
                    <a:pt x="1230249" y="954786"/>
                    <a:pt x="954913" y="1230122"/>
                    <a:pt x="615188" y="1230122"/>
                  </a:cubicBezTo>
                  <a:lnTo>
                    <a:pt x="615188" y="1217422"/>
                  </a:lnTo>
                  <a:lnTo>
                    <a:pt x="615188" y="1230122"/>
                  </a:lnTo>
                  <a:cubicBezTo>
                    <a:pt x="275336" y="1230249"/>
                    <a:pt x="0" y="954786"/>
                    <a:pt x="0" y="615061"/>
                  </a:cubicBezTo>
                  <a:lnTo>
                    <a:pt x="12700" y="615061"/>
                  </a:lnTo>
                  <a:lnTo>
                    <a:pt x="25400" y="615061"/>
                  </a:lnTo>
                  <a:lnTo>
                    <a:pt x="12700" y="615061"/>
                  </a:lnTo>
                  <a:lnTo>
                    <a:pt x="0" y="615061"/>
                  </a:lnTo>
                  <a:moveTo>
                    <a:pt x="25400" y="615061"/>
                  </a:moveTo>
                  <a:cubicBezTo>
                    <a:pt x="25400" y="622046"/>
                    <a:pt x="19685" y="627761"/>
                    <a:pt x="12700" y="627761"/>
                  </a:cubicBezTo>
                  <a:cubicBezTo>
                    <a:pt x="5715" y="627761"/>
                    <a:pt x="0" y="622046"/>
                    <a:pt x="0" y="615061"/>
                  </a:cubicBezTo>
                  <a:cubicBezTo>
                    <a:pt x="0" y="608076"/>
                    <a:pt x="5715" y="602361"/>
                    <a:pt x="12700" y="602361"/>
                  </a:cubicBezTo>
                  <a:cubicBezTo>
                    <a:pt x="19685" y="602361"/>
                    <a:pt x="25400" y="608076"/>
                    <a:pt x="25400" y="615061"/>
                  </a:cubicBezTo>
                  <a:cubicBezTo>
                    <a:pt x="25400" y="940816"/>
                    <a:pt x="289433" y="1204849"/>
                    <a:pt x="615061" y="1204849"/>
                  </a:cubicBezTo>
                  <a:cubicBezTo>
                    <a:pt x="940689" y="1204849"/>
                    <a:pt x="1204849" y="940816"/>
                    <a:pt x="1204849" y="615061"/>
                  </a:cubicBezTo>
                  <a:cubicBezTo>
                    <a:pt x="1204849" y="289306"/>
                    <a:pt x="940816" y="25400"/>
                    <a:pt x="615061" y="25400"/>
                  </a:cubicBezTo>
                  <a:lnTo>
                    <a:pt x="615061" y="12700"/>
                  </a:lnTo>
                  <a:lnTo>
                    <a:pt x="615061" y="25400"/>
                  </a:lnTo>
                  <a:cubicBezTo>
                    <a:pt x="289433" y="25400"/>
                    <a:pt x="25400" y="289433"/>
                    <a:pt x="25400" y="615061"/>
                  </a:cubicBezTo>
                  <a:close/>
                </a:path>
              </a:pathLst>
            </a:custGeom>
            <a:solidFill>
              <a:srgbClr val="000000"/>
            </a:solidFill>
          </p:spPr>
        </p:sp>
      </p:grpSp>
      <p:grpSp>
        <p:nvGrpSpPr>
          <p:cNvPr name="Group 22" id="22"/>
          <p:cNvGrpSpPr/>
          <p:nvPr/>
        </p:nvGrpSpPr>
        <p:grpSpPr>
          <a:xfrm rot="0">
            <a:off x="4789075" y="6246849"/>
            <a:ext cx="922650" cy="922650"/>
            <a:chOff x="0" y="0"/>
            <a:chExt cx="1230200" cy="1230200"/>
          </a:xfrm>
        </p:grpSpPr>
        <p:sp>
          <p:nvSpPr>
            <p:cNvPr name="Freeform 23" id="23"/>
            <p:cNvSpPr/>
            <p:nvPr/>
          </p:nvSpPr>
          <p:spPr>
            <a:xfrm flipH="false" flipV="false" rot="0">
              <a:off x="0" y="0"/>
              <a:ext cx="1230249" cy="1230122"/>
            </a:xfrm>
            <a:custGeom>
              <a:avLst/>
              <a:gdLst/>
              <a:ahLst/>
              <a:cxnLst/>
              <a:rect r="r" b="b" t="t" l="l"/>
              <a:pathLst>
                <a:path h="1230122" w="1230249">
                  <a:moveTo>
                    <a:pt x="0" y="615061"/>
                  </a:moveTo>
                  <a:cubicBezTo>
                    <a:pt x="0" y="275336"/>
                    <a:pt x="275336" y="0"/>
                    <a:pt x="615061" y="0"/>
                  </a:cubicBezTo>
                  <a:lnTo>
                    <a:pt x="615061" y="12700"/>
                  </a:lnTo>
                  <a:lnTo>
                    <a:pt x="615061" y="0"/>
                  </a:lnTo>
                  <a:cubicBezTo>
                    <a:pt x="954786" y="0"/>
                    <a:pt x="1230249" y="275336"/>
                    <a:pt x="1230249" y="615061"/>
                  </a:cubicBezTo>
                  <a:lnTo>
                    <a:pt x="1217549" y="615061"/>
                  </a:lnTo>
                  <a:lnTo>
                    <a:pt x="1230249" y="615061"/>
                  </a:lnTo>
                  <a:cubicBezTo>
                    <a:pt x="1230249" y="954786"/>
                    <a:pt x="954913" y="1230122"/>
                    <a:pt x="615188" y="1230122"/>
                  </a:cubicBezTo>
                  <a:lnTo>
                    <a:pt x="615188" y="1217422"/>
                  </a:lnTo>
                  <a:lnTo>
                    <a:pt x="615188" y="1230122"/>
                  </a:lnTo>
                  <a:cubicBezTo>
                    <a:pt x="275336" y="1230249"/>
                    <a:pt x="0" y="954786"/>
                    <a:pt x="0" y="615061"/>
                  </a:cubicBezTo>
                  <a:lnTo>
                    <a:pt x="12700" y="615061"/>
                  </a:lnTo>
                  <a:lnTo>
                    <a:pt x="25400" y="615061"/>
                  </a:lnTo>
                  <a:lnTo>
                    <a:pt x="12700" y="615061"/>
                  </a:lnTo>
                  <a:lnTo>
                    <a:pt x="0" y="615061"/>
                  </a:lnTo>
                  <a:moveTo>
                    <a:pt x="25400" y="615061"/>
                  </a:moveTo>
                  <a:cubicBezTo>
                    <a:pt x="25400" y="622046"/>
                    <a:pt x="19685" y="627761"/>
                    <a:pt x="12700" y="627761"/>
                  </a:cubicBezTo>
                  <a:cubicBezTo>
                    <a:pt x="5715" y="627761"/>
                    <a:pt x="0" y="622046"/>
                    <a:pt x="0" y="615061"/>
                  </a:cubicBezTo>
                  <a:cubicBezTo>
                    <a:pt x="0" y="608076"/>
                    <a:pt x="5715" y="602361"/>
                    <a:pt x="12700" y="602361"/>
                  </a:cubicBezTo>
                  <a:cubicBezTo>
                    <a:pt x="19685" y="602361"/>
                    <a:pt x="25400" y="608076"/>
                    <a:pt x="25400" y="615061"/>
                  </a:cubicBezTo>
                  <a:cubicBezTo>
                    <a:pt x="25400" y="940816"/>
                    <a:pt x="289433" y="1204849"/>
                    <a:pt x="615061" y="1204849"/>
                  </a:cubicBezTo>
                  <a:cubicBezTo>
                    <a:pt x="940689" y="1204849"/>
                    <a:pt x="1204849" y="940816"/>
                    <a:pt x="1204849" y="615061"/>
                  </a:cubicBezTo>
                  <a:cubicBezTo>
                    <a:pt x="1204849" y="289306"/>
                    <a:pt x="940816" y="25400"/>
                    <a:pt x="615061" y="25400"/>
                  </a:cubicBezTo>
                  <a:lnTo>
                    <a:pt x="615061" y="12700"/>
                  </a:lnTo>
                  <a:lnTo>
                    <a:pt x="615061" y="25400"/>
                  </a:lnTo>
                  <a:cubicBezTo>
                    <a:pt x="289433" y="25400"/>
                    <a:pt x="25400" y="289433"/>
                    <a:pt x="25400" y="615061"/>
                  </a:cubicBezTo>
                  <a:close/>
                </a:path>
              </a:pathLst>
            </a:custGeom>
            <a:solidFill>
              <a:srgbClr val="000000"/>
            </a:solidFill>
          </p:spPr>
        </p:sp>
      </p:grpSp>
      <p:grpSp>
        <p:nvGrpSpPr>
          <p:cNvPr name="Group 24" id="24"/>
          <p:cNvGrpSpPr/>
          <p:nvPr/>
        </p:nvGrpSpPr>
        <p:grpSpPr>
          <a:xfrm rot="0">
            <a:off x="16394350" y="1079000"/>
            <a:ext cx="1275000" cy="1275000"/>
            <a:chOff x="0" y="0"/>
            <a:chExt cx="1700000" cy="1700000"/>
          </a:xfrm>
        </p:grpSpPr>
        <p:sp>
          <p:nvSpPr>
            <p:cNvPr name="Freeform 25" id="25"/>
            <p:cNvSpPr/>
            <p:nvPr/>
          </p:nvSpPr>
          <p:spPr>
            <a:xfrm flipH="false" flipV="false" rot="0">
              <a:off x="0" y="0"/>
              <a:ext cx="1700022" cy="1700022"/>
            </a:xfrm>
            <a:custGeom>
              <a:avLst/>
              <a:gdLst/>
              <a:ahLst/>
              <a:cxnLst/>
              <a:rect r="r" b="b" t="t" l="l"/>
              <a:pathLst>
                <a:path h="1700022" w="1700022">
                  <a:moveTo>
                    <a:pt x="0" y="850011"/>
                  </a:moveTo>
                  <a:cubicBezTo>
                    <a:pt x="0" y="380619"/>
                    <a:pt x="380619" y="0"/>
                    <a:pt x="850011" y="0"/>
                  </a:cubicBezTo>
                  <a:cubicBezTo>
                    <a:pt x="1319403" y="0"/>
                    <a:pt x="1700022" y="380619"/>
                    <a:pt x="1700022" y="850011"/>
                  </a:cubicBezTo>
                  <a:cubicBezTo>
                    <a:pt x="1700022" y="1319403"/>
                    <a:pt x="1319403" y="1700022"/>
                    <a:pt x="850011" y="1700022"/>
                  </a:cubicBezTo>
                  <a:cubicBezTo>
                    <a:pt x="380619" y="1700022"/>
                    <a:pt x="0" y="1319403"/>
                    <a:pt x="0" y="850011"/>
                  </a:cubicBezTo>
                  <a:close/>
                </a:path>
              </a:pathLst>
            </a:custGeom>
            <a:solidFill>
              <a:srgbClr val="FFFFFF"/>
            </a:solidFill>
          </p:spPr>
        </p:sp>
      </p:grpSp>
      <p:grpSp>
        <p:nvGrpSpPr>
          <p:cNvPr name="Group 26" id="26"/>
          <p:cNvGrpSpPr/>
          <p:nvPr/>
        </p:nvGrpSpPr>
        <p:grpSpPr>
          <a:xfrm rot="0">
            <a:off x="10786550" y="4762476"/>
            <a:ext cx="762000" cy="762000"/>
            <a:chOff x="0" y="0"/>
            <a:chExt cx="1016000" cy="1016000"/>
          </a:xfrm>
        </p:grpSpPr>
        <p:sp>
          <p:nvSpPr>
            <p:cNvPr name="Freeform 27" id="27"/>
            <p:cNvSpPr/>
            <p:nvPr/>
          </p:nvSpPr>
          <p:spPr>
            <a:xfrm flipH="false" flipV="false" rot="0">
              <a:off x="0" y="0"/>
              <a:ext cx="1016000" cy="1016000"/>
            </a:xfrm>
            <a:custGeom>
              <a:avLst/>
              <a:gdLst/>
              <a:ahLst/>
              <a:cxnLst/>
              <a:rect r="r" b="b" t="t" l="l"/>
              <a:pathLst>
                <a:path h="1016000" w="1016000">
                  <a:moveTo>
                    <a:pt x="0" y="508000"/>
                  </a:moveTo>
                  <a:cubicBezTo>
                    <a:pt x="0" y="227457"/>
                    <a:pt x="227457" y="0"/>
                    <a:pt x="508000" y="0"/>
                  </a:cubicBezTo>
                  <a:cubicBezTo>
                    <a:pt x="788543" y="0"/>
                    <a:pt x="1016000" y="227457"/>
                    <a:pt x="1016000" y="508000"/>
                  </a:cubicBezTo>
                  <a:cubicBezTo>
                    <a:pt x="1016000" y="788543"/>
                    <a:pt x="788543" y="1016000"/>
                    <a:pt x="508000" y="1016000"/>
                  </a:cubicBezTo>
                  <a:cubicBezTo>
                    <a:pt x="227457" y="1016000"/>
                    <a:pt x="0" y="788543"/>
                    <a:pt x="0" y="508000"/>
                  </a:cubicBezTo>
                  <a:close/>
                </a:path>
              </a:pathLst>
            </a:custGeom>
            <a:gradFill rotWithShape="true">
              <a:gsLst>
                <a:gs pos="0">
                  <a:srgbClr val="D149CE">
                    <a:alpha val="100000"/>
                  </a:srgbClr>
                </a:gs>
                <a:gs pos="100000">
                  <a:srgbClr val="43309F">
                    <a:alpha val="100000"/>
                  </a:srgbClr>
                </a:gs>
              </a:gsLst>
              <a:lin ang="5400012"/>
            </a:gradFill>
          </p:spPr>
        </p:sp>
      </p:grpSp>
      <p:sp>
        <p:nvSpPr>
          <p:cNvPr name="Freeform 28" id="28"/>
          <p:cNvSpPr/>
          <p:nvPr/>
        </p:nvSpPr>
        <p:spPr>
          <a:xfrm flipH="false" flipV="false" rot="0">
            <a:off x="11748575" y="2396081"/>
            <a:ext cx="5984252" cy="5494838"/>
          </a:xfrm>
          <a:custGeom>
            <a:avLst/>
            <a:gdLst/>
            <a:ahLst/>
            <a:cxnLst/>
            <a:rect r="r" b="b" t="t" l="l"/>
            <a:pathLst>
              <a:path h="5494838" w="5984252">
                <a:moveTo>
                  <a:pt x="0" y="0"/>
                </a:moveTo>
                <a:lnTo>
                  <a:pt x="5984252" y="0"/>
                </a:lnTo>
                <a:lnTo>
                  <a:pt x="5984252" y="5494838"/>
                </a:lnTo>
                <a:lnTo>
                  <a:pt x="0" y="54948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DAHE84cWHLA</dc:identifier>
  <dcterms:modified xsi:type="dcterms:W3CDTF">2011-08-01T06:04:30Z</dcterms:modified>
  <cp:revision>1</cp:revision>
  <dc:title>Computer Science &amp; Mathematics Major For College_ Mathematics by Slidesgo.pptx</dc:title>
</cp:coreProperties>
</file>