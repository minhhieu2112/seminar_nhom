
<file path=[Content_Types].xml><?xml version="1.0" encoding="utf-8"?>
<Types xmlns="http://schemas.openxmlformats.org/package/2006/content-types">
  <Default ContentType="application/vnd.openxmlformats-officedocument.oleObject" Extension="bin"/>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notesSlide+xml" PartName="/ppt/notesSlides/notesSlide20.xml"/>
  <Override ContentType="application/vnd.openxmlformats-officedocument.presentationml.notesSlide+xml" PartName="/ppt/notesSlides/notesSlide21.xml"/>
  <Override ContentType="application/vnd.openxmlformats-officedocument.presentationml.notesSlide+xml" PartName="/ppt/notesSlides/notesSlide22.xml"/>
  <Override ContentType="application/vnd.openxmlformats-officedocument.presentationml.notesSlide+xml" PartName="/ppt/notesSlides/notesSlide23.xml"/>
  <Override ContentType="application/vnd.openxmlformats-officedocument.presentationml.notesSlide+xml" PartName="/ppt/notesSlides/notesSlide24.xml"/>
  <Override ContentType="application/vnd.openxmlformats-officedocument.presentationml.notesSlide+xml" PartName="/ppt/notesSlides/notesSlide25.xml"/>
  <Override ContentType="application/vnd.openxmlformats-officedocument.presentationml.notesSlide+xml" PartName="/ppt/notesSlides/notesSlide26.xml"/>
  <Override ContentType="application/vnd.openxmlformats-officedocument.presentationml.notesSlide+xml" PartName="/ppt/notesSlides/notesSlide27.xml"/>
  <Override ContentType="application/vnd.openxmlformats-officedocument.presentationml.notesSlide+xml" PartName="/ppt/notesSlides/notesSlide28.xml"/>
  <Override ContentType="application/vnd.openxmlformats-officedocument.presentationml.notesSlide+xml" PartName="/ppt/notesSlides/notesSlide29.xml"/>
  <Override ContentType="application/vnd.openxmlformats-officedocument.presentationml.notesSlide+xml" PartName="/ppt/notesSlides/notesSlide30.xml"/>
  <Override ContentType="application/vnd.openxmlformats-officedocument.presentationml.notesSlide+xml" PartName="/ppt/notesSlides/notesSlide31.xml"/>
  <Override ContentType="application/vnd.openxmlformats-officedocument.presentationml.notesSlide+xml" PartName="/ppt/notesSlides/notesSlide32.xml"/>
  <Override ContentType="application/vnd.openxmlformats-officedocument.presentationml.notesSlide+xml" PartName="/ppt/notesSlides/notesSlide33.xml"/>
  <Override ContentType="application/vnd.openxmlformats-officedocument.presentationml.notesSlide+xml" PartName="/ppt/notesSlides/notesSlide34.xml"/>
  <Override ContentType="application/vnd.openxmlformats-officedocument.presentationml.notesSlide+xml" PartName="/ppt/notesSlides/notesSlide35.xml"/>
  <Override ContentType="application/vnd.openxmlformats-officedocument.presentationml.notesSlide+xml" PartName="/ppt/notesSlides/notesSlide36.xml"/>
  <Override ContentType="application/vnd.openxmlformats-officedocument.presentationml.notesSlide+xml" PartName="/ppt/notesSlides/notesSlide37.xml"/>
  <Override ContentType="application/vnd.openxmlformats-officedocument.presentationml.notesSlide+xml" PartName="/ppt/notesSlides/notesSlide38.xml"/>
  <Override ContentType="application/vnd.openxmlformats-officedocument.presentationml.notesSlide+xml" PartName="/ppt/notesSlides/notesSlide39.xml"/>
  <Override ContentType="application/vnd.openxmlformats-officedocument.presentationml.notesSlide+xml" PartName="/ppt/notesSlides/notesSlide40.xml"/>
  <Override ContentType="application/vnd.openxmlformats-officedocument.presentationml.notesSlide+xml" PartName="/ppt/notesSlides/notesSlide41.xml"/>
  <Override ContentType="application/vnd.openxmlformats-officedocument.presentationml.notesSlide+xml" PartName="/ppt/notesSlides/notesSlide4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8"/>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Lst>
  <p:sldSz cx="18288000" cy="10287000"/>
  <p:notesSz cx="6858000" cy="9144000"/>
  <p:embeddedFontLst>
    <p:embeddedFont>
      <p:font typeface="Noto Serif Bold" charset="1" panose="02020800060500020200"/>
      <p:regular r:id="rId51"/>
    </p:embeddedFont>
    <p:embeddedFont>
      <p:font typeface="Arimo Bold" charset="1" panose="020B0704020202020204"/>
      <p:regular r:id="rId53"/>
    </p:embeddedFont>
    <p:embeddedFont>
      <p:font typeface="Lato" charset="1" panose="020F0502020204030203"/>
      <p:regular r:id="rId55"/>
    </p:embeddedFont>
    <p:embeddedFont>
      <p:font typeface="Arimo" charset="1" panose="020B0604020202020204"/>
      <p:regular r:id="rId73"/>
    </p:embeddedFont>
    <p:embeddedFont>
      <p:font typeface="Lato Bold" charset="1" panose="020F0502020204030203"/>
      <p:regular r:id="rId77"/>
    </p:embeddedFont>
    <p:embeddedFont>
      <p:font typeface="Inter Bold" charset="1" panose="02000503000000020004"/>
      <p:regular r:id="rId82"/>
    </p:embeddedFont>
    <p:embeddedFont>
      <p:font typeface="Inter" charset="1" panose="02000503000000020004"/>
      <p:regular r:id="rId83"/>
    </p:embeddedFont>
    <p:embeddedFont>
      <p:font typeface="Inter Medium Italics" charset="1" panose="02000503000000020004"/>
      <p:regular r:id="rId87"/>
    </p:embeddedFont>
    <p:embeddedFont>
      <p:font typeface="Geometra" charset="1" panose="01000503000000020003"/>
      <p:regular r:id="rId88"/>
    </p:embeddedFont>
    <p:embeddedFont>
      <p:font typeface="Inter Medium" charset="1" panose="020005030000000200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00" Target="notesSlides/notesSlide41.xml" Type="http://schemas.openxmlformats.org/officeDocument/2006/relationships/notesSlide"/><Relationship Id="rId101" Target="notesSlides/notesSlide42.xml" Type="http://schemas.openxmlformats.org/officeDocument/2006/relationships/note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notesMasters/notesMaster1.xml" Type="http://schemas.openxmlformats.org/officeDocument/2006/relationships/notesMaster"/><Relationship Id="rId49" Target="theme/theme2.xml" Type="http://schemas.openxmlformats.org/officeDocument/2006/relationships/theme"/><Relationship Id="rId5" Target="tableStyles.xml" Type="http://schemas.openxmlformats.org/officeDocument/2006/relationships/tableStyles"/><Relationship Id="rId50" Target="notesSlides/notesSlide1.xml" Type="http://schemas.openxmlformats.org/officeDocument/2006/relationships/notesSlide"/><Relationship Id="rId51" Target="fonts/font51.fntdata" Type="http://schemas.openxmlformats.org/officeDocument/2006/relationships/font"/><Relationship Id="rId52" Target="notesSlides/notesSlide2.xml" Type="http://schemas.openxmlformats.org/officeDocument/2006/relationships/notesSlide"/><Relationship Id="rId53" Target="fonts/font53.fntdata" Type="http://schemas.openxmlformats.org/officeDocument/2006/relationships/font"/><Relationship Id="rId54" Target="notesSlides/notesSlide3.xml" Type="http://schemas.openxmlformats.org/officeDocument/2006/relationships/notesSlide"/><Relationship Id="rId55" Target="fonts/font55.fntdata" Type="http://schemas.openxmlformats.org/officeDocument/2006/relationships/font"/><Relationship Id="rId56" Target="notesSlides/notesSlide4.xml" Type="http://schemas.openxmlformats.org/officeDocument/2006/relationships/notesSlide"/><Relationship Id="rId57" Target="notesSlides/notesSlide5.xml" Type="http://schemas.openxmlformats.org/officeDocument/2006/relationships/notesSlide"/><Relationship Id="rId58" Target="notesSlides/notesSlide6.xml" Type="http://schemas.openxmlformats.org/officeDocument/2006/relationships/notesSlide"/><Relationship Id="rId59" Target="notesSlides/notesSlide7.xml" Type="http://schemas.openxmlformats.org/officeDocument/2006/relationships/notesSlide"/><Relationship Id="rId6" Target="slides/slide1.xml" Type="http://schemas.openxmlformats.org/officeDocument/2006/relationships/slide"/><Relationship Id="rId60" Target="notesSlides/notesSlide8.xml" Type="http://schemas.openxmlformats.org/officeDocument/2006/relationships/notesSlide"/><Relationship Id="rId61" Target="notesSlides/notesSlide9.xml" Type="http://schemas.openxmlformats.org/officeDocument/2006/relationships/notesSlide"/><Relationship Id="rId62" Target="notesSlides/notesSlide10.xml" Type="http://schemas.openxmlformats.org/officeDocument/2006/relationships/notesSlide"/><Relationship Id="rId63" Target="notesSlides/notesSlide11.xml" Type="http://schemas.openxmlformats.org/officeDocument/2006/relationships/notesSlide"/><Relationship Id="rId64" Target="notesSlides/notesSlide12.xml" Type="http://schemas.openxmlformats.org/officeDocument/2006/relationships/notesSlide"/><Relationship Id="rId65" Target="notesSlides/notesSlide13.xml" Type="http://schemas.openxmlformats.org/officeDocument/2006/relationships/notesSlide"/><Relationship Id="rId66" Target="notesSlides/notesSlide14.xml" Type="http://schemas.openxmlformats.org/officeDocument/2006/relationships/notesSlide"/><Relationship Id="rId67" Target="notesSlides/notesSlide15.xml" Type="http://schemas.openxmlformats.org/officeDocument/2006/relationships/notesSlide"/><Relationship Id="rId68" Target="notesSlides/notesSlide16.xml" Type="http://schemas.openxmlformats.org/officeDocument/2006/relationships/notesSlide"/><Relationship Id="rId69" Target="notesSlides/notesSlide17.xml" Type="http://schemas.openxmlformats.org/officeDocument/2006/relationships/notesSlide"/><Relationship Id="rId7" Target="slides/slide2.xml" Type="http://schemas.openxmlformats.org/officeDocument/2006/relationships/slide"/><Relationship Id="rId70" Target="notesSlides/notesSlide18.xml" Type="http://schemas.openxmlformats.org/officeDocument/2006/relationships/notesSlide"/><Relationship Id="rId71" Target="notesSlides/notesSlide19.xml" Type="http://schemas.openxmlformats.org/officeDocument/2006/relationships/notesSlide"/><Relationship Id="rId72" Target="notesSlides/notesSlide20.xml" Type="http://schemas.openxmlformats.org/officeDocument/2006/relationships/notesSlide"/><Relationship Id="rId73" Target="fonts/font73.fntdata" Type="http://schemas.openxmlformats.org/officeDocument/2006/relationships/font"/><Relationship Id="rId74" Target="notesSlides/notesSlide21.xml" Type="http://schemas.openxmlformats.org/officeDocument/2006/relationships/notesSlide"/><Relationship Id="rId75" Target="notesSlides/notesSlide22.xml" Type="http://schemas.openxmlformats.org/officeDocument/2006/relationships/notesSlide"/><Relationship Id="rId76" Target="notesSlides/notesSlide23.xml" Type="http://schemas.openxmlformats.org/officeDocument/2006/relationships/notesSlide"/><Relationship Id="rId77" Target="fonts/font77.fntdata" Type="http://schemas.openxmlformats.org/officeDocument/2006/relationships/font"/><Relationship Id="rId78" Target="notesSlides/notesSlide24.xml" Type="http://schemas.openxmlformats.org/officeDocument/2006/relationships/notesSlide"/><Relationship Id="rId79" Target="notesSlides/notesSlide25.xml" Type="http://schemas.openxmlformats.org/officeDocument/2006/relationships/notesSlide"/><Relationship Id="rId8" Target="slides/slide3.xml" Type="http://schemas.openxmlformats.org/officeDocument/2006/relationships/slide"/><Relationship Id="rId80" Target="notesSlides/notesSlide26.xml" Type="http://schemas.openxmlformats.org/officeDocument/2006/relationships/notesSlide"/><Relationship Id="rId81" Target="notesSlides/notesSlide27.xml" Type="http://schemas.openxmlformats.org/officeDocument/2006/relationships/notesSlide"/><Relationship Id="rId82" Target="fonts/font82.fntdata" Type="http://schemas.openxmlformats.org/officeDocument/2006/relationships/font"/><Relationship Id="rId83" Target="fonts/font83.fntdata" Type="http://schemas.openxmlformats.org/officeDocument/2006/relationships/font"/><Relationship Id="rId84" Target="notesSlides/notesSlide28.xml" Type="http://schemas.openxmlformats.org/officeDocument/2006/relationships/notesSlide"/><Relationship Id="rId85" Target="notesSlides/notesSlide29.xml" Type="http://schemas.openxmlformats.org/officeDocument/2006/relationships/notesSlide"/><Relationship Id="rId86" Target="notesSlides/notesSlide30.xml" Type="http://schemas.openxmlformats.org/officeDocument/2006/relationships/notesSlide"/><Relationship Id="rId87" Target="fonts/font87.fntdata" Type="http://schemas.openxmlformats.org/officeDocument/2006/relationships/font"/><Relationship Id="rId88" Target="fonts/font88.fntdata" Type="http://schemas.openxmlformats.org/officeDocument/2006/relationships/font"/><Relationship Id="rId89" Target="notesSlides/notesSlide31.xml" Type="http://schemas.openxmlformats.org/officeDocument/2006/relationships/notesSlide"/><Relationship Id="rId9" Target="slides/slide4.xml" Type="http://schemas.openxmlformats.org/officeDocument/2006/relationships/slide"/><Relationship Id="rId90" Target="notesSlides/notesSlide32.xml" Type="http://schemas.openxmlformats.org/officeDocument/2006/relationships/notesSlide"/><Relationship Id="rId91" Target="notesSlides/notesSlide33.xml" Type="http://schemas.openxmlformats.org/officeDocument/2006/relationships/notesSlide"/><Relationship Id="rId92" Target="notesSlides/notesSlide34.xml" Type="http://schemas.openxmlformats.org/officeDocument/2006/relationships/notesSlide"/><Relationship Id="rId93" Target="notesSlides/notesSlide35.xml" Type="http://schemas.openxmlformats.org/officeDocument/2006/relationships/notesSlide"/><Relationship Id="rId94" Target="notesSlides/notesSlide36.xml" Type="http://schemas.openxmlformats.org/officeDocument/2006/relationships/notesSlide"/><Relationship Id="rId95" Target="notesSlides/notesSlide37.xml" Type="http://schemas.openxmlformats.org/officeDocument/2006/relationships/notesSlide"/><Relationship Id="rId96" Target="notesSlides/notesSlide38.xml" Type="http://schemas.openxmlformats.org/officeDocument/2006/relationships/notesSlide"/><Relationship Id="rId97" Target="notesSlides/notesSlide39.xml" Type="http://schemas.openxmlformats.org/officeDocument/2006/relationships/notesSlide"/><Relationship Id="rId98" Target="notesSlides/notesSlide40.xml" Type="http://schemas.openxmlformats.org/officeDocument/2006/relationships/notesSlide"/><Relationship Id="rId99" Target="fonts/font99.fntdata" Type="http://schemas.openxmlformats.org/officeDocument/2006/relationships/font"/></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_rels/notesSlide2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0.xml" Type="http://schemas.openxmlformats.org/officeDocument/2006/relationships/slide"/></Relationships>
</file>

<file path=ppt/notesSlides/_rels/notesSlide2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1.xml" Type="http://schemas.openxmlformats.org/officeDocument/2006/relationships/slide"/></Relationships>
</file>

<file path=ppt/notesSlides/_rels/notesSlide2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2.xml" Type="http://schemas.openxmlformats.org/officeDocument/2006/relationships/slide"/></Relationships>
</file>

<file path=ppt/notesSlides/_rels/notesSlide2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3.xml" Type="http://schemas.openxmlformats.org/officeDocument/2006/relationships/slide"/></Relationships>
</file>

<file path=ppt/notesSlides/_rels/notesSlide2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4.xml" Type="http://schemas.openxmlformats.org/officeDocument/2006/relationships/slide"/></Relationships>
</file>

<file path=ppt/notesSlides/_rels/notesSlide2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5.xml" Type="http://schemas.openxmlformats.org/officeDocument/2006/relationships/slide"/></Relationships>
</file>

<file path=ppt/notesSlides/_rels/notesSlide2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6.xml" Type="http://schemas.openxmlformats.org/officeDocument/2006/relationships/slide"/></Relationships>
</file>

<file path=ppt/notesSlides/_rels/notesSlide2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7.xml" Type="http://schemas.openxmlformats.org/officeDocument/2006/relationships/slide"/></Relationships>
</file>

<file path=ppt/notesSlides/_rels/notesSlide2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8.xml" Type="http://schemas.openxmlformats.org/officeDocument/2006/relationships/slide"/></Relationships>
</file>

<file path=ppt/notesSlides/_rels/notesSlide2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_rels/notesSlide3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1.xml" Type="http://schemas.openxmlformats.org/officeDocument/2006/relationships/slide"/></Relationships>
</file>

<file path=ppt/notesSlides/_rels/notesSlide3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2.xml" Type="http://schemas.openxmlformats.org/officeDocument/2006/relationships/slide"/></Relationships>
</file>

<file path=ppt/notesSlides/_rels/notesSlide3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3.xml" Type="http://schemas.openxmlformats.org/officeDocument/2006/relationships/slide"/></Relationships>
</file>

<file path=ppt/notesSlides/_rels/notesSlide3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4.xml" Type="http://schemas.openxmlformats.org/officeDocument/2006/relationships/slide"/></Relationships>
</file>

<file path=ppt/notesSlides/_rels/notesSlide3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5.xml" Type="http://schemas.openxmlformats.org/officeDocument/2006/relationships/slide"/></Relationships>
</file>

<file path=ppt/notesSlides/_rels/notesSlide3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6.xml" Type="http://schemas.openxmlformats.org/officeDocument/2006/relationships/slide"/></Relationships>
</file>

<file path=ppt/notesSlides/_rels/notesSlide3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_rels/notesSlide3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8.xml" Type="http://schemas.openxmlformats.org/officeDocument/2006/relationships/slide"/></Relationships>
</file>

<file path=ppt/notesSlides/_rels/notesSlide3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9.xml" Type="http://schemas.openxmlformats.org/officeDocument/2006/relationships/slide"/></Relationships>
</file>

<file path=ppt/notesSlides/_rels/notesSlide4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0.xml" Type="http://schemas.openxmlformats.org/officeDocument/2006/relationships/slide"/></Relationships>
</file>

<file path=ppt/notesSlides/_rels/notesSlide4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1.xml" Type="http://schemas.openxmlformats.org/officeDocument/2006/relationships/slide"/></Relationships>
</file>

<file path=ppt/notesSlides/_rels/notesSlide4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png" Type="http://schemas.openxmlformats.org/officeDocument/2006/relationships/image"/><Relationship Id="rId11" Target="../media/image9.svg" Type="http://schemas.openxmlformats.org/officeDocument/2006/relationships/image"/><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 Id="rId6" Target="../media/image4.svg" Type="http://schemas.openxmlformats.org/officeDocument/2006/relationships/image"/><Relationship Id="rId7" Target="../media/image5.png" Type="http://schemas.openxmlformats.org/officeDocument/2006/relationships/image"/><Relationship Id="rId8" Target="../media/image6.svg" Type="http://schemas.openxmlformats.org/officeDocument/2006/relationships/image"/><Relationship Id="rId9" Target="../media/image7.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2.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3.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4.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38.png" Type="http://schemas.openxmlformats.org/officeDocument/2006/relationships/image"/><Relationship Id="rId2" Target="../notesSlides/notesSlide5.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6.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2" Target="../notesSlides/notesSlide7.xml" Type="http://schemas.openxmlformats.org/officeDocument/2006/relationships/notesSlid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media/image7.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8.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4.svg" Type="http://schemas.openxmlformats.org/officeDocument/2006/relationships/image"/><Relationship Id="rId11" Target="../media/image7.jpeg" Type="http://schemas.openxmlformats.org/officeDocument/2006/relationships/image"/><Relationship Id="rId12" Target="../media/image55.png" Type="http://schemas.openxmlformats.org/officeDocument/2006/relationships/image"/><Relationship Id="rId13" Target="../media/image56.svg" Type="http://schemas.openxmlformats.org/officeDocument/2006/relationships/image"/><Relationship Id="rId14" Target="../media/image57.png" Type="http://schemas.openxmlformats.org/officeDocument/2006/relationships/image"/><Relationship Id="rId15" Target="../media/image58.svg" Type="http://schemas.openxmlformats.org/officeDocument/2006/relationships/image"/><Relationship Id="rId16" Target="../media/image59.png" Type="http://schemas.openxmlformats.org/officeDocument/2006/relationships/image"/><Relationship Id="rId17" Target="../media/image60.svg" Type="http://schemas.openxmlformats.org/officeDocument/2006/relationships/image"/><Relationship Id="rId18" Target="../media/image61.png" Type="http://schemas.openxmlformats.org/officeDocument/2006/relationships/image"/><Relationship Id="rId19" Target="../media/image62.svg" Type="http://schemas.openxmlformats.org/officeDocument/2006/relationships/image"/><Relationship Id="rId2" Target="../notesSlides/notesSlide9.xml" Type="http://schemas.openxmlformats.org/officeDocument/2006/relationships/notesSlide"/><Relationship Id="rId20" Target="../media/image63.png" Type="http://schemas.openxmlformats.org/officeDocument/2006/relationships/image"/><Relationship Id="rId21" Target="../media/image64.svg" Type="http://schemas.openxmlformats.org/officeDocument/2006/relationships/image"/><Relationship Id="rId22" Target="../media/image65.png" Type="http://schemas.openxmlformats.org/officeDocument/2006/relationships/image"/><Relationship Id="rId23" Target="../media/image66.svg" Type="http://schemas.openxmlformats.org/officeDocument/2006/relationships/image"/><Relationship Id="rId24" Target="../media/image67.png" Type="http://schemas.openxmlformats.org/officeDocument/2006/relationships/image"/><Relationship Id="rId3" Target="../media/image47.png" Type="http://schemas.openxmlformats.org/officeDocument/2006/relationships/image"/><Relationship Id="rId4" Target="../media/image48.svg" Type="http://schemas.openxmlformats.org/officeDocument/2006/relationships/image"/><Relationship Id="rId5" Target="../media/image49.png" Type="http://schemas.openxmlformats.org/officeDocument/2006/relationships/image"/><Relationship Id="rId6" Target="../media/image50.svg" Type="http://schemas.openxmlformats.org/officeDocument/2006/relationships/image"/><Relationship Id="rId7" Target="../media/image51.png" Type="http://schemas.openxmlformats.org/officeDocument/2006/relationships/image"/><Relationship Id="rId8" Target="../media/image52.svg" Type="http://schemas.openxmlformats.org/officeDocument/2006/relationships/image"/><Relationship Id="rId9" Target="../media/image5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10.xml" Type="http://schemas.openxmlformats.org/officeDocument/2006/relationships/notesSlide"/><Relationship Id="rId20" Target="../media/image68.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11.xml" Type="http://schemas.openxmlformats.org/officeDocument/2006/relationships/notesSlid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12.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2" Target="../notesSlides/notesSlide13.xml" Type="http://schemas.openxmlformats.org/officeDocument/2006/relationships/notesSlide"/><Relationship Id="rId3" Target="../media/image69.png" Type="http://schemas.openxmlformats.org/officeDocument/2006/relationships/image"/><Relationship Id="rId4" Target="../media/image70.sv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7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14.xml" Type="http://schemas.openxmlformats.org/officeDocument/2006/relationships/notesSlide"/><Relationship Id="rId20" Target="../media/image77.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5.png" Type="http://schemas.openxmlformats.org/officeDocument/2006/relationships/image"/><Relationship Id="rId11" Target="../media/image46.svg" Type="http://schemas.openxmlformats.org/officeDocument/2006/relationships/image"/><Relationship Id="rId2" Target="../notesSlides/notesSlide15.xml" Type="http://schemas.openxmlformats.org/officeDocument/2006/relationships/notesSlide"/><Relationship Id="rId3" Target="../media/image39.png" Type="http://schemas.openxmlformats.org/officeDocument/2006/relationships/image"/><Relationship Id="rId4" Target="../media/image40.svg" Type="http://schemas.openxmlformats.org/officeDocument/2006/relationships/image"/><Relationship Id="rId5" Target="../media/image41.png" Type="http://schemas.openxmlformats.org/officeDocument/2006/relationships/image"/><Relationship Id="rId6" Target="../media/image42.svg" Type="http://schemas.openxmlformats.org/officeDocument/2006/relationships/image"/><Relationship Id="rId7" Target="../media/image43.png" Type="http://schemas.openxmlformats.org/officeDocument/2006/relationships/image"/><Relationship Id="rId8" Target="../media/image44.svg" Type="http://schemas.openxmlformats.org/officeDocument/2006/relationships/image"/><Relationship Id="rId9" Target="../media/image7.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16.xml" Type="http://schemas.openxmlformats.org/officeDocument/2006/relationships/notesSlide"/><Relationship Id="rId20" Target="../media/image78.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svg" Type="http://schemas.openxmlformats.org/officeDocument/2006/relationships/image"/><Relationship Id="rId13" Target="../media/image32.png" Type="http://schemas.openxmlformats.org/officeDocument/2006/relationships/image"/><Relationship Id="rId14" Target="../media/image33.svg" Type="http://schemas.openxmlformats.org/officeDocument/2006/relationships/image"/><Relationship Id="rId15" Target="../media/image34.png" Type="http://schemas.openxmlformats.org/officeDocument/2006/relationships/image"/><Relationship Id="rId16" Target="../media/image35.svg" Type="http://schemas.openxmlformats.org/officeDocument/2006/relationships/image"/><Relationship Id="rId17" Target="../media/image36.png" Type="http://schemas.openxmlformats.org/officeDocument/2006/relationships/image"/><Relationship Id="rId18" Target="../media/image37.svg" Type="http://schemas.openxmlformats.org/officeDocument/2006/relationships/image"/><Relationship Id="rId19" Target="../media/image7.jpeg" Type="http://schemas.openxmlformats.org/officeDocument/2006/relationships/image"/><Relationship Id="rId2" Target="../notesSlides/notesSlide17.xml" Type="http://schemas.openxmlformats.org/officeDocument/2006/relationships/notesSlide"/><Relationship Id="rId20" Target="../media/image79.png" Type="http://schemas.openxmlformats.org/officeDocument/2006/relationships/image"/><Relationship Id="rId3" Target="../media/image22.png" Type="http://schemas.openxmlformats.org/officeDocument/2006/relationships/image"/><Relationship Id="rId4" Target="../media/image23.svg" Type="http://schemas.openxmlformats.org/officeDocument/2006/relationships/image"/><Relationship Id="rId5" Target="../media/image24.png" Type="http://schemas.openxmlformats.org/officeDocument/2006/relationships/image"/><Relationship Id="rId6" Target="../media/image25.svg" Type="http://schemas.openxmlformats.org/officeDocument/2006/relationships/image"/><Relationship Id="rId7" Target="../media/image26.png" Type="http://schemas.openxmlformats.org/officeDocument/2006/relationships/image"/><Relationship Id="rId8" Target="../media/image27.svg" Type="http://schemas.openxmlformats.org/officeDocument/2006/relationships/image"/><Relationship Id="rId9" Target="../media/image28.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0.png" Type="http://schemas.openxmlformats.org/officeDocument/2006/relationships/image"/><Relationship Id="rId2" Target="../notesSlides/notesSlide18.xml" Type="http://schemas.openxmlformats.org/officeDocument/2006/relationships/notesSlid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7.jpe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81.png" Type="http://schemas.openxmlformats.org/officeDocument/2006/relationships/image"/><Relationship Id="rId2" Target="../notesSlides/notesSlide19.xml" Type="http://schemas.openxmlformats.org/officeDocument/2006/relationships/notesSlide"/><Relationship Id="rId3" Target="../media/image41.png" Type="http://schemas.openxmlformats.org/officeDocument/2006/relationships/image"/><Relationship Id="rId4" Target="../media/image42.svg" Type="http://schemas.openxmlformats.org/officeDocument/2006/relationships/image"/><Relationship Id="rId5" Target="../media/image43.png" Type="http://schemas.openxmlformats.org/officeDocument/2006/relationships/image"/><Relationship Id="rId6" Target="../media/image44.svg" Type="http://schemas.openxmlformats.org/officeDocument/2006/relationships/image"/><Relationship Id="rId7" Target="../media/image7.jpeg" Type="http://schemas.openxmlformats.org/officeDocument/2006/relationships/image"/><Relationship Id="rId8" Target="../media/image45.png" Type="http://schemas.openxmlformats.org/officeDocument/2006/relationships/image"/><Relationship Id="rId9" Target="../media/image46.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20.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2" Target="../notesSlides/notesSlide21.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88.png" Type="http://schemas.openxmlformats.org/officeDocument/2006/relationships/image"/><Relationship Id="rId12" Target="../media/image89.png" Type="http://schemas.openxmlformats.org/officeDocument/2006/relationships/image"/><Relationship Id="rId13" Target="../media/image90.png" Type="http://schemas.openxmlformats.org/officeDocument/2006/relationships/image"/><Relationship Id="rId2" Target="../notesSlides/notesSlide22.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5.png" Type="http://schemas.openxmlformats.org/officeDocument/2006/relationships/image"/><Relationship Id="rId11" Target="../media/image76.svg" Type="http://schemas.openxmlformats.org/officeDocument/2006/relationships/image"/><Relationship Id="rId12" Target="../media/image91.png" Type="http://schemas.openxmlformats.org/officeDocument/2006/relationships/image"/><Relationship Id="rId13" Target="../media/image92.png" Type="http://schemas.openxmlformats.org/officeDocument/2006/relationships/image"/><Relationship Id="rId2" Target="../notesSlides/notesSlide23.xml" Type="http://schemas.openxmlformats.org/officeDocument/2006/relationships/notesSlide"/><Relationship Id="rId3" Target="../media/image88.png" Type="http://schemas.openxmlformats.org/officeDocument/2006/relationships/image"/><Relationship Id="rId4" Target="../media/image82.png" Type="http://schemas.openxmlformats.org/officeDocument/2006/relationships/image"/><Relationship Id="rId5" Target="../media/image83.svg" Type="http://schemas.openxmlformats.org/officeDocument/2006/relationships/image"/><Relationship Id="rId6" Target="../media/image84.png" Type="http://schemas.openxmlformats.org/officeDocument/2006/relationships/image"/><Relationship Id="rId7" Target="../media/image85.svg" Type="http://schemas.openxmlformats.org/officeDocument/2006/relationships/image"/><Relationship Id="rId8" Target="../media/image86.png" Type="http://schemas.openxmlformats.org/officeDocument/2006/relationships/image"/><Relationship Id="rId9" Target="../media/image8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93.png" Type="http://schemas.openxmlformats.org/officeDocument/2006/relationships/image"/><Relationship Id="rId12" Target="../embeddings/oleObject1.bin" Type="http://schemas.openxmlformats.org/officeDocument/2006/relationships/oleObject"/><Relationship Id="rId2" Target="../notesSlides/notesSlide24.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2" Target="../notesSlides/notesSlide25.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94.png" Type="http://schemas.openxmlformats.org/officeDocument/2006/relationships/image"/><Relationship Id="rId12" Target="../media/image95.png" Type="http://schemas.openxmlformats.org/officeDocument/2006/relationships/image"/><Relationship Id="rId2" Target="../notesSlides/notesSlide26.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96.png" Type="http://schemas.openxmlformats.org/officeDocument/2006/relationships/image"/><Relationship Id="rId12" Target="../media/image97.png" Type="http://schemas.openxmlformats.org/officeDocument/2006/relationships/image"/><Relationship Id="rId13" Target="../media/image98.png" Type="http://schemas.openxmlformats.org/officeDocument/2006/relationships/image"/><Relationship Id="rId2" Target="../notesSlides/notesSlide27.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99.png" Type="http://schemas.openxmlformats.org/officeDocument/2006/relationships/image"/><Relationship Id="rId12" Target="../media/image100.png" Type="http://schemas.openxmlformats.org/officeDocument/2006/relationships/image"/><Relationship Id="rId2" Target="../notesSlides/notesSlide28.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29.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2" Target="../notesSlides/notesSlide30.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01.png" Type="http://schemas.openxmlformats.org/officeDocument/2006/relationships/image"/><Relationship Id="rId12" Target="../media/image102.png" Type="http://schemas.openxmlformats.org/officeDocument/2006/relationships/image"/><Relationship Id="rId13" Target="../media/image103.png" Type="http://schemas.openxmlformats.org/officeDocument/2006/relationships/image"/><Relationship Id="rId14" Target="../media/image104.png" Type="http://schemas.openxmlformats.org/officeDocument/2006/relationships/image"/><Relationship Id="rId15" Target="../media/image105.png" Type="http://schemas.openxmlformats.org/officeDocument/2006/relationships/image"/><Relationship Id="rId16" Target="../media/image106.png" Type="http://schemas.openxmlformats.org/officeDocument/2006/relationships/image"/><Relationship Id="rId17" Target="../media/image107.png" Type="http://schemas.openxmlformats.org/officeDocument/2006/relationships/image"/><Relationship Id="rId18" Target="../media/image108.png" Type="http://schemas.openxmlformats.org/officeDocument/2006/relationships/image"/><Relationship Id="rId2" Target="../notesSlides/notesSlide31.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09.png" Type="http://schemas.openxmlformats.org/officeDocument/2006/relationships/image"/><Relationship Id="rId12" Target="../media/image110.png" Type="http://schemas.openxmlformats.org/officeDocument/2006/relationships/image"/><Relationship Id="rId13" Target="../media/image111.png" Type="http://schemas.openxmlformats.org/officeDocument/2006/relationships/image"/><Relationship Id="rId14" Target="../media/image112.png" Type="http://schemas.openxmlformats.org/officeDocument/2006/relationships/image"/><Relationship Id="rId2" Target="../notesSlides/notesSlide32.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13.png" Type="http://schemas.openxmlformats.org/officeDocument/2006/relationships/image"/><Relationship Id="rId2" Target="../notesSlides/notesSlide33.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14.png" Type="http://schemas.openxmlformats.org/officeDocument/2006/relationships/image"/><Relationship Id="rId12" Target="../media/image115.png" Type="http://schemas.openxmlformats.org/officeDocument/2006/relationships/image"/><Relationship Id="rId13" Target="../media/image116.png" Type="http://schemas.openxmlformats.org/officeDocument/2006/relationships/image"/><Relationship Id="rId14" Target="../media/image117.png" Type="http://schemas.openxmlformats.org/officeDocument/2006/relationships/image"/><Relationship Id="rId2" Target="../notesSlides/notesSlide34.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svg" Type="http://schemas.openxmlformats.org/officeDocument/2006/relationships/image"/><Relationship Id="rId11" Target="../media/image7.jpeg" Type="http://schemas.openxmlformats.org/officeDocument/2006/relationships/image"/><Relationship Id="rId12" Target="../media/image18.png" Type="http://schemas.openxmlformats.org/officeDocument/2006/relationships/image"/><Relationship Id="rId13" Target="../media/image19.svg" Type="http://schemas.openxmlformats.org/officeDocument/2006/relationships/image"/><Relationship Id="rId14" Target="../media/image20.png" Type="http://schemas.openxmlformats.org/officeDocument/2006/relationships/image"/><Relationship Id="rId15" Target="../media/image21.svg" Type="http://schemas.openxmlformats.org/officeDocument/2006/relationships/image"/><Relationship Id="rId2" Target="../notesSlides/notesSlide35.xml" Type="http://schemas.openxmlformats.org/officeDocument/2006/relationships/notesSlid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16.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18.png" Type="http://schemas.openxmlformats.org/officeDocument/2006/relationships/image"/><Relationship Id="rId12" Target="../media/image119.png" Type="http://schemas.openxmlformats.org/officeDocument/2006/relationships/image"/><Relationship Id="rId13" Target="../media/image120.png" Type="http://schemas.openxmlformats.org/officeDocument/2006/relationships/image"/><Relationship Id="rId14" Target="../media/image121.png" Type="http://schemas.openxmlformats.org/officeDocument/2006/relationships/image"/><Relationship Id="rId2" Target="../notesSlides/notesSlide36.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22.png" Type="http://schemas.openxmlformats.org/officeDocument/2006/relationships/image"/><Relationship Id="rId12" Target="../media/image119.png" Type="http://schemas.openxmlformats.org/officeDocument/2006/relationships/image"/><Relationship Id="rId13" Target="../media/image120.png" Type="http://schemas.openxmlformats.org/officeDocument/2006/relationships/image"/><Relationship Id="rId14" Target="../media/image123.png" Type="http://schemas.openxmlformats.org/officeDocument/2006/relationships/image"/><Relationship Id="rId2" Target="../notesSlides/notesSlide37.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24.png" Type="http://schemas.openxmlformats.org/officeDocument/2006/relationships/image"/><Relationship Id="rId12" Target="../media/image125.png" Type="http://schemas.openxmlformats.org/officeDocument/2006/relationships/image"/><Relationship Id="rId13" Target="../media/image126.png" Type="http://schemas.openxmlformats.org/officeDocument/2006/relationships/image"/><Relationship Id="rId14" Target="../media/image127.png" Type="http://schemas.openxmlformats.org/officeDocument/2006/relationships/image"/><Relationship Id="rId15" Target="../media/image128.png" Type="http://schemas.openxmlformats.org/officeDocument/2006/relationships/image"/><Relationship Id="rId2" Target="../notesSlides/notesSlide38.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29.png" Type="http://schemas.openxmlformats.org/officeDocument/2006/relationships/image"/><Relationship Id="rId12" Target="../media/image130.png" Type="http://schemas.openxmlformats.org/officeDocument/2006/relationships/image"/><Relationship Id="rId2" Target="../notesSlides/notesSlide39.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2" Target="../notesSlides/notesSlide40.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131.png" Type="http://schemas.openxmlformats.org/officeDocument/2006/relationships/image"/><Relationship Id="rId12" Target="../media/image132.png" Type="http://schemas.openxmlformats.org/officeDocument/2006/relationships/image"/><Relationship Id="rId13" Target="../media/image133.png" Type="http://schemas.openxmlformats.org/officeDocument/2006/relationships/image"/><Relationship Id="rId14" Target="../media/image119.png" Type="http://schemas.openxmlformats.org/officeDocument/2006/relationships/image"/><Relationship Id="rId15" Target="../media/image134.png" Type="http://schemas.openxmlformats.org/officeDocument/2006/relationships/image"/><Relationship Id="rId2" Target="../notesSlides/notesSlide41.xml" Type="http://schemas.openxmlformats.org/officeDocument/2006/relationships/notesSlide"/><Relationship Id="rId3" Target="../media/image82.png" Type="http://schemas.openxmlformats.org/officeDocument/2006/relationships/image"/><Relationship Id="rId4" Target="../media/image83.svg" Type="http://schemas.openxmlformats.org/officeDocument/2006/relationships/image"/><Relationship Id="rId5" Target="../media/image84.png" Type="http://schemas.openxmlformats.org/officeDocument/2006/relationships/image"/><Relationship Id="rId6" Target="../media/image85.svg" Type="http://schemas.openxmlformats.org/officeDocument/2006/relationships/image"/><Relationship Id="rId7" Target="../media/image86.png" Type="http://schemas.openxmlformats.org/officeDocument/2006/relationships/image"/><Relationship Id="rId8" Target="../media/image87.svg" Type="http://schemas.openxmlformats.org/officeDocument/2006/relationships/image"/><Relationship Id="rId9" Target="../media/image7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3.svg" Type="http://schemas.openxmlformats.org/officeDocument/2006/relationships/image"/><Relationship Id="rId11" Target="../media/image7.jpeg" Type="http://schemas.openxmlformats.org/officeDocument/2006/relationships/image"/><Relationship Id="rId12" Target="../media/image141.png" Type="http://schemas.openxmlformats.org/officeDocument/2006/relationships/image"/><Relationship Id="rId13" Target="../media/image142.svg" Type="http://schemas.openxmlformats.org/officeDocument/2006/relationships/image"/><Relationship Id="rId14" Target="../media/image143.png" Type="http://schemas.openxmlformats.org/officeDocument/2006/relationships/image"/><Relationship Id="rId15" Target="../media/image144.svg" Type="http://schemas.openxmlformats.org/officeDocument/2006/relationships/image"/><Relationship Id="rId16" Target="../media/image145.png" Type="http://schemas.openxmlformats.org/officeDocument/2006/relationships/image"/><Relationship Id="rId17" Target="../media/image146.svg" Type="http://schemas.openxmlformats.org/officeDocument/2006/relationships/image"/><Relationship Id="rId18" Target="../media/image147.png" Type="http://schemas.openxmlformats.org/officeDocument/2006/relationships/image"/><Relationship Id="rId19" Target="../media/image148.svg" Type="http://schemas.openxmlformats.org/officeDocument/2006/relationships/image"/><Relationship Id="rId2" Target="../notesSlides/notesSlide42.xml" Type="http://schemas.openxmlformats.org/officeDocument/2006/relationships/notesSlide"/><Relationship Id="rId3" Target="../media/image135.png" Type="http://schemas.openxmlformats.org/officeDocument/2006/relationships/image"/><Relationship Id="rId4" Target="../media/image136.svg" Type="http://schemas.openxmlformats.org/officeDocument/2006/relationships/image"/><Relationship Id="rId5" Target="../media/image137.png" Type="http://schemas.openxmlformats.org/officeDocument/2006/relationships/image"/><Relationship Id="rId6" Target="../media/image138.svg" Type="http://schemas.openxmlformats.org/officeDocument/2006/relationships/image"/><Relationship Id="rId7" Target="../media/image139.png" Type="http://schemas.openxmlformats.org/officeDocument/2006/relationships/image"/><Relationship Id="rId8" Target="../media/image140.svg" Type="http://schemas.openxmlformats.org/officeDocument/2006/relationships/image"/><Relationship Id="rId9" Target="../media/image12.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3209182" y="-1690268"/>
            <a:ext cx="6562839" cy="4265609"/>
          </a:xfrm>
          <a:custGeom>
            <a:avLst/>
            <a:gdLst/>
            <a:ahLst/>
            <a:cxnLst/>
            <a:rect r="r" b="b" t="t" l="l"/>
            <a:pathLst>
              <a:path h="4265609" w="6562839">
                <a:moveTo>
                  <a:pt x="0" y="0"/>
                </a:moveTo>
                <a:lnTo>
                  <a:pt x="6562839" y="0"/>
                </a:lnTo>
                <a:lnTo>
                  <a:pt x="6562839" y="4265609"/>
                </a:lnTo>
                <a:lnTo>
                  <a:pt x="0" y="42656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3393072" y="7284930"/>
            <a:ext cx="8632517" cy="5759120"/>
          </a:xfrm>
          <a:custGeom>
            <a:avLst/>
            <a:gdLst/>
            <a:ahLst/>
            <a:cxnLst/>
            <a:rect r="r" b="b" t="t" l="l"/>
            <a:pathLst>
              <a:path h="5759120" w="8632517">
                <a:moveTo>
                  <a:pt x="0" y="0"/>
                </a:moveTo>
                <a:lnTo>
                  <a:pt x="8632517" y="0"/>
                </a:lnTo>
                <a:lnTo>
                  <a:pt x="8632517" y="5759119"/>
                </a:lnTo>
                <a:lnTo>
                  <a:pt x="0" y="575911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8687057" y="-253832"/>
            <a:ext cx="10894285" cy="11029321"/>
          </a:xfrm>
          <a:custGeom>
            <a:avLst/>
            <a:gdLst/>
            <a:ahLst/>
            <a:cxnLst/>
            <a:rect r="r" b="b" t="t" l="l"/>
            <a:pathLst>
              <a:path h="11029321" w="10894285">
                <a:moveTo>
                  <a:pt x="0" y="0"/>
                </a:moveTo>
                <a:lnTo>
                  <a:pt x="10894286" y="0"/>
                </a:lnTo>
                <a:lnTo>
                  <a:pt x="10894286" y="11029322"/>
                </a:lnTo>
                <a:lnTo>
                  <a:pt x="0" y="1102932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1426454" y="2289000"/>
            <a:ext cx="8224199" cy="5002932"/>
            <a:chOff x="0" y="0"/>
            <a:chExt cx="10965599" cy="6670576"/>
          </a:xfrm>
        </p:grpSpPr>
        <p:sp>
          <p:nvSpPr>
            <p:cNvPr name="Freeform 6" id="6"/>
            <p:cNvSpPr/>
            <p:nvPr/>
          </p:nvSpPr>
          <p:spPr>
            <a:xfrm flipH="false" flipV="false" rot="0">
              <a:off x="0" y="0"/>
              <a:ext cx="10965600" cy="6670570"/>
            </a:xfrm>
            <a:custGeom>
              <a:avLst/>
              <a:gdLst/>
              <a:ahLst/>
              <a:cxnLst/>
              <a:rect r="r" b="b" t="t" l="l"/>
              <a:pathLst>
                <a:path h="6670570" w="10965600">
                  <a:moveTo>
                    <a:pt x="0" y="0"/>
                  </a:moveTo>
                  <a:lnTo>
                    <a:pt x="10965600" y="0"/>
                  </a:lnTo>
                  <a:lnTo>
                    <a:pt x="10965600" y="6670570"/>
                  </a:lnTo>
                  <a:lnTo>
                    <a:pt x="0" y="6670570"/>
                  </a:lnTo>
                  <a:close/>
                </a:path>
              </a:pathLst>
            </a:custGeom>
            <a:blipFill>
              <a:blip r:embed="rId9">
                <a:alphaModFix amt="0"/>
              </a:blip>
              <a:stretch>
                <a:fillRect l="-24219" t="0" r="-24219" b="4907"/>
              </a:stretch>
            </a:blipFill>
          </p:spPr>
        </p:sp>
        <p:sp>
          <p:nvSpPr>
            <p:cNvPr name="TextBox 7" id="7"/>
            <p:cNvSpPr txBox="true"/>
            <p:nvPr/>
          </p:nvSpPr>
          <p:spPr>
            <a:xfrm>
              <a:off x="0" y="0"/>
              <a:ext cx="10965599" cy="6670576"/>
            </a:xfrm>
            <a:prstGeom prst="rect">
              <a:avLst/>
            </a:prstGeom>
          </p:spPr>
          <p:txBody>
            <a:bodyPr anchor="b" rtlCol="false" tIns="0" lIns="0" bIns="0" rIns="0"/>
            <a:lstStyle/>
            <a:p>
              <a:pPr algn="l">
                <a:lnSpc>
                  <a:spcPts val="11999"/>
                </a:lnSpc>
              </a:pPr>
              <a:r>
                <a:rPr lang="en-US" b="true" sz="9999">
                  <a:solidFill>
                    <a:srgbClr val="35363B"/>
                  </a:solidFill>
                  <a:latin typeface="Noto Serif Bold"/>
                  <a:ea typeface="Noto Serif Bold"/>
                  <a:cs typeface="Noto Serif Bold"/>
                  <a:sym typeface="Noto Serif Bold"/>
                </a:rPr>
                <a:t>NÂNG</a:t>
              </a:r>
              <a:r>
                <a:rPr lang="en-US" b="true" sz="9999">
                  <a:solidFill>
                    <a:srgbClr val="35363B"/>
                  </a:solidFill>
                  <a:latin typeface="Noto Serif Bold"/>
                  <a:ea typeface="Noto Serif Bold"/>
                  <a:cs typeface="Noto Serif Bold"/>
                  <a:sym typeface="Noto Serif Bold"/>
                </a:rPr>
                <a:t> CAO LẬP TRÌNH VỚI GEN AI</a:t>
              </a:r>
            </a:p>
          </p:txBody>
        </p:sp>
      </p:grpSp>
      <p:sp>
        <p:nvSpPr>
          <p:cNvPr name="Freeform 8" id="8"/>
          <p:cNvSpPr/>
          <p:nvPr/>
        </p:nvSpPr>
        <p:spPr>
          <a:xfrm flipH="false" flipV="false" rot="0">
            <a:off x="10330339" y="1312612"/>
            <a:ext cx="7682036" cy="7662453"/>
          </a:xfrm>
          <a:custGeom>
            <a:avLst/>
            <a:gdLst/>
            <a:ahLst/>
            <a:cxnLst/>
            <a:rect r="r" b="b" t="t" l="l"/>
            <a:pathLst>
              <a:path h="7662453" w="7682036">
                <a:moveTo>
                  <a:pt x="0" y="0"/>
                </a:moveTo>
                <a:lnTo>
                  <a:pt x="7682036" y="0"/>
                </a:lnTo>
                <a:lnTo>
                  <a:pt x="7682036" y="7662453"/>
                </a:lnTo>
                <a:lnTo>
                  <a:pt x="0" y="766245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b="true" sz="12000">
                  <a:solidFill>
                    <a:srgbClr val="35363B"/>
                  </a:solidFill>
                  <a:latin typeface="Arimo Bold"/>
                  <a:ea typeface="Arimo Bold"/>
                  <a:cs typeface="Arimo Bold"/>
                  <a:sym typeface="Arimo Bold"/>
                </a:rPr>
                <a:t>01</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2908984" y="4091607"/>
            <a:ext cx="14707847" cy="4114800"/>
          </a:xfrm>
          <a:prstGeom prst="rect">
            <a:avLst/>
          </a:prstGeom>
        </p:spPr>
        <p:txBody>
          <a:bodyPr anchor="t" rtlCol="false" tIns="0" lIns="0" bIns="0" rIns="0">
            <a:spAutoFit/>
          </a:bodyPr>
          <a:lstStyle/>
          <a:p>
            <a:pPr algn="l">
              <a:lnSpc>
                <a:spcPts val="10800"/>
              </a:lnSpc>
            </a:pPr>
            <a:r>
              <a:rPr lang="en-US" b="true" sz="9000">
                <a:solidFill>
                  <a:srgbClr val="35363B"/>
                </a:solidFill>
                <a:latin typeface="Noto Serif Bold"/>
                <a:ea typeface="Noto Serif Bold"/>
                <a:cs typeface="Noto Serif Bold"/>
                <a:sym typeface="Noto Serif Bold"/>
              </a:rPr>
              <a:t>CÁCH CHATGPT, COP</a:t>
            </a:r>
            <a:r>
              <a:rPr lang="en-US" b="true" sz="9000">
                <a:solidFill>
                  <a:srgbClr val="35363B"/>
                </a:solidFill>
                <a:latin typeface="Noto Serif Bold"/>
                <a:ea typeface="Noto Serif Bold"/>
                <a:cs typeface="Noto Serif Bold"/>
                <a:sym typeface="Noto Serif Bold"/>
              </a:rPr>
              <a:t>ILOT VÀ CÁC LLM HOẠT ĐỘNG</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65084" y="619199"/>
            <a:ext cx="13815822" cy="1687120"/>
            <a:chOff x="0" y="0"/>
            <a:chExt cx="18421096" cy="2249494"/>
          </a:xfrm>
        </p:grpSpPr>
        <p:sp>
          <p:nvSpPr>
            <p:cNvPr name="Freeform 11" id="11"/>
            <p:cNvSpPr/>
            <p:nvPr/>
          </p:nvSpPr>
          <p:spPr>
            <a:xfrm flipH="false" flipV="false" rot="0">
              <a:off x="0" y="0"/>
              <a:ext cx="18421091" cy="2249490"/>
            </a:xfrm>
            <a:custGeom>
              <a:avLst/>
              <a:gdLst/>
              <a:ahLst/>
              <a:cxnLst/>
              <a:rect r="r" b="b" t="t" l="l"/>
              <a:pathLst>
                <a:path h="2249490" w="18421091">
                  <a:moveTo>
                    <a:pt x="0" y="0"/>
                  </a:moveTo>
                  <a:lnTo>
                    <a:pt x="18421091" y="0"/>
                  </a:lnTo>
                  <a:lnTo>
                    <a:pt x="18421091" y="2249490"/>
                  </a:lnTo>
                  <a:lnTo>
                    <a:pt x="0" y="2249490"/>
                  </a:lnTo>
                  <a:close/>
                </a:path>
              </a:pathLst>
            </a:custGeom>
            <a:blipFill>
              <a:blip r:embed="rId19">
                <a:alphaModFix amt="0"/>
              </a:blip>
              <a:stretch>
                <a:fillRect l="0" t="-35758" r="25937" b="-100595"/>
              </a:stretch>
            </a:blipFill>
          </p:spPr>
        </p:sp>
        <p:sp>
          <p:nvSpPr>
            <p:cNvPr name="TextBox 12" id="12"/>
            <p:cNvSpPr txBox="true"/>
            <p:nvPr/>
          </p:nvSpPr>
          <p:spPr>
            <a:xfrm>
              <a:off x="0" y="0"/>
              <a:ext cx="1842109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Các mô hình truyền thống</a:t>
              </a:r>
              <a:r>
                <a:rPr lang="en-US" b="true" sz="6000">
                  <a:solidFill>
                    <a:srgbClr val="35363B"/>
                  </a:solidFill>
                  <a:latin typeface="Noto Serif Bold"/>
                  <a:ea typeface="Noto Serif Bold"/>
                  <a:cs typeface="Noto Serif Bold"/>
                  <a:sym typeface="Noto Serif Bold"/>
                </a:rPr>
                <a:t> </a:t>
              </a:r>
            </a:p>
          </p:txBody>
        </p:sp>
      </p:grpSp>
      <p:sp>
        <p:nvSpPr>
          <p:cNvPr name="TextBox 13" id="13"/>
          <p:cNvSpPr txBox="true"/>
          <p:nvPr/>
        </p:nvSpPr>
        <p:spPr>
          <a:xfrm rot="0">
            <a:off x="2017947" y="2775271"/>
            <a:ext cx="12446740" cy="209550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Trong xử lý ngôn ngữ tự nhiên, các mô hình truyền thống tiêu biểu như N-gram, hoạt động dựa trên nguyên lý thống kê xác suất. Bằng cách dự đoán từ hoặc ký tự tiếp theo dựa trên tần suất xuất hiện của các chuỗi trước đó trong dữ liệu huấn luyện.</a:t>
            </a:r>
          </a:p>
        </p:txBody>
      </p:sp>
      <p:sp>
        <p:nvSpPr>
          <p:cNvPr name="TextBox 14" id="14"/>
          <p:cNvSpPr txBox="true"/>
          <p:nvPr/>
        </p:nvSpPr>
        <p:spPr>
          <a:xfrm rot="0">
            <a:off x="1965084" y="5605522"/>
            <a:ext cx="8954772" cy="10477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Tồn tại nhiều hạn chế như mô hình không có khả năng logic hay lập luận</a:t>
            </a:r>
          </a:p>
        </p:txBody>
      </p:sp>
      <p:sp>
        <p:nvSpPr>
          <p:cNvPr name="TextBox 15" id="15"/>
          <p:cNvSpPr txBox="true"/>
          <p:nvPr/>
        </p:nvSpPr>
        <p:spPr>
          <a:xfrm rot="0">
            <a:off x="2017947" y="7386697"/>
            <a:ext cx="8954772" cy="10477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Khó khăn trong việc mở rộng với dữ liệu lớn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65084" y="499115"/>
            <a:ext cx="13252483" cy="1687120"/>
            <a:chOff x="0" y="0"/>
            <a:chExt cx="17669977" cy="2249494"/>
          </a:xfrm>
        </p:grpSpPr>
        <p:sp>
          <p:nvSpPr>
            <p:cNvPr name="Freeform 11" id="11"/>
            <p:cNvSpPr/>
            <p:nvPr/>
          </p:nvSpPr>
          <p:spPr>
            <a:xfrm flipH="false" flipV="false" rot="0">
              <a:off x="0" y="0"/>
              <a:ext cx="17669973" cy="2249490"/>
            </a:xfrm>
            <a:custGeom>
              <a:avLst/>
              <a:gdLst/>
              <a:ahLst/>
              <a:cxnLst/>
              <a:rect r="r" b="b" t="t" l="l"/>
              <a:pathLst>
                <a:path h="2249490" w="17669973">
                  <a:moveTo>
                    <a:pt x="0" y="0"/>
                  </a:moveTo>
                  <a:lnTo>
                    <a:pt x="17669973" y="0"/>
                  </a:lnTo>
                  <a:lnTo>
                    <a:pt x="17669973" y="2249490"/>
                  </a:lnTo>
                  <a:lnTo>
                    <a:pt x="0" y="2249490"/>
                  </a:lnTo>
                  <a:close/>
                </a:path>
              </a:pathLst>
            </a:custGeom>
            <a:blipFill>
              <a:blip r:embed="rId19">
                <a:alphaModFix amt="0"/>
              </a:blip>
              <a:stretch>
                <a:fillRect l="0" t="-35758" r="22788" b="-100595"/>
              </a:stretch>
            </a:blipFill>
          </p:spPr>
        </p:sp>
        <p:sp>
          <p:nvSpPr>
            <p:cNvPr name="TextBox 12" id="12"/>
            <p:cNvSpPr txBox="true"/>
            <p:nvPr/>
          </p:nvSpPr>
          <p:spPr>
            <a:xfrm>
              <a:off x="0" y="0"/>
              <a:ext cx="17669977"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Sự chuyển dịch mô hình ngôn ngữ</a:t>
              </a:r>
            </a:p>
          </p:txBody>
        </p:sp>
      </p:grpSp>
      <p:sp>
        <p:nvSpPr>
          <p:cNvPr name="TextBox 13" id="13"/>
          <p:cNvSpPr txBox="true"/>
          <p:nvPr/>
        </p:nvSpPr>
        <p:spPr>
          <a:xfrm rot="0">
            <a:off x="2017947" y="3334687"/>
            <a:ext cx="10842322" cy="15716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Để vượt qua các hạn chế về dữ liệu và khả năng  xử lý ngôn ngữ, nhiều phương pháp AI tiên tiến đã được áp dụng</a:t>
            </a:r>
          </a:p>
        </p:txBody>
      </p:sp>
      <p:sp>
        <p:nvSpPr>
          <p:cNvPr name="TextBox 14" id="14"/>
          <p:cNvSpPr txBox="true"/>
          <p:nvPr/>
        </p:nvSpPr>
        <p:spPr>
          <a:xfrm rot="0">
            <a:off x="2017947" y="5143500"/>
            <a:ext cx="10842322" cy="523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Word2Vec mô hình hóa mỗi từ dưới dạng vecto số </a:t>
            </a:r>
          </a:p>
        </p:txBody>
      </p:sp>
      <p:sp>
        <p:nvSpPr>
          <p:cNvPr name="TextBox 15" id="15"/>
          <p:cNvSpPr txBox="true"/>
          <p:nvPr/>
        </p:nvSpPr>
        <p:spPr>
          <a:xfrm rot="0">
            <a:off x="2017947" y="5905500"/>
            <a:ext cx="10842322" cy="10477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Kiến trúc Transformer với cơ chế Attention giúp học mối quan hệ giữa các từ </a:t>
            </a:r>
          </a:p>
        </p:txBody>
      </p:sp>
      <p:sp>
        <p:nvSpPr>
          <p:cNvPr name="TextBox 16" id="16"/>
          <p:cNvSpPr txBox="true"/>
          <p:nvPr/>
        </p:nvSpPr>
        <p:spPr>
          <a:xfrm rot="0">
            <a:off x="2017947" y="7191375"/>
            <a:ext cx="10842322" cy="15716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LLM là bước phát triển tiếp theo, được xây dựng dựa trên Transformer với quy mô dữ liệu và số lượng tham số rất lớn.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0" id="10"/>
          <p:cNvSpPr/>
          <p:nvPr/>
        </p:nvSpPr>
        <p:spPr>
          <a:xfrm flipH="false" flipV="false" rot="0">
            <a:off x="11666735" y="1604448"/>
            <a:ext cx="6050756" cy="7334250"/>
          </a:xfrm>
          <a:custGeom>
            <a:avLst/>
            <a:gdLst/>
            <a:ahLst/>
            <a:cxnLst/>
            <a:rect r="r" b="b" t="t" l="l"/>
            <a:pathLst>
              <a:path h="7334250" w="6050756">
                <a:moveTo>
                  <a:pt x="0" y="0"/>
                </a:moveTo>
                <a:lnTo>
                  <a:pt x="6050756" y="0"/>
                </a:lnTo>
                <a:lnTo>
                  <a:pt x="6050756" y="7334250"/>
                </a:lnTo>
                <a:lnTo>
                  <a:pt x="0" y="7334250"/>
                </a:lnTo>
                <a:lnTo>
                  <a:pt x="0" y="0"/>
                </a:lnTo>
                <a:close/>
              </a:path>
            </a:pathLst>
          </a:custGeom>
          <a:blipFill>
            <a:blip r:embed="rId19"/>
            <a:stretch>
              <a:fillRect l="0" t="0" r="0" b="0"/>
            </a:stretch>
          </a:blipFill>
        </p:spPr>
      </p:sp>
      <p:sp>
        <p:nvSpPr>
          <p:cNvPr name="TextBox 11" id="11"/>
          <p:cNvSpPr txBox="true"/>
          <p:nvPr/>
        </p:nvSpPr>
        <p:spPr>
          <a:xfrm rot="0">
            <a:off x="1356846" y="1604448"/>
            <a:ext cx="9974049" cy="73342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Văn bản đầu vào (Raw Text) trước hết được chuyển thành các token. Các token này được ánh xạ thành các chỉ số (Token IDs) dựa trên từ điển (Vocabulary). Sau đó, Token IDs được biến đổi thành các vector số thông qua lớp Embedding, tạo thành biểu diễn ngữ nghĩa của ngữ cảnh. Các vector này được đưa vào mô hình Transformer fθ, nơi các trọng số đã học xử lý và trích xuất thông tin ngữ cảnh. Kết quả từ Transformer được đưa qua một lớp tuyến tính (Linear) để tạo ra các điểm số (logits) cho từng token trong từ vựng. Cuối cùng, hàm Softmax chuyển các logits này thành phân phối xác suất, từ đó xác định xác suất của token tiếp theo (Next-token Probability).</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65084" y="791332"/>
            <a:ext cx="13252483" cy="2104504"/>
            <a:chOff x="0" y="0"/>
            <a:chExt cx="17669977" cy="2806005"/>
          </a:xfrm>
        </p:grpSpPr>
        <p:sp>
          <p:nvSpPr>
            <p:cNvPr name="Freeform 11" id="11"/>
            <p:cNvSpPr/>
            <p:nvPr/>
          </p:nvSpPr>
          <p:spPr>
            <a:xfrm flipH="false" flipV="false" rot="0">
              <a:off x="0" y="0"/>
              <a:ext cx="17669973" cy="2806001"/>
            </a:xfrm>
            <a:custGeom>
              <a:avLst/>
              <a:gdLst/>
              <a:ahLst/>
              <a:cxnLst/>
              <a:rect r="r" b="b" t="t" l="l"/>
              <a:pathLst>
                <a:path h="2806001" w="17669973">
                  <a:moveTo>
                    <a:pt x="0" y="0"/>
                  </a:moveTo>
                  <a:lnTo>
                    <a:pt x="17669973" y="0"/>
                  </a:lnTo>
                  <a:lnTo>
                    <a:pt x="17669973" y="2806001"/>
                  </a:lnTo>
                  <a:lnTo>
                    <a:pt x="0" y="2806001"/>
                  </a:lnTo>
                  <a:close/>
                </a:path>
              </a:pathLst>
            </a:custGeom>
            <a:blipFill>
              <a:blip r:embed="rId19">
                <a:alphaModFix amt="0"/>
              </a:blip>
              <a:stretch>
                <a:fillRect l="0" t="-28666" r="22788" b="-60812"/>
              </a:stretch>
            </a:blipFill>
          </p:spPr>
        </p:sp>
        <p:sp>
          <p:nvSpPr>
            <p:cNvPr name="TextBox 12" id="12"/>
            <p:cNvSpPr txBox="true"/>
            <p:nvPr/>
          </p:nvSpPr>
          <p:spPr>
            <a:xfrm>
              <a:off x="0" y="0"/>
              <a:ext cx="17669977" cy="2806005"/>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Các kỹ thuật tối ưu kết quả của LLM</a:t>
              </a:r>
            </a:p>
          </p:txBody>
        </p:sp>
      </p:grpSp>
      <p:sp>
        <p:nvSpPr>
          <p:cNvPr name="TextBox 13" id="13"/>
          <p:cNvSpPr txBox="true"/>
          <p:nvPr/>
        </p:nvSpPr>
        <p:spPr>
          <a:xfrm rot="0">
            <a:off x="2017947" y="3434010"/>
            <a:ext cx="13199619" cy="10477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Bổ sung ngữ cảnh: Cung cấp thêm thông tin đầu vào để mô hình hiểu rõ bài toán</a:t>
            </a:r>
          </a:p>
        </p:txBody>
      </p:sp>
      <p:sp>
        <p:nvSpPr>
          <p:cNvPr name="TextBox 14" id="14"/>
          <p:cNvSpPr txBox="true"/>
          <p:nvPr/>
        </p:nvSpPr>
        <p:spPr>
          <a:xfrm rot="0">
            <a:off x="1978495" y="4634160"/>
            <a:ext cx="13239071" cy="1047750"/>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 Prompt Engineering: Thiết kế câu lệnh đầu vào nhằm điều khiển đầu ra chính xác hơn</a:t>
            </a:r>
          </a:p>
        </p:txBody>
      </p:sp>
      <p:sp>
        <p:nvSpPr>
          <p:cNvPr name="TextBox 15" id="15"/>
          <p:cNvSpPr txBox="true"/>
          <p:nvPr/>
        </p:nvSpPr>
        <p:spPr>
          <a:xfrm rot="0">
            <a:off x="1965084" y="5834310"/>
            <a:ext cx="13199619" cy="523875"/>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 Few-shot Learning: Đưa ví dụ mẫu để mô hình học và làm theo</a:t>
            </a:r>
          </a:p>
        </p:txBody>
      </p:sp>
      <p:sp>
        <p:nvSpPr>
          <p:cNvPr name="TextBox 16" id="16"/>
          <p:cNvSpPr txBox="true"/>
          <p:nvPr/>
        </p:nvSpPr>
        <p:spPr>
          <a:xfrm rot="0">
            <a:off x="1978495" y="6510585"/>
            <a:ext cx="13252483" cy="1047750"/>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 Fine-tuning: Huấn luyện thêm trên dữ liệu chuyên biệt để tăng hiệu năng</a:t>
            </a:r>
          </a:p>
        </p:txBody>
      </p:sp>
      <p:sp>
        <p:nvSpPr>
          <p:cNvPr name="TextBox 17" id="17"/>
          <p:cNvSpPr txBox="true"/>
          <p:nvPr/>
        </p:nvSpPr>
        <p:spPr>
          <a:xfrm rot="0">
            <a:off x="2017947" y="7710735"/>
            <a:ext cx="13199619" cy="1047750"/>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 Retrieval-Augmented Generation (RAG): Kết hợp truy xuất dữ liệu bên ngoài để cải thiện độ chính xác</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43308" y="7804452"/>
            <a:ext cx="3708483" cy="4259980"/>
          </a:xfrm>
          <a:custGeom>
            <a:avLst/>
            <a:gdLst/>
            <a:ahLst/>
            <a:cxnLst/>
            <a:rect r="r" b="b" t="t" l="l"/>
            <a:pathLst>
              <a:path h="4259980" w="3708483">
                <a:moveTo>
                  <a:pt x="0" y="0"/>
                </a:moveTo>
                <a:lnTo>
                  <a:pt x="3708483" y="0"/>
                </a:lnTo>
                <a:lnTo>
                  <a:pt x="3708483" y="4259980"/>
                </a:lnTo>
                <a:lnTo>
                  <a:pt x="0" y="425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907600" y="-2040903"/>
            <a:ext cx="4577867" cy="3894296"/>
          </a:xfrm>
          <a:custGeom>
            <a:avLst/>
            <a:gdLst/>
            <a:ahLst/>
            <a:cxnLst/>
            <a:rect r="r" b="b" t="t" l="l"/>
            <a:pathLst>
              <a:path h="3894296" w="4577867">
                <a:moveTo>
                  <a:pt x="0" y="0"/>
                </a:moveTo>
                <a:lnTo>
                  <a:pt x="4577867" y="0"/>
                </a:lnTo>
                <a:lnTo>
                  <a:pt x="4577867" y="3894297"/>
                </a:lnTo>
                <a:lnTo>
                  <a:pt x="0" y="38942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365794" y="-3114904"/>
            <a:ext cx="7857801" cy="8135845"/>
          </a:xfrm>
          <a:custGeom>
            <a:avLst/>
            <a:gdLst/>
            <a:ahLst/>
            <a:cxnLst/>
            <a:rect r="r" b="b" t="t" l="l"/>
            <a:pathLst>
              <a:path h="8135845" w="7857801">
                <a:moveTo>
                  <a:pt x="0" y="0"/>
                </a:moveTo>
                <a:lnTo>
                  <a:pt x="7857801" y="0"/>
                </a:lnTo>
                <a:lnTo>
                  <a:pt x="7857801" y="8135846"/>
                </a:lnTo>
                <a:lnTo>
                  <a:pt x="0" y="81358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8820140" y="2652712"/>
            <a:ext cx="6768598" cy="1145400"/>
            <a:chOff x="0" y="0"/>
            <a:chExt cx="9024798" cy="1527200"/>
          </a:xfrm>
        </p:grpSpPr>
        <p:sp>
          <p:nvSpPr>
            <p:cNvPr name="Freeform 6" id="6"/>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9">
                <a:alphaModFix amt="0"/>
              </a:blip>
              <a:stretch>
                <a:fillRect l="0" t="-65144" r="0" b="-65144"/>
              </a:stretch>
            </a:blipFill>
          </p:spPr>
        </p:sp>
        <p:sp>
          <p:nvSpPr>
            <p:cNvPr name="TextBox 7" id="7"/>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GitHub Copilot</a:t>
              </a:r>
            </a:p>
          </p:txBody>
        </p:sp>
      </p:grpSp>
      <p:sp>
        <p:nvSpPr>
          <p:cNvPr name="TextBox 8" id="8"/>
          <p:cNvSpPr txBox="true"/>
          <p:nvPr/>
        </p:nvSpPr>
        <p:spPr>
          <a:xfrm rot="0">
            <a:off x="1531429" y="981475"/>
            <a:ext cx="13785637" cy="9144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Ứng dụng của ChatGPT và Copilot</a:t>
            </a:r>
          </a:p>
        </p:txBody>
      </p:sp>
      <p:sp>
        <p:nvSpPr>
          <p:cNvPr name="TextBox 9" id="9"/>
          <p:cNvSpPr txBox="true"/>
          <p:nvPr/>
        </p:nvSpPr>
        <p:spPr>
          <a:xfrm rot="0">
            <a:off x="8911533" y="4007368"/>
            <a:ext cx="6585747" cy="3209925"/>
          </a:xfrm>
          <a:prstGeom prst="rect">
            <a:avLst/>
          </a:prstGeom>
        </p:spPr>
        <p:txBody>
          <a:bodyPr anchor="t" rtlCol="false" tIns="0" lIns="0" bIns="0" rIns="0">
            <a:spAutoFit/>
          </a:bodyPr>
          <a:lstStyle/>
          <a:p>
            <a:pPr algn="just">
              <a:lnSpc>
                <a:spcPts val="4200"/>
              </a:lnSpc>
            </a:pPr>
            <a:r>
              <a:rPr lang="en-US" sz="3500">
                <a:solidFill>
                  <a:srgbClr val="35363B"/>
                </a:solidFill>
                <a:latin typeface="Lato"/>
                <a:ea typeface="Lato"/>
                <a:cs typeface="Lato"/>
                <a:sym typeface="Lato"/>
              </a:rPr>
              <a:t>Hỗ</a:t>
            </a:r>
            <a:r>
              <a:rPr lang="en-US" sz="3500">
                <a:solidFill>
                  <a:srgbClr val="35363B"/>
                </a:solidFill>
                <a:latin typeface="Lato"/>
                <a:ea typeface="Lato"/>
                <a:cs typeface="Lato"/>
                <a:sym typeface="Lato"/>
              </a:rPr>
              <a:t> trợ lập trình viên trực tiếp (như một lập trình viên cặp), khai thác ngữ cảnh từ môi trường IDE.</a:t>
            </a:r>
          </a:p>
          <a:p>
            <a:pPr algn="just">
              <a:lnSpc>
                <a:spcPts val="4200"/>
              </a:lnSpc>
            </a:pPr>
          </a:p>
          <a:p>
            <a:pPr algn="just">
              <a:lnSpc>
                <a:spcPts val="4200"/>
              </a:lnSpc>
            </a:pPr>
          </a:p>
          <a:p>
            <a:pPr algn="just">
              <a:lnSpc>
                <a:spcPts val="4200"/>
              </a:lnSpc>
            </a:pPr>
          </a:p>
        </p:txBody>
      </p:sp>
      <p:sp>
        <p:nvSpPr>
          <p:cNvPr name="TextBox 10" id="10"/>
          <p:cNvSpPr txBox="true"/>
          <p:nvPr/>
        </p:nvSpPr>
        <p:spPr>
          <a:xfrm rot="0">
            <a:off x="1531429" y="4016893"/>
            <a:ext cx="6585747" cy="36671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Hội</a:t>
            </a:r>
            <a:r>
              <a:rPr lang="en-US" sz="3499">
                <a:solidFill>
                  <a:srgbClr val="35363B"/>
                </a:solidFill>
                <a:latin typeface="Lato"/>
                <a:ea typeface="Lato"/>
                <a:cs typeface="Lato"/>
                <a:sym typeface="Lato"/>
              </a:rPr>
              <a:t> thoại tổng quát, sử dụng phương pháp Học tăng cường từ phản hồi của con người (RLHF) để tinh chỉnh.</a:t>
            </a:r>
          </a:p>
          <a:p>
            <a:pPr algn="just">
              <a:lnSpc>
                <a:spcPts val="4199"/>
              </a:lnSpc>
            </a:pPr>
          </a:p>
          <a:p>
            <a:pPr algn="just">
              <a:lnSpc>
                <a:spcPts val="4199"/>
              </a:lnSpc>
            </a:pPr>
          </a:p>
          <a:p>
            <a:pPr algn="just">
              <a:lnSpc>
                <a:spcPts val="4199"/>
              </a:lnSpc>
            </a:pPr>
          </a:p>
        </p:txBody>
      </p:sp>
      <p:grpSp>
        <p:nvGrpSpPr>
          <p:cNvPr name="Group 11" id="11"/>
          <p:cNvGrpSpPr/>
          <p:nvPr/>
        </p:nvGrpSpPr>
        <p:grpSpPr>
          <a:xfrm rot="0">
            <a:off x="1531429" y="2652712"/>
            <a:ext cx="6768598" cy="1145400"/>
            <a:chOff x="0" y="0"/>
            <a:chExt cx="9024798" cy="1527200"/>
          </a:xfrm>
        </p:grpSpPr>
        <p:sp>
          <p:nvSpPr>
            <p:cNvPr name="Freeform 12" id="12"/>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9">
                <a:alphaModFix amt="0"/>
              </a:blip>
              <a:stretch>
                <a:fillRect l="0" t="-65144" r="0" b="-65144"/>
              </a:stretch>
            </a:blipFill>
          </p:spPr>
        </p:sp>
        <p:sp>
          <p:nvSpPr>
            <p:cNvPr name="TextBox 13" id="13"/>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ChatGPT</a:t>
              </a:r>
            </a:p>
          </p:txBody>
        </p:sp>
      </p:grpSp>
      <p:sp>
        <p:nvSpPr>
          <p:cNvPr name="Freeform 14" id="14"/>
          <p:cNvSpPr/>
          <p:nvPr/>
        </p:nvSpPr>
        <p:spPr>
          <a:xfrm flipH="false" flipV="false" rot="0">
            <a:off x="15317067" y="1402766"/>
            <a:ext cx="2374621" cy="1249947"/>
          </a:xfrm>
          <a:custGeom>
            <a:avLst/>
            <a:gdLst/>
            <a:ahLst/>
            <a:cxnLst/>
            <a:rect r="r" b="b" t="t" l="l"/>
            <a:pathLst>
              <a:path h="1249947" w="2374621">
                <a:moveTo>
                  <a:pt x="0" y="0"/>
                </a:moveTo>
                <a:lnTo>
                  <a:pt x="2374620" y="0"/>
                </a:lnTo>
                <a:lnTo>
                  <a:pt x="2374620" y="1249946"/>
                </a:lnTo>
                <a:lnTo>
                  <a:pt x="0" y="12499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5" id="15"/>
          <p:cNvSpPr txBox="true"/>
          <p:nvPr/>
        </p:nvSpPr>
        <p:spPr>
          <a:xfrm rot="0">
            <a:off x="1531429" y="6636268"/>
            <a:ext cx="14057309" cy="1571625"/>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 Hạn chế: h</a:t>
            </a:r>
            <a:r>
              <a:rPr lang="en-US" sz="3499">
                <a:solidFill>
                  <a:srgbClr val="35363B"/>
                </a:solidFill>
                <a:latin typeface="Lato"/>
                <a:ea typeface="Lato"/>
                <a:cs typeface="Lato"/>
                <a:sym typeface="Lato"/>
              </a:rPr>
              <a:t>iện tượng "ảo giác" (Hallucination) khi mô hình bịa đặt thông tin một cách thuyết phục do bản chất dự đoán token theo xác suất mà không có cơ chế kiểm chứng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b="true" sz="12000">
                  <a:solidFill>
                    <a:srgbClr val="35363B"/>
                  </a:solidFill>
                  <a:latin typeface="Arimo Bold"/>
                  <a:ea typeface="Arimo Bold"/>
                  <a:cs typeface="Arimo Bold"/>
                  <a:sym typeface="Arimo Bold"/>
                </a:rPr>
                <a:t>02</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2908984" y="4091607"/>
            <a:ext cx="13952576" cy="2743200"/>
          </a:xfrm>
          <a:prstGeom prst="rect">
            <a:avLst/>
          </a:prstGeom>
        </p:spPr>
        <p:txBody>
          <a:bodyPr anchor="t" rtlCol="false" tIns="0" lIns="0" bIns="0" rIns="0">
            <a:spAutoFit/>
          </a:bodyPr>
          <a:lstStyle/>
          <a:p>
            <a:pPr algn="l">
              <a:lnSpc>
                <a:spcPts val="10800"/>
              </a:lnSpc>
            </a:pPr>
            <a:r>
              <a:rPr lang="en-US" b="true" sz="9000">
                <a:solidFill>
                  <a:srgbClr val="35363B"/>
                </a:solidFill>
                <a:latin typeface="Noto Serif Bold"/>
                <a:ea typeface="Noto Serif Bold"/>
                <a:cs typeface="Noto Serif Bold"/>
                <a:sym typeface="Noto Serif Bold"/>
              </a:rPr>
              <a:t>ĐỌC VÀ H</a:t>
            </a:r>
            <a:r>
              <a:rPr lang="en-US" b="true" sz="9000">
                <a:solidFill>
                  <a:srgbClr val="35363B"/>
                </a:solidFill>
                <a:latin typeface="Noto Serif Bold"/>
                <a:ea typeface="Noto Serif Bold"/>
                <a:cs typeface="Noto Serif Bold"/>
                <a:sym typeface="Noto Serif Bold"/>
              </a:rPr>
              <a:t>IỂU MÃ VỚI CƠ SỞ GENAI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253308" y="-2157717"/>
            <a:ext cx="4216060" cy="3922786"/>
          </a:xfrm>
          <a:custGeom>
            <a:avLst/>
            <a:gdLst/>
            <a:ahLst/>
            <a:cxnLst/>
            <a:rect r="r" b="b" t="t" l="l"/>
            <a:pathLst>
              <a:path h="3922786" w="4216060">
                <a:moveTo>
                  <a:pt x="0" y="0"/>
                </a:moveTo>
                <a:lnTo>
                  <a:pt x="4216060" y="0"/>
                </a:lnTo>
                <a:lnTo>
                  <a:pt x="4216060" y="3922785"/>
                </a:lnTo>
                <a:lnTo>
                  <a:pt x="0" y="392278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199083" y="8551488"/>
            <a:ext cx="3371621" cy="2888104"/>
          </a:xfrm>
          <a:custGeom>
            <a:avLst/>
            <a:gdLst/>
            <a:ahLst/>
            <a:cxnLst/>
            <a:rect r="r" b="b" t="t" l="l"/>
            <a:pathLst>
              <a:path h="2888104" w="3371621">
                <a:moveTo>
                  <a:pt x="0" y="0"/>
                </a:moveTo>
                <a:lnTo>
                  <a:pt x="3371621" y="0"/>
                </a:lnTo>
                <a:lnTo>
                  <a:pt x="3371621" y="2888104"/>
                </a:lnTo>
                <a:lnTo>
                  <a:pt x="0" y="2888104"/>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97551" y="9088431"/>
            <a:ext cx="1568453" cy="1168794"/>
          </a:xfrm>
          <a:custGeom>
            <a:avLst/>
            <a:gdLst/>
            <a:ahLst/>
            <a:cxnLst/>
            <a:rect r="r" b="b" t="t" l="l"/>
            <a:pathLst>
              <a:path h="1168794" w="1568453">
                <a:moveTo>
                  <a:pt x="0" y="0"/>
                </a:moveTo>
                <a:lnTo>
                  <a:pt x="1568453" y="0"/>
                </a:lnTo>
                <a:lnTo>
                  <a:pt x="1568453" y="1168794"/>
                </a:lnTo>
                <a:lnTo>
                  <a:pt x="0" y="116879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847991" y="3443059"/>
            <a:ext cx="3234814" cy="5108324"/>
          </a:xfrm>
          <a:custGeom>
            <a:avLst/>
            <a:gdLst/>
            <a:ahLst/>
            <a:cxnLst/>
            <a:rect r="r" b="b" t="t" l="l"/>
            <a:pathLst>
              <a:path h="5108324" w="3234814">
                <a:moveTo>
                  <a:pt x="0" y="0"/>
                </a:moveTo>
                <a:lnTo>
                  <a:pt x="3234814" y="0"/>
                </a:lnTo>
                <a:lnTo>
                  <a:pt x="3234814" y="5108324"/>
                </a:lnTo>
                <a:lnTo>
                  <a:pt x="0" y="51083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491348" y="2856216"/>
            <a:ext cx="3514201" cy="1273150"/>
            <a:chOff x="0" y="0"/>
            <a:chExt cx="4685602" cy="1697534"/>
          </a:xfrm>
        </p:grpSpPr>
        <p:sp>
          <p:nvSpPr>
            <p:cNvPr name="Freeform 7" id="7"/>
            <p:cNvSpPr/>
            <p:nvPr/>
          </p:nvSpPr>
          <p:spPr>
            <a:xfrm flipH="false" flipV="false" rot="0">
              <a:off x="0" y="0"/>
              <a:ext cx="4685600" cy="1697531"/>
            </a:xfrm>
            <a:custGeom>
              <a:avLst/>
              <a:gdLst/>
              <a:ahLst/>
              <a:cxnLst/>
              <a:rect r="r" b="b" t="t" l="l"/>
              <a:pathLst>
                <a:path h="1697531" w="4685600">
                  <a:moveTo>
                    <a:pt x="0" y="0"/>
                  </a:moveTo>
                  <a:lnTo>
                    <a:pt x="4685600" y="0"/>
                  </a:lnTo>
                  <a:lnTo>
                    <a:pt x="4685600" y="1697531"/>
                  </a:lnTo>
                  <a:lnTo>
                    <a:pt x="0" y="1697531"/>
                  </a:lnTo>
                  <a:close/>
                </a:path>
              </a:pathLst>
            </a:custGeom>
            <a:blipFill>
              <a:blip r:embed="rId11">
                <a:alphaModFix amt="0"/>
              </a:blip>
              <a:stretch>
                <a:fillRect l="0" t="-5289" r="0" b="-2277"/>
              </a:stretch>
            </a:blipFill>
          </p:spPr>
        </p:sp>
        <p:sp>
          <p:nvSpPr>
            <p:cNvPr name="TextBox 8" id="8"/>
            <p:cNvSpPr txBox="true"/>
            <p:nvPr/>
          </p:nvSpPr>
          <p:spPr>
            <a:xfrm>
              <a:off x="0" y="-28575"/>
              <a:ext cx="4685602" cy="1726109"/>
            </a:xfrm>
            <a:prstGeom prst="rect">
              <a:avLst/>
            </a:prstGeom>
          </p:spPr>
          <p:txBody>
            <a:bodyPr anchor="b" rtlCol="false" tIns="0" lIns="0" bIns="0" rIns="0"/>
            <a:lstStyle/>
            <a:p>
              <a:pPr algn="l">
                <a:lnSpc>
                  <a:spcPts val="4320"/>
                </a:lnSpc>
              </a:pPr>
              <a:r>
                <a:rPr lang="en-US" b="true" sz="3600">
                  <a:solidFill>
                    <a:srgbClr val="35363B"/>
                  </a:solidFill>
                  <a:latin typeface="Arimo Bold"/>
                  <a:ea typeface="Arimo Bold"/>
                  <a:cs typeface="Arimo Bold"/>
                  <a:sym typeface="Arimo Bold"/>
                </a:rPr>
                <a:t>Q</a:t>
              </a:r>
              <a:r>
                <a:rPr lang="en-US" b="true" sz="3600">
                  <a:solidFill>
                    <a:srgbClr val="35363B"/>
                  </a:solidFill>
                  <a:latin typeface="Arimo Bold"/>
                  <a:ea typeface="Arimo Bold"/>
                  <a:cs typeface="Arimo Bold"/>
                  <a:sym typeface="Arimo Bold"/>
                </a:rPr>
                <a:t>uy mô lớn và phức tạp</a:t>
              </a:r>
            </a:p>
          </p:txBody>
        </p:sp>
      </p:grpSp>
      <p:grpSp>
        <p:nvGrpSpPr>
          <p:cNvPr name="Group 9" id="9"/>
          <p:cNvGrpSpPr/>
          <p:nvPr/>
        </p:nvGrpSpPr>
        <p:grpSpPr>
          <a:xfrm rot="0">
            <a:off x="1491348" y="5139120"/>
            <a:ext cx="3514201" cy="963673"/>
            <a:chOff x="0" y="0"/>
            <a:chExt cx="4685602" cy="1284897"/>
          </a:xfrm>
        </p:grpSpPr>
        <p:sp>
          <p:nvSpPr>
            <p:cNvPr name="Freeform 10" id="10"/>
            <p:cNvSpPr/>
            <p:nvPr/>
          </p:nvSpPr>
          <p:spPr>
            <a:xfrm flipH="false" flipV="false" rot="0">
              <a:off x="0" y="0"/>
              <a:ext cx="4685600" cy="1284895"/>
            </a:xfrm>
            <a:custGeom>
              <a:avLst/>
              <a:gdLst/>
              <a:ahLst/>
              <a:cxnLst/>
              <a:rect r="r" b="b" t="t" l="l"/>
              <a:pathLst>
                <a:path h="1284895" w="4685600">
                  <a:moveTo>
                    <a:pt x="0" y="0"/>
                  </a:moveTo>
                  <a:lnTo>
                    <a:pt x="4685600" y="0"/>
                  </a:lnTo>
                  <a:lnTo>
                    <a:pt x="4685600" y="1284895"/>
                  </a:lnTo>
                  <a:lnTo>
                    <a:pt x="0" y="1284895"/>
                  </a:lnTo>
                  <a:close/>
                </a:path>
              </a:pathLst>
            </a:custGeom>
            <a:blipFill>
              <a:blip r:embed="rId11">
                <a:alphaModFix amt="0"/>
              </a:blip>
              <a:stretch>
                <a:fillRect l="0" t="-6988" r="0" b="-35123"/>
              </a:stretch>
            </a:blipFill>
          </p:spPr>
        </p:sp>
        <p:sp>
          <p:nvSpPr>
            <p:cNvPr name="TextBox 11" id="11"/>
            <p:cNvSpPr txBox="true"/>
            <p:nvPr/>
          </p:nvSpPr>
          <p:spPr>
            <a:xfrm>
              <a:off x="0" y="-28575"/>
              <a:ext cx="4685602" cy="1313472"/>
            </a:xfrm>
            <a:prstGeom prst="rect">
              <a:avLst/>
            </a:prstGeom>
          </p:spPr>
          <p:txBody>
            <a:bodyPr anchor="b" rtlCol="false" tIns="0" lIns="0" bIns="0" rIns="0"/>
            <a:lstStyle/>
            <a:p>
              <a:pPr algn="l">
                <a:lnSpc>
                  <a:spcPts val="4320"/>
                </a:lnSpc>
              </a:pPr>
              <a:r>
                <a:rPr lang="en-US" b="true" sz="3600">
                  <a:solidFill>
                    <a:srgbClr val="35363B"/>
                  </a:solidFill>
                  <a:latin typeface="Arimo Bold"/>
                  <a:ea typeface="Arimo Bold"/>
                  <a:cs typeface="Arimo Bold"/>
                  <a:sym typeface="Arimo Bold"/>
                </a:rPr>
                <a:t>Thiếu tài l</a:t>
              </a:r>
              <a:r>
                <a:rPr lang="en-US" b="true" sz="3600">
                  <a:solidFill>
                    <a:srgbClr val="35363B"/>
                  </a:solidFill>
                  <a:latin typeface="Arimo Bold"/>
                  <a:ea typeface="Arimo Bold"/>
                  <a:cs typeface="Arimo Bold"/>
                  <a:sym typeface="Arimo Bold"/>
                </a:rPr>
                <a:t>iệu</a:t>
              </a:r>
            </a:p>
          </p:txBody>
        </p:sp>
      </p:grpSp>
      <p:grpSp>
        <p:nvGrpSpPr>
          <p:cNvPr name="Group 12" id="12"/>
          <p:cNvGrpSpPr/>
          <p:nvPr/>
        </p:nvGrpSpPr>
        <p:grpSpPr>
          <a:xfrm rot="0">
            <a:off x="1491348" y="7422177"/>
            <a:ext cx="3514201" cy="1273150"/>
            <a:chOff x="0" y="0"/>
            <a:chExt cx="4685602" cy="1697534"/>
          </a:xfrm>
        </p:grpSpPr>
        <p:sp>
          <p:nvSpPr>
            <p:cNvPr name="Freeform 13" id="13"/>
            <p:cNvSpPr/>
            <p:nvPr/>
          </p:nvSpPr>
          <p:spPr>
            <a:xfrm flipH="false" flipV="false" rot="0">
              <a:off x="0" y="0"/>
              <a:ext cx="4685600" cy="1697531"/>
            </a:xfrm>
            <a:custGeom>
              <a:avLst/>
              <a:gdLst/>
              <a:ahLst/>
              <a:cxnLst/>
              <a:rect r="r" b="b" t="t" l="l"/>
              <a:pathLst>
                <a:path h="1697531" w="4685600">
                  <a:moveTo>
                    <a:pt x="0" y="0"/>
                  </a:moveTo>
                  <a:lnTo>
                    <a:pt x="4685600" y="0"/>
                  </a:lnTo>
                  <a:lnTo>
                    <a:pt x="4685600" y="1697531"/>
                  </a:lnTo>
                  <a:lnTo>
                    <a:pt x="0" y="1697531"/>
                  </a:lnTo>
                  <a:close/>
                </a:path>
              </a:pathLst>
            </a:custGeom>
            <a:blipFill>
              <a:blip r:embed="rId11">
                <a:alphaModFix amt="0"/>
              </a:blip>
              <a:stretch>
                <a:fillRect l="0" t="-5289" r="0" b="-2277"/>
              </a:stretch>
            </a:blipFill>
          </p:spPr>
        </p:sp>
        <p:sp>
          <p:nvSpPr>
            <p:cNvPr name="TextBox 14" id="14"/>
            <p:cNvSpPr txBox="true"/>
            <p:nvPr/>
          </p:nvSpPr>
          <p:spPr>
            <a:xfrm>
              <a:off x="0" y="-28575"/>
              <a:ext cx="4685602" cy="1726109"/>
            </a:xfrm>
            <a:prstGeom prst="rect">
              <a:avLst/>
            </a:prstGeom>
          </p:spPr>
          <p:txBody>
            <a:bodyPr anchor="b" rtlCol="false" tIns="0" lIns="0" bIns="0" rIns="0"/>
            <a:lstStyle/>
            <a:p>
              <a:pPr algn="l">
                <a:lnSpc>
                  <a:spcPts val="4320"/>
                </a:lnSpc>
              </a:pPr>
              <a:r>
                <a:rPr lang="en-US" b="true" sz="3600">
                  <a:solidFill>
                    <a:srgbClr val="35363B"/>
                  </a:solidFill>
                  <a:latin typeface="Arimo Bold"/>
                  <a:ea typeface="Arimo Bold"/>
                  <a:cs typeface="Arimo Bold"/>
                  <a:sym typeface="Arimo Bold"/>
                </a:rPr>
                <a:t>K</a:t>
              </a:r>
              <a:r>
                <a:rPr lang="en-US" b="true" sz="3600">
                  <a:solidFill>
                    <a:srgbClr val="35363B"/>
                  </a:solidFill>
                  <a:latin typeface="Arimo Bold"/>
                  <a:ea typeface="Arimo Bold"/>
                  <a:cs typeface="Arimo Bold"/>
                  <a:sym typeface="Arimo Bold"/>
                </a:rPr>
                <a:t>iến trúc không rõ ràng</a:t>
              </a:r>
            </a:p>
          </p:txBody>
        </p:sp>
      </p:grpSp>
      <p:grpSp>
        <p:nvGrpSpPr>
          <p:cNvPr name="Group 15" id="15"/>
          <p:cNvGrpSpPr/>
          <p:nvPr/>
        </p:nvGrpSpPr>
        <p:grpSpPr>
          <a:xfrm rot="0">
            <a:off x="13282451" y="2856216"/>
            <a:ext cx="3514201" cy="1273150"/>
            <a:chOff x="0" y="0"/>
            <a:chExt cx="4685602" cy="1697534"/>
          </a:xfrm>
        </p:grpSpPr>
        <p:sp>
          <p:nvSpPr>
            <p:cNvPr name="Freeform 16" id="16"/>
            <p:cNvSpPr/>
            <p:nvPr/>
          </p:nvSpPr>
          <p:spPr>
            <a:xfrm flipH="false" flipV="false" rot="0">
              <a:off x="0" y="0"/>
              <a:ext cx="4685600" cy="1697531"/>
            </a:xfrm>
            <a:custGeom>
              <a:avLst/>
              <a:gdLst/>
              <a:ahLst/>
              <a:cxnLst/>
              <a:rect r="r" b="b" t="t" l="l"/>
              <a:pathLst>
                <a:path h="1697531" w="4685600">
                  <a:moveTo>
                    <a:pt x="0" y="0"/>
                  </a:moveTo>
                  <a:lnTo>
                    <a:pt x="4685600" y="0"/>
                  </a:lnTo>
                  <a:lnTo>
                    <a:pt x="4685600" y="1697531"/>
                  </a:lnTo>
                  <a:lnTo>
                    <a:pt x="0" y="1697531"/>
                  </a:lnTo>
                  <a:close/>
                </a:path>
              </a:pathLst>
            </a:custGeom>
            <a:blipFill>
              <a:blip r:embed="rId11">
                <a:alphaModFix amt="0"/>
              </a:blip>
              <a:stretch>
                <a:fillRect l="0" t="-5289" r="0" b="-2277"/>
              </a:stretch>
            </a:blipFill>
          </p:spPr>
        </p:sp>
        <p:sp>
          <p:nvSpPr>
            <p:cNvPr name="TextBox 17" id="17"/>
            <p:cNvSpPr txBox="true"/>
            <p:nvPr/>
          </p:nvSpPr>
          <p:spPr>
            <a:xfrm>
              <a:off x="0" y="-28575"/>
              <a:ext cx="4685602" cy="1726109"/>
            </a:xfrm>
            <a:prstGeom prst="rect">
              <a:avLst/>
            </a:prstGeom>
          </p:spPr>
          <p:txBody>
            <a:bodyPr anchor="b" rtlCol="false" tIns="0" lIns="0" bIns="0" rIns="0"/>
            <a:lstStyle/>
            <a:p>
              <a:pPr algn="r">
                <a:lnSpc>
                  <a:spcPts val="4320"/>
                </a:lnSpc>
              </a:pPr>
              <a:r>
                <a:rPr lang="en-US" b="true" sz="3600">
                  <a:solidFill>
                    <a:srgbClr val="35363B"/>
                  </a:solidFill>
                  <a:latin typeface="Arimo Bold"/>
                  <a:ea typeface="Arimo Bold"/>
                  <a:cs typeface="Arimo Bold"/>
                  <a:sym typeface="Arimo Bold"/>
                </a:rPr>
                <a:t>Code k</a:t>
              </a:r>
              <a:r>
                <a:rPr lang="en-US" b="true" sz="3600">
                  <a:solidFill>
                    <a:srgbClr val="35363B"/>
                  </a:solidFill>
                  <a:latin typeface="Arimo Bold"/>
                  <a:ea typeface="Arimo Bold"/>
                  <a:cs typeface="Arimo Bold"/>
                  <a:sym typeface="Arimo Bold"/>
                </a:rPr>
                <a:t>hông đồng nhất</a:t>
              </a:r>
            </a:p>
          </p:txBody>
        </p:sp>
      </p:grpSp>
      <p:grpSp>
        <p:nvGrpSpPr>
          <p:cNvPr name="Group 18" id="18"/>
          <p:cNvGrpSpPr/>
          <p:nvPr/>
        </p:nvGrpSpPr>
        <p:grpSpPr>
          <a:xfrm rot="0">
            <a:off x="13282451" y="5238890"/>
            <a:ext cx="3514201" cy="1273150"/>
            <a:chOff x="0" y="0"/>
            <a:chExt cx="4685602" cy="1697534"/>
          </a:xfrm>
        </p:grpSpPr>
        <p:sp>
          <p:nvSpPr>
            <p:cNvPr name="Freeform 19" id="19"/>
            <p:cNvSpPr/>
            <p:nvPr/>
          </p:nvSpPr>
          <p:spPr>
            <a:xfrm flipH="false" flipV="false" rot="0">
              <a:off x="0" y="0"/>
              <a:ext cx="4685600" cy="1697531"/>
            </a:xfrm>
            <a:custGeom>
              <a:avLst/>
              <a:gdLst/>
              <a:ahLst/>
              <a:cxnLst/>
              <a:rect r="r" b="b" t="t" l="l"/>
              <a:pathLst>
                <a:path h="1697531" w="4685600">
                  <a:moveTo>
                    <a:pt x="0" y="0"/>
                  </a:moveTo>
                  <a:lnTo>
                    <a:pt x="4685600" y="0"/>
                  </a:lnTo>
                  <a:lnTo>
                    <a:pt x="4685600" y="1697531"/>
                  </a:lnTo>
                  <a:lnTo>
                    <a:pt x="0" y="1697531"/>
                  </a:lnTo>
                  <a:close/>
                </a:path>
              </a:pathLst>
            </a:custGeom>
            <a:blipFill>
              <a:blip r:embed="rId11">
                <a:alphaModFix amt="0"/>
              </a:blip>
              <a:stretch>
                <a:fillRect l="0" t="-5289" r="0" b="-2277"/>
              </a:stretch>
            </a:blipFill>
          </p:spPr>
        </p:sp>
        <p:sp>
          <p:nvSpPr>
            <p:cNvPr name="TextBox 20" id="20"/>
            <p:cNvSpPr txBox="true"/>
            <p:nvPr/>
          </p:nvSpPr>
          <p:spPr>
            <a:xfrm>
              <a:off x="0" y="-28575"/>
              <a:ext cx="4685602" cy="1726109"/>
            </a:xfrm>
            <a:prstGeom prst="rect">
              <a:avLst/>
            </a:prstGeom>
          </p:spPr>
          <p:txBody>
            <a:bodyPr anchor="b" rtlCol="false" tIns="0" lIns="0" bIns="0" rIns="0"/>
            <a:lstStyle/>
            <a:p>
              <a:pPr algn="r">
                <a:lnSpc>
                  <a:spcPts val="4320"/>
                </a:lnSpc>
              </a:pPr>
              <a:r>
                <a:rPr lang="en-US" b="true" sz="3600">
                  <a:solidFill>
                    <a:srgbClr val="35363B"/>
                  </a:solidFill>
                  <a:latin typeface="Arimo Bold"/>
                  <a:ea typeface="Arimo Bold"/>
                  <a:cs typeface="Arimo Bold"/>
                  <a:sym typeface="Arimo Bold"/>
                </a:rPr>
                <a:t>Khó thiết lập môi t</a:t>
              </a:r>
              <a:r>
                <a:rPr lang="en-US" b="true" sz="3600">
                  <a:solidFill>
                    <a:srgbClr val="35363B"/>
                  </a:solidFill>
                  <a:latin typeface="Arimo Bold"/>
                  <a:ea typeface="Arimo Bold"/>
                  <a:cs typeface="Arimo Bold"/>
                  <a:sym typeface="Arimo Bold"/>
                </a:rPr>
                <a:t>rường</a:t>
              </a:r>
            </a:p>
          </p:txBody>
        </p:sp>
      </p:grpSp>
      <p:grpSp>
        <p:nvGrpSpPr>
          <p:cNvPr name="Group 21" id="21"/>
          <p:cNvGrpSpPr/>
          <p:nvPr/>
        </p:nvGrpSpPr>
        <p:grpSpPr>
          <a:xfrm rot="0">
            <a:off x="6220073" y="3251446"/>
            <a:ext cx="942604" cy="942604"/>
            <a:chOff x="0" y="0"/>
            <a:chExt cx="1256805" cy="1256805"/>
          </a:xfrm>
        </p:grpSpPr>
        <p:sp>
          <p:nvSpPr>
            <p:cNvPr name="Freeform 22" id="22"/>
            <p:cNvSpPr/>
            <p:nvPr/>
          </p:nvSpPr>
          <p:spPr>
            <a:xfrm flipH="false" flipV="false" rot="0">
              <a:off x="0" y="0"/>
              <a:ext cx="1256792" cy="1256792"/>
            </a:xfrm>
            <a:custGeom>
              <a:avLst/>
              <a:gdLst/>
              <a:ahLst/>
              <a:cxnLst/>
              <a:rect r="r" b="b" t="t" l="l"/>
              <a:pathLst>
                <a:path h="1256792" w="1256792">
                  <a:moveTo>
                    <a:pt x="0" y="0"/>
                  </a:moveTo>
                  <a:lnTo>
                    <a:pt x="1256792" y="0"/>
                  </a:lnTo>
                  <a:lnTo>
                    <a:pt x="1256792" y="1256792"/>
                  </a:lnTo>
                  <a:lnTo>
                    <a:pt x="0" y="1256792"/>
                  </a:lnTo>
                  <a:close/>
                </a:path>
              </a:pathLst>
            </a:custGeom>
            <a:solidFill>
              <a:srgbClr val="55C0ED"/>
            </a:solidFill>
          </p:spPr>
        </p:sp>
      </p:grpSp>
      <p:grpSp>
        <p:nvGrpSpPr>
          <p:cNvPr name="Group 23" id="23"/>
          <p:cNvGrpSpPr/>
          <p:nvPr/>
        </p:nvGrpSpPr>
        <p:grpSpPr>
          <a:xfrm rot="0">
            <a:off x="6220073" y="5534494"/>
            <a:ext cx="942604" cy="942604"/>
            <a:chOff x="0" y="0"/>
            <a:chExt cx="1256805" cy="1256805"/>
          </a:xfrm>
        </p:grpSpPr>
        <p:sp>
          <p:nvSpPr>
            <p:cNvPr name="Freeform 24" id="24"/>
            <p:cNvSpPr/>
            <p:nvPr/>
          </p:nvSpPr>
          <p:spPr>
            <a:xfrm flipH="false" flipV="false" rot="0">
              <a:off x="0" y="0"/>
              <a:ext cx="1256792" cy="1256792"/>
            </a:xfrm>
            <a:custGeom>
              <a:avLst/>
              <a:gdLst/>
              <a:ahLst/>
              <a:cxnLst/>
              <a:rect r="r" b="b" t="t" l="l"/>
              <a:pathLst>
                <a:path h="1256792" w="1256792">
                  <a:moveTo>
                    <a:pt x="0" y="0"/>
                  </a:moveTo>
                  <a:lnTo>
                    <a:pt x="1256792" y="0"/>
                  </a:lnTo>
                  <a:lnTo>
                    <a:pt x="1256792" y="1256792"/>
                  </a:lnTo>
                  <a:lnTo>
                    <a:pt x="0" y="1256792"/>
                  </a:lnTo>
                  <a:close/>
                </a:path>
              </a:pathLst>
            </a:custGeom>
            <a:solidFill>
              <a:srgbClr val="55C0ED"/>
            </a:solidFill>
          </p:spPr>
        </p:sp>
      </p:grpSp>
      <p:grpSp>
        <p:nvGrpSpPr>
          <p:cNvPr name="Group 25" id="25"/>
          <p:cNvGrpSpPr/>
          <p:nvPr/>
        </p:nvGrpSpPr>
        <p:grpSpPr>
          <a:xfrm rot="0">
            <a:off x="6220073" y="7817550"/>
            <a:ext cx="942604" cy="942604"/>
            <a:chOff x="0" y="0"/>
            <a:chExt cx="1256805" cy="1256805"/>
          </a:xfrm>
        </p:grpSpPr>
        <p:sp>
          <p:nvSpPr>
            <p:cNvPr name="Freeform 26" id="26"/>
            <p:cNvSpPr/>
            <p:nvPr/>
          </p:nvSpPr>
          <p:spPr>
            <a:xfrm flipH="false" flipV="false" rot="0">
              <a:off x="0" y="0"/>
              <a:ext cx="1256792" cy="1256792"/>
            </a:xfrm>
            <a:custGeom>
              <a:avLst/>
              <a:gdLst/>
              <a:ahLst/>
              <a:cxnLst/>
              <a:rect r="r" b="b" t="t" l="l"/>
              <a:pathLst>
                <a:path h="1256792" w="1256792">
                  <a:moveTo>
                    <a:pt x="0" y="0"/>
                  </a:moveTo>
                  <a:lnTo>
                    <a:pt x="1256792" y="0"/>
                  </a:lnTo>
                  <a:lnTo>
                    <a:pt x="1256792" y="1256792"/>
                  </a:lnTo>
                  <a:lnTo>
                    <a:pt x="0" y="1256792"/>
                  </a:lnTo>
                  <a:close/>
                </a:path>
              </a:pathLst>
            </a:custGeom>
            <a:solidFill>
              <a:srgbClr val="55C0ED"/>
            </a:solidFill>
          </p:spPr>
        </p:sp>
      </p:grpSp>
      <p:grpSp>
        <p:nvGrpSpPr>
          <p:cNvPr name="Group 27" id="27"/>
          <p:cNvGrpSpPr/>
          <p:nvPr/>
        </p:nvGrpSpPr>
        <p:grpSpPr>
          <a:xfrm rot="0">
            <a:off x="11212420" y="3251446"/>
            <a:ext cx="942604" cy="942604"/>
            <a:chOff x="0" y="0"/>
            <a:chExt cx="1256805" cy="1256805"/>
          </a:xfrm>
        </p:grpSpPr>
        <p:sp>
          <p:nvSpPr>
            <p:cNvPr name="Freeform 28" id="28"/>
            <p:cNvSpPr/>
            <p:nvPr/>
          </p:nvSpPr>
          <p:spPr>
            <a:xfrm flipH="false" flipV="false" rot="0">
              <a:off x="0" y="0"/>
              <a:ext cx="1256792" cy="1256792"/>
            </a:xfrm>
            <a:custGeom>
              <a:avLst/>
              <a:gdLst/>
              <a:ahLst/>
              <a:cxnLst/>
              <a:rect r="r" b="b" t="t" l="l"/>
              <a:pathLst>
                <a:path h="1256792" w="1256792">
                  <a:moveTo>
                    <a:pt x="0" y="0"/>
                  </a:moveTo>
                  <a:lnTo>
                    <a:pt x="1256792" y="0"/>
                  </a:lnTo>
                  <a:lnTo>
                    <a:pt x="1256792" y="1256792"/>
                  </a:lnTo>
                  <a:lnTo>
                    <a:pt x="0" y="1256792"/>
                  </a:lnTo>
                  <a:close/>
                </a:path>
              </a:pathLst>
            </a:custGeom>
            <a:solidFill>
              <a:srgbClr val="55C0ED"/>
            </a:solidFill>
          </p:spPr>
        </p:sp>
      </p:grpSp>
      <p:grpSp>
        <p:nvGrpSpPr>
          <p:cNvPr name="Group 29" id="29"/>
          <p:cNvGrpSpPr/>
          <p:nvPr/>
        </p:nvGrpSpPr>
        <p:grpSpPr>
          <a:xfrm rot="0">
            <a:off x="11215316" y="5520530"/>
            <a:ext cx="942604" cy="942604"/>
            <a:chOff x="0" y="0"/>
            <a:chExt cx="1256805" cy="1256805"/>
          </a:xfrm>
        </p:grpSpPr>
        <p:sp>
          <p:nvSpPr>
            <p:cNvPr name="Freeform 30" id="30"/>
            <p:cNvSpPr/>
            <p:nvPr/>
          </p:nvSpPr>
          <p:spPr>
            <a:xfrm flipH="false" flipV="false" rot="0">
              <a:off x="0" y="0"/>
              <a:ext cx="1256792" cy="1256792"/>
            </a:xfrm>
            <a:custGeom>
              <a:avLst/>
              <a:gdLst/>
              <a:ahLst/>
              <a:cxnLst/>
              <a:rect r="r" b="b" t="t" l="l"/>
              <a:pathLst>
                <a:path h="1256792" w="1256792">
                  <a:moveTo>
                    <a:pt x="0" y="0"/>
                  </a:moveTo>
                  <a:lnTo>
                    <a:pt x="1256792" y="0"/>
                  </a:lnTo>
                  <a:lnTo>
                    <a:pt x="1256792" y="1256792"/>
                  </a:lnTo>
                  <a:lnTo>
                    <a:pt x="0" y="1256792"/>
                  </a:lnTo>
                  <a:close/>
                </a:path>
              </a:pathLst>
            </a:custGeom>
            <a:solidFill>
              <a:srgbClr val="55C0ED"/>
            </a:solidFill>
          </p:spPr>
        </p:sp>
      </p:grpSp>
      <p:sp>
        <p:nvSpPr>
          <p:cNvPr name="Freeform 31" id="31"/>
          <p:cNvSpPr/>
          <p:nvPr/>
        </p:nvSpPr>
        <p:spPr>
          <a:xfrm flipH="false" flipV="false" rot="0">
            <a:off x="6336602" y="3383510"/>
            <a:ext cx="709555" cy="678542"/>
          </a:xfrm>
          <a:custGeom>
            <a:avLst/>
            <a:gdLst/>
            <a:ahLst/>
            <a:cxnLst/>
            <a:rect r="r" b="b" t="t" l="l"/>
            <a:pathLst>
              <a:path h="678542" w="709555">
                <a:moveTo>
                  <a:pt x="0" y="0"/>
                </a:moveTo>
                <a:lnTo>
                  <a:pt x="709555" y="0"/>
                </a:lnTo>
                <a:lnTo>
                  <a:pt x="709555" y="678542"/>
                </a:lnTo>
                <a:lnTo>
                  <a:pt x="0" y="678542"/>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32" id="32"/>
          <p:cNvSpPr/>
          <p:nvPr/>
        </p:nvSpPr>
        <p:spPr>
          <a:xfrm flipH="false" flipV="false" rot="0">
            <a:off x="6354423" y="5719002"/>
            <a:ext cx="673932" cy="573662"/>
          </a:xfrm>
          <a:custGeom>
            <a:avLst/>
            <a:gdLst/>
            <a:ahLst/>
            <a:cxnLst/>
            <a:rect r="r" b="b" t="t" l="l"/>
            <a:pathLst>
              <a:path h="573662" w="673932">
                <a:moveTo>
                  <a:pt x="0" y="0"/>
                </a:moveTo>
                <a:lnTo>
                  <a:pt x="673932" y="0"/>
                </a:lnTo>
                <a:lnTo>
                  <a:pt x="673932" y="573663"/>
                </a:lnTo>
                <a:lnTo>
                  <a:pt x="0" y="57366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33" id="33"/>
          <p:cNvSpPr/>
          <p:nvPr/>
        </p:nvSpPr>
        <p:spPr>
          <a:xfrm flipH="false" flipV="false" rot="0">
            <a:off x="6354451" y="7949557"/>
            <a:ext cx="678504" cy="678504"/>
          </a:xfrm>
          <a:custGeom>
            <a:avLst/>
            <a:gdLst/>
            <a:ahLst/>
            <a:cxnLst/>
            <a:rect r="r" b="b" t="t" l="l"/>
            <a:pathLst>
              <a:path h="678504" w="678504">
                <a:moveTo>
                  <a:pt x="0" y="0"/>
                </a:moveTo>
                <a:lnTo>
                  <a:pt x="678504" y="0"/>
                </a:lnTo>
                <a:lnTo>
                  <a:pt x="678504" y="678504"/>
                </a:lnTo>
                <a:lnTo>
                  <a:pt x="0" y="678504"/>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34" id="34"/>
          <p:cNvSpPr/>
          <p:nvPr/>
        </p:nvSpPr>
        <p:spPr>
          <a:xfrm flipH="false" flipV="false" rot="0">
            <a:off x="11344494" y="3383520"/>
            <a:ext cx="678504" cy="678504"/>
          </a:xfrm>
          <a:custGeom>
            <a:avLst/>
            <a:gdLst/>
            <a:ahLst/>
            <a:cxnLst/>
            <a:rect r="r" b="b" t="t" l="l"/>
            <a:pathLst>
              <a:path h="678504" w="678504">
                <a:moveTo>
                  <a:pt x="0" y="0"/>
                </a:moveTo>
                <a:lnTo>
                  <a:pt x="678504" y="0"/>
                </a:lnTo>
                <a:lnTo>
                  <a:pt x="678504" y="678504"/>
                </a:lnTo>
                <a:lnTo>
                  <a:pt x="0" y="678504"/>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
        <p:nvSpPr>
          <p:cNvPr name="Freeform 35" id="35"/>
          <p:cNvSpPr/>
          <p:nvPr/>
        </p:nvSpPr>
        <p:spPr>
          <a:xfrm flipH="false" flipV="false" rot="0">
            <a:off x="11344942" y="5652613"/>
            <a:ext cx="681142" cy="678542"/>
          </a:xfrm>
          <a:custGeom>
            <a:avLst/>
            <a:gdLst/>
            <a:ahLst/>
            <a:cxnLst/>
            <a:rect r="r" b="b" t="t" l="l"/>
            <a:pathLst>
              <a:path h="678542" w="681142">
                <a:moveTo>
                  <a:pt x="0" y="0"/>
                </a:moveTo>
                <a:lnTo>
                  <a:pt x="681142" y="0"/>
                </a:lnTo>
                <a:lnTo>
                  <a:pt x="681142" y="678542"/>
                </a:lnTo>
                <a:lnTo>
                  <a:pt x="0" y="67854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nvGrpSpPr>
          <p:cNvPr name="Group 36" id="36"/>
          <p:cNvGrpSpPr/>
          <p:nvPr/>
        </p:nvGrpSpPr>
        <p:grpSpPr>
          <a:xfrm rot="0">
            <a:off x="7779982" y="3306072"/>
            <a:ext cx="2815161" cy="5371519"/>
            <a:chOff x="0" y="0"/>
            <a:chExt cx="3753548" cy="7162025"/>
          </a:xfrm>
        </p:grpSpPr>
        <p:sp>
          <p:nvSpPr>
            <p:cNvPr name="Freeform 37" id="37"/>
            <p:cNvSpPr/>
            <p:nvPr/>
          </p:nvSpPr>
          <p:spPr>
            <a:xfrm flipH="false" flipV="false" rot="0">
              <a:off x="0" y="0"/>
              <a:ext cx="3753485" cy="7162038"/>
            </a:xfrm>
            <a:custGeom>
              <a:avLst/>
              <a:gdLst/>
              <a:ahLst/>
              <a:cxnLst/>
              <a:rect r="r" b="b" t="t" l="l"/>
              <a:pathLst>
                <a:path h="7162038" w="3753485">
                  <a:moveTo>
                    <a:pt x="0" y="0"/>
                  </a:moveTo>
                  <a:lnTo>
                    <a:pt x="0" y="7162038"/>
                  </a:lnTo>
                  <a:lnTo>
                    <a:pt x="3753485" y="7162038"/>
                  </a:lnTo>
                  <a:lnTo>
                    <a:pt x="3753485" y="0"/>
                  </a:lnTo>
                  <a:close/>
                </a:path>
              </a:pathLst>
            </a:custGeom>
            <a:solidFill>
              <a:srgbClr val="9090F1"/>
            </a:solidFill>
          </p:spPr>
        </p:sp>
      </p:grpSp>
      <p:sp>
        <p:nvSpPr>
          <p:cNvPr name="Freeform 38" id="38"/>
          <p:cNvSpPr/>
          <p:nvPr/>
        </p:nvSpPr>
        <p:spPr>
          <a:xfrm flipH="false" flipV="false" rot="0">
            <a:off x="7635754" y="2997338"/>
            <a:ext cx="3103312" cy="6299178"/>
          </a:xfrm>
          <a:custGeom>
            <a:avLst/>
            <a:gdLst/>
            <a:ahLst/>
            <a:cxnLst/>
            <a:rect r="r" b="b" t="t" l="l"/>
            <a:pathLst>
              <a:path h="6299178" w="3103312">
                <a:moveTo>
                  <a:pt x="0" y="0"/>
                </a:moveTo>
                <a:lnTo>
                  <a:pt x="3103312" y="0"/>
                </a:lnTo>
                <a:lnTo>
                  <a:pt x="3103312" y="6299178"/>
                </a:lnTo>
                <a:lnTo>
                  <a:pt x="0" y="6299178"/>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p:spPr>
      </p:sp>
      <p:grpSp>
        <p:nvGrpSpPr>
          <p:cNvPr name="Group 39" id="39"/>
          <p:cNvGrpSpPr/>
          <p:nvPr/>
        </p:nvGrpSpPr>
        <p:grpSpPr>
          <a:xfrm rot="0">
            <a:off x="7780001" y="3306072"/>
            <a:ext cx="2815228" cy="5371824"/>
            <a:chOff x="0" y="0"/>
            <a:chExt cx="3753637" cy="7162432"/>
          </a:xfrm>
        </p:grpSpPr>
        <p:sp>
          <p:nvSpPr>
            <p:cNvPr name="Freeform 40" id="40"/>
            <p:cNvSpPr/>
            <p:nvPr/>
          </p:nvSpPr>
          <p:spPr>
            <a:xfrm flipH="false" flipV="false" rot="0">
              <a:off x="0" y="0"/>
              <a:ext cx="3753612" cy="7162419"/>
            </a:xfrm>
            <a:custGeom>
              <a:avLst/>
              <a:gdLst/>
              <a:ahLst/>
              <a:cxnLst/>
              <a:rect r="r" b="b" t="t" l="l"/>
              <a:pathLst>
                <a:path h="7162419" w="3753612">
                  <a:moveTo>
                    <a:pt x="0" y="0"/>
                  </a:moveTo>
                  <a:lnTo>
                    <a:pt x="3753612" y="0"/>
                  </a:lnTo>
                  <a:lnTo>
                    <a:pt x="3753612" y="7162419"/>
                  </a:lnTo>
                  <a:lnTo>
                    <a:pt x="0" y="7162419"/>
                  </a:lnTo>
                  <a:lnTo>
                    <a:pt x="0" y="0"/>
                  </a:lnTo>
                  <a:close/>
                </a:path>
              </a:pathLst>
            </a:custGeom>
            <a:blipFill>
              <a:blip r:embed="rId24"/>
              <a:stretch>
                <a:fillRect l="-45407" t="0" r="-45407" b="0"/>
              </a:stretch>
            </a:blipFill>
          </p:spPr>
        </p:sp>
      </p:grpSp>
      <p:sp>
        <p:nvSpPr>
          <p:cNvPr name="TextBox 41" id="41"/>
          <p:cNvSpPr txBox="true"/>
          <p:nvPr/>
        </p:nvSpPr>
        <p:spPr>
          <a:xfrm rot="0">
            <a:off x="1491348" y="4194050"/>
            <a:ext cx="3514201" cy="723900"/>
          </a:xfrm>
          <a:prstGeom prst="rect">
            <a:avLst/>
          </a:prstGeom>
        </p:spPr>
        <p:txBody>
          <a:bodyPr anchor="t" rtlCol="false" tIns="0" lIns="0" bIns="0" rIns="0">
            <a:spAutoFit/>
          </a:bodyPr>
          <a:lstStyle/>
          <a:p>
            <a:pPr algn="l">
              <a:lnSpc>
                <a:spcPts val="2879"/>
              </a:lnSpc>
            </a:pPr>
            <a:r>
              <a:rPr lang="en-US" sz="2400">
                <a:solidFill>
                  <a:srgbClr val="35363B"/>
                </a:solidFill>
                <a:latin typeface="Lato"/>
                <a:ea typeface="Lato"/>
                <a:cs typeface="Lato"/>
                <a:sym typeface="Lato"/>
              </a:rPr>
              <a:t>N</a:t>
            </a:r>
            <a:r>
              <a:rPr lang="en-US" sz="2400">
                <a:solidFill>
                  <a:srgbClr val="35363B"/>
                </a:solidFill>
                <a:latin typeface="Lato"/>
                <a:ea typeface="Lato"/>
                <a:cs typeface="Lato"/>
                <a:sym typeface="Lato"/>
              </a:rPr>
              <a:t>hiều file, nhiều module, khó xác định điểm bắt đầu</a:t>
            </a:r>
          </a:p>
        </p:txBody>
      </p:sp>
      <p:sp>
        <p:nvSpPr>
          <p:cNvPr name="TextBox 42" id="42"/>
          <p:cNvSpPr txBox="true"/>
          <p:nvPr/>
        </p:nvSpPr>
        <p:spPr>
          <a:xfrm rot="0">
            <a:off x="1491348" y="6169468"/>
            <a:ext cx="3514201" cy="723900"/>
          </a:xfrm>
          <a:prstGeom prst="rect">
            <a:avLst/>
          </a:prstGeom>
        </p:spPr>
        <p:txBody>
          <a:bodyPr anchor="t" rtlCol="false" tIns="0" lIns="0" bIns="0" rIns="0">
            <a:spAutoFit/>
          </a:bodyPr>
          <a:lstStyle/>
          <a:p>
            <a:pPr algn="l">
              <a:lnSpc>
                <a:spcPts val="2879"/>
              </a:lnSpc>
            </a:pPr>
            <a:r>
              <a:rPr lang="en-US" sz="2400">
                <a:solidFill>
                  <a:srgbClr val="35363B"/>
                </a:solidFill>
                <a:latin typeface="Lato"/>
                <a:ea typeface="Lato"/>
                <a:cs typeface="Lato"/>
                <a:sym typeface="Lato"/>
              </a:rPr>
              <a:t>K</a:t>
            </a:r>
            <a:r>
              <a:rPr lang="en-US" sz="2400">
                <a:solidFill>
                  <a:srgbClr val="35363B"/>
                </a:solidFill>
                <a:latin typeface="Lato"/>
                <a:ea typeface="Lato"/>
                <a:cs typeface="Lato"/>
                <a:sym typeface="Lato"/>
              </a:rPr>
              <a:t>hông có README hoặc tài liệu không đầy đủ</a:t>
            </a:r>
          </a:p>
        </p:txBody>
      </p:sp>
      <p:sp>
        <p:nvSpPr>
          <p:cNvPr name="TextBox 43" id="43"/>
          <p:cNvSpPr txBox="true"/>
          <p:nvPr/>
        </p:nvSpPr>
        <p:spPr>
          <a:xfrm rot="0">
            <a:off x="1491348" y="8762002"/>
            <a:ext cx="3430572" cy="723900"/>
          </a:xfrm>
          <a:prstGeom prst="rect">
            <a:avLst/>
          </a:prstGeom>
        </p:spPr>
        <p:txBody>
          <a:bodyPr anchor="t" rtlCol="false" tIns="0" lIns="0" bIns="0" rIns="0">
            <a:spAutoFit/>
          </a:bodyPr>
          <a:lstStyle/>
          <a:p>
            <a:pPr algn="l">
              <a:lnSpc>
                <a:spcPts val="2879"/>
              </a:lnSpc>
            </a:pPr>
            <a:r>
              <a:rPr lang="en-US" sz="2400">
                <a:solidFill>
                  <a:srgbClr val="35363B"/>
                </a:solidFill>
                <a:latin typeface="Lato"/>
                <a:ea typeface="Lato"/>
                <a:cs typeface="Lato"/>
                <a:sym typeface="Lato"/>
              </a:rPr>
              <a:t>K</a:t>
            </a:r>
            <a:r>
              <a:rPr lang="en-US" sz="2400">
                <a:solidFill>
                  <a:srgbClr val="35363B"/>
                </a:solidFill>
                <a:latin typeface="Lato"/>
                <a:ea typeface="Lato"/>
                <a:cs typeface="Lato"/>
                <a:sym typeface="Lato"/>
              </a:rPr>
              <a:t>hó nhận diện luồng xử lý và các thành phần</a:t>
            </a:r>
          </a:p>
        </p:txBody>
      </p:sp>
      <p:sp>
        <p:nvSpPr>
          <p:cNvPr name="TextBox 44" id="44"/>
          <p:cNvSpPr txBox="true"/>
          <p:nvPr/>
        </p:nvSpPr>
        <p:spPr>
          <a:xfrm rot="0">
            <a:off x="13282451" y="4261401"/>
            <a:ext cx="3514201" cy="723900"/>
          </a:xfrm>
          <a:prstGeom prst="rect">
            <a:avLst/>
          </a:prstGeom>
        </p:spPr>
        <p:txBody>
          <a:bodyPr anchor="t" rtlCol="false" tIns="0" lIns="0" bIns="0" rIns="0">
            <a:spAutoFit/>
          </a:bodyPr>
          <a:lstStyle/>
          <a:p>
            <a:pPr algn="r">
              <a:lnSpc>
                <a:spcPts val="2879"/>
              </a:lnSpc>
            </a:pPr>
            <a:r>
              <a:rPr lang="en-US" sz="2400">
                <a:solidFill>
                  <a:srgbClr val="35363B"/>
                </a:solidFill>
                <a:latin typeface="Lato"/>
                <a:ea typeface="Lato"/>
                <a:cs typeface="Lato"/>
                <a:sym typeface="Lato"/>
              </a:rPr>
              <a:t>N</a:t>
            </a:r>
            <a:r>
              <a:rPr lang="en-US" sz="2400">
                <a:solidFill>
                  <a:srgbClr val="35363B"/>
                </a:solidFill>
                <a:latin typeface="Lato"/>
                <a:ea typeface="Lato"/>
                <a:cs typeface="Lato"/>
                <a:sym typeface="Lato"/>
              </a:rPr>
              <a:t>hiều người viết, style và logic không nhất quán</a:t>
            </a:r>
          </a:p>
        </p:txBody>
      </p:sp>
      <p:sp>
        <p:nvSpPr>
          <p:cNvPr name="TextBox 45" id="45"/>
          <p:cNvSpPr txBox="true"/>
          <p:nvPr/>
        </p:nvSpPr>
        <p:spPr>
          <a:xfrm rot="0">
            <a:off x="13282451" y="6765628"/>
            <a:ext cx="3514201" cy="1085850"/>
          </a:xfrm>
          <a:prstGeom prst="rect">
            <a:avLst/>
          </a:prstGeom>
        </p:spPr>
        <p:txBody>
          <a:bodyPr anchor="t" rtlCol="false" tIns="0" lIns="0" bIns="0" rIns="0">
            <a:spAutoFit/>
          </a:bodyPr>
          <a:lstStyle/>
          <a:p>
            <a:pPr algn="r">
              <a:lnSpc>
                <a:spcPts val="2879"/>
              </a:lnSpc>
            </a:pPr>
            <a:r>
              <a:rPr lang="en-US" sz="2400">
                <a:solidFill>
                  <a:srgbClr val="35363B"/>
                </a:solidFill>
                <a:latin typeface="Lato"/>
                <a:ea typeface="Lato"/>
                <a:cs typeface="Lato"/>
                <a:sym typeface="Lato"/>
              </a:rPr>
              <a:t>Cài</a:t>
            </a:r>
            <a:r>
              <a:rPr lang="en-US" sz="2400">
                <a:solidFill>
                  <a:srgbClr val="35363B"/>
                </a:solidFill>
                <a:latin typeface="Lato"/>
                <a:ea typeface="Lato"/>
                <a:cs typeface="Lato"/>
                <a:sym typeface="Lato"/>
              </a:rPr>
              <a:t> đặt, cấu hình và chạy project mất nhiều thời gian</a:t>
            </a:r>
          </a:p>
        </p:txBody>
      </p:sp>
      <p:sp>
        <p:nvSpPr>
          <p:cNvPr name="TextBox 46" id="46"/>
          <p:cNvSpPr txBox="true"/>
          <p:nvPr/>
        </p:nvSpPr>
        <p:spPr>
          <a:xfrm rot="0">
            <a:off x="1491348" y="463688"/>
            <a:ext cx="15221674" cy="18288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Những thách thức khi tiếp cận codebase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97288" y="359888"/>
            <a:ext cx="13383844" cy="1687120"/>
            <a:chOff x="0" y="0"/>
            <a:chExt cx="17845126" cy="2249494"/>
          </a:xfrm>
        </p:grpSpPr>
        <p:sp>
          <p:nvSpPr>
            <p:cNvPr name="Freeform 11" id="11"/>
            <p:cNvSpPr/>
            <p:nvPr/>
          </p:nvSpPr>
          <p:spPr>
            <a:xfrm flipH="false" flipV="false" rot="0">
              <a:off x="0" y="0"/>
              <a:ext cx="17845120" cy="2249490"/>
            </a:xfrm>
            <a:custGeom>
              <a:avLst/>
              <a:gdLst/>
              <a:ahLst/>
              <a:cxnLst/>
              <a:rect r="r" b="b" t="t" l="l"/>
              <a:pathLst>
                <a:path h="2249490" w="17845120">
                  <a:moveTo>
                    <a:pt x="0" y="0"/>
                  </a:moveTo>
                  <a:lnTo>
                    <a:pt x="17845120" y="0"/>
                  </a:lnTo>
                  <a:lnTo>
                    <a:pt x="17845120" y="2249490"/>
                  </a:lnTo>
                  <a:lnTo>
                    <a:pt x="0" y="2249490"/>
                  </a:lnTo>
                  <a:close/>
                </a:path>
              </a:pathLst>
            </a:custGeom>
            <a:blipFill>
              <a:blip r:embed="rId19">
                <a:alphaModFix amt="0"/>
              </a:blip>
              <a:stretch>
                <a:fillRect l="0" t="-35758" r="23546" b="-100595"/>
              </a:stretch>
            </a:blipFill>
          </p:spPr>
        </p:sp>
        <p:sp>
          <p:nvSpPr>
            <p:cNvPr name="TextBox 12" id="12"/>
            <p:cNvSpPr txBox="true"/>
            <p:nvPr/>
          </p:nvSpPr>
          <p:spPr>
            <a:xfrm>
              <a:off x="0" y="0"/>
              <a:ext cx="1784512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Thay đổi tư duy tiếp cận</a:t>
              </a:r>
              <a:r>
                <a:rPr lang="en-US" b="true" sz="6000">
                  <a:solidFill>
                    <a:srgbClr val="35363B"/>
                  </a:solidFill>
                  <a:latin typeface="Noto Serif Bold"/>
                  <a:ea typeface="Noto Serif Bold"/>
                  <a:cs typeface="Noto Serif Bold"/>
                  <a:sym typeface="Noto Serif Bold"/>
                </a:rPr>
                <a:t> Codebase</a:t>
              </a:r>
            </a:p>
          </p:txBody>
        </p:sp>
      </p:grpSp>
      <p:sp>
        <p:nvSpPr>
          <p:cNvPr name="Freeform 13" id="13"/>
          <p:cNvSpPr/>
          <p:nvPr/>
        </p:nvSpPr>
        <p:spPr>
          <a:xfrm flipH="false" flipV="false" rot="0">
            <a:off x="11815937" y="2745259"/>
            <a:ext cx="5792840" cy="5949531"/>
          </a:xfrm>
          <a:custGeom>
            <a:avLst/>
            <a:gdLst/>
            <a:ahLst/>
            <a:cxnLst/>
            <a:rect r="r" b="b" t="t" l="l"/>
            <a:pathLst>
              <a:path h="5949531" w="5792840">
                <a:moveTo>
                  <a:pt x="0" y="0"/>
                </a:moveTo>
                <a:lnTo>
                  <a:pt x="5792840" y="0"/>
                </a:lnTo>
                <a:lnTo>
                  <a:pt x="5792840" y="5949531"/>
                </a:lnTo>
                <a:lnTo>
                  <a:pt x="0" y="5949531"/>
                </a:lnTo>
                <a:lnTo>
                  <a:pt x="0" y="0"/>
                </a:lnTo>
                <a:close/>
              </a:path>
            </a:pathLst>
          </a:custGeom>
          <a:blipFill>
            <a:blip r:embed="rId20"/>
            <a:stretch>
              <a:fillRect l="0" t="0" r="-39368" b="0"/>
            </a:stretch>
          </a:blipFill>
        </p:spPr>
      </p:sp>
      <p:sp>
        <p:nvSpPr>
          <p:cNvPr name="TextBox 14" id="14"/>
          <p:cNvSpPr txBox="true"/>
          <p:nvPr/>
        </p:nvSpPr>
        <p:spPr>
          <a:xfrm rot="0">
            <a:off x="1997288" y="3008365"/>
            <a:ext cx="9319282" cy="15716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GenAI chuyển đổi phương pháp từ "đọc tuần tự thủ công" sang "tương tác có hướng dẫn" bằng cách chia codebase thành 4 tầng rõ rệt: </a:t>
            </a:r>
          </a:p>
        </p:txBody>
      </p:sp>
      <p:sp>
        <p:nvSpPr>
          <p:cNvPr name="TextBox 15" id="15"/>
          <p:cNvSpPr txBox="true"/>
          <p:nvPr/>
        </p:nvSpPr>
        <p:spPr>
          <a:xfrm rot="0">
            <a:off x="1997288" y="4741915"/>
            <a:ext cx="9319282" cy="523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Tầng thực thi (Entry point)</a:t>
            </a:r>
          </a:p>
        </p:txBody>
      </p:sp>
      <p:sp>
        <p:nvSpPr>
          <p:cNvPr name="TextBox 16" id="16"/>
          <p:cNvSpPr txBox="true"/>
          <p:nvPr/>
        </p:nvSpPr>
        <p:spPr>
          <a:xfrm rot="0">
            <a:off x="1997288" y="5427715"/>
            <a:ext cx="9319282" cy="523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Tầng logic (Business logic)</a:t>
            </a:r>
          </a:p>
        </p:txBody>
      </p:sp>
      <p:sp>
        <p:nvSpPr>
          <p:cNvPr name="TextBox 17" id="17"/>
          <p:cNvSpPr txBox="true"/>
          <p:nvPr/>
        </p:nvSpPr>
        <p:spPr>
          <a:xfrm rot="0">
            <a:off x="1997288" y="6113515"/>
            <a:ext cx="9319282" cy="523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Tầng phụ thuộc (Dependencies)</a:t>
            </a:r>
          </a:p>
        </p:txBody>
      </p:sp>
      <p:sp>
        <p:nvSpPr>
          <p:cNvPr name="TextBox 18" id="18"/>
          <p:cNvSpPr txBox="true"/>
          <p:nvPr/>
        </p:nvSpPr>
        <p:spPr>
          <a:xfrm rot="0">
            <a:off x="1997288" y="6799315"/>
            <a:ext cx="9319282" cy="523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 Tầng môi trường (Environment)</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65084" y="354942"/>
            <a:ext cx="13383844" cy="1687120"/>
            <a:chOff x="0" y="0"/>
            <a:chExt cx="17845126" cy="2249494"/>
          </a:xfrm>
        </p:grpSpPr>
        <p:sp>
          <p:nvSpPr>
            <p:cNvPr name="Freeform 11" id="11"/>
            <p:cNvSpPr/>
            <p:nvPr/>
          </p:nvSpPr>
          <p:spPr>
            <a:xfrm flipH="false" flipV="false" rot="0">
              <a:off x="0" y="0"/>
              <a:ext cx="17845120" cy="2249490"/>
            </a:xfrm>
            <a:custGeom>
              <a:avLst/>
              <a:gdLst/>
              <a:ahLst/>
              <a:cxnLst/>
              <a:rect r="r" b="b" t="t" l="l"/>
              <a:pathLst>
                <a:path h="2249490" w="17845120">
                  <a:moveTo>
                    <a:pt x="0" y="0"/>
                  </a:moveTo>
                  <a:lnTo>
                    <a:pt x="17845120" y="0"/>
                  </a:lnTo>
                  <a:lnTo>
                    <a:pt x="17845120" y="2249490"/>
                  </a:lnTo>
                  <a:lnTo>
                    <a:pt x="0" y="2249490"/>
                  </a:lnTo>
                  <a:close/>
                </a:path>
              </a:pathLst>
            </a:custGeom>
            <a:blipFill>
              <a:blip r:embed="rId19">
                <a:alphaModFix amt="0"/>
              </a:blip>
              <a:stretch>
                <a:fillRect l="0" t="-35758" r="23546" b="-100595"/>
              </a:stretch>
            </a:blipFill>
          </p:spPr>
        </p:sp>
        <p:sp>
          <p:nvSpPr>
            <p:cNvPr name="TextBox 12" id="12"/>
            <p:cNvSpPr txBox="true"/>
            <p:nvPr/>
          </p:nvSpPr>
          <p:spPr>
            <a:xfrm>
              <a:off x="0" y="0"/>
              <a:ext cx="1784512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Các kỹ thuật thử nghiệm động</a:t>
              </a:r>
            </a:p>
          </p:txBody>
        </p:sp>
      </p:grpSp>
      <p:sp>
        <p:nvSpPr>
          <p:cNvPr name="TextBox 13" id="13"/>
          <p:cNvSpPr txBox="true"/>
          <p:nvPr/>
        </p:nvSpPr>
        <p:spPr>
          <a:xfrm rot="0">
            <a:off x="1965084" y="3239563"/>
            <a:ext cx="12622494" cy="15716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Thay vì chỉ suy luận dựa trên cấu trúc code, có thể thử nghiệm hệ thống bằng cách cung cấp input giả và quan sát output để hiểu hành vi thực tế bằng cách :</a:t>
            </a:r>
          </a:p>
        </p:txBody>
      </p:sp>
      <p:sp>
        <p:nvSpPr>
          <p:cNvPr name="TextBox 14" id="14"/>
          <p:cNvSpPr txBox="true"/>
          <p:nvPr/>
        </p:nvSpPr>
        <p:spPr>
          <a:xfrm rot="0">
            <a:off x="2017947" y="5147323"/>
            <a:ext cx="7479655" cy="5429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35363B"/>
                </a:solidFill>
                <a:latin typeface="Lato"/>
                <a:ea typeface="Lato"/>
                <a:cs typeface="Lato"/>
                <a:sym typeface="Lato"/>
              </a:rPr>
              <a:t>Chạy chương trình với dữ liệu mẫu</a:t>
            </a:r>
          </a:p>
        </p:txBody>
      </p:sp>
      <p:sp>
        <p:nvSpPr>
          <p:cNvPr name="TextBox 15" id="15"/>
          <p:cNvSpPr txBox="true"/>
          <p:nvPr/>
        </p:nvSpPr>
        <p:spPr>
          <a:xfrm rot="0">
            <a:off x="2017947" y="5828237"/>
            <a:ext cx="7382024" cy="5429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35363B"/>
                </a:solidFill>
                <a:latin typeface="Lato"/>
                <a:ea typeface="Lato"/>
                <a:cs typeface="Lato"/>
                <a:sym typeface="Lato"/>
              </a:rPr>
              <a:t>T</a:t>
            </a:r>
            <a:r>
              <a:rPr lang="en-US" sz="3500">
                <a:solidFill>
                  <a:srgbClr val="35363B"/>
                </a:solidFill>
                <a:latin typeface="Lato"/>
                <a:ea typeface="Lato"/>
                <a:cs typeface="Lato"/>
                <a:sym typeface="Lato"/>
              </a:rPr>
              <a:t>hay đổi input và theo dõi kết quả</a:t>
            </a:r>
          </a:p>
        </p:txBody>
      </p:sp>
      <p:sp>
        <p:nvSpPr>
          <p:cNvPr name="TextBox 16" id="16"/>
          <p:cNvSpPr txBox="true"/>
          <p:nvPr/>
        </p:nvSpPr>
        <p:spPr>
          <a:xfrm rot="0">
            <a:off x="2017947" y="6504512"/>
            <a:ext cx="7015311" cy="542925"/>
          </a:xfrm>
          <a:prstGeom prst="rect">
            <a:avLst/>
          </a:prstGeom>
        </p:spPr>
        <p:txBody>
          <a:bodyPr anchor="t" rtlCol="false" tIns="0" lIns="0" bIns="0" rIns="0">
            <a:spAutoFit/>
          </a:bodyPr>
          <a:lstStyle/>
          <a:p>
            <a:pPr algn="l" marL="755651" indent="-377825" lvl="1">
              <a:lnSpc>
                <a:spcPts val="4200"/>
              </a:lnSpc>
              <a:buFont typeface="Arial"/>
              <a:buChar char="•"/>
            </a:pPr>
            <a:r>
              <a:rPr lang="en-US" sz="3500">
                <a:solidFill>
                  <a:srgbClr val="35363B"/>
                </a:solidFill>
                <a:latin typeface="Lato"/>
                <a:ea typeface="Lato"/>
                <a:cs typeface="Lato"/>
                <a:sym typeface="Lato"/>
              </a:rPr>
              <a:t>Debug</a:t>
            </a:r>
            <a:r>
              <a:rPr lang="en-US" sz="3500">
                <a:solidFill>
                  <a:srgbClr val="35363B"/>
                </a:solidFill>
                <a:latin typeface="Lato"/>
                <a:ea typeface="Lato"/>
                <a:cs typeface="Lato"/>
                <a:sym typeface="Lato"/>
              </a:rPr>
              <a:t> từng bước (step-by-step)</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b="true" sz="12000">
                  <a:solidFill>
                    <a:srgbClr val="35363B"/>
                  </a:solidFill>
                  <a:latin typeface="Arimo Bold"/>
                  <a:ea typeface="Arimo Bold"/>
                  <a:cs typeface="Arimo Bold"/>
                  <a:sym typeface="Arimo Bold"/>
                </a:rPr>
                <a:t>03</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2908984" y="4091607"/>
            <a:ext cx="13952576" cy="2743200"/>
          </a:xfrm>
          <a:prstGeom prst="rect">
            <a:avLst/>
          </a:prstGeom>
        </p:spPr>
        <p:txBody>
          <a:bodyPr anchor="t" rtlCol="false" tIns="0" lIns="0" bIns="0" rIns="0">
            <a:spAutoFit/>
          </a:bodyPr>
          <a:lstStyle/>
          <a:p>
            <a:pPr algn="l">
              <a:lnSpc>
                <a:spcPts val="10800"/>
              </a:lnSpc>
            </a:pPr>
            <a:r>
              <a:rPr lang="en-US" b="true" sz="9000">
                <a:solidFill>
                  <a:srgbClr val="35363B"/>
                </a:solidFill>
                <a:latin typeface="Noto Serif Bold"/>
                <a:ea typeface="Noto Serif Bold"/>
                <a:cs typeface="Noto Serif Bold"/>
                <a:sym typeface="Noto Serif Bold"/>
              </a:rPr>
              <a:t>GIỚI TH</a:t>
            </a:r>
            <a:r>
              <a:rPr lang="en-US" b="true" sz="9000">
                <a:solidFill>
                  <a:srgbClr val="35363B"/>
                </a:solidFill>
                <a:latin typeface="Noto Serif Bold"/>
                <a:ea typeface="Noto Serif Bold"/>
                <a:cs typeface="Noto Serif Bold"/>
                <a:sym typeface="Noto Serif Bold"/>
              </a:rPr>
              <a:t>IỆU VỀ KỸ THUẬT GỢI Ý</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3213747" y="6551857"/>
            <a:ext cx="8031556" cy="7650070"/>
          </a:xfrm>
          <a:custGeom>
            <a:avLst/>
            <a:gdLst/>
            <a:ahLst/>
            <a:cxnLst/>
            <a:rect r="r" b="b" t="t" l="l"/>
            <a:pathLst>
              <a:path h="7650070" w="8031556">
                <a:moveTo>
                  <a:pt x="0" y="0"/>
                </a:moveTo>
                <a:lnTo>
                  <a:pt x="8031556" y="0"/>
                </a:lnTo>
                <a:lnTo>
                  <a:pt x="8031556" y="7650070"/>
                </a:lnTo>
                <a:lnTo>
                  <a:pt x="0" y="76500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2939834" y="-3129848"/>
            <a:ext cx="6026629" cy="6667357"/>
          </a:xfrm>
          <a:custGeom>
            <a:avLst/>
            <a:gdLst/>
            <a:ahLst/>
            <a:cxnLst/>
            <a:rect r="r" b="b" t="t" l="l"/>
            <a:pathLst>
              <a:path h="6667357" w="6026629">
                <a:moveTo>
                  <a:pt x="0" y="0"/>
                </a:moveTo>
                <a:lnTo>
                  <a:pt x="6026629" y="0"/>
                </a:lnTo>
                <a:lnTo>
                  <a:pt x="6026629" y="6667357"/>
                </a:lnTo>
                <a:lnTo>
                  <a:pt x="0" y="666735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0131" y="8746084"/>
            <a:ext cx="1756315" cy="1309068"/>
          </a:xfrm>
          <a:custGeom>
            <a:avLst/>
            <a:gdLst/>
            <a:ahLst/>
            <a:cxnLst/>
            <a:rect r="r" b="b" t="t" l="l"/>
            <a:pathLst>
              <a:path h="1309068" w="1756315">
                <a:moveTo>
                  <a:pt x="0" y="0"/>
                </a:moveTo>
                <a:lnTo>
                  <a:pt x="1756314" y="0"/>
                </a:lnTo>
                <a:lnTo>
                  <a:pt x="1756314" y="1309068"/>
                </a:lnTo>
                <a:lnTo>
                  <a:pt x="0" y="1309068"/>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81475"/>
            <a:ext cx="12043618" cy="9144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Tổng quan Prompt</a:t>
            </a:r>
            <a:r>
              <a:rPr lang="en-US" b="true" sz="6000">
                <a:solidFill>
                  <a:srgbClr val="35363B"/>
                </a:solidFill>
                <a:latin typeface="Noto Serif Bold"/>
                <a:ea typeface="Noto Serif Bold"/>
                <a:cs typeface="Noto Serif Bold"/>
                <a:sym typeface="Noto Serif Bold"/>
              </a:rPr>
              <a:t> Engineering</a:t>
            </a:r>
          </a:p>
        </p:txBody>
      </p:sp>
      <p:sp>
        <p:nvSpPr>
          <p:cNvPr name="TextBox 7" id="7"/>
          <p:cNvSpPr txBox="true"/>
          <p:nvPr/>
        </p:nvSpPr>
        <p:spPr>
          <a:xfrm rot="0">
            <a:off x="1531430" y="2652241"/>
            <a:ext cx="13886508" cy="1571625"/>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Prompt Engineering (Kỹ thuật nhắc) tập trung vào việc thiết kế, tinh chỉnh và tối ưu hóa câu lệnh đầu vào (prompt) nhằm hướng dẫn mô hình tạo ra các kết quả đáng tin cậy, nhất quán và có thể dự đoán được.</a:t>
            </a:r>
          </a:p>
        </p:txBody>
      </p:sp>
      <p:sp>
        <p:nvSpPr>
          <p:cNvPr name="TextBox 8" id="8"/>
          <p:cNvSpPr txBox="true"/>
          <p:nvPr/>
        </p:nvSpPr>
        <p:spPr>
          <a:xfrm rot="0">
            <a:off x="1531430" y="4718294"/>
            <a:ext cx="13886508" cy="3667125"/>
          </a:xfrm>
          <a:prstGeom prst="rect">
            <a:avLst/>
          </a:prstGeom>
        </p:spPr>
        <p:txBody>
          <a:bodyPr anchor="t" rtlCol="false" tIns="0" lIns="0" bIns="0" rIns="0">
            <a:spAutoFit/>
          </a:bodyPr>
          <a:lstStyle/>
          <a:p>
            <a:pPr algn="just">
              <a:lnSpc>
                <a:spcPts val="4199"/>
              </a:lnSpc>
              <a:spcBef>
                <a:spcPct val="0"/>
              </a:spcBef>
            </a:pPr>
            <a:r>
              <a:rPr lang="en-US" sz="3499">
                <a:solidFill>
                  <a:srgbClr val="35363B"/>
                </a:solidFill>
                <a:latin typeface="Lato"/>
                <a:ea typeface="Lato"/>
                <a:cs typeface="Lato"/>
                <a:sym typeface="Lato"/>
              </a:rPr>
              <a:t>Không chỉ dừng lại ở việc đặt câu hỏi, </a:t>
            </a:r>
            <a:r>
              <a:rPr lang="en-US" sz="3499">
                <a:solidFill>
                  <a:srgbClr val="35363B"/>
                </a:solidFill>
                <a:latin typeface="Lato"/>
                <a:ea typeface="Lato"/>
                <a:cs typeface="Lato"/>
                <a:sym typeface="Lato"/>
              </a:rPr>
              <a:t>Prompt Engineering còn bao gồm các chiến lược như:</a:t>
            </a:r>
          </a:p>
          <a:p>
            <a:pPr algn="just" marL="755644" indent="-377822" lvl="1">
              <a:lnSpc>
                <a:spcPts val="4199"/>
              </a:lnSpc>
              <a:spcBef>
                <a:spcPct val="0"/>
              </a:spcBef>
              <a:buFont typeface="Arial"/>
              <a:buChar char="•"/>
            </a:pPr>
            <a:r>
              <a:rPr lang="en-US" sz="3499">
                <a:solidFill>
                  <a:srgbClr val="35363B"/>
                </a:solidFill>
                <a:latin typeface="Lato"/>
                <a:ea typeface="Lato"/>
                <a:cs typeface="Lato"/>
                <a:sym typeface="Lato"/>
              </a:rPr>
              <a:t>Cấu trúc hóa yêu cầu đầu vào</a:t>
            </a:r>
          </a:p>
          <a:p>
            <a:pPr algn="just" marL="755644" indent="-377822" lvl="1">
              <a:lnSpc>
                <a:spcPts val="4199"/>
              </a:lnSpc>
              <a:spcBef>
                <a:spcPct val="0"/>
              </a:spcBef>
              <a:buFont typeface="Arial"/>
              <a:buChar char="•"/>
            </a:pPr>
            <a:r>
              <a:rPr lang="en-US" sz="3499">
                <a:solidFill>
                  <a:srgbClr val="35363B"/>
                </a:solidFill>
                <a:latin typeface="Lato"/>
                <a:ea typeface="Lato"/>
                <a:cs typeface="Lato"/>
                <a:sym typeface="Lato"/>
              </a:rPr>
              <a:t>Bổ sung ngữ cảnh (context)</a:t>
            </a:r>
          </a:p>
          <a:p>
            <a:pPr algn="just" marL="755644" indent="-377822" lvl="1">
              <a:lnSpc>
                <a:spcPts val="4199"/>
              </a:lnSpc>
              <a:spcBef>
                <a:spcPct val="0"/>
              </a:spcBef>
              <a:buFont typeface="Arial"/>
              <a:buChar char="•"/>
            </a:pPr>
            <a:r>
              <a:rPr lang="en-US" sz="3499">
                <a:solidFill>
                  <a:srgbClr val="35363B"/>
                </a:solidFill>
                <a:latin typeface="Lato"/>
                <a:ea typeface="Lato"/>
                <a:cs typeface="Lato"/>
                <a:sym typeface="Lato"/>
              </a:rPr>
              <a:t>Định nghĩa rõ ràng ràng buộc và mục tiêu</a:t>
            </a:r>
          </a:p>
          <a:p>
            <a:pPr algn="just" marL="755644" indent="-377822" lvl="1">
              <a:lnSpc>
                <a:spcPts val="4199"/>
              </a:lnSpc>
              <a:spcBef>
                <a:spcPct val="0"/>
              </a:spcBef>
              <a:buFont typeface="Arial"/>
              <a:buChar char="•"/>
            </a:pPr>
            <a:r>
              <a:rPr lang="en-US" sz="3499">
                <a:solidFill>
                  <a:srgbClr val="35363B"/>
                </a:solidFill>
                <a:latin typeface="Lato"/>
                <a:ea typeface="Lato"/>
                <a:cs typeface="Lato"/>
                <a:sym typeface="Lato"/>
              </a:rPr>
              <a:t>Hướng dẫn mô hình theo quy trình suy luận</a:t>
            </a:r>
          </a:p>
          <a:p>
            <a:pPr algn="just">
              <a:lnSpc>
                <a:spcPts val="4199"/>
              </a:lnSpc>
              <a:spcBef>
                <a:spcPct val="0"/>
              </a:spcBef>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97288" y="359888"/>
            <a:ext cx="13383844" cy="1687120"/>
            <a:chOff x="0" y="0"/>
            <a:chExt cx="17845126" cy="2249494"/>
          </a:xfrm>
        </p:grpSpPr>
        <p:sp>
          <p:nvSpPr>
            <p:cNvPr name="Freeform 11" id="11"/>
            <p:cNvSpPr/>
            <p:nvPr/>
          </p:nvSpPr>
          <p:spPr>
            <a:xfrm flipH="false" flipV="false" rot="0">
              <a:off x="0" y="0"/>
              <a:ext cx="17845120" cy="2249490"/>
            </a:xfrm>
            <a:custGeom>
              <a:avLst/>
              <a:gdLst/>
              <a:ahLst/>
              <a:cxnLst/>
              <a:rect r="r" b="b" t="t" l="l"/>
              <a:pathLst>
                <a:path h="2249490" w="17845120">
                  <a:moveTo>
                    <a:pt x="0" y="0"/>
                  </a:moveTo>
                  <a:lnTo>
                    <a:pt x="17845120" y="0"/>
                  </a:lnTo>
                  <a:lnTo>
                    <a:pt x="17845120" y="2249490"/>
                  </a:lnTo>
                  <a:lnTo>
                    <a:pt x="0" y="2249490"/>
                  </a:lnTo>
                  <a:close/>
                </a:path>
              </a:pathLst>
            </a:custGeom>
            <a:blipFill>
              <a:blip r:embed="rId19">
                <a:alphaModFix amt="0"/>
              </a:blip>
              <a:stretch>
                <a:fillRect l="0" t="-35758" r="23546" b="-100595"/>
              </a:stretch>
            </a:blipFill>
          </p:spPr>
        </p:sp>
        <p:sp>
          <p:nvSpPr>
            <p:cNvPr name="TextBox 12" id="12"/>
            <p:cNvSpPr txBox="true"/>
            <p:nvPr/>
          </p:nvSpPr>
          <p:spPr>
            <a:xfrm>
              <a:off x="0" y="0"/>
              <a:ext cx="1784512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Bản chất của Prompt Engin</a:t>
              </a:r>
              <a:r>
                <a:rPr lang="en-US" b="true" sz="6000">
                  <a:solidFill>
                    <a:srgbClr val="35363B"/>
                  </a:solidFill>
                  <a:latin typeface="Noto Serif Bold"/>
                  <a:ea typeface="Noto Serif Bold"/>
                  <a:cs typeface="Noto Serif Bold"/>
                  <a:sym typeface="Noto Serif Bold"/>
                </a:rPr>
                <a:t>eering</a:t>
              </a:r>
            </a:p>
          </p:txBody>
        </p:sp>
      </p:grpSp>
      <p:sp>
        <p:nvSpPr>
          <p:cNvPr name="Freeform 13" id="13"/>
          <p:cNvSpPr/>
          <p:nvPr/>
        </p:nvSpPr>
        <p:spPr>
          <a:xfrm flipH="false" flipV="false" rot="0">
            <a:off x="12797029" y="2775271"/>
            <a:ext cx="3154946" cy="6483029"/>
          </a:xfrm>
          <a:custGeom>
            <a:avLst/>
            <a:gdLst/>
            <a:ahLst/>
            <a:cxnLst/>
            <a:rect r="r" b="b" t="t" l="l"/>
            <a:pathLst>
              <a:path h="6483029" w="3154946">
                <a:moveTo>
                  <a:pt x="0" y="0"/>
                </a:moveTo>
                <a:lnTo>
                  <a:pt x="3154946" y="0"/>
                </a:lnTo>
                <a:lnTo>
                  <a:pt x="3154946" y="6483029"/>
                </a:lnTo>
                <a:lnTo>
                  <a:pt x="0" y="6483029"/>
                </a:lnTo>
                <a:lnTo>
                  <a:pt x="0" y="0"/>
                </a:lnTo>
                <a:close/>
              </a:path>
            </a:pathLst>
          </a:custGeom>
          <a:blipFill>
            <a:blip r:embed="rId20"/>
            <a:stretch>
              <a:fillRect l="0" t="0" r="0" b="0"/>
            </a:stretch>
          </a:blipFill>
        </p:spPr>
      </p:sp>
      <p:sp>
        <p:nvSpPr>
          <p:cNvPr name="TextBox 14" id="14"/>
          <p:cNvSpPr txBox="true"/>
          <p:nvPr/>
        </p:nvSpPr>
        <p:spPr>
          <a:xfrm rot="0">
            <a:off x="1965084" y="2775271"/>
            <a:ext cx="10158356" cy="471487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Sơ đồ mô tả một cách hệ thống quy trình tương tác giữa người dùng và mô hình ngôn ngữ lớn (LLM), thông qua trung gian là kỹ thuật Prompt Engineering. </a:t>
            </a:r>
          </a:p>
          <a:p>
            <a:pPr algn="just">
              <a:lnSpc>
                <a:spcPts val="4199"/>
              </a:lnSpc>
            </a:pPr>
          </a:p>
          <a:p>
            <a:pPr algn="just">
              <a:lnSpc>
                <a:spcPts val="4199"/>
              </a:lnSpc>
            </a:pPr>
            <a:r>
              <a:rPr lang="en-US" sz="3499">
                <a:solidFill>
                  <a:srgbClr val="35363B"/>
                </a:solidFill>
                <a:latin typeface="Lato"/>
                <a:ea typeface="Lato"/>
                <a:cs typeface="Lato"/>
                <a:sym typeface="Lato"/>
              </a:rPr>
              <a:t>Quy trình này thể hiện rõ mối quan hệ nhân – quả giữa ý định đầu vào và chất lượng đầu ra, đồng thời nhấn mạnh vai trò trung tâm của việc thiết kế prompt trong việc kiểm soát hành vi của mô hình.</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43308" y="7585377"/>
            <a:ext cx="3708483" cy="4259980"/>
          </a:xfrm>
          <a:custGeom>
            <a:avLst/>
            <a:gdLst/>
            <a:ahLst/>
            <a:cxnLst/>
            <a:rect r="r" b="b" t="t" l="l"/>
            <a:pathLst>
              <a:path h="4259980" w="3708483">
                <a:moveTo>
                  <a:pt x="0" y="0"/>
                </a:moveTo>
                <a:lnTo>
                  <a:pt x="3708483" y="0"/>
                </a:lnTo>
                <a:lnTo>
                  <a:pt x="3708483" y="4259980"/>
                </a:lnTo>
                <a:lnTo>
                  <a:pt x="0" y="425998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907600" y="-2040903"/>
            <a:ext cx="4577867" cy="3894296"/>
          </a:xfrm>
          <a:custGeom>
            <a:avLst/>
            <a:gdLst/>
            <a:ahLst/>
            <a:cxnLst/>
            <a:rect r="r" b="b" t="t" l="l"/>
            <a:pathLst>
              <a:path h="3894296" w="4577867">
                <a:moveTo>
                  <a:pt x="0" y="0"/>
                </a:moveTo>
                <a:lnTo>
                  <a:pt x="4577867" y="0"/>
                </a:lnTo>
                <a:lnTo>
                  <a:pt x="4577867" y="3894297"/>
                </a:lnTo>
                <a:lnTo>
                  <a:pt x="0" y="38942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3365794" y="-3114904"/>
            <a:ext cx="7857801" cy="8135845"/>
          </a:xfrm>
          <a:custGeom>
            <a:avLst/>
            <a:gdLst/>
            <a:ahLst/>
            <a:cxnLst/>
            <a:rect r="r" b="b" t="t" l="l"/>
            <a:pathLst>
              <a:path h="8135845" w="7857801">
                <a:moveTo>
                  <a:pt x="0" y="0"/>
                </a:moveTo>
                <a:lnTo>
                  <a:pt x="7857801" y="0"/>
                </a:lnTo>
                <a:lnTo>
                  <a:pt x="7857801" y="8135846"/>
                </a:lnTo>
                <a:lnTo>
                  <a:pt x="0" y="813584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grpSp>
        <p:nvGrpSpPr>
          <p:cNvPr name="Group 5" id="5"/>
          <p:cNvGrpSpPr/>
          <p:nvPr/>
        </p:nvGrpSpPr>
        <p:grpSpPr>
          <a:xfrm rot="0">
            <a:off x="9497087" y="2309455"/>
            <a:ext cx="5414638" cy="1145400"/>
            <a:chOff x="0" y="0"/>
            <a:chExt cx="7219517" cy="1527200"/>
          </a:xfrm>
        </p:grpSpPr>
        <p:sp>
          <p:nvSpPr>
            <p:cNvPr name="Freeform 6" id="6"/>
            <p:cNvSpPr/>
            <p:nvPr/>
          </p:nvSpPr>
          <p:spPr>
            <a:xfrm flipH="false" flipV="false" rot="0">
              <a:off x="0" y="0"/>
              <a:ext cx="7219520" cy="1527200"/>
            </a:xfrm>
            <a:custGeom>
              <a:avLst/>
              <a:gdLst/>
              <a:ahLst/>
              <a:cxnLst/>
              <a:rect r="r" b="b" t="t" l="l"/>
              <a:pathLst>
                <a:path h="1527200" w="7219520">
                  <a:moveTo>
                    <a:pt x="0" y="0"/>
                  </a:moveTo>
                  <a:lnTo>
                    <a:pt x="7219520" y="0"/>
                  </a:lnTo>
                  <a:lnTo>
                    <a:pt x="7219520" y="1527200"/>
                  </a:lnTo>
                  <a:lnTo>
                    <a:pt x="0" y="1527200"/>
                  </a:lnTo>
                  <a:close/>
                </a:path>
              </a:pathLst>
            </a:custGeom>
            <a:blipFill>
              <a:blip r:embed="rId9">
                <a:alphaModFix amt="0"/>
              </a:blip>
              <a:stretch>
                <a:fillRect l="0" t="-65144" r="-25005" b="-65144"/>
              </a:stretch>
            </a:blipFill>
          </p:spPr>
        </p:sp>
        <p:sp>
          <p:nvSpPr>
            <p:cNvPr name="TextBox 7" id="7"/>
            <p:cNvSpPr txBox="true"/>
            <p:nvPr/>
          </p:nvSpPr>
          <p:spPr>
            <a:xfrm>
              <a:off x="0" y="0"/>
              <a:ext cx="7219517"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Few-shot Learning</a:t>
              </a:r>
            </a:p>
          </p:txBody>
        </p:sp>
      </p:grpSp>
      <p:sp>
        <p:nvSpPr>
          <p:cNvPr name="TextBox 8" id="8"/>
          <p:cNvSpPr txBox="true"/>
          <p:nvPr/>
        </p:nvSpPr>
        <p:spPr>
          <a:xfrm rot="0">
            <a:off x="1531429" y="981475"/>
            <a:ext cx="13785637" cy="9144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Zero-shot và Few-shot</a:t>
            </a:r>
          </a:p>
        </p:txBody>
      </p:sp>
      <p:sp>
        <p:nvSpPr>
          <p:cNvPr name="TextBox 9" id="9"/>
          <p:cNvSpPr txBox="true"/>
          <p:nvPr/>
        </p:nvSpPr>
        <p:spPr>
          <a:xfrm rot="0">
            <a:off x="9497087" y="3664110"/>
            <a:ext cx="6585747" cy="1609725"/>
          </a:xfrm>
          <a:prstGeom prst="rect">
            <a:avLst/>
          </a:prstGeom>
        </p:spPr>
        <p:txBody>
          <a:bodyPr anchor="t" rtlCol="false" tIns="0" lIns="0" bIns="0" rIns="0">
            <a:spAutoFit/>
          </a:bodyPr>
          <a:lstStyle/>
          <a:p>
            <a:pPr algn="just">
              <a:lnSpc>
                <a:spcPts val="4200"/>
              </a:lnSpc>
            </a:pPr>
            <a:r>
              <a:rPr lang="en-US" sz="3500">
                <a:solidFill>
                  <a:srgbClr val="35363B"/>
                </a:solidFill>
                <a:latin typeface="Lato"/>
                <a:ea typeface="Lato"/>
                <a:cs typeface="Lato"/>
                <a:sym typeface="Lato"/>
              </a:rPr>
              <a:t>Mô</a:t>
            </a:r>
            <a:r>
              <a:rPr lang="en-US" sz="3500">
                <a:solidFill>
                  <a:srgbClr val="35363B"/>
                </a:solidFill>
                <a:latin typeface="Lato"/>
                <a:ea typeface="Lato"/>
                <a:cs typeface="Lato"/>
                <a:sym typeface="Lato"/>
              </a:rPr>
              <a:t> hình học cách thực hiện nhiệm vụ thông qua một số ít ví dụ minh họa</a:t>
            </a:r>
          </a:p>
        </p:txBody>
      </p:sp>
      <p:sp>
        <p:nvSpPr>
          <p:cNvPr name="TextBox 10" id="10"/>
          <p:cNvSpPr txBox="true"/>
          <p:nvPr/>
        </p:nvSpPr>
        <p:spPr>
          <a:xfrm rot="0">
            <a:off x="1531429" y="3673635"/>
            <a:ext cx="6585747" cy="104775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Mô hình thực hiện nhiệm vụ mà </a:t>
            </a:r>
            <a:r>
              <a:rPr lang="en-US" sz="3499">
                <a:solidFill>
                  <a:srgbClr val="35363B"/>
                </a:solidFill>
                <a:latin typeface="Lato"/>
                <a:ea typeface="Lato"/>
                <a:cs typeface="Lato"/>
                <a:sym typeface="Lato"/>
              </a:rPr>
              <a:t>không cần ví dụ minh họa</a:t>
            </a:r>
          </a:p>
        </p:txBody>
      </p:sp>
      <p:grpSp>
        <p:nvGrpSpPr>
          <p:cNvPr name="Group 11" id="11"/>
          <p:cNvGrpSpPr/>
          <p:nvPr/>
        </p:nvGrpSpPr>
        <p:grpSpPr>
          <a:xfrm rot="0">
            <a:off x="1531429" y="2309455"/>
            <a:ext cx="6768598" cy="1145400"/>
            <a:chOff x="0" y="0"/>
            <a:chExt cx="9024798" cy="1527200"/>
          </a:xfrm>
        </p:grpSpPr>
        <p:sp>
          <p:nvSpPr>
            <p:cNvPr name="Freeform 12" id="12"/>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9">
                <a:alphaModFix amt="0"/>
              </a:blip>
              <a:stretch>
                <a:fillRect l="0" t="-65144" r="0" b="-65144"/>
              </a:stretch>
            </a:blipFill>
          </p:spPr>
        </p:sp>
        <p:sp>
          <p:nvSpPr>
            <p:cNvPr name="TextBox 13" id="13"/>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Zero-shot Learning</a:t>
              </a:r>
            </a:p>
          </p:txBody>
        </p:sp>
      </p:grpSp>
      <p:sp>
        <p:nvSpPr>
          <p:cNvPr name="Freeform 14" id="14"/>
          <p:cNvSpPr/>
          <p:nvPr/>
        </p:nvSpPr>
        <p:spPr>
          <a:xfrm flipH="false" flipV="false" rot="0">
            <a:off x="15317067" y="1402766"/>
            <a:ext cx="2374621" cy="1249947"/>
          </a:xfrm>
          <a:custGeom>
            <a:avLst/>
            <a:gdLst/>
            <a:ahLst/>
            <a:cxnLst/>
            <a:rect r="r" b="b" t="t" l="l"/>
            <a:pathLst>
              <a:path h="1249947" w="2374621">
                <a:moveTo>
                  <a:pt x="0" y="0"/>
                </a:moveTo>
                <a:lnTo>
                  <a:pt x="2374620" y="0"/>
                </a:lnTo>
                <a:lnTo>
                  <a:pt x="2374620" y="1249946"/>
                </a:lnTo>
                <a:lnTo>
                  <a:pt x="0" y="1249946"/>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15" id="15"/>
          <p:cNvGrpSpPr/>
          <p:nvPr/>
        </p:nvGrpSpPr>
        <p:grpSpPr>
          <a:xfrm rot="0">
            <a:off x="1531429" y="5273835"/>
            <a:ext cx="6768598" cy="1145400"/>
            <a:chOff x="0" y="0"/>
            <a:chExt cx="9024798" cy="1527200"/>
          </a:xfrm>
        </p:grpSpPr>
        <p:sp>
          <p:nvSpPr>
            <p:cNvPr name="Freeform 16" id="16"/>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9">
                <a:alphaModFix amt="0"/>
              </a:blip>
              <a:stretch>
                <a:fillRect l="0" t="-65144" r="0" b="-65144"/>
              </a:stretch>
            </a:blipFill>
          </p:spPr>
        </p:sp>
        <p:sp>
          <p:nvSpPr>
            <p:cNvPr name="TextBox 17" id="17"/>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Ví dụ minh họa</a:t>
              </a:r>
            </a:p>
          </p:txBody>
        </p:sp>
      </p:grpSp>
      <p:grpSp>
        <p:nvGrpSpPr>
          <p:cNvPr name="Group 18" id="18"/>
          <p:cNvGrpSpPr/>
          <p:nvPr/>
        </p:nvGrpSpPr>
        <p:grpSpPr>
          <a:xfrm rot="0">
            <a:off x="9497087" y="5273835"/>
            <a:ext cx="6768598" cy="1145400"/>
            <a:chOff x="0" y="0"/>
            <a:chExt cx="9024798" cy="1527200"/>
          </a:xfrm>
        </p:grpSpPr>
        <p:sp>
          <p:nvSpPr>
            <p:cNvPr name="Freeform 19" id="19"/>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9">
                <a:alphaModFix amt="0"/>
              </a:blip>
              <a:stretch>
                <a:fillRect l="0" t="-65144" r="0" b="-65144"/>
              </a:stretch>
            </a:blipFill>
          </p:spPr>
        </p:sp>
        <p:sp>
          <p:nvSpPr>
            <p:cNvPr name="TextBox 20" id="20"/>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Ví dụ minh họa</a:t>
              </a:r>
            </a:p>
          </p:txBody>
        </p:sp>
      </p:grpSp>
      <p:sp>
        <p:nvSpPr>
          <p:cNvPr name="TextBox 21" id="21"/>
          <p:cNvSpPr txBox="true"/>
          <p:nvPr/>
        </p:nvSpPr>
        <p:spPr>
          <a:xfrm rot="0">
            <a:off x="1531429" y="6638310"/>
            <a:ext cx="7380103" cy="1047750"/>
          </a:xfrm>
          <a:prstGeom prst="rect">
            <a:avLst/>
          </a:prstGeom>
        </p:spPr>
        <p:txBody>
          <a:bodyPr anchor="t" rtlCol="false" tIns="0" lIns="0" bIns="0" rIns="0">
            <a:spAutoFit/>
          </a:bodyPr>
          <a:lstStyle/>
          <a:p>
            <a:pPr algn="l">
              <a:lnSpc>
                <a:spcPts val="4199"/>
              </a:lnSpc>
            </a:pPr>
            <a:r>
              <a:rPr lang="en-US" sz="3499">
                <a:solidFill>
                  <a:srgbClr val="35363B"/>
                </a:solidFill>
                <a:latin typeface="Lato"/>
                <a:ea typeface="Lato"/>
                <a:cs typeface="Lato"/>
                <a:sym typeface="Lato"/>
              </a:rPr>
              <a:t>“Dịch câu sau sang tiếng Việt: Hello, </a:t>
            </a:r>
            <a:r>
              <a:rPr lang="en-US" sz="3499">
                <a:solidFill>
                  <a:srgbClr val="35363B"/>
                </a:solidFill>
                <a:latin typeface="Lato"/>
                <a:ea typeface="Lato"/>
                <a:cs typeface="Lato"/>
                <a:sym typeface="Lato"/>
              </a:rPr>
              <a:t>how are you?”</a:t>
            </a:r>
          </a:p>
        </p:txBody>
      </p:sp>
      <p:sp>
        <p:nvSpPr>
          <p:cNvPr name="TextBox 22" id="22"/>
          <p:cNvSpPr txBox="true"/>
          <p:nvPr/>
        </p:nvSpPr>
        <p:spPr>
          <a:xfrm rot="0">
            <a:off x="9497087" y="6638310"/>
            <a:ext cx="7380103" cy="1047750"/>
          </a:xfrm>
          <a:prstGeom prst="rect">
            <a:avLst/>
          </a:prstGeom>
        </p:spPr>
        <p:txBody>
          <a:bodyPr anchor="t" rtlCol="false" tIns="0" lIns="0" bIns="0" rIns="0">
            <a:spAutoFit/>
          </a:bodyPr>
          <a:lstStyle/>
          <a:p>
            <a:pPr algn="l">
              <a:lnSpc>
                <a:spcPts val="4199"/>
              </a:lnSpc>
            </a:pPr>
            <a:r>
              <a:rPr lang="en-US" sz="3499">
                <a:solidFill>
                  <a:srgbClr val="35363B"/>
                </a:solidFill>
                <a:latin typeface="Lato"/>
                <a:ea typeface="Lato"/>
                <a:cs typeface="Lato"/>
                <a:sym typeface="Lato"/>
              </a:rPr>
              <a:t>Input: “t</a:t>
            </a:r>
            <a:r>
              <a:rPr lang="en-US" sz="3499">
                <a:solidFill>
                  <a:srgbClr val="35363B"/>
                </a:solidFill>
                <a:latin typeface="Lato"/>
                <a:ea typeface="Lato"/>
                <a:cs typeface="Lato"/>
                <a:sym typeface="Lato"/>
              </a:rPr>
              <a:t>hank you” → Output: “cảm ơn”</a:t>
            </a:r>
          </a:p>
        </p:txBody>
      </p:sp>
      <p:sp>
        <p:nvSpPr>
          <p:cNvPr name="TextBox 23" id="23"/>
          <p:cNvSpPr txBox="true"/>
          <p:nvPr/>
        </p:nvSpPr>
        <p:spPr>
          <a:xfrm rot="0">
            <a:off x="1531429" y="7905135"/>
            <a:ext cx="7380103" cy="1047750"/>
          </a:xfrm>
          <a:prstGeom prst="rect">
            <a:avLst/>
          </a:prstGeom>
        </p:spPr>
        <p:txBody>
          <a:bodyPr anchor="t" rtlCol="false" tIns="0" lIns="0" bIns="0" rIns="0">
            <a:spAutoFit/>
          </a:bodyPr>
          <a:lstStyle/>
          <a:p>
            <a:pPr algn="l">
              <a:lnSpc>
                <a:spcPts val="4199"/>
              </a:lnSpc>
            </a:pPr>
            <a:r>
              <a:rPr lang="en-US" sz="3499">
                <a:solidFill>
                  <a:srgbClr val="35363B"/>
                </a:solidFill>
                <a:latin typeface="Lato"/>
                <a:ea typeface="Lato"/>
                <a:cs typeface="Lato"/>
                <a:sym typeface="Lato"/>
              </a:rPr>
              <a:t>→ Model vẫn trả lời đúng mà không cần ví dụ</a:t>
            </a:r>
            <a:r>
              <a:rPr lang="en-US" sz="3499">
                <a:solidFill>
                  <a:srgbClr val="35363B"/>
                </a:solidFill>
                <a:latin typeface="Lato"/>
                <a:ea typeface="Lato"/>
                <a:cs typeface="Lato"/>
                <a:sym typeface="Lato"/>
              </a:rPr>
              <a:t> trước</a:t>
            </a:r>
          </a:p>
        </p:txBody>
      </p:sp>
      <p:sp>
        <p:nvSpPr>
          <p:cNvPr name="TextBox 24" id="24"/>
          <p:cNvSpPr txBox="true"/>
          <p:nvPr/>
        </p:nvSpPr>
        <p:spPr>
          <a:xfrm rot="0">
            <a:off x="9497087" y="7905135"/>
            <a:ext cx="7380103" cy="523875"/>
          </a:xfrm>
          <a:prstGeom prst="rect">
            <a:avLst/>
          </a:prstGeom>
        </p:spPr>
        <p:txBody>
          <a:bodyPr anchor="t" rtlCol="false" tIns="0" lIns="0" bIns="0" rIns="0">
            <a:spAutoFit/>
          </a:bodyPr>
          <a:lstStyle/>
          <a:p>
            <a:pPr algn="l">
              <a:lnSpc>
                <a:spcPts val="4199"/>
              </a:lnSpc>
            </a:pPr>
            <a:r>
              <a:rPr lang="en-US" sz="3499">
                <a:solidFill>
                  <a:srgbClr val="35363B"/>
                </a:solidFill>
                <a:latin typeface="Lato"/>
                <a:ea typeface="Lato"/>
                <a:cs typeface="Lato"/>
                <a:sym typeface="Lato"/>
              </a:rPr>
              <a:t>→ Model suy ra cách dịch cho</a:t>
            </a:r>
            <a:r>
              <a:rPr lang="en-US" sz="3499">
                <a:solidFill>
                  <a:srgbClr val="35363B"/>
                </a:solidFill>
                <a:latin typeface="Lato"/>
                <a:ea typeface="Lato"/>
                <a:cs typeface="Lato"/>
                <a:sym typeface="Lato"/>
              </a:rPr>
              <a:t> từ mới</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97288" y="359888"/>
            <a:ext cx="13383844" cy="1687120"/>
            <a:chOff x="0" y="0"/>
            <a:chExt cx="17845126" cy="2249494"/>
          </a:xfrm>
        </p:grpSpPr>
        <p:sp>
          <p:nvSpPr>
            <p:cNvPr name="Freeform 11" id="11"/>
            <p:cNvSpPr/>
            <p:nvPr/>
          </p:nvSpPr>
          <p:spPr>
            <a:xfrm flipH="false" flipV="false" rot="0">
              <a:off x="0" y="0"/>
              <a:ext cx="17845120" cy="2249490"/>
            </a:xfrm>
            <a:custGeom>
              <a:avLst/>
              <a:gdLst/>
              <a:ahLst/>
              <a:cxnLst/>
              <a:rect r="r" b="b" t="t" l="l"/>
              <a:pathLst>
                <a:path h="2249490" w="17845120">
                  <a:moveTo>
                    <a:pt x="0" y="0"/>
                  </a:moveTo>
                  <a:lnTo>
                    <a:pt x="17845120" y="0"/>
                  </a:lnTo>
                  <a:lnTo>
                    <a:pt x="17845120" y="2249490"/>
                  </a:lnTo>
                  <a:lnTo>
                    <a:pt x="0" y="2249490"/>
                  </a:lnTo>
                  <a:close/>
                </a:path>
              </a:pathLst>
            </a:custGeom>
            <a:blipFill>
              <a:blip r:embed="rId19">
                <a:alphaModFix amt="0"/>
              </a:blip>
              <a:stretch>
                <a:fillRect l="0" t="-35758" r="23546" b="-100595"/>
              </a:stretch>
            </a:blipFill>
          </p:spPr>
        </p:sp>
        <p:sp>
          <p:nvSpPr>
            <p:cNvPr name="TextBox 12" id="12"/>
            <p:cNvSpPr txBox="true"/>
            <p:nvPr/>
          </p:nvSpPr>
          <p:spPr>
            <a:xfrm>
              <a:off x="0" y="0"/>
              <a:ext cx="1784512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Ứng dụng của Few-shot</a:t>
              </a:r>
            </a:p>
          </p:txBody>
        </p:sp>
      </p:grpSp>
      <p:sp>
        <p:nvSpPr>
          <p:cNvPr name="Freeform 13" id="13"/>
          <p:cNvSpPr/>
          <p:nvPr/>
        </p:nvSpPr>
        <p:spPr>
          <a:xfrm flipH="false" flipV="false" rot="0">
            <a:off x="7180170" y="3547619"/>
            <a:ext cx="8627929" cy="5845422"/>
          </a:xfrm>
          <a:custGeom>
            <a:avLst/>
            <a:gdLst/>
            <a:ahLst/>
            <a:cxnLst/>
            <a:rect r="r" b="b" t="t" l="l"/>
            <a:pathLst>
              <a:path h="5845422" w="8627929">
                <a:moveTo>
                  <a:pt x="0" y="0"/>
                </a:moveTo>
                <a:lnTo>
                  <a:pt x="8627929" y="0"/>
                </a:lnTo>
                <a:lnTo>
                  <a:pt x="8627929" y="5845422"/>
                </a:lnTo>
                <a:lnTo>
                  <a:pt x="0" y="5845422"/>
                </a:lnTo>
                <a:lnTo>
                  <a:pt x="0" y="0"/>
                </a:lnTo>
                <a:close/>
              </a:path>
            </a:pathLst>
          </a:custGeom>
          <a:blipFill>
            <a:blip r:embed="rId20"/>
            <a:stretch>
              <a:fillRect l="0" t="0" r="0" b="0"/>
            </a:stretch>
          </a:blipFill>
        </p:spPr>
      </p:sp>
      <p:sp>
        <p:nvSpPr>
          <p:cNvPr name="TextBox 14" id="14"/>
          <p:cNvSpPr txBox="true"/>
          <p:nvPr/>
        </p:nvSpPr>
        <p:spPr>
          <a:xfrm rot="0">
            <a:off x="1965084" y="2775271"/>
            <a:ext cx="9529051" cy="3667125"/>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Few-shot thường được tích hợp trực tiếp vào prompt dưới dạng:</a:t>
            </a:r>
          </a:p>
          <a:p>
            <a:pPr algn="just">
              <a:lnSpc>
                <a:spcPts val="4199"/>
              </a:lnSpc>
            </a:pPr>
          </a:p>
          <a:p>
            <a:pPr algn="just" marL="755644" indent="-377822" lvl="1">
              <a:lnSpc>
                <a:spcPts val="4199"/>
              </a:lnSpc>
              <a:buFont typeface="Arial"/>
              <a:buChar char="•"/>
            </a:pPr>
            <a:r>
              <a:rPr lang="en-US" sz="3499">
                <a:solidFill>
                  <a:srgbClr val="35363B"/>
                </a:solidFill>
                <a:latin typeface="Lato"/>
                <a:ea typeface="Lato"/>
                <a:cs typeface="Lato"/>
                <a:sym typeface="Lato"/>
              </a:rPr>
              <a:t>Ngữ cảnh</a:t>
            </a:r>
          </a:p>
          <a:p>
            <a:pPr algn="just" marL="755644" indent="-377822" lvl="1">
              <a:lnSpc>
                <a:spcPts val="4199"/>
              </a:lnSpc>
              <a:buFont typeface="Arial"/>
              <a:buChar char="•"/>
            </a:pPr>
            <a:r>
              <a:rPr lang="en-US" sz="3499">
                <a:solidFill>
                  <a:srgbClr val="35363B"/>
                </a:solidFill>
                <a:latin typeface="Lato"/>
                <a:ea typeface="Lato"/>
                <a:cs typeface="Lato"/>
                <a:sym typeface="Lato"/>
              </a:rPr>
              <a:t>Danh sách ví dụ</a:t>
            </a:r>
          </a:p>
          <a:p>
            <a:pPr algn="just" marL="755644" indent="-377822" lvl="1">
              <a:lnSpc>
                <a:spcPts val="4199"/>
              </a:lnSpc>
              <a:buFont typeface="Arial"/>
              <a:buChar char="•"/>
            </a:pPr>
            <a:r>
              <a:rPr lang="en-US" sz="3499">
                <a:solidFill>
                  <a:srgbClr val="35363B"/>
                </a:solidFill>
                <a:latin typeface="Lato"/>
                <a:ea typeface="Lato"/>
                <a:cs typeface="Lato"/>
                <a:sym typeface="Lato"/>
              </a:rPr>
              <a:t>Yêu cầu thực hiện</a:t>
            </a:r>
          </a:p>
          <a:p>
            <a:pPr algn="just">
              <a:lnSpc>
                <a:spcPts val="4199"/>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5348928" y="-1777041"/>
            <a:ext cx="4561018" cy="4552312"/>
          </a:xfrm>
          <a:custGeom>
            <a:avLst/>
            <a:gdLst/>
            <a:ahLst/>
            <a:cxnLst/>
            <a:rect r="r" b="b" t="t" l="l"/>
            <a:pathLst>
              <a:path h="4552312" w="4561018">
                <a:moveTo>
                  <a:pt x="0" y="0"/>
                </a:moveTo>
                <a:lnTo>
                  <a:pt x="4561018" y="0"/>
                </a:lnTo>
                <a:lnTo>
                  <a:pt x="4561018" y="4552312"/>
                </a:lnTo>
                <a:lnTo>
                  <a:pt x="0" y="45523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66095" y="9393041"/>
            <a:ext cx="651853" cy="809615"/>
          </a:xfrm>
          <a:custGeom>
            <a:avLst/>
            <a:gdLst/>
            <a:ahLst/>
            <a:cxnLst/>
            <a:rect r="r" b="b" t="t" l="l"/>
            <a:pathLst>
              <a:path h="809615" w="651853">
                <a:moveTo>
                  <a:pt x="0" y="0"/>
                </a:moveTo>
                <a:lnTo>
                  <a:pt x="651852" y="0"/>
                </a:lnTo>
                <a:lnTo>
                  <a:pt x="651852" y="809615"/>
                </a:lnTo>
                <a:lnTo>
                  <a:pt x="0" y="8096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427807" y="9549089"/>
            <a:ext cx="537277" cy="561927"/>
          </a:xfrm>
          <a:custGeom>
            <a:avLst/>
            <a:gdLst/>
            <a:ahLst/>
            <a:cxnLst/>
            <a:rect r="r" b="b" t="t" l="l"/>
            <a:pathLst>
              <a:path h="561927" w="537277">
                <a:moveTo>
                  <a:pt x="0" y="0"/>
                </a:moveTo>
                <a:lnTo>
                  <a:pt x="537277" y="0"/>
                </a:lnTo>
                <a:lnTo>
                  <a:pt x="537277" y="561927"/>
                </a:lnTo>
                <a:lnTo>
                  <a:pt x="0" y="56192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92395" y="8938698"/>
            <a:ext cx="710889" cy="1288142"/>
          </a:xfrm>
          <a:custGeom>
            <a:avLst/>
            <a:gdLst/>
            <a:ahLst/>
            <a:cxnLst/>
            <a:rect r="r" b="b" t="t" l="l"/>
            <a:pathLst>
              <a:path h="1288142" w="710889">
                <a:moveTo>
                  <a:pt x="0" y="0"/>
                </a:moveTo>
                <a:lnTo>
                  <a:pt x="710889" y="0"/>
                </a:lnTo>
                <a:lnTo>
                  <a:pt x="710889" y="1288142"/>
                </a:lnTo>
                <a:lnTo>
                  <a:pt x="0" y="12881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5951975" y="232334"/>
            <a:ext cx="2123961" cy="1117997"/>
          </a:xfrm>
          <a:custGeom>
            <a:avLst/>
            <a:gdLst/>
            <a:ahLst/>
            <a:cxnLst/>
            <a:rect r="r" b="b" t="t" l="l"/>
            <a:pathLst>
              <a:path h="1117997" w="2123961">
                <a:moveTo>
                  <a:pt x="0" y="0"/>
                </a:moveTo>
                <a:lnTo>
                  <a:pt x="2123960" y="0"/>
                </a:lnTo>
                <a:lnTo>
                  <a:pt x="2123960" y="1117997"/>
                </a:lnTo>
                <a:lnTo>
                  <a:pt x="0" y="11179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7" id="7"/>
          <p:cNvSpPr/>
          <p:nvPr/>
        </p:nvSpPr>
        <p:spPr>
          <a:xfrm flipH="false" flipV="false" rot="0">
            <a:off x="907704" y="9588884"/>
            <a:ext cx="449142" cy="45215"/>
          </a:xfrm>
          <a:custGeom>
            <a:avLst/>
            <a:gdLst/>
            <a:ahLst/>
            <a:cxnLst/>
            <a:rect r="r" b="b" t="t" l="l"/>
            <a:pathLst>
              <a:path h="45215" w="449142">
                <a:moveTo>
                  <a:pt x="0" y="0"/>
                </a:moveTo>
                <a:lnTo>
                  <a:pt x="449142" y="0"/>
                </a:lnTo>
                <a:lnTo>
                  <a:pt x="449142" y="45215"/>
                </a:lnTo>
                <a:lnTo>
                  <a:pt x="0" y="452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8" id="8"/>
          <p:cNvSpPr/>
          <p:nvPr/>
        </p:nvSpPr>
        <p:spPr>
          <a:xfrm flipH="false" flipV="false" rot="0">
            <a:off x="15780906" y="8605256"/>
            <a:ext cx="3697148" cy="3166977"/>
          </a:xfrm>
          <a:custGeom>
            <a:avLst/>
            <a:gdLst/>
            <a:ahLst/>
            <a:cxnLst/>
            <a:rect r="r" b="b" t="t" l="l"/>
            <a:pathLst>
              <a:path h="3166977" w="3697148">
                <a:moveTo>
                  <a:pt x="0" y="0"/>
                </a:moveTo>
                <a:lnTo>
                  <a:pt x="3697148" y="0"/>
                </a:lnTo>
                <a:lnTo>
                  <a:pt x="3697148" y="3166977"/>
                </a:lnTo>
                <a:lnTo>
                  <a:pt x="0" y="316697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9" id="9"/>
          <p:cNvSpPr/>
          <p:nvPr/>
        </p:nvSpPr>
        <p:spPr>
          <a:xfrm flipH="false" flipV="false" rot="0">
            <a:off x="-1558747" y="-1032367"/>
            <a:ext cx="2985192" cy="4990252"/>
          </a:xfrm>
          <a:custGeom>
            <a:avLst/>
            <a:gdLst/>
            <a:ahLst/>
            <a:cxnLst/>
            <a:rect r="r" b="b" t="t" l="l"/>
            <a:pathLst>
              <a:path h="4990252" w="2985192">
                <a:moveTo>
                  <a:pt x="0" y="0"/>
                </a:moveTo>
                <a:lnTo>
                  <a:pt x="2985192" y="0"/>
                </a:lnTo>
                <a:lnTo>
                  <a:pt x="2985192" y="4990252"/>
                </a:lnTo>
                <a:lnTo>
                  <a:pt x="0" y="4990252"/>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0" id="10"/>
          <p:cNvGrpSpPr/>
          <p:nvPr/>
        </p:nvGrpSpPr>
        <p:grpSpPr>
          <a:xfrm rot="0">
            <a:off x="1997288" y="359888"/>
            <a:ext cx="13383844" cy="1687120"/>
            <a:chOff x="0" y="0"/>
            <a:chExt cx="17845126" cy="2249494"/>
          </a:xfrm>
        </p:grpSpPr>
        <p:sp>
          <p:nvSpPr>
            <p:cNvPr name="Freeform 11" id="11"/>
            <p:cNvSpPr/>
            <p:nvPr/>
          </p:nvSpPr>
          <p:spPr>
            <a:xfrm flipH="false" flipV="false" rot="0">
              <a:off x="0" y="0"/>
              <a:ext cx="17845120" cy="2249490"/>
            </a:xfrm>
            <a:custGeom>
              <a:avLst/>
              <a:gdLst/>
              <a:ahLst/>
              <a:cxnLst/>
              <a:rect r="r" b="b" t="t" l="l"/>
              <a:pathLst>
                <a:path h="2249490" w="17845120">
                  <a:moveTo>
                    <a:pt x="0" y="0"/>
                  </a:moveTo>
                  <a:lnTo>
                    <a:pt x="17845120" y="0"/>
                  </a:lnTo>
                  <a:lnTo>
                    <a:pt x="17845120" y="2249490"/>
                  </a:lnTo>
                  <a:lnTo>
                    <a:pt x="0" y="2249490"/>
                  </a:lnTo>
                  <a:close/>
                </a:path>
              </a:pathLst>
            </a:custGeom>
            <a:blipFill>
              <a:blip r:embed="rId19">
                <a:alphaModFix amt="0"/>
              </a:blip>
              <a:stretch>
                <a:fillRect l="0" t="-35758" r="23546" b="-100595"/>
              </a:stretch>
            </a:blipFill>
          </p:spPr>
        </p:sp>
        <p:sp>
          <p:nvSpPr>
            <p:cNvPr name="TextBox 12" id="12"/>
            <p:cNvSpPr txBox="true"/>
            <p:nvPr/>
          </p:nvSpPr>
          <p:spPr>
            <a:xfrm>
              <a:off x="0" y="0"/>
              <a:ext cx="17845126" cy="2249494"/>
            </a:xfrm>
            <a:prstGeom prst="rect">
              <a:avLst/>
            </a:prstGeom>
          </p:spPr>
          <p:txBody>
            <a:bodyPr anchor="b" rtlCol="false" tIns="0" lIns="0" bIns="0" rIns="0"/>
            <a:lstStyle/>
            <a:p>
              <a:pPr algn="l">
                <a:lnSpc>
                  <a:spcPts val="7200"/>
                </a:lnSpc>
              </a:pPr>
              <a:r>
                <a:rPr lang="en-US" b="true" sz="6000">
                  <a:solidFill>
                    <a:srgbClr val="35363B"/>
                  </a:solidFill>
                  <a:latin typeface="Noto Serif Bold"/>
                  <a:ea typeface="Noto Serif Bold"/>
                  <a:cs typeface="Noto Serif Bold"/>
                  <a:sym typeface="Noto Serif Bold"/>
                </a:rPr>
                <a:t>Quy trình tối ưu hóa câu lệnh</a:t>
              </a:r>
            </a:p>
          </p:txBody>
        </p:sp>
      </p:grpSp>
      <p:sp>
        <p:nvSpPr>
          <p:cNvPr name="Freeform 13" id="13"/>
          <p:cNvSpPr/>
          <p:nvPr/>
        </p:nvSpPr>
        <p:spPr>
          <a:xfrm flipH="false" flipV="false" rot="0">
            <a:off x="4241931" y="5143500"/>
            <a:ext cx="9804138" cy="3609484"/>
          </a:xfrm>
          <a:custGeom>
            <a:avLst/>
            <a:gdLst/>
            <a:ahLst/>
            <a:cxnLst/>
            <a:rect r="r" b="b" t="t" l="l"/>
            <a:pathLst>
              <a:path h="3609484" w="9804138">
                <a:moveTo>
                  <a:pt x="0" y="0"/>
                </a:moveTo>
                <a:lnTo>
                  <a:pt x="9804138" y="0"/>
                </a:lnTo>
                <a:lnTo>
                  <a:pt x="9804138" y="3609484"/>
                </a:lnTo>
                <a:lnTo>
                  <a:pt x="0" y="3609484"/>
                </a:lnTo>
                <a:lnTo>
                  <a:pt x="0" y="0"/>
                </a:lnTo>
                <a:close/>
              </a:path>
            </a:pathLst>
          </a:custGeom>
          <a:blipFill>
            <a:blip r:embed="rId20"/>
            <a:stretch>
              <a:fillRect l="0" t="0" r="0" b="0"/>
            </a:stretch>
          </a:blipFill>
        </p:spPr>
      </p:sp>
      <p:sp>
        <p:nvSpPr>
          <p:cNvPr name="TextBox 14" id="14"/>
          <p:cNvSpPr txBox="true"/>
          <p:nvPr/>
        </p:nvSpPr>
        <p:spPr>
          <a:xfrm rot="0">
            <a:off x="1965084" y="2775271"/>
            <a:ext cx="13986891" cy="2095500"/>
          </a:xfrm>
          <a:prstGeom prst="rect">
            <a:avLst/>
          </a:prstGeom>
        </p:spPr>
        <p:txBody>
          <a:bodyPr anchor="t" rtlCol="false" tIns="0" lIns="0" bIns="0" rIns="0">
            <a:spAutoFit/>
          </a:bodyPr>
          <a:lstStyle/>
          <a:p>
            <a:pPr algn="just">
              <a:lnSpc>
                <a:spcPts val="4199"/>
              </a:lnSpc>
            </a:pPr>
            <a:r>
              <a:rPr lang="en-US" sz="3499">
                <a:solidFill>
                  <a:srgbClr val="35363B"/>
                </a:solidFill>
                <a:latin typeface="Lato"/>
                <a:ea typeface="Lato"/>
                <a:cs typeface="Lato"/>
                <a:sym typeface="Lato"/>
              </a:rPr>
              <a:t>Một đặc điểm quan trọng của Prompt Engineering là tính lặp lại và tiến hóa liên tục. Vì một prompt không thể hoàn hảo ngay từ đầu nên chất lượng prompt được cải thiện thông qua quá trình thử nghiệm và điều chỉnh.</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907600" y="-2040903"/>
            <a:ext cx="4577867" cy="3894296"/>
          </a:xfrm>
          <a:custGeom>
            <a:avLst/>
            <a:gdLst/>
            <a:ahLst/>
            <a:cxnLst/>
            <a:rect r="r" b="b" t="t" l="l"/>
            <a:pathLst>
              <a:path h="3894296" w="4577867">
                <a:moveTo>
                  <a:pt x="0" y="0"/>
                </a:moveTo>
                <a:lnTo>
                  <a:pt x="4577867" y="0"/>
                </a:lnTo>
                <a:lnTo>
                  <a:pt x="4577867" y="3894297"/>
                </a:lnTo>
                <a:lnTo>
                  <a:pt x="0" y="38942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65794" y="-3114904"/>
            <a:ext cx="7857801" cy="8135845"/>
          </a:xfrm>
          <a:custGeom>
            <a:avLst/>
            <a:gdLst/>
            <a:ahLst/>
            <a:cxnLst/>
            <a:rect r="r" b="b" t="t" l="l"/>
            <a:pathLst>
              <a:path h="8135845" w="7857801">
                <a:moveTo>
                  <a:pt x="0" y="0"/>
                </a:moveTo>
                <a:lnTo>
                  <a:pt x="7857801" y="0"/>
                </a:lnTo>
                <a:lnTo>
                  <a:pt x="7857801" y="8135846"/>
                </a:lnTo>
                <a:lnTo>
                  <a:pt x="0" y="8135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31429" y="2309455"/>
            <a:ext cx="6768598" cy="1145400"/>
            <a:chOff x="0" y="0"/>
            <a:chExt cx="9024798" cy="1527200"/>
          </a:xfrm>
        </p:grpSpPr>
        <p:sp>
          <p:nvSpPr>
            <p:cNvPr name="Freeform 5" id="5"/>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7">
                <a:alphaModFix amt="0"/>
              </a:blip>
              <a:stretch>
                <a:fillRect l="0" t="-65144" r="0" b="-65144"/>
              </a:stretch>
            </a:blipFill>
          </p:spPr>
        </p:sp>
        <p:sp>
          <p:nvSpPr>
            <p:cNvPr name="TextBox 6" id="6"/>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Zero-shot Learning</a:t>
              </a:r>
            </a:p>
          </p:txBody>
        </p:sp>
      </p:grpSp>
      <p:sp>
        <p:nvSpPr>
          <p:cNvPr name="Freeform 7" id="7"/>
          <p:cNvSpPr/>
          <p:nvPr/>
        </p:nvSpPr>
        <p:spPr>
          <a:xfrm flipH="false" flipV="false" rot="0">
            <a:off x="15317067" y="1402766"/>
            <a:ext cx="2374621" cy="1249947"/>
          </a:xfrm>
          <a:custGeom>
            <a:avLst/>
            <a:gdLst/>
            <a:ahLst/>
            <a:cxnLst/>
            <a:rect r="r" b="b" t="t" l="l"/>
            <a:pathLst>
              <a:path h="1249947" w="2374621">
                <a:moveTo>
                  <a:pt x="0" y="0"/>
                </a:moveTo>
                <a:lnTo>
                  <a:pt x="2374620" y="0"/>
                </a:lnTo>
                <a:lnTo>
                  <a:pt x="2374620" y="1249946"/>
                </a:lnTo>
                <a:lnTo>
                  <a:pt x="0" y="12499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8970177" y="2652712"/>
            <a:ext cx="7534200" cy="7232832"/>
          </a:xfrm>
          <a:custGeom>
            <a:avLst/>
            <a:gdLst/>
            <a:ahLst/>
            <a:cxnLst/>
            <a:rect r="r" b="b" t="t" l="l"/>
            <a:pathLst>
              <a:path h="7232832" w="7534200">
                <a:moveTo>
                  <a:pt x="0" y="0"/>
                </a:moveTo>
                <a:lnTo>
                  <a:pt x="7534200" y="0"/>
                </a:lnTo>
                <a:lnTo>
                  <a:pt x="7534200" y="7232832"/>
                </a:lnTo>
                <a:lnTo>
                  <a:pt x="0" y="7232832"/>
                </a:lnTo>
                <a:lnTo>
                  <a:pt x="0" y="0"/>
                </a:lnTo>
                <a:close/>
              </a:path>
            </a:pathLst>
          </a:custGeom>
          <a:blipFill>
            <a:blip r:embed="rId10"/>
            <a:stretch>
              <a:fillRect l="0" t="0" r="0" b="0"/>
            </a:stretch>
          </a:blipFill>
        </p:spPr>
      </p:sp>
      <p:sp>
        <p:nvSpPr>
          <p:cNvPr name="TextBox 9" id="9"/>
          <p:cNvSpPr txBox="true"/>
          <p:nvPr/>
        </p:nvSpPr>
        <p:spPr>
          <a:xfrm rot="0">
            <a:off x="1531429" y="981475"/>
            <a:ext cx="13785637" cy="9144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Kết quả thử nghiệm</a:t>
            </a:r>
          </a:p>
        </p:txBody>
      </p:sp>
      <p:sp>
        <p:nvSpPr>
          <p:cNvPr name="TextBox 10" id="10"/>
          <p:cNvSpPr txBox="true"/>
          <p:nvPr/>
        </p:nvSpPr>
        <p:spPr>
          <a:xfrm rot="0">
            <a:off x="1531429" y="3533775"/>
            <a:ext cx="6585747" cy="1076325"/>
          </a:xfrm>
          <a:prstGeom prst="rect">
            <a:avLst/>
          </a:prstGeom>
        </p:spPr>
        <p:txBody>
          <a:bodyPr anchor="t" rtlCol="false" tIns="0" lIns="0" bIns="0" rIns="0">
            <a:spAutoFit/>
          </a:bodyPr>
          <a:lstStyle/>
          <a:p>
            <a:pPr algn="just">
              <a:lnSpc>
                <a:spcPts val="4200"/>
              </a:lnSpc>
            </a:pPr>
            <a:r>
              <a:rPr lang="en-US" sz="3500">
                <a:solidFill>
                  <a:srgbClr val="35363B"/>
                </a:solidFill>
                <a:latin typeface="Lato"/>
                <a:ea typeface="Lato"/>
                <a:cs typeface="Lato"/>
                <a:sym typeface="Lato"/>
              </a:rPr>
              <a:t>Prompt:</a:t>
            </a:r>
            <a:r>
              <a:rPr lang="en-US" sz="3500">
                <a:solidFill>
                  <a:srgbClr val="35363B"/>
                </a:solidFill>
                <a:latin typeface="Lato"/>
                <a:ea typeface="Lato"/>
                <a:cs typeface="Lato"/>
                <a:sym typeface="Lato"/>
              </a:rPr>
              <a:t> “Hãy đọc và phân tích bài báo”</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907600" y="-2040903"/>
            <a:ext cx="4577867" cy="3894296"/>
          </a:xfrm>
          <a:custGeom>
            <a:avLst/>
            <a:gdLst/>
            <a:ahLst/>
            <a:cxnLst/>
            <a:rect r="r" b="b" t="t" l="l"/>
            <a:pathLst>
              <a:path h="3894296" w="4577867">
                <a:moveTo>
                  <a:pt x="0" y="0"/>
                </a:moveTo>
                <a:lnTo>
                  <a:pt x="4577867" y="0"/>
                </a:lnTo>
                <a:lnTo>
                  <a:pt x="4577867" y="3894297"/>
                </a:lnTo>
                <a:lnTo>
                  <a:pt x="0" y="389429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3365794" y="-3114904"/>
            <a:ext cx="7857801" cy="8135845"/>
          </a:xfrm>
          <a:custGeom>
            <a:avLst/>
            <a:gdLst/>
            <a:ahLst/>
            <a:cxnLst/>
            <a:rect r="r" b="b" t="t" l="l"/>
            <a:pathLst>
              <a:path h="8135845" w="7857801">
                <a:moveTo>
                  <a:pt x="0" y="0"/>
                </a:moveTo>
                <a:lnTo>
                  <a:pt x="7857801" y="0"/>
                </a:lnTo>
                <a:lnTo>
                  <a:pt x="7857801" y="8135846"/>
                </a:lnTo>
                <a:lnTo>
                  <a:pt x="0" y="81358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1531429" y="2309455"/>
            <a:ext cx="6768598" cy="1145400"/>
            <a:chOff x="0" y="0"/>
            <a:chExt cx="9024798" cy="1527200"/>
          </a:xfrm>
        </p:grpSpPr>
        <p:sp>
          <p:nvSpPr>
            <p:cNvPr name="Freeform 5" id="5"/>
            <p:cNvSpPr/>
            <p:nvPr/>
          </p:nvSpPr>
          <p:spPr>
            <a:xfrm flipH="false" flipV="false" rot="0">
              <a:off x="0" y="0"/>
              <a:ext cx="9024800" cy="1527200"/>
            </a:xfrm>
            <a:custGeom>
              <a:avLst/>
              <a:gdLst/>
              <a:ahLst/>
              <a:cxnLst/>
              <a:rect r="r" b="b" t="t" l="l"/>
              <a:pathLst>
                <a:path h="1527200" w="9024800">
                  <a:moveTo>
                    <a:pt x="0" y="0"/>
                  </a:moveTo>
                  <a:lnTo>
                    <a:pt x="9024800" y="0"/>
                  </a:lnTo>
                  <a:lnTo>
                    <a:pt x="9024800" y="1527200"/>
                  </a:lnTo>
                  <a:lnTo>
                    <a:pt x="0" y="1527200"/>
                  </a:lnTo>
                  <a:close/>
                </a:path>
              </a:pathLst>
            </a:custGeom>
            <a:blipFill>
              <a:blip r:embed="rId7">
                <a:alphaModFix amt="0"/>
              </a:blip>
              <a:stretch>
                <a:fillRect l="0" t="-65144" r="0" b="-65144"/>
              </a:stretch>
            </a:blipFill>
          </p:spPr>
        </p:sp>
        <p:sp>
          <p:nvSpPr>
            <p:cNvPr name="TextBox 6" id="6"/>
            <p:cNvSpPr txBox="true"/>
            <p:nvPr/>
          </p:nvSpPr>
          <p:spPr>
            <a:xfrm>
              <a:off x="0" y="0"/>
              <a:ext cx="9024798" cy="1527200"/>
            </a:xfrm>
            <a:prstGeom prst="rect">
              <a:avLst/>
            </a:prstGeom>
          </p:spPr>
          <p:txBody>
            <a:bodyPr anchor="b" rtlCol="false" tIns="0" lIns="0" bIns="0" rIns="0"/>
            <a:lstStyle/>
            <a:p>
              <a:pPr algn="l">
                <a:lnSpc>
                  <a:spcPts val="4320"/>
                </a:lnSpc>
              </a:pPr>
              <a:r>
                <a:rPr lang="en-US" b="true" sz="3600">
                  <a:solidFill>
                    <a:srgbClr val="35363B"/>
                  </a:solidFill>
                  <a:latin typeface="Noto Serif Bold"/>
                  <a:ea typeface="Noto Serif Bold"/>
                  <a:cs typeface="Noto Serif Bold"/>
                  <a:sym typeface="Noto Serif Bold"/>
                </a:rPr>
                <a:t>Few-shot Learning</a:t>
              </a:r>
            </a:p>
          </p:txBody>
        </p:sp>
      </p:grpSp>
      <p:sp>
        <p:nvSpPr>
          <p:cNvPr name="Freeform 7" id="7"/>
          <p:cNvSpPr/>
          <p:nvPr/>
        </p:nvSpPr>
        <p:spPr>
          <a:xfrm flipH="false" flipV="false" rot="0">
            <a:off x="15317067" y="1402766"/>
            <a:ext cx="2374621" cy="1249947"/>
          </a:xfrm>
          <a:custGeom>
            <a:avLst/>
            <a:gdLst/>
            <a:ahLst/>
            <a:cxnLst/>
            <a:rect r="r" b="b" t="t" l="l"/>
            <a:pathLst>
              <a:path h="1249947" w="2374621">
                <a:moveTo>
                  <a:pt x="0" y="0"/>
                </a:moveTo>
                <a:lnTo>
                  <a:pt x="2374620" y="0"/>
                </a:lnTo>
                <a:lnTo>
                  <a:pt x="2374620" y="1249946"/>
                </a:lnTo>
                <a:lnTo>
                  <a:pt x="0" y="124994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9981948" y="2652712"/>
            <a:ext cx="6522429" cy="6310450"/>
          </a:xfrm>
          <a:custGeom>
            <a:avLst/>
            <a:gdLst/>
            <a:ahLst/>
            <a:cxnLst/>
            <a:rect r="r" b="b" t="t" l="l"/>
            <a:pathLst>
              <a:path h="6310450" w="6522429">
                <a:moveTo>
                  <a:pt x="0" y="0"/>
                </a:moveTo>
                <a:lnTo>
                  <a:pt x="6522429" y="0"/>
                </a:lnTo>
                <a:lnTo>
                  <a:pt x="6522429" y="6310450"/>
                </a:lnTo>
                <a:lnTo>
                  <a:pt x="0" y="6310450"/>
                </a:lnTo>
                <a:lnTo>
                  <a:pt x="0" y="0"/>
                </a:lnTo>
                <a:close/>
              </a:path>
            </a:pathLst>
          </a:custGeom>
          <a:blipFill>
            <a:blip r:embed="rId10"/>
            <a:stretch>
              <a:fillRect l="0" t="0" r="0" b="0"/>
            </a:stretch>
          </a:blipFill>
        </p:spPr>
      </p:sp>
      <p:sp>
        <p:nvSpPr>
          <p:cNvPr name="TextBox 9" id="9"/>
          <p:cNvSpPr txBox="true"/>
          <p:nvPr/>
        </p:nvSpPr>
        <p:spPr>
          <a:xfrm rot="0">
            <a:off x="1531429" y="981475"/>
            <a:ext cx="13785637" cy="914400"/>
          </a:xfrm>
          <a:prstGeom prst="rect">
            <a:avLst/>
          </a:prstGeom>
        </p:spPr>
        <p:txBody>
          <a:bodyPr anchor="t" rtlCol="false" tIns="0" lIns="0" bIns="0" rIns="0">
            <a:spAutoFit/>
          </a:bodyPr>
          <a:lstStyle/>
          <a:p>
            <a:pPr algn="l">
              <a:lnSpc>
                <a:spcPts val="7200"/>
              </a:lnSpc>
            </a:pPr>
            <a:r>
              <a:rPr lang="en-US" b="true" sz="6000">
                <a:solidFill>
                  <a:srgbClr val="35363B"/>
                </a:solidFill>
                <a:latin typeface="Noto Serif Bold"/>
                <a:ea typeface="Noto Serif Bold"/>
                <a:cs typeface="Noto Serif Bold"/>
                <a:sym typeface="Noto Serif Bold"/>
              </a:rPr>
              <a:t>Kết quả thử nghiệm</a:t>
            </a:r>
          </a:p>
        </p:txBody>
      </p:sp>
      <p:sp>
        <p:nvSpPr>
          <p:cNvPr name="TextBox 10" id="10"/>
          <p:cNvSpPr txBox="true"/>
          <p:nvPr/>
        </p:nvSpPr>
        <p:spPr>
          <a:xfrm rot="0">
            <a:off x="1531429" y="3533775"/>
            <a:ext cx="7612570" cy="4276725"/>
          </a:xfrm>
          <a:prstGeom prst="rect">
            <a:avLst/>
          </a:prstGeom>
        </p:spPr>
        <p:txBody>
          <a:bodyPr anchor="t" rtlCol="false" tIns="0" lIns="0" bIns="0" rIns="0">
            <a:spAutoFit/>
          </a:bodyPr>
          <a:lstStyle/>
          <a:p>
            <a:pPr algn="just">
              <a:lnSpc>
                <a:spcPts val="4200"/>
              </a:lnSpc>
            </a:pPr>
            <a:r>
              <a:rPr lang="en-US" sz="3500">
                <a:solidFill>
                  <a:srgbClr val="35363B"/>
                </a:solidFill>
                <a:latin typeface="Lato"/>
                <a:ea typeface="Lato"/>
                <a:cs typeface="Lato"/>
                <a:sym typeface="Lato"/>
              </a:rPr>
              <a:t>Prompt:</a:t>
            </a:r>
            <a:r>
              <a:rPr lang="en-US" sz="3500">
                <a:solidFill>
                  <a:srgbClr val="35363B"/>
                </a:solidFill>
                <a:latin typeface="Lato"/>
                <a:ea typeface="Lato"/>
                <a:cs typeface="Lato"/>
                <a:sym typeface="Lato"/>
              </a:rPr>
              <a:t> “Hãy đọc toàn bộ bài nghiên cứu này và tóm tắt theo cấu trúc chuẩn học thuật gồm: bối cảnh nghiên cứu, vấn đề nghiên cứu, mục tiêu, câu hỏi nghiên cứu, phương pháp, dữ liệu sử dụng, kết quả chính và kết luận. Giữ nguyên tinh thần khoa học, độ dài 300-350 từ.”</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sz="12000">
                  <a:solidFill>
                    <a:srgbClr val="35363B"/>
                  </a:solidFill>
                  <a:latin typeface="Arimo"/>
                  <a:ea typeface="Arimo"/>
                  <a:cs typeface="Arimo"/>
                  <a:sym typeface="Arimo"/>
                </a:rPr>
                <a:t>04</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1948515" y="4091607"/>
            <a:ext cx="15273214" cy="2743200"/>
          </a:xfrm>
          <a:prstGeom prst="rect">
            <a:avLst/>
          </a:prstGeom>
        </p:spPr>
        <p:txBody>
          <a:bodyPr anchor="t" rtlCol="false" tIns="0" lIns="0" bIns="0" rIns="0">
            <a:spAutoFit/>
          </a:bodyPr>
          <a:lstStyle/>
          <a:p>
            <a:pPr algn="l">
              <a:lnSpc>
                <a:spcPts val="10800"/>
              </a:lnSpc>
            </a:pPr>
            <a:r>
              <a:rPr lang="en-US" sz="9000" b="true">
                <a:solidFill>
                  <a:srgbClr val="35363B"/>
                </a:solidFill>
                <a:latin typeface="Noto Serif Bold"/>
                <a:ea typeface="Noto Serif Bold"/>
                <a:cs typeface="Noto Serif Bold"/>
                <a:sym typeface="Noto Serif Bold"/>
              </a:rPr>
              <a:t>KỸ THUẬT PROMPT ENGINEERING NÂNG CAO </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0089159"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4.1. Tổ</a:t>
            </a:r>
            <a:r>
              <a:rPr lang="en-US" b="true" sz="6000" spc="-120">
                <a:solidFill>
                  <a:srgbClr val="35363B"/>
                </a:solidFill>
                <a:latin typeface="Arimo Bold"/>
                <a:ea typeface="Arimo Bold"/>
                <a:cs typeface="Arimo Bold"/>
                <a:sym typeface="Arimo Bold"/>
              </a:rPr>
              <a:t>ng quan &amp; Thách thức</a:t>
            </a:r>
          </a:p>
        </p:txBody>
      </p:sp>
      <p:sp>
        <p:nvSpPr>
          <p:cNvPr name="TextBox 7" id="7"/>
          <p:cNvSpPr txBox="true"/>
          <p:nvPr/>
        </p:nvSpPr>
        <p:spPr>
          <a:xfrm rot="0">
            <a:off x="1531429" y="3140746"/>
            <a:ext cx="12969154" cy="4381500"/>
          </a:xfrm>
          <a:prstGeom prst="rect">
            <a:avLst/>
          </a:prstGeom>
        </p:spPr>
        <p:txBody>
          <a:bodyPr anchor="t" rtlCol="false" tIns="0" lIns="0" bIns="0" rIns="0">
            <a:spAutoFit/>
          </a:bodyPr>
          <a:lstStyle/>
          <a:p>
            <a:pPr algn="l" marL="690881" indent="-345440" lvl="1">
              <a:lnSpc>
                <a:spcPts val="3840"/>
              </a:lnSpc>
              <a:buFont typeface="Arial"/>
              <a:buChar char="•"/>
            </a:pPr>
            <a:r>
              <a:rPr lang="en-US" sz="3200">
                <a:solidFill>
                  <a:srgbClr val="35363B"/>
                </a:solidFill>
                <a:latin typeface="Lato"/>
                <a:ea typeface="Lato"/>
                <a:cs typeface="Lato"/>
                <a:sym typeface="Lato"/>
              </a:rPr>
              <a:t>Các tác vụ lập trình thực tế vượt xa việc triển khai các hà</a:t>
            </a:r>
            <a:r>
              <a:rPr lang="en-US" sz="3200">
                <a:solidFill>
                  <a:srgbClr val="35363B"/>
                </a:solidFill>
                <a:latin typeface="Lato"/>
                <a:ea typeface="Lato"/>
                <a:cs typeface="Lato"/>
                <a:sym typeface="Lato"/>
              </a:rPr>
              <a:t>m ngắn gọn.</a:t>
            </a:r>
          </a:p>
          <a:p>
            <a:pPr algn="l" marL="690881" indent="-345440" lvl="1">
              <a:lnSpc>
                <a:spcPts val="3840"/>
              </a:lnSpc>
              <a:buFont typeface="Arial"/>
              <a:buChar char="•"/>
            </a:pPr>
            <a:r>
              <a:rPr lang="en-US" sz="3200">
                <a:solidFill>
                  <a:srgbClr val="35363B"/>
                </a:solidFill>
                <a:latin typeface="Lato"/>
                <a:ea typeface="Lato"/>
                <a:cs typeface="Lato"/>
                <a:sym typeface="Lato"/>
              </a:rPr>
              <a:t>Chúng đòi hỏi xử lý đầu vào đặc biệt, quản lý ngoại lệ và thiết kế kiến trúc mã nguồn.</a:t>
            </a:r>
          </a:p>
          <a:p>
            <a:pPr algn="l" marL="690881" indent="-345440" lvl="1">
              <a:lnSpc>
                <a:spcPts val="3840"/>
              </a:lnSpc>
              <a:buFont typeface="Arial"/>
              <a:buChar char="•"/>
            </a:pPr>
            <a:r>
              <a:rPr lang="en-US" sz="3200">
                <a:solidFill>
                  <a:srgbClr val="35363B"/>
                </a:solidFill>
                <a:latin typeface="Lato"/>
                <a:ea typeface="Lato"/>
                <a:cs typeface="Lato"/>
                <a:sym typeface="Lato"/>
              </a:rPr>
              <a:t>Prompt cơ bản thường thất bại hoặc tạo ra kết quả thiếu tính logic toàn diện.</a:t>
            </a:r>
          </a:p>
          <a:p>
            <a:pPr algn="l" marL="690881" indent="-345440" lvl="1">
              <a:lnSpc>
                <a:spcPts val="3840"/>
              </a:lnSpc>
              <a:buFont typeface="Arial"/>
              <a:buChar char="•"/>
            </a:pPr>
            <a:r>
              <a:rPr lang="en-US" sz="3200">
                <a:solidFill>
                  <a:srgbClr val="35363B"/>
                </a:solidFill>
                <a:latin typeface="Lato"/>
                <a:ea typeface="Lato"/>
                <a:cs typeface="Lato"/>
                <a:sym typeface="Lato"/>
              </a:rPr>
              <a:t>Giải pháp: Áp dụng Chain-of-Thought (CoT) và Prompt Chaining với OpenAI API, ChatGPT, GitHub Copilot.</a:t>
            </a:r>
          </a:p>
          <a:p>
            <a:pPr algn="l">
              <a:lnSpc>
                <a:spcPts val="3840"/>
              </a:lnSpc>
            </a:pP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604897" y="1255990"/>
            <a:ext cx="14133188" cy="27717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4.1.2. Bài toán: Tru</a:t>
            </a:r>
            <a:r>
              <a:rPr lang="en-US" b="true" sz="6000" spc="-120">
                <a:solidFill>
                  <a:srgbClr val="35363B"/>
                </a:solidFill>
                <a:latin typeface="Arimo Bold"/>
                <a:ea typeface="Arimo Bold"/>
                <a:cs typeface="Arimo Bold"/>
                <a:sym typeface="Arimo Bold"/>
              </a:rPr>
              <a:t>ng bình Hình học (Geometric Mean)</a:t>
            </a:r>
          </a:p>
          <a:p>
            <a:pPr algn="l">
              <a:lnSpc>
                <a:spcPts val="7200"/>
              </a:lnSpc>
            </a:pPr>
          </a:p>
        </p:txBody>
      </p:sp>
      <p:grpSp>
        <p:nvGrpSpPr>
          <p:cNvPr name="Group 7" id="7"/>
          <p:cNvGrpSpPr/>
          <p:nvPr/>
        </p:nvGrpSpPr>
        <p:grpSpPr>
          <a:xfrm rot="0">
            <a:off x="696520" y="3152972"/>
            <a:ext cx="7931363" cy="6105328"/>
            <a:chOff x="0" y="0"/>
            <a:chExt cx="10575150" cy="8140437"/>
          </a:xfrm>
        </p:grpSpPr>
        <p:sp>
          <p:nvSpPr>
            <p:cNvPr name="Freeform 8" id="8"/>
            <p:cNvSpPr/>
            <p:nvPr/>
          </p:nvSpPr>
          <p:spPr>
            <a:xfrm flipH="false" flipV="false" rot="0">
              <a:off x="0" y="0"/>
              <a:ext cx="10575150" cy="8140437"/>
            </a:xfrm>
            <a:custGeom>
              <a:avLst/>
              <a:gdLst/>
              <a:ahLst/>
              <a:cxnLst/>
              <a:rect r="r" b="b" t="t" l="l"/>
              <a:pathLst>
                <a:path h="8140437" w="10575150">
                  <a:moveTo>
                    <a:pt x="0" y="0"/>
                  </a:moveTo>
                  <a:lnTo>
                    <a:pt x="10575150" y="0"/>
                  </a:lnTo>
                  <a:lnTo>
                    <a:pt x="10575150" y="8140437"/>
                  </a:lnTo>
                  <a:lnTo>
                    <a:pt x="0" y="8140437"/>
                  </a:lnTo>
                  <a:lnTo>
                    <a:pt x="0" y="0"/>
                  </a:lnTo>
                  <a:close/>
                </a:path>
              </a:pathLst>
            </a:custGeom>
            <a:blipFill>
              <a:blip r:embed="rId11"/>
              <a:stretch>
                <a:fillRect l="-19568" t="-5550" r="-2968" b="0"/>
              </a:stretch>
            </a:blipFill>
          </p:spPr>
        </p:sp>
        <p:sp>
          <p:nvSpPr>
            <p:cNvPr name="TextBox 9" id="9"/>
            <p:cNvSpPr txBox="true"/>
            <p:nvPr/>
          </p:nvSpPr>
          <p:spPr>
            <a:xfrm rot="0">
              <a:off x="891611" y="480390"/>
              <a:ext cx="6226837" cy="1044575"/>
            </a:xfrm>
            <a:prstGeom prst="rect">
              <a:avLst/>
            </a:prstGeom>
          </p:spPr>
          <p:txBody>
            <a:bodyPr anchor="t" rtlCol="false" tIns="0" lIns="0" bIns="0" rIns="0">
              <a:spAutoFit/>
            </a:bodyPr>
            <a:lstStyle/>
            <a:p>
              <a:pPr algn="ctr">
                <a:lnSpc>
                  <a:spcPts val="6000"/>
                </a:lnSpc>
                <a:spcBef>
                  <a:spcPct val="0"/>
                </a:spcBef>
              </a:pPr>
              <a:r>
                <a:rPr lang="en-US" b="true" sz="5000" spc="-100">
                  <a:solidFill>
                    <a:srgbClr val="55C0ED"/>
                  </a:solidFill>
                  <a:latin typeface="Arimo Bold"/>
                  <a:ea typeface="Arimo Bold"/>
                  <a:cs typeface="Arimo Bold"/>
                  <a:sym typeface="Arimo Bold"/>
                </a:rPr>
                <a:t>Lý do sử dụng</a:t>
              </a:r>
            </a:p>
          </p:txBody>
        </p:sp>
        <p:sp>
          <p:nvSpPr>
            <p:cNvPr name="TextBox 10" id="10"/>
            <p:cNvSpPr txBox="true"/>
            <p:nvPr/>
          </p:nvSpPr>
          <p:spPr>
            <a:xfrm rot="0">
              <a:off x="891611" y="2013915"/>
              <a:ext cx="9312798" cy="3422650"/>
            </a:xfrm>
            <a:prstGeom prst="rect">
              <a:avLst/>
            </a:prstGeom>
          </p:spPr>
          <p:txBody>
            <a:bodyPr anchor="t" rtlCol="false" tIns="0" lIns="0" bIns="0" rIns="0">
              <a:spAutoFit/>
            </a:bodyPr>
            <a:lstStyle/>
            <a:p>
              <a:pPr algn="l">
                <a:lnSpc>
                  <a:spcPts val="5039"/>
                </a:lnSpc>
                <a:spcBef>
                  <a:spcPct val="0"/>
                </a:spcBef>
              </a:pPr>
              <a:r>
                <a:rPr lang="en-US" b="true" sz="4199" spc="-83">
                  <a:solidFill>
                    <a:srgbClr val="35363B"/>
                  </a:solidFill>
                  <a:latin typeface="Arimo Bold"/>
                  <a:ea typeface="Arimo Bold"/>
                  <a:cs typeface="Arimo Bold"/>
                  <a:sym typeface="Arimo Bold"/>
                </a:rPr>
                <a:t>Là phương pháp phù hợp cho các giá trị có bản chất nhân, như tỷ lệ tăng trưởng tài chính.</a:t>
              </a:r>
            </a:p>
          </p:txBody>
        </p:sp>
        <p:sp>
          <p:nvSpPr>
            <p:cNvPr name="Freeform 11" id="11"/>
            <p:cNvSpPr/>
            <p:nvPr/>
          </p:nvSpPr>
          <p:spPr>
            <a:xfrm flipH="false" flipV="false" rot="0">
              <a:off x="1999473" y="5087184"/>
              <a:ext cx="6576205" cy="2722633"/>
            </a:xfrm>
            <a:custGeom>
              <a:avLst/>
              <a:gdLst/>
              <a:ahLst/>
              <a:cxnLst/>
              <a:rect r="r" b="b" t="t" l="l"/>
              <a:pathLst>
                <a:path h="2722633" w="6576205">
                  <a:moveTo>
                    <a:pt x="0" y="0"/>
                  </a:moveTo>
                  <a:lnTo>
                    <a:pt x="6576205" y="0"/>
                  </a:lnTo>
                  <a:lnTo>
                    <a:pt x="6576205" y="2722632"/>
                  </a:lnTo>
                  <a:lnTo>
                    <a:pt x="0" y="2722632"/>
                  </a:lnTo>
                  <a:lnTo>
                    <a:pt x="0" y="0"/>
                  </a:lnTo>
                  <a:close/>
                </a:path>
              </a:pathLst>
            </a:custGeom>
            <a:blipFill>
              <a:blip r:embed="rId12"/>
              <a:stretch>
                <a:fillRect l="0" t="0" r="0" b="0"/>
              </a:stretch>
            </a:blipFill>
          </p:spPr>
        </p:sp>
      </p:grpSp>
      <p:sp>
        <p:nvSpPr>
          <p:cNvPr name="Freeform 12" id="12"/>
          <p:cNvSpPr/>
          <p:nvPr/>
        </p:nvSpPr>
        <p:spPr>
          <a:xfrm flipH="false" flipV="false" rot="0">
            <a:off x="9327937" y="3342951"/>
            <a:ext cx="7931363" cy="6181528"/>
          </a:xfrm>
          <a:custGeom>
            <a:avLst/>
            <a:gdLst/>
            <a:ahLst/>
            <a:cxnLst/>
            <a:rect r="r" b="b" t="t" l="l"/>
            <a:pathLst>
              <a:path h="6181528" w="7931363">
                <a:moveTo>
                  <a:pt x="0" y="0"/>
                </a:moveTo>
                <a:lnTo>
                  <a:pt x="7931363" y="0"/>
                </a:lnTo>
                <a:lnTo>
                  <a:pt x="7931363" y="6181528"/>
                </a:lnTo>
                <a:lnTo>
                  <a:pt x="0" y="6181528"/>
                </a:lnTo>
                <a:lnTo>
                  <a:pt x="0" y="0"/>
                </a:lnTo>
                <a:close/>
              </a:path>
            </a:pathLst>
          </a:custGeom>
          <a:blipFill>
            <a:blip r:embed="rId11"/>
            <a:stretch>
              <a:fillRect l="-20437" t="-5550" r="-3629" b="0"/>
            </a:stretch>
          </a:blipFill>
        </p:spPr>
      </p:sp>
      <p:sp>
        <p:nvSpPr>
          <p:cNvPr name="Freeform 13" id="13"/>
          <p:cNvSpPr/>
          <p:nvPr/>
        </p:nvSpPr>
        <p:spPr>
          <a:xfrm flipH="false" flipV="false" rot="0">
            <a:off x="9786359" y="4835835"/>
            <a:ext cx="6954677" cy="1597880"/>
          </a:xfrm>
          <a:custGeom>
            <a:avLst/>
            <a:gdLst/>
            <a:ahLst/>
            <a:cxnLst/>
            <a:rect r="r" b="b" t="t" l="l"/>
            <a:pathLst>
              <a:path h="1597880" w="6954677">
                <a:moveTo>
                  <a:pt x="0" y="0"/>
                </a:moveTo>
                <a:lnTo>
                  <a:pt x="6954677" y="0"/>
                </a:lnTo>
                <a:lnTo>
                  <a:pt x="6954677" y="1597880"/>
                </a:lnTo>
                <a:lnTo>
                  <a:pt x="0" y="1597880"/>
                </a:lnTo>
                <a:lnTo>
                  <a:pt x="0" y="0"/>
                </a:lnTo>
                <a:close/>
              </a:path>
            </a:pathLst>
          </a:custGeom>
          <a:blipFill>
            <a:blip r:embed="rId13"/>
            <a:stretch>
              <a:fillRect l="0" t="0" r="-45512" b="0"/>
            </a:stretch>
          </a:blipFill>
        </p:spPr>
      </p:sp>
      <p:sp>
        <p:nvSpPr>
          <p:cNvPr name="TextBox 14" id="14"/>
          <p:cNvSpPr txBox="true"/>
          <p:nvPr/>
        </p:nvSpPr>
        <p:spPr>
          <a:xfrm rot="0">
            <a:off x="9797282" y="3696100"/>
            <a:ext cx="7462018" cy="800100"/>
          </a:xfrm>
          <a:prstGeom prst="rect">
            <a:avLst/>
          </a:prstGeom>
        </p:spPr>
        <p:txBody>
          <a:bodyPr anchor="t" rtlCol="false" tIns="0" lIns="0" bIns="0" rIns="0">
            <a:spAutoFit/>
          </a:bodyPr>
          <a:lstStyle/>
          <a:p>
            <a:pPr algn="ctr">
              <a:lnSpc>
                <a:spcPts val="6120"/>
              </a:lnSpc>
              <a:spcBef>
                <a:spcPct val="0"/>
              </a:spcBef>
            </a:pPr>
            <a:r>
              <a:rPr lang="en-US" b="true" sz="5100" spc="-102">
                <a:solidFill>
                  <a:srgbClr val="BA0034"/>
                </a:solidFill>
                <a:latin typeface="Arimo Bold"/>
                <a:ea typeface="Arimo Bold"/>
                <a:cs typeface="Arimo Bold"/>
                <a:sym typeface="Arimo Bold"/>
              </a:rPr>
              <a:t>Thách</a:t>
            </a:r>
            <a:r>
              <a:rPr lang="en-US" b="true" sz="5100" spc="-102">
                <a:solidFill>
                  <a:srgbClr val="BA0034"/>
                </a:solidFill>
                <a:latin typeface="Arimo Bold"/>
                <a:ea typeface="Arimo Bold"/>
                <a:cs typeface="Arimo Bold"/>
                <a:sym typeface="Arimo Bold"/>
              </a:rPr>
              <a:t> thức: Tỷ suất âm</a:t>
            </a:r>
          </a:p>
        </p:txBody>
      </p:sp>
      <p:sp>
        <p:nvSpPr>
          <p:cNvPr name="TextBox 15" id="15"/>
          <p:cNvSpPr txBox="true"/>
          <p:nvPr/>
        </p:nvSpPr>
        <p:spPr>
          <a:xfrm rot="0">
            <a:off x="9797282" y="6757565"/>
            <a:ext cx="7273578" cy="1933575"/>
          </a:xfrm>
          <a:prstGeom prst="rect">
            <a:avLst/>
          </a:prstGeom>
        </p:spPr>
        <p:txBody>
          <a:bodyPr anchor="t" rtlCol="false" tIns="0" lIns="0" bIns="0" rIns="0">
            <a:spAutoFit/>
          </a:bodyPr>
          <a:lstStyle/>
          <a:p>
            <a:pPr algn="l">
              <a:lnSpc>
                <a:spcPts val="5039"/>
              </a:lnSpc>
              <a:spcBef>
                <a:spcPct val="0"/>
              </a:spcBef>
            </a:pPr>
            <a:r>
              <a:rPr lang="en-US" b="true" sz="4199" spc="-83">
                <a:solidFill>
                  <a:srgbClr val="35363B"/>
                </a:solidFill>
                <a:latin typeface="Arimo Bold"/>
                <a:ea typeface="Arimo Bold"/>
                <a:cs typeface="Arimo Bold"/>
                <a:sym typeface="Arimo Bold"/>
              </a:rPr>
              <a:t>Á</a:t>
            </a:r>
            <a:r>
              <a:rPr lang="en-US" b="true" sz="4199" spc="-83">
                <a:solidFill>
                  <a:srgbClr val="35363B"/>
                </a:solidFill>
                <a:latin typeface="Arimo Bold"/>
                <a:ea typeface="Arimo Bold"/>
                <a:cs typeface="Arimo Bold"/>
                <a:sym typeface="Arimo Bold"/>
              </a:rPr>
              <a:t>p dụng công thức chuẩn trực tiếp sẽ trả về kết quả sai lệch (+32% - thực tế ~ -10%).</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2068662" y="3210465"/>
            <a:ext cx="5196224" cy="5218321"/>
          </a:xfrm>
          <a:custGeom>
            <a:avLst/>
            <a:gdLst/>
            <a:ahLst/>
            <a:cxnLst/>
            <a:rect r="r" b="b" t="t" l="l"/>
            <a:pathLst>
              <a:path h="5218321" w="5196224">
                <a:moveTo>
                  <a:pt x="0" y="0"/>
                </a:moveTo>
                <a:lnTo>
                  <a:pt x="5196224" y="0"/>
                </a:lnTo>
                <a:lnTo>
                  <a:pt x="5196224" y="5218322"/>
                </a:lnTo>
                <a:lnTo>
                  <a:pt x="0" y="5218322"/>
                </a:lnTo>
                <a:lnTo>
                  <a:pt x="0" y="0"/>
                </a:lnTo>
                <a:close/>
              </a:path>
            </a:pathLst>
          </a:custGeom>
          <a:blipFill>
            <a:blip r:embed="rId3"/>
            <a:stretch>
              <a:fillRect l="-34709" t="0" r="-16747" b="0"/>
            </a:stretch>
          </a:blipFill>
        </p:spPr>
      </p:sp>
      <p:sp>
        <p:nvSpPr>
          <p:cNvPr name="Freeform 3" id="3"/>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0">
            <a:off x="603178" y="3210465"/>
            <a:ext cx="5196224" cy="5218321"/>
          </a:xfrm>
          <a:custGeom>
            <a:avLst/>
            <a:gdLst/>
            <a:ahLst/>
            <a:cxnLst/>
            <a:rect r="r" b="b" t="t" l="l"/>
            <a:pathLst>
              <a:path h="5218321" w="5196224">
                <a:moveTo>
                  <a:pt x="0" y="0"/>
                </a:moveTo>
                <a:lnTo>
                  <a:pt x="5196224" y="0"/>
                </a:lnTo>
                <a:lnTo>
                  <a:pt x="5196224" y="5218322"/>
                </a:lnTo>
                <a:lnTo>
                  <a:pt x="0" y="5218322"/>
                </a:lnTo>
                <a:lnTo>
                  <a:pt x="0" y="0"/>
                </a:lnTo>
                <a:close/>
              </a:path>
            </a:pathLst>
          </a:custGeom>
          <a:blipFill>
            <a:blip r:embed="rId3"/>
            <a:stretch>
              <a:fillRect l="-34709" t="0" r="-16747" b="0"/>
            </a:stretch>
          </a:blipFill>
        </p:spPr>
      </p:sp>
      <p:sp>
        <p:nvSpPr>
          <p:cNvPr name="Freeform 6" id="6"/>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false" flipV="false" rot="0">
            <a:off x="1028700" y="7382415"/>
            <a:ext cx="4345180" cy="679693"/>
          </a:xfrm>
          <a:custGeom>
            <a:avLst/>
            <a:gdLst/>
            <a:ahLst/>
            <a:cxnLst/>
            <a:rect r="r" b="b" t="t" l="l"/>
            <a:pathLst>
              <a:path h="679693" w="4345180">
                <a:moveTo>
                  <a:pt x="0" y="0"/>
                </a:moveTo>
                <a:lnTo>
                  <a:pt x="4345180" y="0"/>
                </a:lnTo>
                <a:lnTo>
                  <a:pt x="4345180" y="679693"/>
                </a:lnTo>
                <a:lnTo>
                  <a:pt x="0" y="679693"/>
                </a:lnTo>
                <a:lnTo>
                  <a:pt x="0" y="0"/>
                </a:lnTo>
                <a:close/>
              </a:path>
            </a:pathLst>
          </a:custGeom>
          <a:blipFill>
            <a:blip r:embed="rId12"/>
            <a:stretch>
              <a:fillRect l="0" t="0" r="0" b="0"/>
            </a:stretch>
          </a:blipFill>
        </p:spPr>
      </p:sp>
      <p:sp>
        <p:nvSpPr>
          <p:cNvPr name="Freeform 9" id="9"/>
          <p:cNvSpPr/>
          <p:nvPr/>
        </p:nvSpPr>
        <p:spPr>
          <a:xfrm flipH="false" flipV="false" rot="0">
            <a:off x="12287952" y="7080118"/>
            <a:ext cx="4771985" cy="604595"/>
          </a:xfrm>
          <a:custGeom>
            <a:avLst/>
            <a:gdLst/>
            <a:ahLst/>
            <a:cxnLst/>
            <a:rect r="r" b="b" t="t" l="l"/>
            <a:pathLst>
              <a:path h="604595" w="4771985">
                <a:moveTo>
                  <a:pt x="0" y="0"/>
                </a:moveTo>
                <a:lnTo>
                  <a:pt x="4771985" y="0"/>
                </a:lnTo>
                <a:lnTo>
                  <a:pt x="4771985" y="604595"/>
                </a:lnTo>
                <a:lnTo>
                  <a:pt x="0" y="604595"/>
                </a:lnTo>
                <a:lnTo>
                  <a:pt x="0" y="0"/>
                </a:lnTo>
                <a:close/>
              </a:path>
            </a:pathLst>
          </a:custGeom>
          <a:blipFill>
            <a:blip r:embed="rId13"/>
            <a:stretch>
              <a:fillRect l="0" t="0" r="0" b="0"/>
            </a:stretch>
          </a:blipFill>
        </p:spPr>
      </p:sp>
      <p:sp>
        <p:nvSpPr>
          <p:cNvPr name="TextBox 10" id="10"/>
          <p:cNvSpPr txBox="true"/>
          <p:nvPr/>
        </p:nvSpPr>
        <p:spPr>
          <a:xfrm rot="0">
            <a:off x="1531429" y="952900"/>
            <a:ext cx="12810927"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Giải pháp Toá</a:t>
            </a:r>
            <a:r>
              <a:rPr lang="en-US" b="true" sz="6000" spc="-120">
                <a:solidFill>
                  <a:srgbClr val="35363B"/>
                </a:solidFill>
                <a:latin typeface="Arimo Bold"/>
                <a:ea typeface="Arimo Bold"/>
                <a:cs typeface="Arimo Bold"/>
                <a:sym typeface="Arimo Bold"/>
              </a:rPr>
              <a:t>n học: 3 Bước Rõ ràng</a:t>
            </a:r>
          </a:p>
        </p:txBody>
      </p:sp>
      <p:sp>
        <p:nvSpPr>
          <p:cNvPr name="TextBox 11" id="11"/>
          <p:cNvSpPr txBox="true"/>
          <p:nvPr/>
        </p:nvSpPr>
        <p:spPr>
          <a:xfrm rot="0">
            <a:off x="603178" y="3210465"/>
            <a:ext cx="5196224" cy="3810000"/>
          </a:xfrm>
          <a:prstGeom prst="rect">
            <a:avLst/>
          </a:prstGeom>
        </p:spPr>
        <p:txBody>
          <a:bodyPr anchor="t" rtlCol="false" tIns="0" lIns="0" bIns="0" rIns="0">
            <a:spAutoFit/>
          </a:bodyPr>
          <a:lstStyle/>
          <a:p>
            <a:pPr algn="ctr">
              <a:lnSpc>
                <a:spcPts val="3777"/>
              </a:lnSpc>
            </a:pPr>
          </a:p>
          <a:p>
            <a:pPr algn="ctr">
              <a:lnSpc>
                <a:spcPts val="3777"/>
              </a:lnSpc>
            </a:pPr>
            <a:r>
              <a:rPr lang="en-US" sz="3147">
                <a:solidFill>
                  <a:srgbClr val="35363B"/>
                </a:solidFill>
                <a:latin typeface="Lato"/>
                <a:ea typeface="Lato"/>
                <a:cs typeface="Lato"/>
                <a:sym typeface="Lato"/>
              </a:rPr>
              <a:t>1</a:t>
            </a:r>
          </a:p>
          <a:p>
            <a:pPr algn="ctr">
              <a:lnSpc>
                <a:spcPts val="3777"/>
              </a:lnSpc>
            </a:pPr>
          </a:p>
          <a:p>
            <a:pPr algn="ctr">
              <a:lnSpc>
                <a:spcPts val="3777"/>
              </a:lnSpc>
            </a:pPr>
            <a:r>
              <a:rPr lang="en-US" b="true" sz="3147">
                <a:solidFill>
                  <a:srgbClr val="35363B"/>
                </a:solidFill>
                <a:latin typeface="Lato Bold"/>
                <a:ea typeface="Lato Bold"/>
                <a:cs typeface="Lato Bold"/>
                <a:sym typeface="Lato Bold"/>
              </a:rPr>
              <a:t>Tính Tỷ suất Gộp</a:t>
            </a:r>
          </a:p>
          <a:p>
            <a:pPr algn="ctr">
              <a:lnSpc>
                <a:spcPts val="3777"/>
              </a:lnSpc>
            </a:pPr>
          </a:p>
          <a:p>
            <a:pPr algn="ctr">
              <a:lnSpc>
                <a:spcPts val="3777"/>
              </a:lnSpc>
            </a:pPr>
            <a:r>
              <a:rPr lang="en-US" sz="3147">
                <a:solidFill>
                  <a:srgbClr val="35363B"/>
                </a:solidFill>
                <a:latin typeface="Lato"/>
                <a:ea typeface="Lato"/>
                <a:cs typeface="Lato"/>
                <a:sym typeface="Lato"/>
              </a:rPr>
              <a:t>Cộng thêm 1 vào mỗi giá trị tỷ suất ròng.</a:t>
            </a:r>
          </a:p>
          <a:p>
            <a:pPr algn="ctr">
              <a:lnSpc>
                <a:spcPts val="3777"/>
              </a:lnSpc>
            </a:pPr>
          </a:p>
        </p:txBody>
      </p:sp>
      <p:sp>
        <p:nvSpPr>
          <p:cNvPr name="Freeform 12" id="12"/>
          <p:cNvSpPr/>
          <p:nvPr/>
        </p:nvSpPr>
        <p:spPr>
          <a:xfrm flipH="false" flipV="false" rot="0">
            <a:off x="6335920" y="3342951"/>
            <a:ext cx="5196224" cy="5218321"/>
          </a:xfrm>
          <a:custGeom>
            <a:avLst/>
            <a:gdLst/>
            <a:ahLst/>
            <a:cxnLst/>
            <a:rect r="r" b="b" t="t" l="l"/>
            <a:pathLst>
              <a:path h="5218321" w="5196224">
                <a:moveTo>
                  <a:pt x="0" y="0"/>
                </a:moveTo>
                <a:lnTo>
                  <a:pt x="5196224" y="0"/>
                </a:lnTo>
                <a:lnTo>
                  <a:pt x="5196224" y="5218322"/>
                </a:lnTo>
                <a:lnTo>
                  <a:pt x="0" y="5218322"/>
                </a:lnTo>
                <a:lnTo>
                  <a:pt x="0" y="0"/>
                </a:lnTo>
                <a:close/>
              </a:path>
            </a:pathLst>
          </a:custGeom>
          <a:blipFill>
            <a:blip r:embed="rId3"/>
            <a:stretch>
              <a:fillRect l="-34709" t="0" r="-16747" b="0"/>
            </a:stretch>
          </a:blipFill>
        </p:spPr>
      </p:sp>
      <p:sp>
        <p:nvSpPr>
          <p:cNvPr name="TextBox 13" id="13"/>
          <p:cNvSpPr txBox="true"/>
          <p:nvPr/>
        </p:nvSpPr>
        <p:spPr>
          <a:xfrm rot="0">
            <a:off x="6335920" y="3238500"/>
            <a:ext cx="5196224" cy="3810000"/>
          </a:xfrm>
          <a:prstGeom prst="rect">
            <a:avLst/>
          </a:prstGeom>
        </p:spPr>
        <p:txBody>
          <a:bodyPr anchor="t" rtlCol="false" tIns="0" lIns="0" bIns="0" rIns="0">
            <a:spAutoFit/>
          </a:bodyPr>
          <a:lstStyle/>
          <a:p>
            <a:pPr algn="ctr">
              <a:lnSpc>
                <a:spcPts val="3777"/>
              </a:lnSpc>
            </a:pPr>
          </a:p>
          <a:p>
            <a:pPr algn="ctr">
              <a:lnSpc>
                <a:spcPts val="3777"/>
              </a:lnSpc>
            </a:pPr>
            <a:r>
              <a:rPr lang="en-US" sz="3147">
                <a:solidFill>
                  <a:srgbClr val="35363B"/>
                </a:solidFill>
                <a:latin typeface="Lato"/>
                <a:ea typeface="Lato"/>
                <a:cs typeface="Lato"/>
                <a:sym typeface="Lato"/>
              </a:rPr>
              <a:t>2</a:t>
            </a:r>
          </a:p>
          <a:p>
            <a:pPr algn="ctr">
              <a:lnSpc>
                <a:spcPts val="3777"/>
              </a:lnSpc>
            </a:pPr>
          </a:p>
          <a:p>
            <a:pPr algn="ctr">
              <a:lnSpc>
                <a:spcPts val="3777"/>
              </a:lnSpc>
            </a:pPr>
            <a:r>
              <a:rPr lang="en-US" b="true" sz="3147">
                <a:solidFill>
                  <a:srgbClr val="35363B"/>
                </a:solidFill>
                <a:latin typeface="Lato Bold"/>
                <a:ea typeface="Lato Bold"/>
                <a:cs typeface="Lato Bold"/>
                <a:sym typeface="Lato Bold"/>
              </a:rPr>
              <a:t>Trung bình Hình học</a:t>
            </a:r>
          </a:p>
          <a:p>
            <a:pPr algn="ctr">
              <a:lnSpc>
                <a:spcPts val="3777"/>
              </a:lnSpc>
            </a:pPr>
          </a:p>
          <a:p>
            <a:pPr algn="ctr">
              <a:lnSpc>
                <a:spcPts val="3777"/>
              </a:lnSpc>
            </a:pPr>
            <a:r>
              <a:rPr lang="en-US" sz="3147">
                <a:solidFill>
                  <a:srgbClr val="35363B"/>
                </a:solidFill>
                <a:latin typeface="Lato"/>
                <a:ea typeface="Lato"/>
                <a:cs typeface="Lato"/>
                <a:sym typeface="Lato"/>
              </a:rPr>
              <a:t>Áp dụng công thức chuẩn lên mảng tỷ suất gộp.</a:t>
            </a:r>
          </a:p>
          <a:p>
            <a:pPr algn="ctr">
              <a:lnSpc>
                <a:spcPts val="3777"/>
              </a:lnSpc>
            </a:pPr>
          </a:p>
        </p:txBody>
      </p:sp>
      <p:sp>
        <p:nvSpPr>
          <p:cNvPr name="TextBox 14" id="14"/>
          <p:cNvSpPr txBox="true"/>
          <p:nvPr/>
        </p:nvSpPr>
        <p:spPr>
          <a:xfrm rot="0">
            <a:off x="12283575" y="3210465"/>
            <a:ext cx="4766398" cy="3810000"/>
          </a:xfrm>
          <a:prstGeom prst="rect">
            <a:avLst/>
          </a:prstGeom>
        </p:spPr>
        <p:txBody>
          <a:bodyPr anchor="t" rtlCol="false" tIns="0" lIns="0" bIns="0" rIns="0">
            <a:spAutoFit/>
          </a:bodyPr>
          <a:lstStyle/>
          <a:p>
            <a:pPr algn="ctr">
              <a:lnSpc>
                <a:spcPts val="3777"/>
              </a:lnSpc>
              <a:spcBef>
                <a:spcPct val="0"/>
              </a:spcBef>
            </a:pPr>
          </a:p>
          <a:p>
            <a:pPr algn="ctr">
              <a:lnSpc>
                <a:spcPts val="3777"/>
              </a:lnSpc>
              <a:spcBef>
                <a:spcPct val="0"/>
              </a:spcBef>
            </a:pPr>
            <a:r>
              <a:rPr lang="en-US" sz="3147">
                <a:solidFill>
                  <a:srgbClr val="35363B"/>
                </a:solidFill>
                <a:latin typeface="Lato"/>
                <a:ea typeface="Lato"/>
                <a:cs typeface="Lato"/>
                <a:sym typeface="Lato"/>
              </a:rPr>
              <a:t>3</a:t>
            </a:r>
          </a:p>
          <a:p>
            <a:pPr algn="ctr">
              <a:lnSpc>
                <a:spcPts val="3777"/>
              </a:lnSpc>
              <a:spcBef>
                <a:spcPct val="0"/>
              </a:spcBef>
            </a:pPr>
          </a:p>
          <a:p>
            <a:pPr algn="ctr">
              <a:lnSpc>
                <a:spcPts val="3777"/>
              </a:lnSpc>
              <a:spcBef>
                <a:spcPct val="0"/>
              </a:spcBef>
            </a:pPr>
            <a:r>
              <a:rPr lang="en-US" b="true" sz="3147">
                <a:solidFill>
                  <a:srgbClr val="35363B"/>
                </a:solidFill>
                <a:latin typeface="Lato Bold"/>
                <a:ea typeface="Lato Bold"/>
                <a:cs typeface="Lato Bold"/>
                <a:sym typeface="Lato Bold"/>
              </a:rPr>
              <a:t>Chuyển đổi Ngược</a:t>
            </a:r>
          </a:p>
          <a:p>
            <a:pPr algn="ctr">
              <a:lnSpc>
                <a:spcPts val="3777"/>
              </a:lnSpc>
              <a:spcBef>
                <a:spcPct val="0"/>
              </a:spcBef>
            </a:pPr>
          </a:p>
          <a:p>
            <a:pPr algn="ctr">
              <a:lnSpc>
                <a:spcPts val="3777"/>
              </a:lnSpc>
              <a:spcBef>
                <a:spcPct val="0"/>
              </a:spcBef>
            </a:pPr>
            <a:r>
              <a:rPr lang="en-US" sz="3147">
                <a:solidFill>
                  <a:srgbClr val="35363B"/>
                </a:solidFill>
                <a:latin typeface="Lato"/>
                <a:ea typeface="Lato"/>
                <a:cs typeface="Lato"/>
                <a:sym typeface="Lato"/>
              </a:rPr>
              <a:t>Trừ đi 1 để có tỷ suất ròng trung bình cuối cùng.</a:t>
            </a:r>
          </a:p>
          <a:p>
            <a:pPr algn="ctr">
              <a:lnSpc>
                <a:spcPts val="3777"/>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aphicFrame>
        <p:nvGraphicFramePr>
          <p:cNvPr name="Object 6" id="6"/>
          <p:cNvGraphicFramePr/>
          <p:nvPr/>
        </p:nvGraphicFramePr>
        <p:xfrm>
          <a:off x="1666713" y="3342951"/>
          <a:ext cx="5657850" cy="5314950"/>
        </p:xfrm>
        <a:graphic>
          <a:graphicData uri="http://schemas.openxmlformats.org/presentationml/2006/ole">
            <p:oleObj imgW="6781800" imgH="6438900" r:id="rId12" progId="Excel.Sheet.12" name="Worksheet">
              <p:embed/>
              <p:pic>
                <p:nvPicPr>
                  <p:cNvPr name="" id="0"/>
                  <p:cNvPicPr/>
                  <p:nvPr/>
                </p:nvPicPr>
                <p:blipFill>
                  <a:blip r:embed="rId11"/>
                  <a:stretch>
                    <a:fillRect/>
                  </a:stretch>
                </p:blipFill>
                <p:spPr>
                  <a:xfrm>
                    <a:off x="1270000" y="1270000"/>
                    <a:ext cx="1270000" cy="1270000"/>
                  </a:xfrm>
                  <a:prstGeom prst="rect"/>
                </p:spPr>
              </p:pic>
            </p:oleObj>
          </a:graphicData>
        </a:graphic>
      </p:graphicFrame>
      <p:sp>
        <p:nvSpPr>
          <p:cNvPr name="TextBox 7" id="7"/>
          <p:cNvSpPr txBox="true"/>
          <p:nvPr/>
        </p:nvSpPr>
        <p:spPr>
          <a:xfrm rot="0">
            <a:off x="1531429" y="952900"/>
            <a:ext cx="12765936" cy="18573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4.3. Đá</a:t>
            </a:r>
            <a:r>
              <a:rPr lang="en-US" b="true" sz="6000" spc="-120">
                <a:solidFill>
                  <a:srgbClr val="35363B"/>
                </a:solidFill>
                <a:latin typeface="Arimo Bold"/>
                <a:ea typeface="Arimo Bold"/>
                <a:cs typeface="Arimo Bold"/>
                <a:sym typeface="Arimo Bold"/>
              </a:rPr>
              <a:t>nh giá Baseline với Prompt Cơ bản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3389173" cy="18573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4.4.1. Kỹ</a:t>
            </a:r>
            <a:r>
              <a:rPr lang="en-US" b="true" sz="6000" spc="-120">
                <a:solidFill>
                  <a:srgbClr val="35363B"/>
                </a:solidFill>
                <a:latin typeface="Arimo Bold"/>
                <a:ea typeface="Arimo Bold"/>
                <a:cs typeface="Arimo Bold"/>
                <a:sym typeface="Arimo Bold"/>
              </a:rPr>
              <a:t> thuật Chain-of-Thought (CoT)</a:t>
            </a:r>
          </a:p>
          <a:p>
            <a:pPr algn="l">
              <a:lnSpc>
                <a:spcPts val="7200"/>
              </a:lnSpc>
            </a:pPr>
          </a:p>
        </p:txBody>
      </p:sp>
      <p:sp>
        <p:nvSpPr>
          <p:cNvPr name="TextBox 7" id="7"/>
          <p:cNvSpPr txBox="true"/>
          <p:nvPr/>
        </p:nvSpPr>
        <p:spPr>
          <a:xfrm rot="0">
            <a:off x="1531429" y="3140746"/>
            <a:ext cx="12969154" cy="5353050"/>
          </a:xfrm>
          <a:prstGeom prst="rect">
            <a:avLst/>
          </a:prstGeom>
        </p:spPr>
        <p:txBody>
          <a:bodyPr anchor="t" rtlCol="false" tIns="0" lIns="0" bIns="0" rIns="0">
            <a:spAutoFit/>
          </a:bodyPr>
          <a:lstStyle/>
          <a:p>
            <a:pPr algn="l">
              <a:lnSpc>
                <a:spcPts val="3840"/>
              </a:lnSpc>
            </a:pPr>
            <a:r>
              <a:rPr lang="en-US" sz="3200" b="true">
                <a:solidFill>
                  <a:srgbClr val="35363B"/>
                </a:solidFill>
                <a:latin typeface="Lato Bold"/>
                <a:ea typeface="Lato Bold"/>
                <a:cs typeface="Lato Bold"/>
                <a:sym typeface="Lato Bold"/>
              </a:rPr>
              <a:t>Khái niệm:</a:t>
            </a:r>
            <a:r>
              <a:rPr lang="en-US" sz="3200">
                <a:solidFill>
                  <a:srgbClr val="35363B"/>
                </a:solidFill>
                <a:latin typeface="Lato"/>
                <a:ea typeface="Lato"/>
                <a:cs typeface="Lato"/>
                <a:sym typeface="Lato"/>
              </a:rPr>
              <a:t> Hướng dẫn mô hình giải quyết bài toán theo từng bước suy luận có cấu trúc, thay vì yêu cầu kết quả ngay.</a:t>
            </a:r>
          </a:p>
          <a:p>
            <a:pPr algn="l">
              <a:lnSpc>
                <a:spcPts val="3840"/>
              </a:lnSpc>
            </a:pPr>
          </a:p>
          <a:p>
            <a:pPr algn="l">
              <a:lnSpc>
                <a:spcPts val="3840"/>
              </a:lnSpc>
            </a:pPr>
            <a:r>
              <a:rPr lang="en-US" sz="3200" b="true">
                <a:solidFill>
                  <a:srgbClr val="35363B"/>
                </a:solidFill>
                <a:latin typeface="Lato Bold"/>
                <a:ea typeface="Lato Bold"/>
                <a:cs typeface="Lato Bold"/>
                <a:sym typeface="Lato Bold"/>
              </a:rPr>
              <a:t>Trong Lập trình:</a:t>
            </a:r>
          </a:p>
          <a:p>
            <a:pPr algn="l">
              <a:lnSpc>
                <a:spcPts val="3840"/>
              </a:lnSpc>
            </a:pPr>
          </a:p>
          <a:p>
            <a:pPr algn="l" marL="690881" indent="-345440" lvl="1">
              <a:lnSpc>
                <a:spcPts val="3840"/>
              </a:lnSpc>
              <a:buFont typeface="Arial"/>
              <a:buChar char="•"/>
            </a:pPr>
            <a:r>
              <a:rPr lang="en-US" sz="3200">
                <a:solidFill>
                  <a:srgbClr val="35363B"/>
                </a:solidFill>
                <a:latin typeface="Lato"/>
                <a:ea typeface="Lato"/>
                <a:cs typeface="Lato"/>
                <a:sym typeface="Lato"/>
              </a:rPr>
              <a:t>Không phải là giải thích dài dòng bằng văn bản.</a:t>
            </a:r>
          </a:p>
          <a:p>
            <a:pPr algn="l" marL="690881" indent="-345440" lvl="1">
              <a:lnSpc>
                <a:spcPts val="3840"/>
              </a:lnSpc>
              <a:buFont typeface="Arial"/>
              <a:buChar char="•"/>
            </a:pPr>
            <a:r>
              <a:rPr lang="en-US" sz="3200">
                <a:solidFill>
                  <a:srgbClr val="35363B"/>
                </a:solidFill>
                <a:latin typeface="Lato"/>
                <a:ea typeface="Lato"/>
                <a:cs typeface="Lato"/>
                <a:sym typeface="Lato"/>
              </a:rPr>
              <a:t>Đó là việc viết một </a:t>
            </a:r>
            <a:r>
              <a:rPr lang="en-US" b="true" sz="3200">
                <a:solidFill>
                  <a:srgbClr val="35363B"/>
                </a:solidFill>
                <a:latin typeface="Lato Bold"/>
                <a:ea typeface="Lato Bold"/>
                <a:cs typeface="Lato Bold"/>
                <a:sym typeface="Lato Bold"/>
              </a:rPr>
              <a:t>hàm ở mức trừu tượng cao</a:t>
            </a:r>
            <a:r>
              <a:rPr lang="en-US" sz="3200">
                <a:solidFill>
                  <a:srgbClr val="35363B"/>
                </a:solidFill>
                <a:latin typeface="Lato"/>
                <a:ea typeface="Lato"/>
                <a:cs typeface="Lato"/>
                <a:sym typeface="Lato"/>
              </a:rPr>
              <a:t>, chỉ gọi đến các hàm con chưa tồn tại.</a:t>
            </a:r>
          </a:p>
          <a:p>
            <a:pPr algn="l" marL="690881" indent="-345440" lvl="1">
              <a:lnSpc>
                <a:spcPts val="3840"/>
              </a:lnSpc>
              <a:buFont typeface="Arial"/>
              <a:buChar char="•"/>
            </a:pPr>
            <a:r>
              <a:rPr lang="en-US" sz="3200">
                <a:solidFill>
                  <a:srgbClr val="35363B"/>
                </a:solidFill>
                <a:latin typeface="Lato"/>
                <a:ea typeface="Lato"/>
                <a:cs typeface="Lato"/>
                <a:sym typeface="Lato"/>
              </a:rPr>
              <a:t>Buộc mô hình phải suy luận theo đúng thứ tự logic đã được người viết thiết kế.</a:t>
            </a:r>
          </a:p>
          <a:p>
            <a:pPr algn="l">
              <a:lnSpc>
                <a:spcPts val="3840"/>
              </a:lnSpc>
            </a:pP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6" id="6"/>
          <p:cNvSpPr/>
          <p:nvPr/>
        </p:nvSpPr>
        <p:spPr>
          <a:xfrm flipH="false" flipV="false" rot="0">
            <a:off x="1212637" y="3518444"/>
            <a:ext cx="6523338" cy="2790964"/>
          </a:xfrm>
          <a:custGeom>
            <a:avLst/>
            <a:gdLst/>
            <a:ahLst/>
            <a:cxnLst/>
            <a:rect r="r" b="b" t="t" l="l"/>
            <a:pathLst>
              <a:path h="2790964" w="6523338">
                <a:moveTo>
                  <a:pt x="0" y="0"/>
                </a:moveTo>
                <a:lnTo>
                  <a:pt x="6523338" y="0"/>
                </a:lnTo>
                <a:lnTo>
                  <a:pt x="6523338" y="2790964"/>
                </a:lnTo>
                <a:lnTo>
                  <a:pt x="0" y="2790964"/>
                </a:lnTo>
                <a:lnTo>
                  <a:pt x="0" y="0"/>
                </a:lnTo>
                <a:close/>
              </a:path>
            </a:pathLst>
          </a:custGeom>
          <a:blipFill>
            <a:blip r:embed="rId11"/>
            <a:stretch>
              <a:fillRect l="0" t="0" r="-55133" b="0"/>
            </a:stretch>
          </a:blipFill>
        </p:spPr>
      </p:sp>
      <p:sp>
        <p:nvSpPr>
          <p:cNvPr name="Freeform 7" id="7"/>
          <p:cNvSpPr/>
          <p:nvPr/>
        </p:nvSpPr>
        <p:spPr>
          <a:xfrm flipH="false" flipV="false" rot="0">
            <a:off x="9497087" y="3745553"/>
            <a:ext cx="6901612" cy="2023982"/>
          </a:xfrm>
          <a:custGeom>
            <a:avLst/>
            <a:gdLst/>
            <a:ahLst/>
            <a:cxnLst/>
            <a:rect r="r" b="b" t="t" l="l"/>
            <a:pathLst>
              <a:path h="2023982" w="6901612">
                <a:moveTo>
                  <a:pt x="0" y="0"/>
                </a:moveTo>
                <a:lnTo>
                  <a:pt x="6901613" y="0"/>
                </a:lnTo>
                <a:lnTo>
                  <a:pt x="6901613" y="2023981"/>
                </a:lnTo>
                <a:lnTo>
                  <a:pt x="0" y="2023981"/>
                </a:lnTo>
                <a:lnTo>
                  <a:pt x="0" y="0"/>
                </a:lnTo>
                <a:close/>
              </a:path>
            </a:pathLst>
          </a:custGeom>
          <a:blipFill>
            <a:blip r:embed="rId12"/>
            <a:stretch>
              <a:fillRect l="0" t="0" r="-46631" b="0"/>
            </a:stretch>
          </a:blipFill>
        </p:spPr>
      </p:sp>
      <p:sp>
        <p:nvSpPr>
          <p:cNvPr name="TextBox 8" id="8"/>
          <p:cNvSpPr txBox="true"/>
          <p:nvPr/>
        </p:nvSpPr>
        <p:spPr>
          <a:xfrm rot="0">
            <a:off x="1531429" y="952900"/>
            <a:ext cx="12409091"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Thực hành CoT:</a:t>
            </a:r>
            <a:r>
              <a:rPr lang="en-US" b="true" sz="6000" spc="-120">
                <a:solidFill>
                  <a:srgbClr val="35363B"/>
                </a:solidFill>
                <a:latin typeface="Arimo Bold"/>
                <a:ea typeface="Arimo Bold"/>
                <a:cs typeface="Arimo Bold"/>
                <a:sym typeface="Arimo Bold"/>
              </a:rPr>
              <a:t> Định hình Cấu trúc</a:t>
            </a:r>
          </a:p>
        </p:txBody>
      </p:sp>
      <p:sp>
        <p:nvSpPr>
          <p:cNvPr name="TextBox 9" id="9"/>
          <p:cNvSpPr txBox="true"/>
          <p:nvPr/>
        </p:nvSpPr>
        <p:spPr>
          <a:xfrm rot="0">
            <a:off x="1258560" y="6785658"/>
            <a:ext cx="5508253" cy="1952625"/>
          </a:xfrm>
          <a:prstGeom prst="rect">
            <a:avLst/>
          </a:prstGeom>
        </p:spPr>
        <p:txBody>
          <a:bodyPr anchor="t" rtlCol="false" tIns="0" lIns="0" bIns="0" rIns="0">
            <a:spAutoFit/>
          </a:bodyPr>
          <a:lstStyle/>
          <a:p>
            <a:pPr algn="l">
              <a:lnSpc>
                <a:spcPts val="3840"/>
              </a:lnSpc>
            </a:pPr>
            <a:r>
              <a:rPr lang="en-US" sz="3200">
                <a:solidFill>
                  <a:srgbClr val="35363B"/>
                </a:solidFill>
                <a:latin typeface="Lato"/>
                <a:ea typeface="Lato"/>
                <a:cs typeface="Lato"/>
                <a:sym typeface="Lato"/>
              </a:rPr>
              <a:t>Copilot sẽ dựa vào hàm này để sinh các hàm con chính xác. Đóng vai trò như "pair programmer có kiểm soát".</a:t>
            </a:r>
          </a:p>
        </p:txBody>
      </p:sp>
      <p:sp>
        <p:nvSpPr>
          <p:cNvPr name="TextBox 10" id="10"/>
          <p:cNvSpPr txBox="true"/>
          <p:nvPr/>
        </p:nvSpPr>
        <p:spPr>
          <a:xfrm rot="0">
            <a:off x="9769957" y="6785658"/>
            <a:ext cx="5508253" cy="1466850"/>
          </a:xfrm>
          <a:prstGeom prst="rect">
            <a:avLst/>
          </a:prstGeom>
        </p:spPr>
        <p:txBody>
          <a:bodyPr anchor="t" rtlCol="false" tIns="0" lIns="0" bIns="0" rIns="0">
            <a:spAutoFit/>
          </a:bodyPr>
          <a:lstStyle/>
          <a:p>
            <a:pPr algn="l">
              <a:lnSpc>
                <a:spcPts val="3840"/>
              </a:lnSpc>
            </a:pPr>
            <a:r>
              <a:rPr lang="en-US" sz="3200">
                <a:solidFill>
                  <a:srgbClr val="35363B"/>
                </a:solidFill>
                <a:latin typeface="Lato"/>
                <a:ea typeface="Lato"/>
                <a:cs typeface="Lato"/>
                <a:sym typeface="Lato"/>
              </a:rPr>
              <a:t>Giúp model rẻ hơn (như GPT-4o-mini) đạt chất lượng cao bằng cách định hướng tư duy.</a:t>
            </a:r>
          </a:p>
        </p:txBody>
      </p:sp>
      <p:sp>
        <p:nvSpPr>
          <p:cNvPr name="TextBox 11" id="11"/>
          <p:cNvSpPr txBox="true"/>
          <p:nvPr/>
        </p:nvSpPr>
        <p:spPr>
          <a:xfrm rot="0">
            <a:off x="985690" y="2690491"/>
            <a:ext cx="6053993" cy="742950"/>
          </a:xfrm>
          <a:prstGeom prst="rect">
            <a:avLst/>
          </a:prstGeom>
        </p:spPr>
        <p:txBody>
          <a:bodyPr anchor="t" rtlCol="false" tIns="0" lIns="0" bIns="0" rIns="0">
            <a:spAutoFit/>
          </a:bodyPr>
          <a:lstStyle/>
          <a:p>
            <a:pPr algn="ctr">
              <a:lnSpc>
                <a:spcPts val="5759"/>
              </a:lnSpc>
              <a:spcBef>
                <a:spcPct val="0"/>
              </a:spcBef>
            </a:pPr>
            <a:r>
              <a:rPr lang="en-US" b="true" sz="4800" spc="-96">
                <a:solidFill>
                  <a:srgbClr val="55C0ED"/>
                </a:solidFill>
                <a:latin typeface="Arimo Bold"/>
                <a:ea typeface="Arimo Bold"/>
                <a:cs typeface="Arimo Bold"/>
                <a:sym typeface="Arimo Bold"/>
              </a:rPr>
              <a:t>Với</a:t>
            </a:r>
            <a:r>
              <a:rPr lang="en-US" b="true" sz="4800" spc="-96">
                <a:solidFill>
                  <a:srgbClr val="55C0ED"/>
                </a:solidFill>
                <a:latin typeface="Arimo Bold"/>
                <a:ea typeface="Arimo Bold"/>
                <a:cs typeface="Arimo Bold"/>
                <a:sym typeface="Arimo Bold"/>
              </a:rPr>
              <a:t> GitHub Copilot</a:t>
            </a:r>
          </a:p>
        </p:txBody>
      </p:sp>
      <p:sp>
        <p:nvSpPr>
          <p:cNvPr name="TextBox 12" id="12"/>
          <p:cNvSpPr txBox="true"/>
          <p:nvPr/>
        </p:nvSpPr>
        <p:spPr>
          <a:xfrm rot="0">
            <a:off x="9497087" y="2690491"/>
            <a:ext cx="6053993" cy="742950"/>
          </a:xfrm>
          <a:prstGeom prst="rect">
            <a:avLst/>
          </a:prstGeom>
        </p:spPr>
        <p:txBody>
          <a:bodyPr anchor="t" rtlCol="false" tIns="0" lIns="0" bIns="0" rIns="0">
            <a:spAutoFit/>
          </a:bodyPr>
          <a:lstStyle/>
          <a:p>
            <a:pPr algn="ctr">
              <a:lnSpc>
                <a:spcPts val="5759"/>
              </a:lnSpc>
              <a:spcBef>
                <a:spcPct val="0"/>
              </a:spcBef>
            </a:pPr>
            <a:r>
              <a:rPr lang="en-US" b="true" sz="4800" spc="-96">
                <a:solidFill>
                  <a:srgbClr val="55C0ED"/>
                </a:solidFill>
                <a:latin typeface="Arimo Bold"/>
                <a:ea typeface="Arimo Bold"/>
                <a:cs typeface="Arimo Bold"/>
                <a:sym typeface="Arimo Bold"/>
              </a:rPr>
              <a:t>Với</a:t>
            </a:r>
            <a:r>
              <a:rPr lang="en-US" b="true" sz="4800" spc="-96">
                <a:solidFill>
                  <a:srgbClr val="55C0ED"/>
                </a:solidFill>
                <a:latin typeface="Arimo Bold"/>
                <a:ea typeface="Arimo Bold"/>
                <a:cs typeface="Arimo Bold"/>
                <a:sym typeface="Arimo Bold"/>
              </a:rPr>
              <a:t> ChatGPT &amp; API</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7921030"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4.4.2. Prompt Chai</a:t>
            </a:r>
            <a:r>
              <a:rPr lang="en-US" b="true" sz="6000" spc="-120">
                <a:solidFill>
                  <a:srgbClr val="35363B"/>
                </a:solidFill>
                <a:latin typeface="Arimo Bold"/>
                <a:ea typeface="Arimo Bold"/>
                <a:cs typeface="Arimo Bold"/>
                <a:sym typeface="Arimo Bold"/>
              </a:rPr>
              <a:t>ning</a:t>
            </a:r>
          </a:p>
        </p:txBody>
      </p:sp>
      <p:sp>
        <p:nvSpPr>
          <p:cNvPr name="TextBox 7" id="7"/>
          <p:cNvSpPr txBox="true"/>
          <p:nvPr/>
        </p:nvSpPr>
        <p:spPr>
          <a:xfrm rot="0">
            <a:off x="2525059" y="2931624"/>
            <a:ext cx="10372913" cy="1819656"/>
          </a:xfrm>
          <a:prstGeom prst="rect">
            <a:avLst/>
          </a:prstGeom>
        </p:spPr>
        <p:txBody>
          <a:bodyPr anchor="t" rtlCol="false" tIns="0" lIns="0" bIns="0" rIns="0">
            <a:spAutoFit/>
          </a:bodyPr>
          <a:lstStyle/>
          <a:p>
            <a:pPr algn="l">
              <a:lnSpc>
                <a:spcPts val="4992"/>
              </a:lnSpc>
            </a:pPr>
            <a:r>
              <a:rPr lang="en-US" b="true" sz="2600">
                <a:solidFill>
                  <a:srgbClr val="475569"/>
                </a:solidFill>
                <a:latin typeface="Inter Bold"/>
                <a:ea typeface="Inter Bold"/>
                <a:cs typeface="Inter Bold"/>
                <a:sym typeface="Inter Bold"/>
              </a:rPr>
              <a:t>Vấn đề:</a:t>
            </a:r>
            <a:r>
              <a:rPr lang="en-US" sz="2600">
                <a:solidFill>
                  <a:srgbClr val="475569"/>
                </a:solidFill>
                <a:latin typeface="Inter"/>
                <a:ea typeface="Inter"/>
                <a:cs typeface="Inter"/>
                <a:sym typeface="Inter"/>
              </a:rPr>
              <a:t> Khi nhồi nhét nhiều yêu cầu (viết code, type hints, docstring, test) vào một prompt, mô hình dễ bỏ sót hoặc tự ý viết lại toàn bộ.</a:t>
            </a:r>
          </a:p>
        </p:txBody>
      </p:sp>
      <p:sp>
        <p:nvSpPr>
          <p:cNvPr name="TextBox 8" id="8"/>
          <p:cNvSpPr txBox="true"/>
          <p:nvPr/>
        </p:nvSpPr>
        <p:spPr>
          <a:xfrm rot="0">
            <a:off x="2525059" y="5014775"/>
            <a:ext cx="10372913" cy="1191006"/>
          </a:xfrm>
          <a:prstGeom prst="rect">
            <a:avLst/>
          </a:prstGeom>
        </p:spPr>
        <p:txBody>
          <a:bodyPr anchor="t" rtlCol="false" tIns="0" lIns="0" bIns="0" rIns="0">
            <a:spAutoFit/>
          </a:bodyPr>
          <a:lstStyle/>
          <a:p>
            <a:pPr algn="l">
              <a:lnSpc>
                <a:spcPts val="4992"/>
              </a:lnSpc>
            </a:pPr>
            <a:r>
              <a:rPr lang="en-US" b="true" sz="2600">
                <a:solidFill>
                  <a:srgbClr val="475569"/>
                </a:solidFill>
                <a:latin typeface="Inter Bold"/>
                <a:ea typeface="Inter Bold"/>
                <a:cs typeface="Inter Bold"/>
                <a:sym typeface="Inter Bold"/>
              </a:rPr>
              <a:t>Giải pháp (Chaining):</a:t>
            </a:r>
            <a:r>
              <a:rPr lang="en-US" sz="2600">
                <a:solidFill>
                  <a:srgbClr val="475569"/>
                </a:solidFill>
                <a:latin typeface="Inter"/>
                <a:ea typeface="Inter"/>
                <a:cs typeface="Inter"/>
                <a:sym typeface="Inter"/>
              </a:rPr>
              <a:t> Chia nhỏ thành các bước tuần tự. Mỗi bước chỉ một mục tiêu rõ ràng.</a:t>
            </a:r>
          </a:p>
        </p:txBody>
      </p:sp>
      <p:sp>
        <p:nvSpPr>
          <p:cNvPr name="TextBox 9" id="9"/>
          <p:cNvSpPr txBox="true"/>
          <p:nvPr/>
        </p:nvSpPr>
        <p:spPr>
          <a:xfrm rot="0">
            <a:off x="2525059" y="6507376"/>
            <a:ext cx="10208467" cy="1191006"/>
          </a:xfrm>
          <a:prstGeom prst="rect">
            <a:avLst/>
          </a:prstGeom>
        </p:spPr>
        <p:txBody>
          <a:bodyPr anchor="t" rtlCol="false" tIns="0" lIns="0" bIns="0" rIns="0">
            <a:spAutoFit/>
          </a:bodyPr>
          <a:lstStyle/>
          <a:p>
            <a:pPr algn="l">
              <a:lnSpc>
                <a:spcPts val="4992"/>
              </a:lnSpc>
            </a:pPr>
            <a:r>
              <a:rPr lang="en-US" b="true" sz="2600">
                <a:solidFill>
                  <a:srgbClr val="475569"/>
                </a:solidFill>
                <a:latin typeface="Inter Bold"/>
                <a:ea typeface="Inter Bold"/>
                <a:cs typeface="Inter Bold"/>
                <a:sym typeface="Inter Bold"/>
              </a:rPr>
              <a:t>Lợi ích:</a:t>
            </a:r>
            <a:r>
              <a:rPr lang="en-US" sz="2600">
                <a:solidFill>
                  <a:srgbClr val="475569"/>
                </a:solidFill>
                <a:latin typeface="Inter"/>
                <a:ea typeface="Inter"/>
                <a:cs typeface="Inter"/>
                <a:sym typeface="Inter"/>
              </a:rPr>
              <a:t> Giữ nguyên được logic cốt lõi ban đầu, tránh các thay đổi ngoài ý muốn gây lỗi dây chuyền.</a:t>
            </a:r>
          </a:p>
        </p:txBody>
      </p:sp>
      <p:grpSp>
        <p:nvGrpSpPr>
          <p:cNvPr name="Group 10" id="10"/>
          <p:cNvGrpSpPr/>
          <p:nvPr/>
        </p:nvGrpSpPr>
        <p:grpSpPr>
          <a:xfrm rot="0">
            <a:off x="1953559" y="3181655"/>
            <a:ext cx="357188" cy="300038"/>
            <a:chOff x="0" y="0"/>
            <a:chExt cx="476250" cy="400050"/>
          </a:xfrm>
        </p:grpSpPr>
        <p:sp>
          <p:nvSpPr>
            <p:cNvPr name="Freeform 11" id="11" descr="image.png"/>
            <p:cNvSpPr/>
            <p:nvPr/>
          </p:nvSpPr>
          <p:spPr>
            <a:xfrm flipH="false" flipV="false" rot="0">
              <a:off x="0" y="0"/>
              <a:ext cx="476250" cy="400050"/>
            </a:xfrm>
            <a:custGeom>
              <a:avLst/>
              <a:gdLst/>
              <a:ahLst/>
              <a:cxnLst/>
              <a:rect r="r" b="b" t="t" l="l"/>
              <a:pathLst>
                <a:path h="400050" w="476250">
                  <a:moveTo>
                    <a:pt x="0" y="0"/>
                  </a:moveTo>
                  <a:lnTo>
                    <a:pt x="476250" y="0"/>
                  </a:lnTo>
                  <a:lnTo>
                    <a:pt x="476250" y="400050"/>
                  </a:lnTo>
                  <a:lnTo>
                    <a:pt x="0" y="400050"/>
                  </a:lnTo>
                  <a:lnTo>
                    <a:pt x="0" y="0"/>
                  </a:lnTo>
                  <a:close/>
                </a:path>
              </a:pathLst>
            </a:custGeom>
            <a:blipFill>
              <a:blip r:embed="rId11"/>
              <a:stretch>
                <a:fillRect l="0" t="0" r="0" b="0"/>
              </a:stretch>
            </a:blipFill>
          </p:spPr>
        </p:sp>
      </p:grpSp>
      <p:grpSp>
        <p:nvGrpSpPr>
          <p:cNvPr name="Group 12" id="12"/>
          <p:cNvGrpSpPr/>
          <p:nvPr/>
        </p:nvGrpSpPr>
        <p:grpSpPr>
          <a:xfrm rot="0">
            <a:off x="1953559" y="5264806"/>
            <a:ext cx="328612" cy="300038"/>
            <a:chOff x="0" y="0"/>
            <a:chExt cx="438150" cy="400050"/>
          </a:xfrm>
        </p:grpSpPr>
        <p:sp>
          <p:nvSpPr>
            <p:cNvPr name="Freeform 13" id="13" descr="image.png"/>
            <p:cNvSpPr/>
            <p:nvPr/>
          </p:nvSpPr>
          <p:spPr>
            <a:xfrm flipH="false" flipV="false" rot="0">
              <a:off x="0" y="0"/>
              <a:ext cx="438150" cy="400050"/>
            </a:xfrm>
            <a:custGeom>
              <a:avLst/>
              <a:gdLst/>
              <a:ahLst/>
              <a:cxnLst/>
              <a:rect r="r" b="b" t="t" l="l"/>
              <a:pathLst>
                <a:path h="400050" w="438150">
                  <a:moveTo>
                    <a:pt x="0" y="0"/>
                  </a:moveTo>
                  <a:lnTo>
                    <a:pt x="438150" y="0"/>
                  </a:lnTo>
                  <a:lnTo>
                    <a:pt x="438150" y="400050"/>
                  </a:lnTo>
                  <a:lnTo>
                    <a:pt x="0" y="400050"/>
                  </a:lnTo>
                  <a:lnTo>
                    <a:pt x="0" y="0"/>
                  </a:lnTo>
                  <a:close/>
                </a:path>
              </a:pathLst>
            </a:custGeom>
            <a:blipFill>
              <a:blip r:embed="rId12"/>
              <a:stretch>
                <a:fillRect l="0" t="0" r="0" b="0"/>
              </a:stretch>
            </a:blipFill>
          </p:spPr>
        </p:sp>
      </p:grpSp>
      <p:grpSp>
        <p:nvGrpSpPr>
          <p:cNvPr name="Group 14" id="14"/>
          <p:cNvGrpSpPr/>
          <p:nvPr/>
        </p:nvGrpSpPr>
        <p:grpSpPr>
          <a:xfrm rot="0">
            <a:off x="1953559" y="6757407"/>
            <a:ext cx="285750" cy="300038"/>
            <a:chOff x="0" y="0"/>
            <a:chExt cx="381000" cy="400050"/>
          </a:xfrm>
        </p:grpSpPr>
        <p:sp>
          <p:nvSpPr>
            <p:cNvPr name="Freeform 15" id="15"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13"/>
              <a:stretch>
                <a:fillRect l="0" t="0" r="0" b="0"/>
              </a:stretch>
            </a:blipFill>
          </p:spPr>
        </p:sp>
      </p:gr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57250" y="3254645"/>
            <a:ext cx="7929562" cy="4960439"/>
            <a:chOff x="0" y="0"/>
            <a:chExt cx="10572750" cy="6613919"/>
          </a:xfrm>
        </p:grpSpPr>
        <p:sp>
          <p:nvSpPr>
            <p:cNvPr name="Freeform 7" id="7" descr="image.png"/>
            <p:cNvSpPr/>
            <p:nvPr/>
          </p:nvSpPr>
          <p:spPr>
            <a:xfrm flipH="false" flipV="false" rot="0">
              <a:off x="0" y="0"/>
              <a:ext cx="10572750" cy="6613906"/>
            </a:xfrm>
            <a:custGeom>
              <a:avLst/>
              <a:gdLst/>
              <a:ahLst/>
              <a:cxnLst/>
              <a:rect r="r" b="b" t="t" l="l"/>
              <a:pathLst>
                <a:path h="6613906" w="10572750">
                  <a:moveTo>
                    <a:pt x="0" y="0"/>
                  </a:moveTo>
                  <a:lnTo>
                    <a:pt x="10572750" y="0"/>
                  </a:lnTo>
                  <a:lnTo>
                    <a:pt x="10572750" y="6613906"/>
                  </a:lnTo>
                  <a:lnTo>
                    <a:pt x="0" y="6613906"/>
                  </a:lnTo>
                  <a:lnTo>
                    <a:pt x="0" y="0"/>
                  </a:lnTo>
                  <a:close/>
                </a:path>
              </a:pathLst>
            </a:custGeom>
            <a:blipFill>
              <a:blip r:embed="rId11"/>
              <a:stretch>
                <a:fillRect l="0" t="0" r="0" b="-234"/>
              </a:stretch>
            </a:blipFill>
          </p:spPr>
        </p:sp>
      </p:grpSp>
      <p:sp>
        <p:nvSpPr>
          <p:cNvPr name="TextBox 8" id="8"/>
          <p:cNvSpPr txBox="true"/>
          <p:nvPr/>
        </p:nvSpPr>
        <p:spPr>
          <a:xfrm rot="0">
            <a:off x="1531429" y="952900"/>
            <a:ext cx="7921030"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4.4.2. Prompt Chai</a:t>
            </a:r>
            <a:r>
              <a:rPr lang="en-US" b="true" sz="6000" spc="-120">
                <a:solidFill>
                  <a:srgbClr val="35363B"/>
                </a:solidFill>
                <a:latin typeface="Arimo Bold"/>
                <a:ea typeface="Arimo Bold"/>
                <a:cs typeface="Arimo Bold"/>
                <a:sym typeface="Arimo Bold"/>
              </a:rPr>
              <a:t>ning</a:t>
            </a:r>
          </a:p>
        </p:txBody>
      </p:sp>
      <p:sp>
        <p:nvSpPr>
          <p:cNvPr name="TextBox 9" id="9"/>
          <p:cNvSpPr txBox="true"/>
          <p:nvPr/>
        </p:nvSpPr>
        <p:spPr>
          <a:xfrm rot="0">
            <a:off x="1443037" y="3773757"/>
            <a:ext cx="3534172" cy="533400"/>
          </a:xfrm>
          <a:prstGeom prst="rect">
            <a:avLst/>
          </a:prstGeom>
        </p:spPr>
        <p:txBody>
          <a:bodyPr anchor="t" rtlCol="false" tIns="0" lIns="0" bIns="0" rIns="0">
            <a:spAutoFit/>
          </a:bodyPr>
          <a:lstStyle/>
          <a:p>
            <a:pPr algn="l">
              <a:lnSpc>
                <a:spcPts val="4499"/>
              </a:lnSpc>
            </a:pPr>
            <a:r>
              <a:rPr lang="en-US" b="true" sz="3124">
                <a:solidFill>
                  <a:srgbClr val="0F172A"/>
                </a:solidFill>
                <a:latin typeface="Inter Bold"/>
                <a:ea typeface="Inter Bold"/>
                <a:cs typeface="Inter Bold"/>
                <a:sym typeface="Inter Bold"/>
              </a:rPr>
              <a:t>ChatGPT: Tự động</a:t>
            </a:r>
          </a:p>
        </p:txBody>
      </p:sp>
      <p:sp>
        <p:nvSpPr>
          <p:cNvPr name="TextBox 10" id="10"/>
          <p:cNvSpPr txBox="true"/>
          <p:nvPr/>
        </p:nvSpPr>
        <p:spPr>
          <a:xfrm rot="0">
            <a:off x="1443038" y="4276506"/>
            <a:ext cx="6757988" cy="1138047"/>
          </a:xfrm>
          <a:prstGeom prst="rect">
            <a:avLst/>
          </a:prstGeom>
        </p:spPr>
        <p:txBody>
          <a:bodyPr anchor="t" rtlCol="false" tIns="0" lIns="0" bIns="0" rIns="0">
            <a:spAutoFit/>
          </a:bodyPr>
          <a:lstStyle/>
          <a:p>
            <a:pPr algn="l">
              <a:lnSpc>
                <a:spcPts val="4703"/>
              </a:lnSpc>
            </a:pPr>
            <a:r>
              <a:rPr lang="en-US" sz="2449">
                <a:solidFill>
                  <a:srgbClr val="475569"/>
                </a:solidFill>
                <a:latin typeface="Inter"/>
                <a:ea typeface="Inter"/>
                <a:cs typeface="Inter"/>
                <a:sym typeface="Inter"/>
              </a:rPr>
              <a:t>Tận dụng lịch sử hội thoại. Sau khi có code cơ sở, chỉ cần gửi các prompt ngắn:</a:t>
            </a:r>
          </a:p>
        </p:txBody>
      </p:sp>
      <p:sp>
        <p:nvSpPr>
          <p:cNvPr name="TextBox 11" id="11"/>
          <p:cNvSpPr txBox="true"/>
          <p:nvPr/>
        </p:nvSpPr>
        <p:spPr>
          <a:xfrm rot="0">
            <a:off x="1571625" y="5576668"/>
            <a:ext cx="157162" cy="466725"/>
          </a:xfrm>
          <a:prstGeom prst="rect">
            <a:avLst/>
          </a:prstGeom>
        </p:spPr>
        <p:txBody>
          <a:bodyPr anchor="t" rtlCol="false" tIns="0" lIns="0" bIns="0" rIns="0">
            <a:spAutoFit/>
          </a:bodyPr>
          <a:lstStyle/>
          <a:p>
            <a:pPr algn="l">
              <a:lnSpc>
                <a:spcPts val="2700"/>
              </a:lnSpc>
            </a:pPr>
            <a:r>
              <a:rPr lang="en-US" sz="2250">
                <a:solidFill>
                  <a:srgbClr val="475569"/>
                </a:solidFill>
                <a:latin typeface="Inter"/>
                <a:ea typeface="Inter"/>
                <a:cs typeface="Inter"/>
                <a:sym typeface="Inter"/>
              </a:rPr>
              <a:t>•</a:t>
            </a:r>
          </a:p>
        </p:txBody>
      </p:sp>
      <p:sp>
        <p:nvSpPr>
          <p:cNvPr name="TextBox 12" id="12"/>
          <p:cNvSpPr txBox="true"/>
          <p:nvPr/>
        </p:nvSpPr>
        <p:spPr>
          <a:xfrm rot="0">
            <a:off x="1833562" y="5405218"/>
            <a:ext cx="6367462" cy="547497"/>
          </a:xfrm>
          <a:prstGeom prst="rect">
            <a:avLst/>
          </a:prstGeom>
        </p:spPr>
        <p:txBody>
          <a:bodyPr anchor="t" rtlCol="false" tIns="0" lIns="0" bIns="0" rIns="0">
            <a:spAutoFit/>
          </a:bodyPr>
          <a:lstStyle/>
          <a:p>
            <a:pPr algn="l">
              <a:lnSpc>
                <a:spcPts val="4703"/>
              </a:lnSpc>
            </a:pPr>
            <a:r>
              <a:rPr lang="en-US" sz="2449">
                <a:solidFill>
                  <a:srgbClr val="475569"/>
                </a:solidFill>
                <a:latin typeface="Inter"/>
                <a:ea typeface="Inter"/>
                <a:cs typeface="Inter"/>
                <a:sym typeface="Inter"/>
              </a:rPr>
              <a:t>"Add type hints to all variables"</a:t>
            </a:r>
          </a:p>
        </p:txBody>
      </p:sp>
      <p:sp>
        <p:nvSpPr>
          <p:cNvPr name="TextBox 13" id="13"/>
          <p:cNvSpPr txBox="true"/>
          <p:nvPr/>
        </p:nvSpPr>
        <p:spPr>
          <a:xfrm rot="0">
            <a:off x="1571625" y="6033868"/>
            <a:ext cx="157162" cy="466725"/>
          </a:xfrm>
          <a:prstGeom prst="rect">
            <a:avLst/>
          </a:prstGeom>
        </p:spPr>
        <p:txBody>
          <a:bodyPr anchor="t" rtlCol="false" tIns="0" lIns="0" bIns="0" rIns="0">
            <a:spAutoFit/>
          </a:bodyPr>
          <a:lstStyle/>
          <a:p>
            <a:pPr algn="l">
              <a:lnSpc>
                <a:spcPts val="2700"/>
              </a:lnSpc>
            </a:pPr>
            <a:r>
              <a:rPr lang="en-US" sz="2250">
                <a:solidFill>
                  <a:srgbClr val="475569"/>
                </a:solidFill>
                <a:latin typeface="Inter"/>
                <a:ea typeface="Inter"/>
                <a:cs typeface="Inter"/>
                <a:sym typeface="Inter"/>
              </a:rPr>
              <a:t>•</a:t>
            </a:r>
          </a:p>
        </p:txBody>
      </p:sp>
      <p:sp>
        <p:nvSpPr>
          <p:cNvPr name="TextBox 14" id="14"/>
          <p:cNvSpPr txBox="true"/>
          <p:nvPr/>
        </p:nvSpPr>
        <p:spPr>
          <a:xfrm rot="0">
            <a:off x="1833562" y="5862418"/>
            <a:ext cx="6367462" cy="547497"/>
          </a:xfrm>
          <a:prstGeom prst="rect">
            <a:avLst/>
          </a:prstGeom>
        </p:spPr>
        <p:txBody>
          <a:bodyPr anchor="t" rtlCol="false" tIns="0" lIns="0" bIns="0" rIns="0">
            <a:spAutoFit/>
          </a:bodyPr>
          <a:lstStyle/>
          <a:p>
            <a:pPr algn="l">
              <a:lnSpc>
                <a:spcPts val="4703"/>
              </a:lnSpc>
            </a:pPr>
            <a:r>
              <a:rPr lang="en-US" sz="2449">
                <a:solidFill>
                  <a:srgbClr val="475569"/>
                </a:solidFill>
                <a:latin typeface="Inter"/>
                <a:ea typeface="Inter"/>
                <a:cs typeface="Inter"/>
                <a:sym typeface="Inter"/>
              </a:rPr>
              <a:t>"Include Google style docstring"</a:t>
            </a:r>
          </a:p>
        </p:txBody>
      </p:sp>
      <p:grpSp>
        <p:nvGrpSpPr>
          <p:cNvPr name="Group 15" id="15"/>
          <p:cNvGrpSpPr/>
          <p:nvPr/>
        </p:nvGrpSpPr>
        <p:grpSpPr>
          <a:xfrm rot="0">
            <a:off x="9501188" y="3254645"/>
            <a:ext cx="7929562" cy="4960439"/>
            <a:chOff x="0" y="0"/>
            <a:chExt cx="10572750" cy="6613919"/>
          </a:xfrm>
        </p:grpSpPr>
        <p:sp>
          <p:nvSpPr>
            <p:cNvPr name="Freeform 16" id="16" descr="image.png"/>
            <p:cNvSpPr/>
            <p:nvPr/>
          </p:nvSpPr>
          <p:spPr>
            <a:xfrm flipH="false" flipV="false" rot="0">
              <a:off x="0" y="0"/>
              <a:ext cx="10572750" cy="6613906"/>
            </a:xfrm>
            <a:custGeom>
              <a:avLst/>
              <a:gdLst/>
              <a:ahLst/>
              <a:cxnLst/>
              <a:rect r="r" b="b" t="t" l="l"/>
              <a:pathLst>
                <a:path h="6613906" w="10572750">
                  <a:moveTo>
                    <a:pt x="0" y="0"/>
                  </a:moveTo>
                  <a:lnTo>
                    <a:pt x="10572750" y="0"/>
                  </a:lnTo>
                  <a:lnTo>
                    <a:pt x="10572750" y="6613906"/>
                  </a:lnTo>
                  <a:lnTo>
                    <a:pt x="0" y="6613906"/>
                  </a:lnTo>
                  <a:lnTo>
                    <a:pt x="0" y="0"/>
                  </a:lnTo>
                  <a:close/>
                </a:path>
              </a:pathLst>
            </a:custGeom>
            <a:blipFill>
              <a:blip r:embed="rId12"/>
              <a:stretch>
                <a:fillRect l="0" t="0" r="0" b="-234"/>
              </a:stretch>
            </a:blipFill>
          </p:spPr>
        </p:sp>
      </p:grpSp>
      <p:sp>
        <p:nvSpPr>
          <p:cNvPr name="TextBox 17" id="17"/>
          <p:cNvSpPr txBox="true"/>
          <p:nvPr/>
        </p:nvSpPr>
        <p:spPr>
          <a:xfrm rot="0">
            <a:off x="10086975" y="3773757"/>
            <a:ext cx="5773043" cy="533400"/>
          </a:xfrm>
          <a:prstGeom prst="rect">
            <a:avLst/>
          </a:prstGeom>
        </p:spPr>
        <p:txBody>
          <a:bodyPr anchor="t" rtlCol="false" tIns="0" lIns="0" bIns="0" rIns="0">
            <a:spAutoFit/>
          </a:bodyPr>
          <a:lstStyle/>
          <a:p>
            <a:pPr algn="l">
              <a:lnSpc>
                <a:spcPts val="4499"/>
              </a:lnSpc>
            </a:pPr>
            <a:r>
              <a:rPr lang="en-US" b="true" sz="3124">
                <a:solidFill>
                  <a:srgbClr val="0F172A"/>
                </a:solidFill>
                <a:latin typeface="Inter Bold"/>
                <a:ea typeface="Inter Bold"/>
                <a:cs typeface="Inter Bold"/>
                <a:sym typeface="Inter Bold"/>
              </a:rPr>
              <a:t>OpenAI API: Thiết kế Hệ thống</a:t>
            </a:r>
          </a:p>
        </p:txBody>
      </p:sp>
      <p:sp>
        <p:nvSpPr>
          <p:cNvPr name="TextBox 18" id="18"/>
          <p:cNvSpPr txBox="true"/>
          <p:nvPr/>
        </p:nvSpPr>
        <p:spPr>
          <a:xfrm rot="0">
            <a:off x="10086975" y="4276506"/>
            <a:ext cx="6757988" cy="1728597"/>
          </a:xfrm>
          <a:prstGeom prst="rect">
            <a:avLst/>
          </a:prstGeom>
        </p:spPr>
        <p:txBody>
          <a:bodyPr anchor="t" rtlCol="false" tIns="0" lIns="0" bIns="0" rIns="0">
            <a:spAutoFit/>
          </a:bodyPr>
          <a:lstStyle/>
          <a:p>
            <a:pPr algn="l">
              <a:lnSpc>
                <a:spcPts val="4703"/>
              </a:lnSpc>
            </a:pPr>
            <a:r>
              <a:rPr lang="en-US" b="true" sz="2449">
                <a:solidFill>
                  <a:srgbClr val="475569"/>
                </a:solidFill>
                <a:latin typeface="Inter Bold"/>
                <a:ea typeface="Inter Bold"/>
                <a:cs typeface="Inter Bold"/>
                <a:sym typeface="Inter Bold"/>
              </a:rPr>
              <a:t>Naive chaining:</a:t>
            </a:r>
            <a:r>
              <a:rPr lang="en-US" sz="2449">
                <a:solidFill>
                  <a:srgbClr val="475569"/>
                </a:solidFill>
                <a:latin typeface="Inter"/>
                <a:ea typeface="Inter"/>
                <a:cs typeface="Inter"/>
                <a:sym typeface="Inter"/>
              </a:rPr>
              <a:t> Gửi toàn bộ lịch sử. Nhanh nhưng tốn token và dễ làm model nhiễu nếu chuỗi dài.</a:t>
            </a:r>
          </a:p>
        </p:txBody>
      </p:sp>
      <p:sp>
        <p:nvSpPr>
          <p:cNvPr name="TextBox 19" id="19"/>
          <p:cNvSpPr txBox="true"/>
          <p:nvPr/>
        </p:nvSpPr>
        <p:spPr>
          <a:xfrm rot="0">
            <a:off x="10086975" y="5976528"/>
            <a:ext cx="6757988" cy="1728597"/>
          </a:xfrm>
          <a:prstGeom prst="rect">
            <a:avLst/>
          </a:prstGeom>
        </p:spPr>
        <p:txBody>
          <a:bodyPr anchor="t" rtlCol="false" tIns="0" lIns="0" bIns="0" rIns="0">
            <a:spAutoFit/>
          </a:bodyPr>
          <a:lstStyle/>
          <a:p>
            <a:pPr algn="l">
              <a:lnSpc>
                <a:spcPts val="4703"/>
              </a:lnSpc>
            </a:pPr>
            <a:r>
              <a:rPr lang="en-US" b="true" sz="2449">
                <a:solidFill>
                  <a:srgbClr val="475569"/>
                </a:solidFill>
                <a:latin typeface="Inter Bold"/>
                <a:ea typeface="Inter Bold"/>
                <a:cs typeface="Inter Bold"/>
                <a:sym typeface="Inter Bold"/>
              </a:rPr>
              <a:t>Selective history:</a:t>
            </a:r>
            <a:r>
              <a:rPr lang="en-US" sz="2449">
                <a:solidFill>
                  <a:srgbClr val="475569"/>
                </a:solidFill>
                <a:latin typeface="Inter"/>
                <a:ea typeface="Inter"/>
                <a:cs typeface="Inter"/>
                <a:sym typeface="Inter"/>
              </a:rPr>
              <a:t> Chỉ trích xuất phần code cần thiết từ output trước và đưa vào prompt mới. Tiết kiệm 75% token và tăng độ tập trung.</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sz="12000">
                  <a:solidFill>
                    <a:srgbClr val="35363B"/>
                  </a:solidFill>
                  <a:latin typeface="Arimo"/>
                  <a:ea typeface="Arimo"/>
                  <a:cs typeface="Arimo"/>
                  <a:sym typeface="Arimo"/>
                </a:rPr>
                <a:t>05</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1948515" y="4091607"/>
            <a:ext cx="15273214" cy="2743200"/>
          </a:xfrm>
          <a:prstGeom prst="rect">
            <a:avLst/>
          </a:prstGeom>
        </p:spPr>
        <p:txBody>
          <a:bodyPr anchor="t" rtlCol="false" tIns="0" lIns="0" bIns="0" rIns="0">
            <a:spAutoFit/>
          </a:bodyPr>
          <a:lstStyle/>
          <a:p>
            <a:pPr algn="l">
              <a:lnSpc>
                <a:spcPts val="10800"/>
              </a:lnSpc>
            </a:pPr>
            <a:r>
              <a:rPr lang="en-US" sz="9000" b="true">
                <a:solidFill>
                  <a:srgbClr val="35363B"/>
                </a:solidFill>
                <a:latin typeface="Noto Serif Bold"/>
                <a:ea typeface="Noto Serif Bold"/>
                <a:cs typeface="Noto Serif Bold"/>
                <a:sym typeface="Noto Serif Bold"/>
              </a:rPr>
              <a:t>TÁI CẤU TRÚC MÃ NGUỒN VỚI GENAI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2671762" y="2555081"/>
            <a:ext cx="12944475" cy="2609850"/>
          </a:xfrm>
          <a:prstGeom prst="rect">
            <a:avLst/>
          </a:prstGeom>
        </p:spPr>
        <p:txBody>
          <a:bodyPr anchor="t" rtlCol="false" tIns="0" lIns="0" bIns="0" rIns="0">
            <a:spAutoFit/>
          </a:bodyPr>
          <a:lstStyle/>
          <a:p>
            <a:pPr algn="ctr">
              <a:lnSpc>
                <a:spcPts val="7559"/>
              </a:lnSpc>
            </a:pPr>
            <a:r>
              <a:rPr lang="en-US" b="true" sz="4500" i="true">
                <a:solidFill>
                  <a:srgbClr val="0F172A"/>
                </a:solidFill>
                <a:latin typeface="Inter Medium Italics"/>
                <a:ea typeface="Inter Medium Italics"/>
                <a:cs typeface="Inter Medium Italics"/>
                <a:sym typeface="Inter Medium Italics"/>
              </a:rPr>
              <a:t> Tái cấu trúc là một phương pháp có kỷ luật để liên tục cải thiện chất lượng mã nguồn mà không làm thay đổi hành vi bên ngoài của nó. </a:t>
            </a:r>
          </a:p>
        </p:txBody>
      </p:sp>
      <p:sp>
        <p:nvSpPr>
          <p:cNvPr name="TextBox 7" id="7"/>
          <p:cNvSpPr txBox="true"/>
          <p:nvPr/>
        </p:nvSpPr>
        <p:spPr>
          <a:xfrm rot="0">
            <a:off x="5100638" y="5584031"/>
            <a:ext cx="8086725" cy="381000"/>
          </a:xfrm>
          <a:prstGeom prst="rect">
            <a:avLst/>
          </a:prstGeom>
        </p:spPr>
        <p:txBody>
          <a:bodyPr anchor="t" rtlCol="false" tIns="0" lIns="0" bIns="0" rIns="0">
            <a:spAutoFit/>
          </a:bodyPr>
          <a:lstStyle/>
          <a:p>
            <a:pPr algn="ctr">
              <a:lnSpc>
                <a:spcPts val="2970"/>
              </a:lnSpc>
            </a:pPr>
            <a:r>
              <a:rPr lang="en-US" sz="2475">
                <a:solidFill>
                  <a:srgbClr val="475569"/>
                </a:solidFill>
                <a:latin typeface="Inter"/>
                <a:ea typeface="Inter"/>
                <a:cs typeface="Inter"/>
                <a:sym typeface="Inter"/>
              </a:rPr>
              <a:t>— Dựa trên triết lý của Robert C. Martin (Clean Code)</a:t>
            </a:r>
          </a:p>
        </p:txBody>
      </p:sp>
      <p:sp>
        <p:nvSpPr>
          <p:cNvPr name="TextBox 8" id="8"/>
          <p:cNvSpPr txBox="true"/>
          <p:nvPr/>
        </p:nvSpPr>
        <p:spPr>
          <a:xfrm rot="0">
            <a:off x="2100262" y="6231731"/>
            <a:ext cx="14087475" cy="1076325"/>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Doanh nghiệp chi đến 75% chi phí phát triển để bảo trì code cũ. Việc duy trì tính chính xác và tính dễ đọc là tối quan trọng.</a:t>
            </a:r>
          </a:p>
        </p:txBody>
      </p:sp>
      <p:sp>
        <p:nvSpPr>
          <p:cNvPr name="TextBox 9" id="9"/>
          <p:cNvSpPr txBox="true"/>
          <p:nvPr/>
        </p:nvSpPr>
        <p:spPr>
          <a:xfrm rot="0">
            <a:off x="1814512" y="4202906"/>
            <a:ext cx="719957" cy="1104900"/>
          </a:xfrm>
          <a:prstGeom prst="rect">
            <a:avLst/>
          </a:prstGeom>
        </p:spPr>
        <p:txBody>
          <a:bodyPr anchor="t" rtlCol="false" tIns="0" lIns="0" bIns="0" rIns="0">
            <a:spAutoFit/>
          </a:bodyPr>
          <a:lstStyle/>
          <a:p>
            <a:pPr algn="l">
              <a:lnSpc>
                <a:spcPts val="6750"/>
              </a:lnSpc>
            </a:pPr>
            <a:r>
              <a:rPr lang="en-US" sz="13500" i="true">
                <a:solidFill>
                  <a:srgbClr val="BFDBFE"/>
                </a:solidFill>
                <a:latin typeface="Geometra"/>
                <a:ea typeface="Geometra"/>
                <a:cs typeface="Geometra"/>
                <a:sym typeface="Geometra"/>
              </a:rPr>
              <a: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8947249"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5.2. Phân loại Tái cấu trúc</a:t>
            </a:r>
          </a:p>
        </p:txBody>
      </p:sp>
      <p:grpSp>
        <p:nvGrpSpPr>
          <p:cNvPr name="Group 7" id="7"/>
          <p:cNvGrpSpPr/>
          <p:nvPr/>
        </p:nvGrpSpPr>
        <p:grpSpPr>
          <a:xfrm rot="0">
            <a:off x="857250" y="3381899"/>
            <a:ext cx="5238826" cy="4705941"/>
            <a:chOff x="0" y="0"/>
            <a:chExt cx="6985102" cy="6274587"/>
          </a:xfrm>
        </p:grpSpPr>
        <p:sp>
          <p:nvSpPr>
            <p:cNvPr name="Freeform 8" id="8" descr="image.png"/>
            <p:cNvSpPr/>
            <p:nvPr/>
          </p:nvSpPr>
          <p:spPr>
            <a:xfrm flipH="false" flipV="false" rot="0">
              <a:off x="0" y="0"/>
              <a:ext cx="6985127" cy="6274562"/>
            </a:xfrm>
            <a:custGeom>
              <a:avLst/>
              <a:gdLst/>
              <a:ahLst/>
              <a:cxnLst/>
              <a:rect r="r" b="b" t="t" l="l"/>
              <a:pathLst>
                <a:path h="6274562" w="6985127">
                  <a:moveTo>
                    <a:pt x="0" y="0"/>
                  </a:moveTo>
                  <a:lnTo>
                    <a:pt x="6985127" y="0"/>
                  </a:lnTo>
                  <a:lnTo>
                    <a:pt x="6985127" y="6274562"/>
                  </a:lnTo>
                  <a:lnTo>
                    <a:pt x="0" y="6274562"/>
                  </a:lnTo>
                  <a:lnTo>
                    <a:pt x="0" y="0"/>
                  </a:lnTo>
                  <a:close/>
                </a:path>
              </a:pathLst>
            </a:custGeom>
            <a:blipFill>
              <a:blip r:embed="rId11"/>
              <a:stretch>
                <a:fillRect l="0" t="0" r="0" b="-404"/>
              </a:stretch>
            </a:blipFill>
          </p:spPr>
        </p:sp>
      </p:grpSp>
      <p:grpSp>
        <p:nvGrpSpPr>
          <p:cNvPr name="Group 9" id="9"/>
          <p:cNvGrpSpPr/>
          <p:nvPr/>
        </p:nvGrpSpPr>
        <p:grpSpPr>
          <a:xfrm rot="0">
            <a:off x="6524701" y="3381899"/>
            <a:ext cx="5238826" cy="4705941"/>
            <a:chOff x="0" y="0"/>
            <a:chExt cx="6985102" cy="6274587"/>
          </a:xfrm>
        </p:grpSpPr>
        <p:sp>
          <p:nvSpPr>
            <p:cNvPr name="Freeform 10" id="10" descr="image.png"/>
            <p:cNvSpPr/>
            <p:nvPr/>
          </p:nvSpPr>
          <p:spPr>
            <a:xfrm flipH="false" flipV="false" rot="0">
              <a:off x="0" y="0"/>
              <a:ext cx="6985127" cy="6274562"/>
            </a:xfrm>
            <a:custGeom>
              <a:avLst/>
              <a:gdLst/>
              <a:ahLst/>
              <a:cxnLst/>
              <a:rect r="r" b="b" t="t" l="l"/>
              <a:pathLst>
                <a:path h="6274562" w="6985127">
                  <a:moveTo>
                    <a:pt x="0" y="0"/>
                  </a:moveTo>
                  <a:lnTo>
                    <a:pt x="6985127" y="0"/>
                  </a:lnTo>
                  <a:lnTo>
                    <a:pt x="6985127" y="6274562"/>
                  </a:lnTo>
                  <a:lnTo>
                    <a:pt x="0" y="6274562"/>
                  </a:lnTo>
                  <a:lnTo>
                    <a:pt x="0" y="0"/>
                  </a:lnTo>
                  <a:close/>
                </a:path>
              </a:pathLst>
            </a:custGeom>
            <a:blipFill>
              <a:blip r:embed="rId12"/>
              <a:stretch>
                <a:fillRect l="0" t="0" r="0" b="-131"/>
              </a:stretch>
            </a:blipFill>
          </p:spPr>
        </p:sp>
      </p:grpSp>
      <p:grpSp>
        <p:nvGrpSpPr>
          <p:cNvPr name="Group 11" id="11"/>
          <p:cNvGrpSpPr/>
          <p:nvPr/>
        </p:nvGrpSpPr>
        <p:grpSpPr>
          <a:xfrm rot="0">
            <a:off x="12192152" y="3381899"/>
            <a:ext cx="5238826" cy="4705941"/>
            <a:chOff x="0" y="0"/>
            <a:chExt cx="6985102" cy="6274587"/>
          </a:xfrm>
        </p:grpSpPr>
        <p:sp>
          <p:nvSpPr>
            <p:cNvPr name="Freeform 12" id="12" descr="image.png"/>
            <p:cNvSpPr/>
            <p:nvPr/>
          </p:nvSpPr>
          <p:spPr>
            <a:xfrm flipH="false" flipV="false" rot="0">
              <a:off x="0" y="0"/>
              <a:ext cx="6985127" cy="6274562"/>
            </a:xfrm>
            <a:custGeom>
              <a:avLst/>
              <a:gdLst/>
              <a:ahLst/>
              <a:cxnLst/>
              <a:rect r="r" b="b" t="t" l="l"/>
              <a:pathLst>
                <a:path h="6274562" w="6985127">
                  <a:moveTo>
                    <a:pt x="0" y="0"/>
                  </a:moveTo>
                  <a:lnTo>
                    <a:pt x="6985127" y="0"/>
                  </a:lnTo>
                  <a:lnTo>
                    <a:pt x="6985127" y="6274562"/>
                  </a:lnTo>
                  <a:lnTo>
                    <a:pt x="0" y="6274562"/>
                  </a:lnTo>
                  <a:lnTo>
                    <a:pt x="0" y="0"/>
                  </a:lnTo>
                  <a:close/>
                </a:path>
              </a:pathLst>
            </a:custGeom>
            <a:blipFill>
              <a:blip r:embed="rId13"/>
              <a:stretch>
                <a:fillRect l="0" t="0" r="0" b="-131"/>
              </a:stretch>
            </a:blipFill>
          </p:spPr>
        </p:sp>
      </p:grpSp>
      <p:sp>
        <p:nvSpPr>
          <p:cNvPr name="TextBox 13" id="13"/>
          <p:cNvSpPr txBox="true"/>
          <p:nvPr/>
        </p:nvSpPr>
        <p:spPr>
          <a:xfrm rot="0">
            <a:off x="1266349" y="4843986"/>
            <a:ext cx="4420629" cy="957853"/>
          </a:xfrm>
          <a:prstGeom prst="rect">
            <a:avLst/>
          </a:prstGeom>
        </p:spPr>
        <p:txBody>
          <a:bodyPr anchor="t" rtlCol="false" tIns="0" lIns="0" bIns="0" rIns="0">
            <a:spAutoFit/>
          </a:bodyPr>
          <a:lstStyle/>
          <a:p>
            <a:pPr algn="ctr">
              <a:lnSpc>
                <a:spcPts val="4212"/>
              </a:lnSpc>
            </a:pPr>
            <a:r>
              <a:rPr lang="en-US" b="true" sz="2925">
                <a:solidFill>
                  <a:srgbClr val="2563EB"/>
                </a:solidFill>
                <a:latin typeface="Inter Bold"/>
                <a:ea typeface="Inter Bold"/>
                <a:cs typeface="Inter Bold"/>
                <a:sym typeface="Inter Bold"/>
              </a:rPr>
              <a:t>Khả năng đọc (Readability)</a:t>
            </a:r>
          </a:p>
        </p:txBody>
      </p:sp>
      <p:sp>
        <p:nvSpPr>
          <p:cNvPr name="TextBox 14" id="14"/>
          <p:cNvSpPr txBox="true"/>
          <p:nvPr/>
        </p:nvSpPr>
        <p:spPr>
          <a:xfrm rot="0">
            <a:off x="1371600" y="5811364"/>
            <a:ext cx="4210126" cy="1547813"/>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Đổi tên biến rõ ràng, xóa import thừa, bổ sung type hints. Thay thành .</a:t>
            </a:r>
          </a:p>
        </p:txBody>
      </p:sp>
      <p:sp>
        <p:nvSpPr>
          <p:cNvPr name="TextBox 15" id="15"/>
          <p:cNvSpPr txBox="true"/>
          <p:nvPr/>
        </p:nvSpPr>
        <p:spPr>
          <a:xfrm rot="0">
            <a:off x="6933790" y="4843986"/>
            <a:ext cx="4420629" cy="512264"/>
          </a:xfrm>
          <a:prstGeom prst="rect">
            <a:avLst/>
          </a:prstGeom>
        </p:spPr>
        <p:txBody>
          <a:bodyPr anchor="t" rtlCol="false" tIns="0" lIns="0" bIns="0" rIns="0">
            <a:spAutoFit/>
          </a:bodyPr>
          <a:lstStyle/>
          <a:p>
            <a:pPr algn="ctr">
              <a:lnSpc>
                <a:spcPts val="4212"/>
              </a:lnSpc>
            </a:pPr>
            <a:r>
              <a:rPr lang="en-US" b="true" sz="2925">
                <a:solidFill>
                  <a:srgbClr val="2563EB"/>
                </a:solidFill>
                <a:latin typeface="Inter Bold"/>
                <a:ea typeface="Inter Bold"/>
                <a:cs typeface="Inter Bold"/>
                <a:sym typeface="Inter Bold"/>
              </a:rPr>
              <a:t>Cấu trúc (Structure)</a:t>
            </a:r>
          </a:p>
        </p:txBody>
      </p:sp>
      <p:sp>
        <p:nvSpPr>
          <p:cNvPr name="TextBox 16" id="16"/>
          <p:cNvSpPr txBox="true"/>
          <p:nvPr/>
        </p:nvSpPr>
        <p:spPr>
          <a:xfrm rot="0">
            <a:off x="7039051" y="5365775"/>
            <a:ext cx="4210126" cy="1990725"/>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Trích xuất khối code thành hàm riêng, áp dụng nguyên tắc SRP. Vượt qua giới hạn của IDE thông thường.</a:t>
            </a:r>
          </a:p>
        </p:txBody>
      </p:sp>
      <p:sp>
        <p:nvSpPr>
          <p:cNvPr name="TextBox 17" id="17"/>
          <p:cNvSpPr txBox="true"/>
          <p:nvPr/>
        </p:nvSpPr>
        <p:spPr>
          <a:xfrm rot="0">
            <a:off x="12601242" y="4843986"/>
            <a:ext cx="4420629" cy="957853"/>
          </a:xfrm>
          <a:prstGeom prst="rect">
            <a:avLst/>
          </a:prstGeom>
        </p:spPr>
        <p:txBody>
          <a:bodyPr anchor="t" rtlCol="false" tIns="0" lIns="0" bIns="0" rIns="0">
            <a:spAutoFit/>
          </a:bodyPr>
          <a:lstStyle/>
          <a:p>
            <a:pPr algn="ctr">
              <a:lnSpc>
                <a:spcPts val="4212"/>
              </a:lnSpc>
            </a:pPr>
            <a:r>
              <a:rPr lang="en-US" b="true" sz="2925">
                <a:solidFill>
                  <a:srgbClr val="2563EB"/>
                </a:solidFill>
                <a:latin typeface="Inter Bold"/>
                <a:ea typeface="Inter Bold"/>
                <a:cs typeface="Inter Bold"/>
                <a:sym typeface="Inter Bold"/>
              </a:rPr>
              <a:t>Hiệu năng (Performance)</a:t>
            </a:r>
          </a:p>
        </p:txBody>
      </p:sp>
      <p:sp>
        <p:nvSpPr>
          <p:cNvPr name="TextBox 18" id="18"/>
          <p:cNvSpPr txBox="true"/>
          <p:nvPr/>
        </p:nvSpPr>
        <p:spPr>
          <a:xfrm rot="0">
            <a:off x="12706502" y="5811364"/>
            <a:ext cx="4210126" cy="1533525"/>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Cải thiện thời gian chạy. Ví dụ: thay vòng lặp lồng nhau bằng Vectorization (NumPy).</a:t>
            </a:r>
          </a:p>
        </p:txBody>
      </p:sp>
      <p:grpSp>
        <p:nvGrpSpPr>
          <p:cNvPr name="Group 19" id="19"/>
          <p:cNvGrpSpPr/>
          <p:nvPr/>
        </p:nvGrpSpPr>
        <p:grpSpPr>
          <a:xfrm rot="0">
            <a:off x="3140793" y="3953399"/>
            <a:ext cx="671512" cy="600075"/>
            <a:chOff x="0" y="0"/>
            <a:chExt cx="895350" cy="800100"/>
          </a:xfrm>
        </p:grpSpPr>
        <p:sp>
          <p:nvSpPr>
            <p:cNvPr name="Freeform 20" id="20" descr="image.png"/>
            <p:cNvSpPr/>
            <p:nvPr/>
          </p:nvSpPr>
          <p:spPr>
            <a:xfrm flipH="false" flipV="false" rot="0">
              <a:off x="0" y="0"/>
              <a:ext cx="895350" cy="800100"/>
            </a:xfrm>
            <a:custGeom>
              <a:avLst/>
              <a:gdLst/>
              <a:ahLst/>
              <a:cxnLst/>
              <a:rect r="r" b="b" t="t" l="l"/>
              <a:pathLst>
                <a:path h="800100" w="895350">
                  <a:moveTo>
                    <a:pt x="0" y="0"/>
                  </a:moveTo>
                  <a:lnTo>
                    <a:pt x="895350" y="0"/>
                  </a:lnTo>
                  <a:lnTo>
                    <a:pt x="895350" y="800100"/>
                  </a:lnTo>
                  <a:lnTo>
                    <a:pt x="0" y="800100"/>
                  </a:lnTo>
                  <a:lnTo>
                    <a:pt x="0" y="0"/>
                  </a:lnTo>
                  <a:close/>
                </a:path>
              </a:pathLst>
            </a:custGeom>
            <a:blipFill>
              <a:blip r:embed="rId14"/>
              <a:stretch>
                <a:fillRect l="0" t="0" r="0" b="-247"/>
              </a:stretch>
            </a:blipFill>
          </p:spPr>
        </p:sp>
      </p:grpSp>
      <p:grpSp>
        <p:nvGrpSpPr>
          <p:cNvPr name="Group 21" id="21"/>
          <p:cNvGrpSpPr/>
          <p:nvPr/>
        </p:nvGrpSpPr>
        <p:grpSpPr>
          <a:xfrm rot="0">
            <a:off x="5529815" y="6501927"/>
            <a:ext cx="314325" cy="414338"/>
            <a:chOff x="0" y="0"/>
            <a:chExt cx="419100" cy="552450"/>
          </a:xfrm>
        </p:grpSpPr>
        <p:sp>
          <p:nvSpPr>
            <p:cNvPr name="Freeform 22" id="22" descr="image.png"/>
            <p:cNvSpPr/>
            <p:nvPr/>
          </p:nvSpPr>
          <p:spPr>
            <a:xfrm flipH="false" flipV="false" rot="0">
              <a:off x="0" y="0"/>
              <a:ext cx="419100" cy="552450"/>
            </a:xfrm>
            <a:custGeom>
              <a:avLst/>
              <a:gdLst/>
              <a:ahLst/>
              <a:cxnLst/>
              <a:rect r="r" b="b" t="t" l="l"/>
              <a:pathLst>
                <a:path h="552450" w="419100">
                  <a:moveTo>
                    <a:pt x="0" y="0"/>
                  </a:moveTo>
                  <a:lnTo>
                    <a:pt x="419100" y="0"/>
                  </a:lnTo>
                  <a:lnTo>
                    <a:pt x="419100" y="552450"/>
                  </a:lnTo>
                  <a:lnTo>
                    <a:pt x="0" y="552450"/>
                  </a:lnTo>
                  <a:lnTo>
                    <a:pt x="0" y="0"/>
                  </a:lnTo>
                  <a:close/>
                </a:path>
              </a:pathLst>
            </a:custGeom>
            <a:blipFill>
              <a:blip r:embed="rId15"/>
              <a:stretch>
                <a:fillRect l="0" t="0" r="-1060" b="0"/>
              </a:stretch>
            </a:blipFill>
          </p:spPr>
        </p:sp>
      </p:grpSp>
      <p:grpSp>
        <p:nvGrpSpPr>
          <p:cNvPr name="Group 23" id="23"/>
          <p:cNvGrpSpPr/>
          <p:nvPr/>
        </p:nvGrpSpPr>
        <p:grpSpPr>
          <a:xfrm rot="0">
            <a:off x="3812305" y="7004971"/>
            <a:ext cx="600075" cy="414338"/>
            <a:chOff x="0" y="0"/>
            <a:chExt cx="800100" cy="552450"/>
          </a:xfrm>
        </p:grpSpPr>
        <p:sp>
          <p:nvSpPr>
            <p:cNvPr name="Freeform 24" id="24" descr="image.png"/>
            <p:cNvSpPr/>
            <p:nvPr/>
          </p:nvSpPr>
          <p:spPr>
            <a:xfrm flipH="false" flipV="false" rot="0">
              <a:off x="0" y="0"/>
              <a:ext cx="800100" cy="552450"/>
            </a:xfrm>
            <a:custGeom>
              <a:avLst/>
              <a:gdLst/>
              <a:ahLst/>
              <a:cxnLst/>
              <a:rect r="r" b="b" t="t" l="l"/>
              <a:pathLst>
                <a:path h="552450" w="800100">
                  <a:moveTo>
                    <a:pt x="0" y="0"/>
                  </a:moveTo>
                  <a:lnTo>
                    <a:pt x="800100" y="0"/>
                  </a:lnTo>
                  <a:lnTo>
                    <a:pt x="800100" y="552450"/>
                  </a:lnTo>
                  <a:lnTo>
                    <a:pt x="0" y="552450"/>
                  </a:lnTo>
                  <a:lnTo>
                    <a:pt x="0" y="0"/>
                  </a:lnTo>
                  <a:close/>
                </a:path>
              </a:pathLst>
            </a:custGeom>
            <a:blipFill>
              <a:blip r:embed="rId16"/>
              <a:stretch>
                <a:fillRect l="0" t="0" r="0" b="-1041"/>
              </a:stretch>
            </a:blipFill>
          </p:spPr>
        </p:sp>
      </p:grpSp>
      <p:grpSp>
        <p:nvGrpSpPr>
          <p:cNvPr name="Group 25" id="25"/>
          <p:cNvGrpSpPr/>
          <p:nvPr/>
        </p:nvGrpSpPr>
        <p:grpSpPr>
          <a:xfrm rot="0">
            <a:off x="8808244" y="3953399"/>
            <a:ext cx="671512" cy="600075"/>
            <a:chOff x="0" y="0"/>
            <a:chExt cx="895350" cy="800100"/>
          </a:xfrm>
        </p:grpSpPr>
        <p:sp>
          <p:nvSpPr>
            <p:cNvPr name="Freeform 26" id="26" descr="image.png"/>
            <p:cNvSpPr/>
            <p:nvPr/>
          </p:nvSpPr>
          <p:spPr>
            <a:xfrm flipH="false" flipV="false" rot="0">
              <a:off x="0" y="0"/>
              <a:ext cx="895350" cy="800100"/>
            </a:xfrm>
            <a:custGeom>
              <a:avLst/>
              <a:gdLst/>
              <a:ahLst/>
              <a:cxnLst/>
              <a:rect r="r" b="b" t="t" l="l"/>
              <a:pathLst>
                <a:path h="800100" w="895350">
                  <a:moveTo>
                    <a:pt x="0" y="0"/>
                  </a:moveTo>
                  <a:lnTo>
                    <a:pt x="895350" y="0"/>
                  </a:lnTo>
                  <a:lnTo>
                    <a:pt x="895350" y="800100"/>
                  </a:lnTo>
                  <a:lnTo>
                    <a:pt x="0" y="800100"/>
                  </a:lnTo>
                  <a:lnTo>
                    <a:pt x="0" y="0"/>
                  </a:lnTo>
                  <a:close/>
                </a:path>
              </a:pathLst>
            </a:custGeom>
            <a:blipFill>
              <a:blip r:embed="rId17"/>
              <a:stretch>
                <a:fillRect l="0" t="0" r="0" b="-247"/>
              </a:stretch>
            </a:blipFill>
          </p:spPr>
        </p:sp>
      </p:grpSp>
      <p:grpSp>
        <p:nvGrpSpPr>
          <p:cNvPr name="Group 27" id="27"/>
          <p:cNvGrpSpPr/>
          <p:nvPr/>
        </p:nvGrpSpPr>
        <p:grpSpPr>
          <a:xfrm rot="0">
            <a:off x="14547132" y="3953399"/>
            <a:ext cx="528638" cy="600075"/>
            <a:chOff x="0" y="0"/>
            <a:chExt cx="704850" cy="800100"/>
          </a:xfrm>
        </p:grpSpPr>
        <p:sp>
          <p:nvSpPr>
            <p:cNvPr name="Freeform 28" id="28" descr="image.png"/>
            <p:cNvSpPr/>
            <p:nvPr/>
          </p:nvSpPr>
          <p:spPr>
            <a:xfrm flipH="false" flipV="false" rot="0">
              <a:off x="0" y="0"/>
              <a:ext cx="704850" cy="800100"/>
            </a:xfrm>
            <a:custGeom>
              <a:avLst/>
              <a:gdLst/>
              <a:ahLst/>
              <a:cxnLst/>
              <a:rect r="r" b="b" t="t" l="l"/>
              <a:pathLst>
                <a:path h="800100" w="704850">
                  <a:moveTo>
                    <a:pt x="0" y="0"/>
                  </a:moveTo>
                  <a:lnTo>
                    <a:pt x="704850" y="0"/>
                  </a:lnTo>
                  <a:lnTo>
                    <a:pt x="704850" y="800100"/>
                  </a:lnTo>
                  <a:lnTo>
                    <a:pt x="0" y="800100"/>
                  </a:lnTo>
                  <a:lnTo>
                    <a:pt x="0" y="0"/>
                  </a:lnTo>
                  <a:close/>
                </a:path>
              </a:pathLst>
            </a:custGeom>
            <a:blipFill>
              <a:blip r:embed="rId18"/>
              <a:stretch>
                <a:fillRect l="0" t="0" r="-313" b="0"/>
              </a:stretch>
            </a:blipFill>
          </p:spPr>
        </p:sp>
      </p:gr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1143655"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Bài toán: Hàm tính khoảng cách</a:t>
            </a:r>
          </a:p>
        </p:txBody>
      </p:sp>
      <p:grpSp>
        <p:nvGrpSpPr>
          <p:cNvPr name="Group 7" id="7"/>
          <p:cNvGrpSpPr/>
          <p:nvPr/>
        </p:nvGrpSpPr>
        <p:grpSpPr>
          <a:xfrm rot="0">
            <a:off x="857250" y="2868882"/>
            <a:ext cx="7929562" cy="5731964"/>
            <a:chOff x="0" y="0"/>
            <a:chExt cx="10572750" cy="7642619"/>
          </a:xfrm>
        </p:grpSpPr>
        <p:sp>
          <p:nvSpPr>
            <p:cNvPr name="Freeform 8" id="8" descr="image.png"/>
            <p:cNvSpPr/>
            <p:nvPr/>
          </p:nvSpPr>
          <p:spPr>
            <a:xfrm flipH="false" flipV="false" rot="0">
              <a:off x="0" y="0"/>
              <a:ext cx="10572750" cy="7642606"/>
            </a:xfrm>
            <a:custGeom>
              <a:avLst/>
              <a:gdLst/>
              <a:ahLst/>
              <a:cxnLst/>
              <a:rect r="r" b="b" t="t" l="l"/>
              <a:pathLst>
                <a:path h="7642606" w="10572750">
                  <a:moveTo>
                    <a:pt x="0" y="0"/>
                  </a:moveTo>
                  <a:lnTo>
                    <a:pt x="10572750" y="0"/>
                  </a:lnTo>
                  <a:lnTo>
                    <a:pt x="10572750" y="7642606"/>
                  </a:lnTo>
                  <a:lnTo>
                    <a:pt x="0" y="7642606"/>
                  </a:lnTo>
                  <a:lnTo>
                    <a:pt x="0" y="0"/>
                  </a:lnTo>
                  <a:close/>
                </a:path>
              </a:pathLst>
            </a:custGeom>
            <a:blipFill>
              <a:blip r:embed="rId11"/>
              <a:stretch>
                <a:fillRect l="0" t="0" r="0" b="-202"/>
              </a:stretch>
            </a:blipFill>
          </p:spPr>
        </p:sp>
      </p:grpSp>
      <p:grpSp>
        <p:nvGrpSpPr>
          <p:cNvPr name="Group 9" id="9"/>
          <p:cNvGrpSpPr/>
          <p:nvPr/>
        </p:nvGrpSpPr>
        <p:grpSpPr>
          <a:xfrm rot="0">
            <a:off x="9501188" y="3038962"/>
            <a:ext cx="7929562" cy="5731964"/>
            <a:chOff x="0" y="0"/>
            <a:chExt cx="10572750" cy="7642619"/>
          </a:xfrm>
        </p:grpSpPr>
        <p:sp>
          <p:nvSpPr>
            <p:cNvPr name="Freeform 10" id="10" descr="image.png"/>
            <p:cNvSpPr/>
            <p:nvPr/>
          </p:nvSpPr>
          <p:spPr>
            <a:xfrm flipH="false" flipV="false" rot="0">
              <a:off x="0" y="0"/>
              <a:ext cx="10572750" cy="7642606"/>
            </a:xfrm>
            <a:custGeom>
              <a:avLst/>
              <a:gdLst/>
              <a:ahLst/>
              <a:cxnLst/>
              <a:rect r="r" b="b" t="t" l="l"/>
              <a:pathLst>
                <a:path h="7642606" w="10572750">
                  <a:moveTo>
                    <a:pt x="0" y="0"/>
                  </a:moveTo>
                  <a:lnTo>
                    <a:pt x="10572750" y="0"/>
                  </a:lnTo>
                  <a:lnTo>
                    <a:pt x="10572750" y="7642606"/>
                  </a:lnTo>
                  <a:lnTo>
                    <a:pt x="0" y="7642606"/>
                  </a:lnTo>
                  <a:lnTo>
                    <a:pt x="0" y="0"/>
                  </a:lnTo>
                  <a:close/>
                </a:path>
              </a:pathLst>
            </a:custGeom>
            <a:blipFill>
              <a:blip r:embed="rId12"/>
              <a:stretch>
                <a:fillRect l="0" t="0" r="0" b="-202"/>
              </a:stretch>
            </a:blipFill>
          </p:spPr>
        </p:sp>
      </p:grpSp>
      <p:grpSp>
        <p:nvGrpSpPr>
          <p:cNvPr name="Group 11" id="11"/>
          <p:cNvGrpSpPr/>
          <p:nvPr/>
        </p:nvGrpSpPr>
        <p:grpSpPr>
          <a:xfrm rot="0">
            <a:off x="1443038" y="5418136"/>
            <a:ext cx="6757988" cy="2114550"/>
            <a:chOff x="0" y="0"/>
            <a:chExt cx="9010650" cy="2819400"/>
          </a:xfrm>
        </p:grpSpPr>
        <p:sp>
          <p:nvSpPr>
            <p:cNvPr name="Freeform 12" id="12" descr="image.png"/>
            <p:cNvSpPr/>
            <p:nvPr/>
          </p:nvSpPr>
          <p:spPr>
            <a:xfrm flipH="false" flipV="false" rot="0">
              <a:off x="0" y="0"/>
              <a:ext cx="9010650" cy="2819400"/>
            </a:xfrm>
            <a:custGeom>
              <a:avLst/>
              <a:gdLst/>
              <a:ahLst/>
              <a:cxnLst/>
              <a:rect r="r" b="b" t="t" l="l"/>
              <a:pathLst>
                <a:path h="2819400" w="9010650">
                  <a:moveTo>
                    <a:pt x="0" y="0"/>
                  </a:moveTo>
                  <a:lnTo>
                    <a:pt x="9010650" y="0"/>
                  </a:lnTo>
                  <a:lnTo>
                    <a:pt x="9010650" y="2819400"/>
                  </a:lnTo>
                  <a:lnTo>
                    <a:pt x="0" y="2819400"/>
                  </a:lnTo>
                  <a:lnTo>
                    <a:pt x="0" y="0"/>
                  </a:lnTo>
                  <a:close/>
                </a:path>
              </a:pathLst>
            </a:custGeom>
            <a:blipFill>
              <a:blip r:embed="rId13"/>
              <a:stretch>
                <a:fillRect l="0" t="0" r="0" b="-251"/>
              </a:stretch>
            </a:blipFill>
          </p:spPr>
        </p:sp>
      </p:grpSp>
      <p:sp>
        <p:nvSpPr>
          <p:cNvPr name="TextBox 13" id="13"/>
          <p:cNvSpPr txBox="true"/>
          <p:nvPr/>
        </p:nvSpPr>
        <p:spPr>
          <a:xfrm rot="0">
            <a:off x="1443037" y="3387995"/>
            <a:ext cx="2422723" cy="526923"/>
          </a:xfrm>
          <a:prstGeom prst="rect">
            <a:avLst/>
          </a:prstGeom>
        </p:spPr>
        <p:txBody>
          <a:bodyPr anchor="t" rtlCol="false" tIns="0" lIns="0" bIns="0" rIns="0">
            <a:spAutoFit/>
          </a:bodyPr>
          <a:lstStyle/>
          <a:p>
            <a:pPr algn="l">
              <a:lnSpc>
                <a:spcPts val="4355"/>
              </a:lnSpc>
            </a:pPr>
            <a:r>
              <a:rPr lang="en-US" b="true" sz="3024">
                <a:solidFill>
                  <a:srgbClr val="2563EB"/>
                </a:solidFill>
                <a:latin typeface="Inter Bold"/>
                <a:ea typeface="Inter Bold"/>
                <a:cs typeface="Inter Bold"/>
                <a:sym typeface="Inter Bold"/>
              </a:rPr>
              <a:t>Hàm ban đầu</a:t>
            </a:r>
          </a:p>
        </p:txBody>
      </p:sp>
      <p:sp>
        <p:nvSpPr>
          <p:cNvPr name="TextBox 14" id="14"/>
          <p:cNvSpPr txBox="true"/>
          <p:nvPr/>
        </p:nvSpPr>
        <p:spPr>
          <a:xfrm rot="0">
            <a:off x="1443038" y="3914556"/>
            <a:ext cx="6757988" cy="10995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Nhận request, đọc 2 ma trận và loại khoảng cách (L1 Manhattan, L2 Euclidean), trả về JSON.</a:t>
            </a:r>
          </a:p>
        </p:txBody>
      </p:sp>
      <p:sp>
        <p:nvSpPr>
          <p:cNvPr name="TextBox 15" id="15"/>
          <p:cNvSpPr txBox="true"/>
          <p:nvPr/>
        </p:nvSpPr>
        <p:spPr>
          <a:xfrm rot="0">
            <a:off x="10086975" y="3387995"/>
            <a:ext cx="4621411" cy="526923"/>
          </a:xfrm>
          <a:prstGeom prst="rect">
            <a:avLst/>
          </a:prstGeom>
        </p:spPr>
        <p:txBody>
          <a:bodyPr anchor="t" rtlCol="false" tIns="0" lIns="0" bIns="0" rIns="0">
            <a:spAutoFit/>
          </a:bodyPr>
          <a:lstStyle/>
          <a:p>
            <a:pPr algn="l">
              <a:lnSpc>
                <a:spcPts val="4355"/>
              </a:lnSpc>
            </a:pPr>
            <a:r>
              <a:rPr lang="en-US" b="true" sz="3024">
                <a:solidFill>
                  <a:srgbClr val="E11D48"/>
                </a:solidFill>
                <a:latin typeface="Inter Bold"/>
                <a:ea typeface="Inter Bold"/>
                <a:cs typeface="Inter Bold"/>
                <a:sym typeface="Inter Bold"/>
              </a:rPr>
              <a:t>Các vấn đề nghiêm trọng</a:t>
            </a:r>
          </a:p>
        </p:txBody>
      </p:sp>
      <p:grpSp>
        <p:nvGrpSpPr>
          <p:cNvPr name="Group 16" id="16"/>
          <p:cNvGrpSpPr/>
          <p:nvPr/>
        </p:nvGrpSpPr>
        <p:grpSpPr>
          <a:xfrm rot="0">
            <a:off x="2327748" y="3426095"/>
            <a:ext cx="3381004" cy="528638"/>
            <a:chOff x="0" y="0"/>
            <a:chExt cx="4508005" cy="704850"/>
          </a:xfrm>
        </p:grpSpPr>
        <p:sp>
          <p:nvSpPr>
            <p:cNvPr name="Freeform 17" id="17" descr="image.png"/>
            <p:cNvSpPr/>
            <p:nvPr/>
          </p:nvSpPr>
          <p:spPr>
            <a:xfrm flipH="false" flipV="false" rot="0">
              <a:off x="0" y="0"/>
              <a:ext cx="4507992" cy="704850"/>
            </a:xfrm>
            <a:custGeom>
              <a:avLst/>
              <a:gdLst/>
              <a:ahLst/>
              <a:cxnLst/>
              <a:rect r="r" b="b" t="t" l="l"/>
              <a:pathLst>
                <a:path h="704850" w="4507992">
                  <a:moveTo>
                    <a:pt x="0" y="0"/>
                  </a:moveTo>
                  <a:lnTo>
                    <a:pt x="4507992" y="0"/>
                  </a:lnTo>
                  <a:lnTo>
                    <a:pt x="4507992" y="704850"/>
                  </a:lnTo>
                  <a:lnTo>
                    <a:pt x="0" y="704850"/>
                  </a:lnTo>
                  <a:lnTo>
                    <a:pt x="0" y="0"/>
                  </a:lnTo>
                  <a:close/>
                </a:path>
              </a:pathLst>
            </a:custGeom>
            <a:blipFill>
              <a:blip r:embed="rId14"/>
              <a:stretch>
                <a:fillRect l="0" t="0" r="0" b="-2115"/>
              </a:stretch>
            </a:blipFill>
          </p:spPr>
        </p:sp>
      </p:grpSp>
      <p:sp>
        <p:nvSpPr>
          <p:cNvPr name="TextBox 18" id="18"/>
          <p:cNvSpPr txBox="true"/>
          <p:nvPr/>
        </p:nvSpPr>
        <p:spPr>
          <a:xfrm rot="0">
            <a:off x="10215562" y="4119343"/>
            <a:ext cx="157162" cy="361950"/>
          </a:xfrm>
          <a:prstGeom prst="rect">
            <a:avLst/>
          </a:prstGeom>
        </p:spPr>
        <p:txBody>
          <a:bodyPr anchor="t" rtlCol="false" tIns="0" lIns="0" bIns="0" rIns="0">
            <a:spAutoFit/>
          </a:bodyPr>
          <a:lstStyle/>
          <a:p>
            <a:pPr algn="l">
              <a:lnSpc>
                <a:spcPts val="2819"/>
              </a:lnSpc>
            </a:pPr>
            <a:r>
              <a:rPr lang="en-US" sz="2349">
                <a:solidFill>
                  <a:srgbClr val="475569"/>
                </a:solidFill>
                <a:latin typeface="Inter"/>
                <a:ea typeface="Inter"/>
                <a:cs typeface="Inter"/>
                <a:sym typeface="Inter"/>
              </a:rPr>
              <a:t>•</a:t>
            </a:r>
          </a:p>
        </p:txBody>
      </p:sp>
      <p:sp>
        <p:nvSpPr>
          <p:cNvPr name="TextBox 19" id="19"/>
          <p:cNvSpPr txBox="true"/>
          <p:nvPr/>
        </p:nvSpPr>
        <p:spPr>
          <a:xfrm rot="0">
            <a:off x="10477500" y="3957418"/>
            <a:ext cx="6367462" cy="1099566"/>
          </a:xfrm>
          <a:prstGeom prst="rect">
            <a:avLst/>
          </a:prstGeom>
        </p:spPr>
        <p:txBody>
          <a:bodyPr anchor="t" rtlCol="false" tIns="0" lIns="0" bIns="0" rIns="0">
            <a:spAutoFit/>
          </a:bodyPr>
          <a:lstStyle/>
          <a:p>
            <a:pPr algn="l">
              <a:lnSpc>
                <a:spcPts val="4511"/>
              </a:lnSpc>
            </a:pPr>
            <a:r>
              <a:rPr lang="en-US" b="true" sz="2349">
                <a:solidFill>
                  <a:srgbClr val="475569"/>
                </a:solidFill>
                <a:latin typeface="Inter Bold"/>
                <a:ea typeface="Inter Bold"/>
                <a:cs typeface="Inter Bold"/>
                <a:sym typeface="Inter Bold"/>
              </a:rPr>
              <a:t>Vi phạm DRY:</a:t>
            </a:r>
            <a:r>
              <a:rPr lang="en-US" sz="2349">
                <a:solidFill>
                  <a:srgbClr val="475569"/>
                </a:solidFill>
                <a:latin typeface="Inter"/>
                <a:ea typeface="Inter"/>
                <a:cs typeface="Inter"/>
                <a:sym typeface="Inter"/>
              </a:rPr>
              <a:t> Lặp lại code đọc dữ liệu ở nhiều nhánh.</a:t>
            </a:r>
          </a:p>
        </p:txBody>
      </p:sp>
      <p:sp>
        <p:nvSpPr>
          <p:cNvPr name="TextBox 20" id="20"/>
          <p:cNvSpPr txBox="true"/>
          <p:nvPr/>
        </p:nvSpPr>
        <p:spPr>
          <a:xfrm rot="0">
            <a:off x="10215562" y="5205193"/>
            <a:ext cx="157162" cy="361950"/>
          </a:xfrm>
          <a:prstGeom prst="rect">
            <a:avLst/>
          </a:prstGeom>
        </p:spPr>
        <p:txBody>
          <a:bodyPr anchor="t" rtlCol="false" tIns="0" lIns="0" bIns="0" rIns="0">
            <a:spAutoFit/>
          </a:bodyPr>
          <a:lstStyle/>
          <a:p>
            <a:pPr algn="l">
              <a:lnSpc>
                <a:spcPts val="2819"/>
              </a:lnSpc>
            </a:pPr>
            <a:r>
              <a:rPr lang="en-US" sz="2349">
                <a:solidFill>
                  <a:srgbClr val="475569"/>
                </a:solidFill>
                <a:latin typeface="Inter"/>
                <a:ea typeface="Inter"/>
                <a:cs typeface="Inter"/>
                <a:sym typeface="Inter"/>
              </a:rPr>
              <a:t>•</a:t>
            </a:r>
          </a:p>
        </p:txBody>
      </p:sp>
      <p:sp>
        <p:nvSpPr>
          <p:cNvPr name="TextBox 21" id="21"/>
          <p:cNvSpPr txBox="true"/>
          <p:nvPr/>
        </p:nvSpPr>
        <p:spPr>
          <a:xfrm rot="0">
            <a:off x="10477500" y="5043268"/>
            <a:ext cx="6367462" cy="10995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Khó viết Unit Test do dính chặt với HTTP request.</a:t>
            </a:r>
          </a:p>
        </p:txBody>
      </p:sp>
      <p:sp>
        <p:nvSpPr>
          <p:cNvPr name="TextBox 22" id="22"/>
          <p:cNvSpPr txBox="true"/>
          <p:nvPr/>
        </p:nvSpPr>
        <p:spPr>
          <a:xfrm rot="0">
            <a:off x="10215562" y="6289673"/>
            <a:ext cx="157162" cy="361950"/>
          </a:xfrm>
          <a:prstGeom prst="rect">
            <a:avLst/>
          </a:prstGeom>
        </p:spPr>
        <p:txBody>
          <a:bodyPr anchor="t" rtlCol="false" tIns="0" lIns="0" bIns="0" rIns="0">
            <a:spAutoFit/>
          </a:bodyPr>
          <a:lstStyle/>
          <a:p>
            <a:pPr algn="l">
              <a:lnSpc>
                <a:spcPts val="2819"/>
              </a:lnSpc>
            </a:pPr>
            <a:r>
              <a:rPr lang="en-US" sz="2349">
                <a:solidFill>
                  <a:srgbClr val="475569"/>
                </a:solidFill>
                <a:latin typeface="Inter"/>
                <a:ea typeface="Inter"/>
                <a:cs typeface="Inter"/>
                <a:sym typeface="Inter"/>
              </a:rPr>
              <a:t>•</a:t>
            </a:r>
          </a:p>
        </p:txBody>
      </p:sp>
      <p:sp>
        <p:nvSpPr>
          <p:cNvPr name="TextBox 23" id="23"/>
          <p:cNvSpPr txBox="true"/>
          <p:nvPr/>
        </p:nvSpPr>
        <p:spPr>
          <a:xfrm rot="0">
            <a:off x="10477500" y="6127748"/>
            <a:ext cx="6367462" cy="1099566"/>
          </a:xfrm>
          <a:prstGeom prst="rect">
            <a:avLst/>
          </a:prstGeom>
        </p:spPr>
        <p:txBody>
          <a:bodyPr anchor="t" rtlCol="false" tIns="0" lIns="0" bIns="0" rIns="0">
            <a:spAutoFit/>
          </a:bodyPr>
          <a:lstStyle/>
          <a:p>
            <a:pPr algn="l">
              <a:lnSpc>
                <a:spcPts val="4511"/>
              </a:lnSpc>
            </a:pPr>
            <a:r>
              <a:rPr lang="en-US" b="true" sz="2349">
                <a:solidFill>
                  <a:srgbClr val="475569"/>
                </a:solidFill>
                <a:latin typeface="Inter Bold"/>
                <a:ea typeface="Inter Bold"/>
                <a:cs typeface="Inter Bold"/>
                <a:sym typeface="Inter Bold"/>
              </a:rPr>
              <a:t>Hiệu năng kém:</a:t>
            </a:r>
            <a:r>
              <a:rPr lang="en-US" sz="2349">
                <a:solidFill>
                  <a:srgbClr val="475569"/>
                </a:solidFill>
                <a:latin typeface="Inter"/>
                <a:ea typeface="Inter"/>
                <a:cs typeface="Inter"/>
                <a:sym typeface="Inter"/>
              </a:rPr>
              <a:t> Tính L2 bằng vòng lặp thủ công.</a:t>
            </a:r>
          </a:p>
        </p:txBody>
      </p:sp>
      <p:sp>
        <p:nvSpPr>
          <p:cNvPr name="TextBox 24" id="24"/>
          <p:cNvSpPr txBox="true"/>
          <p:nvPr/>
        </p:nvSpPr>
        <p:spPr>
          <a:xfrm rot="0">
            <a:off x="10215562" y="7379714"/>
            <a:ext cx="157162" cy="361950"/>
          </a:xfrm>
          <a:prstGeom prst="rect">
            <a:avLst/>
          </a:prstGeom>
        </p:spPr>
        <p:txBody>
          <a:bodyPr anchor="t" rtlCol="false" tIns="0" lIns="0" bIns="0" rIns="0">
            <a:spAutoFit/>
          </a:bodyPr>
          <a:lstStyle/>
          <a:p>
            <a:pPr algn="l">
              <a:lnSpc>
                <a:spcPts val="2819"/>
              </a:lnSpc>
            </a:pPr>
            <a:r>
              <a:rPr lang="en-US" sz="2349">
                <a:solidFill>
                  <a:srgbClr val="475569"/>
                </a:solidFill>
                <a:latin typeface="Inter"/>
                <a:ea typeface="Inter"/>
                <a:cs typeface="Inter"/>
                <a:sym typeface="Inter"/>
              </a:rPr>
              <a:t>•</a:t>
            </a:r>
          </a:p>
        </p:txBody>
      </p:sp>
      <p:sp>
        <p:nvSpPr>
          <p:cNvPr name="TextBox 25" id="25"/>
          <p:cNvSpPr txBox="true"/>
          <p:nvPr/>
        </p:nvSpPr>
        <p:spPr>
          <a:xfrm rot="0">
            <a:off x="10477500" y="7217789"/>
            <a:ext cx="6367462" cy="1099566"/>
          </a:xfrm>
          <a:prstGeom prst="rect">
            <a:avLst/>
          </a:prstGeom>
        </p:spPr>
        <p:txBody>
          <a:bodyPr anchor="t" rtlCol="false" tIns="0" lIns="0" bIns="0" rIns="0">
            <a:spAutoFit/>
          </a:bodyPr>
          <a:lstStyle/>
          <a:p>
            <a:pPr algn="l">
              <a:lnSpc>
                <a:spcPts val="4511"/>
              </a:lnSpc>
            </a:pPr>
            <a:r>
              <a:rPr lang="en-US" b="true" sz="2349">
                <a:solidFill>
                  <a:srgbClr val="475569"/>
                </a:solidFill>
                <a:latin typeface="Inter Bold"/>
                <a:ea typeface="Inter Bold"/>
                <a:cs typeface="Inter Bold"/>
                <a:sym typeface="Inter Bold"/>
              </a:rPr>
              <a:t>IDE bất lực:</a:t>
            </a:r>
            <a:r>
              <a:rPr lang="en-US" sz="2349">
                <a:solidFill>
                  <a:srgbClr val="475569"/>
                </a:solidFill>
                <a:latin typeface="Inter"/>
                <a:ea typeface="Inter"/>
                <a:cs typeface="Inter"/>
                <a:sym typeface="Inter"/>
              </a:rPr>
              <a:t> Không thể tự động trích xuất hàm (Extract Method) do code xen kẽ.</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2358192"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5.3. Tái cấu trúc Cấu trúc với GenAI</a:t>
            </a:r>
          </a:p>
        </p:txBody>
      </p:sp>
      <p:grpSp>
        <p:nvGrpSpPr>
          <p:cNvPr name="Group 7" id="7"/>
          <p:cNvGrpSpPr/>
          <p:nvPr/>
        </p:nvGrpSpPr>
        <p:grpSpPr>
          <a:xfrm rot="0">
            <a:off x="9329738" y="4538596"/>
            <a:ext cx="7929562" cy="1543050"/>
            <a:chOff x="0" y="0"/>
            <a:chExt cx="10572750" cy="2057400"/>
          </a:xfrm>
        </p:grpSpPr>
        <p:sp>
          <p:nvSpPr>
            <p:cNvPr name="Freeform 8" id="8" descr="image.png"/>
            <p:cNvSpPr/>
            <p:nvPr/>
          </p:nvSpPr>
          <p:spPr>
            <a:xfrm flipH="false" flipV="false" rot="0">
              <a:off x="0" y="0"/>
              <a:ext cx="10572750" cy="2057400"/>
            </a:xfrm>
            <a:custGeom>
              <a:avLst/>
              <a:gdLst/>
              <a:ahLst/>
              <a:cxnLst/>
              <a:rect r="r" b="b" t="t" l="l"/>
              <a:pathLst>
                <a:path h="2057400" w="10572750">
                  <a:moveTo>
                    <a:pt x="0" y="0"/>
                  </a:moveTo>
                  <a:lnTo>
                    <a:pt x="10572750" y="0"/>
                  </a:lnTo>
                  <a:lnTo>
                    <a:pt x="10572750" y="2057400"/>
                  </a:lnTo>
                  <a:lnTo>
                    <a:pt x="0" y="2057400"/>
                  </a:lnTo>
                  <a:lnTo>
                    <a:pt x="0" y="0"/>
                  </a:lnTo>
                  <a:close/>
                </a:path>
              </a:pathLst>
            </a:custGeom>
            <a:blipFill>
              <a:blip r:embed="rId11"/>
              <a:stretch>
                <a:fillRect l="0" t="0" r="0" b="-925"/>
              </a:stretch>
            </a:blipFill>
          </p:spPr>
        </p:sp>
      </p:grpSp>
      <p:sp>
        <p:nvSpPr>
          <p:cNvPr name="TextBox 9" id="9"/>
          <p:cNvSpPr txBox="true"/>
          <p:nvPr/>
        </p:nvSpPr>
        <p:spPr>
          <a:xfrm rot="0">
            <a:off x="857250" y="3767071"/>
            <a:ext cx="7929562" cy="1819656"/>
          </a:xfrm>
          <a:prstGeom prst="rect">
            <a:avLst/>
          </a:prstGeom>
        </p:spPr>
        <p:txBody>
          <a:bodyPr anchor="t" rtlCol="false" tIns="0" lIns="0" bIns="0" rIns="0">
            <a:spAutoFit/>
          </a:bodyPr>
          <a:lstStyle/>
          <a:p>
            <a:pPr algn="l">
              <a:lnSpc>
                <a:spcPts val="4992"/>
              </a:lnSpc>
            </a:pPr>
            <a:r>
              <a:rPr lang="en-US" b="true" sz="2600">
                <a:solidFill>
                  <a:srgbClr val="475569"/>
                </a:solidFill>
                <a:latin typeface="Inter Bold"/>
                <a:ea typeface="Inter Bold"/>
                <a:cs typeface="Inter Bold"/>
                <a:sym typeface="Inter Bold"/>
              </a:rPr>
              <a:t>Bí quyết:</a:t>
            </a:r>
            <a:r>
              <a:rPr lang="en-US" sz="2600">
                <a:solidFill>
                  <a:srgbClr val="475569"/>
                </a:solidFill>
                <a:latin typeface="Inter"/>
                <a:ea typeface="Inter"/>
                <a:cs typeface="Inter"/>
                <a:sym typeface="Inter"/>
              </a:rPr>
              <a:t> Áp dụng CoT bằng cách viết hàm cấu trúc mới và </a:t>
            </a:r>
            <a:r>
              <a:rPr lang="en-US" b="true" sz="2600">
                <a:solidFill>
                  <a:srgbClr val="475569"/>
                </a:solidFill>
                <a:latin typeface="Inter Bold"/>
                <a:ea typeface="Inter Bold"/>
                <a:cs typeface="Inter Bold"/>
                <a:sym typeface="Inter Bold"/>
              </a:rPr>
              <a:t>cung cấp mã nguồn cũ</a:t>
            </a:r>
            <a:r>
              <a:rPr lang="en-US" sz="2600">
                <a:solidFill>
                  <a:srgbClr val="475569"/>
                </a:solidFill>
                <a:latin typeface="Inter"/>
                <a:ea typeface="Inter"/>
                <a:cs typeface="Inter"/>
                <a:sym typeface="Inter"/>
              </a:rPr>
              <a:t> làm tham chiếu để bảo tồn logic.</a:t>
            </a:r>
          </a:p>
        </p:txBody>
      </p:sp>
      <p:sp>
        <p:nvSpPr>
          <p:cNvPr name="TextBox 10" id="10"/>
          <p:cNvSpPr txBox="true"/>
          <p:nvPr/>
        </p:nvSpPr>
        <p:spPr>
          <a:xfrm rot="0">
            <a:off x="857250" y="6015352"/>
            <a:ext cx="7929562" cy="1819656"/>
          </a:xfrm>
          <a:prstGeom prst="rect">
            <a:avLst/>
          </a:prstGeom>
        </p:spPr>
        <p:txBody>
          <a:bodyPr anchor="t" rtlCol="false" tIns="0" lIns="0" bIns="0" rIns="0">
            <a:spAutoFit/>
          </a:bodyPr>
          <a:lstStyle/>
          <a:p>
            <a:pPr algn="l">
              <a:lnSpc>
                <a:spcPts val="4992"/>
              </a:lnSpc>
            </a:pPr>
            <a:r>
              <a:rPr lang="en-US" sz="2600">
                <a:solidFill>
                  <a:srgbClr val="475569"/>
                </a:solidFill>
                <a:latin typeface="Inter"/>
                <a:ea typeface="Inter"/>
                <a:cs typeface="Inter"/>
                <a:sym typeface="Inter"/>
              </a:rPr>
              <a:t>Copilot/ChatGPT sẽ tự động gom phần chuyển NumPy array lên hàm </a:t>
            </a:r>
            <a:r>
              <a:rPr lang="en-US" sz="2600">
                <a:solidFill>
                  <a:srgbClr val="E11D48"/>
                </a:solidFill>
                <a:latin typeface="Inter"/>
                <a:ea typeface="Inter"/>
                <a:cs typeface="Inter"/>
                <a:sym typeface="Inter"/>
              </a:rPr>
              <a:t>parse </a:t>
            </a:r>
            <a:r>
              <a:rPr lang="en-US" sz="2600">
                <a:solidFill>
                  <a:srgbClr val="475569"/>
                </a:solidFill>
                <a:latin typeface="Inter"/>
                <a:ea typeface="Inter"/>
                <a:cs typeface="Inter"/>
                <a:sym typeface="Inter"/>
              </a:rPr>
              <a:t>, loại bỏ lặp code và tuân thủ SRP.</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57250" y="3197495"/>
            <a:ext cx="8072438" cy="5960564"/>
            <a:chOff x="0" y="0"/>
            <a:chExt cx="10763250" cy="7947419"/>
          </a:xfrm>
        </p:grpSpPr>
        <p:sp>
          <p:nvSpPr>
            <p:cNvPr name="Freeform 7" id="7" descr="image.png"/>
            <p:cNvSpPr/>
            <p:nvPr/>
          </p:nvSpPr>
          <p:spPr>
            <a:xfrm flipH="false" flipV="false" rot="0">
              <a:off x="0" y="0"/>
              <a:ext cx="10763250" cy="7947406"/>
            </a:xfrm>
            <a:custGeom>
              <a:avLst/>
              <a:gdLst/>
              <a:ahLst/>
              <a:cxnLst/>
              <a:rect r="r" b="b" t="t" l="l"/>
              <a:pathLst>
                <a:path h="7947406" w="10763250">
                  <a:moveTo>
                    <a:pt x="0" y="0"/>
                  </a:moveTo>
                  <a:lnTo>
                    <a:pt x="10763250" y="0"/>
                  </a:lnTo>
                  <a:lnTo>
                    <a:pt x="10763250" y="7947406"/>
                  </a:lnTo>
                  <a:lnTo>
                    <a:pt x="0" y="7947406"/>
                  </a:lnTo>
                  <a:lnTo>
                    <a:pt x="0" y="0"/>
                  </a:lnTo>
                  <a:close/>
                </a:path>
              </a:pathLst>
            </a:custGeom>
            <a:blipFill>
              <a:blip r:embed="rId11"/>
              <a:stretch>
                <a:fillRect l="0" t="0" r="0" b="-194"/>
              </a:stretch>
            </a:blipFill>
          </p:spPr>
        </p:sp>
      </p:grpSp>
      <p:grpSp>
        <p:nvGrpSpPr>
          <p:cNvPr name="Group 8" id="8"/>
          <p:cNvGrpSpPr/>
          <p:nvPr/>
        </p:nvGrpSpPr>
        <p:grpSpPr>
          <a:xfrm rot="0">
            <a:off x="9358312" y="3197495"/>
            <a:ext cx="8072438" cy="5960564"/>
            <a:chOff x="0" y="0"/>
            <a:chExt cx="10763250" cy="7947419"/>
          </a:xfrm>
        </p:grpSpPr>
        <p:sp>
          <p:nvSpPr>
            <p:cNvPr name="Freeform 9" id="9" descr="image.png"/>
            <p:cNvSpPr/>
            <p:nvPr/>
          </p:nvSpPr>
          <p:spPr>
            <a:xfrm flipH="false" flipV="false" rot="0">
              <a:off x="0" y="0"/>
              <a:ext cx="10763250" cy="7947406"/>
            </a:xfrm>
            <a:custGeom>
              <a:avLst/>
              <a:gdLst/>
              <a:ahLst/>
              <a:cxnLst/>
              <a:rect r="r" b="b" t="t" l="l"/>
              <a:pathLst>
                <a:path h="7947406" w="10763250">
                  <a:moveTo>
                    <a:pt x="0" y="0"/>
                  </a:moveTo>
                  <a:lnTo>
                    <a:pt x="10763250" y="0"/>
                  </a:lnTo>
                  <a:lnTo>
                    <a:pt x="10763250" y="7947406"/>
                  </a:lnTo>
                  <a:lnTo>
                    <a:pt x="0" y="7947406"/>
                  </a:lnTo>
                  <a:lnTo>
                    <a:pt x="0" y="0"/>
                  </a:lnTo>
                  <a:close/>
                </a:path>
              </a:pathLst>
            </a:custGeom>
            <a:blipFill>
              <a:blip r:embed="rId12"/>
              <a:stretch>
                <a:fillRect l="0" t="0" r="0" b="-194"/>
              </a:stretch>
            </a:blipFill>
          </p:spPr>
        </p:sp>
      </p:grpSp>
      <p:sp>
        <p:nvSpPr>
          <p:cNvPr name="TextBox 10" id="10"/>
          <p:cNvSpPr txBox="true"/>
          <p:nvPr/>
        </p:nvSpPr>
        <p:spPr>
          <a:xfrm rot="0">
            <a:off x="9658350" y="7095906"/>
            <a:ext cx="7472362" cy="1547813"/>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Cung cấp: [Hàm đầy đủ] + [Dòng cần thay] + [Thư viện: NumPy]. ChatGPT sẽ đề xuất tổng quát hơn.</a:t>
            </a:r>
          </a:p>
        </p:txBody>
      </p:sp>
      <p:sp>
        <p:nvSpPr>
          <p:cNvPr name="Freeform 11" id="11"/>
          <p:cNvSpPr/>
          <p:nvPr/>
        </p:nvSpPr>
        <p:spPr>
          <a:xfrm flipH="false" flipV="false" rot="0">
            <a:off x="9358312" y="1895875"/>
            <a:ext cx="7982245" cy="4573457"/>
          </a:xfrm>
          <a:custGeom>
            <a:avLst/>
            <a:gdLst/>
            <a:ahLst/>
            <a:cxnLst/>
            <a:rect r="r" b="b" t="t" l="l"/>
            <a:pathLst>
              <a:path h="4573457" w="7982245">
                <a:moveTo>
                  <a:pt x="0" y="0"/>
                </a:moveTo>
                <a:lnTo>
                  <a:pt x="7982246" y="0"/>
                </a:lnTo>
                <a:lnTo>
                  <a:pt x="7982246" y="4573457"/>
                </a:lnTo>
                <a:lnTo>
                  <a:pt x="0" y="4573457"/>
                </a:lnTo>
                <a:lnTo>
                  <a:pt x="0" y="0"/>
                </a:lnTo>
                <a:close/>
              </a:path>
            </a:pathLst>
          </a:custGeom>
          <a:blipFill>
            <a:blip r:embed="rId13"/>
            <a:stretch>
              <a:fillRect l="0" t="0" r="0" b="0"/>
            </a:stretch>
          </a:blipFill>
        </p:spPr>
      </p:sp>
      <p:sp>
        <p:nvSpPr>
          <p:cNvPr name="Freeform 12" id="12"/>
          <p:cNvSpPr/>
          <p:nvPr/>
        </p:nvSpPr>
        <p:spPr>
          <a:xfrm flipH="false" flipV="false" rot="0">
            <a:off x="857250" y="2252968"/>
            <a:ext cx="7959204" cy="4709588"/>
          </a:xfrm>
          <a:custGeom>
            <a:avLst/>
            <a:gdLst/>
            <a:ahLst/>
            <a:cxnLst/>
            <a:rect r="r" b="b" t="t" l="l"/>
            <a:pathLst>
              <a:path h="4709588" w="7959204">
                <a:moveTo>
                  <a:pt x="0" y="0"/>
                </a:moveTo>
                <a:lnTo>
                  <a:pt x="7959204" y="0"/>
                </a:lnTo>
                <a:lnTo>
                  <a:pt x="7959204" y="4709588"/>
                </a:lnTo>
                <a:lnTo>
                  <a:pt x="0" y="4709588"/>
                </a:lnTo>
                <a:lnTo>
                  <a:pt x="0" y="0"/>
                </a:lnTo>
                <a:close/>
              </a:path>
            </a:pathLst>
          </a:custGeom>
          <a:blipFill>
            <a:blip r:embed="rId14"/>
            <a:stretch>
              <a:fillRect l="0" t="0" r="0" b="0"/>
            </a:stretch>
          </a:blipFill>
        </p:spPr>
      </p:sp>
      <p:sp>
        <p:nvSpPr>
          <p:cNvPr name="TextBox 13" id="13"/>
          <p:cNvSpPr txBox="true"/>
          <p:nvPr/>
        </p:nvSpPr>
        <p:spPr>
          <a:xfrm rot="0">
            <a:off x="1531429" y="952900"/>
            <a:ext cx="14502904"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5.4. Tái cấu trúc Hiệu năng (Vectorization)</a:t>
            </a:r>
          </a:p>
        </p:txBody>
      </p:sp>
      <p:sp>
        <p:nvSpPr>
          <p:cNvPr name="TextBox 14" id="14"/>
          <p:cNvSpPr txBox="true"/>
          <p:nvPr/>
        </p:nvSpPr>
        <p:spPr>
          <a:xfrm rot="0">
            <a:off x="970474" y="6574107"/>
            <a:ext cx="7845981" cy="512264"/>
          </a:xfrm>
          <a:prstGeom prst="rect">
            <a:avLst/>
          </a:prstGeom>
        </p:spPr>
        <p:txBody>
          <a:bodyPr anchor="t" rtlCol="false" tIns="0" lIns="0" bIns="0" rIns="0">
            <a:spAutoFit/>
          </a:bodyPr>
          <a:lstStyle/>
          <a:p>
            <a:pPr algn="ctr">
              <a:lnSpc>
                <a:spcPts val="4212"/>
              </a:lnSpc>
            </a:pPr>
            <a:r>
              <a:rPr lang="en-US" b="true" sz="2925">
                <a:solidFill>
                  <a:srgbClr val="2563EB"/>
                </a:solidFill>
                <a:latin typeface="Inter Bold"/>
                <a:ea typeface="Inter Bold"/>
                <a:cs typeface="Inter Bold"/>
                <a:sym typeface="Inter Bold"/>
              </a:rPr>
              <a:t>Copilot: Dùng "Gợi ý"</a:t>
            </a:r>
          </a:p>
        </p:txBody>
      </p:sp>
      <p:sp>
        <p:nvSpPr>
          <p:cNvPr name="TextBox 15" id="15"/>
          <p:cNvSpPr txBox="true"/>
          <p:nvPr/>
        </p:nvSpPr>
        <p:spPr>
          <a:xfrm rot="0">
            <a:off x="1157288" y="7095906"/>
            <a:ext cx="7472362" cy="1042035"/>
          </a:xfrm>
          <a:prstGeom prst="rect">
            <a:avLst/>
          </a:prstGeom>
        </p:spPr>
        <p:txBody>
          <a:bodyPr anchor="t" rtlCol="false" tIns="0" lIns="0" bIns="0" rIns="0">
            <a:spAutoFit/>
          </a:bodyPr>
          <a:lstStyle/>
          <a:p>
            <a:pPr algn="ctr">
              <a:lnSpc>
                <a:spcPts val="4320"/>
              </a:lnSpc>
            </a:pPr>
            <a:r>
              <a:rPr lang="en-US" sz="2250">
                <a:solidFill>
                  <a:srgbClr val="475569"/>
                </a:solidFill>
                <a:latin typeface="Inter"/>
                <a:ea typeface="Inter"/>
                <a:cs typeface="Inter"/>
                <a:sym typeface="Inter"/>
              </a:rPr>
              <a:t>Thêm </a:t>
            </a:r>
            <a:r>
              <a:rPr lang="en-US" sz="2250">
                <a:solidFill>
                  <a:srgbClr val="E11D48"/>
                </a:solidFill>
                <a:latin typeface="Inter"/>
                <a:ea typeface="Inter"/>
                <a:cs typeface="Inter"/>
                <a:sym typeface="Inter"/>
              </a:rPr>
              <a:t>dist_2=np.</a:t>
            </a:r>
            <a:r>
              <a:rPr lang="en-US" sz="2250">
                <a:solidFill>
                  <a:srgbClr val="475569"/>
                </a:solidFill>
                <a:latin typeface="Inter"/>
                <a:ea typeface="Inter"/>
                <a:cs typeface="Inter"/>
                <a:sym typeface="Inter"/>
              </a:rPr>
              <a:t> ngay trên vòng lặp cũ. Copilot so sánh và đề xuất cách tối ưu mà giữ đúng ý nghĩa.</a:t>
            </a:r>
          </a:p>
        </p:txBody>
      </p:sp>
      <p:sp>
        <p:nvSpPr>
          <p:cNvPr name="TextBox 16" id="16"/>
          <p:cNvSpPr txBox="true"/>
          <p:nvPr/>
        </p:nvSpPr>
        <p:spPr>
          <a:xfrm rot="0">
            <a:off x="9471536" y="6574107"/>
            <a:ext cx="7845981" cy="512264"/>
          </a:xfrm>
          <a:prstGeom prst="rect">
            <a:avLst/>
          </a:prstGeom>
        </p:spPr>
        <p:txBody>
          <a:bodyPr anchor="t" rtlCol="false" tIns="0" lIns="0" bIns="0" rIns="0">
            <a:spAutoFit/>
          </a:bodyPr>
          <a:lstStyle/>
          <a:p>
            <a:pPr algn="ctr">
              <a:lnSpc>
                <a:spcPts val="4212"/>
              </a:lnSpc>
            </a:pPr>
            <a:r>
              <a:rPr lang="en-US" b="true" sz="2925">
                <a:solidFill>
                  <a:srgbClr val="2563EB"/>
                </a:solidFill>
                <a:latin typeface="Inter Bold"/>
                <a:ea typeface="Inter Bold"/>
                <a:cs typeface="Inter Bold"/>
                <a:sym typeface="Inter Bold"/>
              </a:rPr>
              <a:t>ChatGPT/API: Cấu trúc rõ ràng</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0852099" y="6494812"/>
            <a:ext cx="7680112" cy="7874670"/>
          </a:xfrm>
          <a:custGeom>
            <a:avLst/>
            <a:gdLst/>
            <a:ahLst/>
            <a:cxnLst/>
            <a:rect r="r" b="b" t="t" l="l"/>
            <a:pathLst>
              <a:path h="7874670" w="7680112">
                <a:moveTo>
                  <a:pt x="0" y="0"/>
                </a:moveTo>
                <a:lnTo>
                  <a:pt x="7680112" y="0"/>
                </a:lnTo>
                <a:lnTo>
                  <a:pt x="7680112" y="7874670"/>
                </a:lnTo>
                <a:lnTo>
                  <a:pt x="0" y="787467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2369660" y="-3550539"/>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19" y="-19"/>
            <a:ext cx="1310469" cy="1492491"/>
          </a:xfrm>
          <a:custGeom>
            <a:avLst/>
            <a:gdLst/>
            <a:ahLst/>
            <a:cxnLst/>
            <a:rect r="r" b="b" t="t" l="l"/>
            <a:pathLst>
              <a:path h="1492491" w="1310469">
                <a:moveTo>
                  <a:pt x="0" y="0"/>
                </a:moveTo>
                <a:lnTo>
                  <a:pt x="1310469" y="0"/>
                </a:lnTo>
                <a:lnTo>
                  <a:pt x="1310469" y="1492491"/>
                </a:lnTo>
                <a:lnTo>
                  <a:pt x="0" y="14924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3671135" y="-1357436"/>
            <a:ext cx="13398198" cy="13764539"/>
          </a:xfrm>
          <a:custGeom>
            <a:avLst/>
            <a:gdLst/>
            <a:ahLst/>
            <a:cxnLst/>
            <a:rect r="r" b="b" t="t" l="l"/>
            <a:pathLst>
              <a:path h="13764539" w="13398198">
                <a:moveTo>
                  <a:pt x="0" y="0"/>
                </a:moveTo>
                <a:lnTo>
                  <a:pt x="13398198" y="0"/>
                </a:lnTo>
                <a:lnTo>
                  <a:pt x="13398198" y="13764539"/>
                </a:lnTo>
                <a:lnTo>
                  <a:pt x="0" y="1376453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349420" y="1028700"/>
            <a:ext cx="2471404" cy="2453134"/>
            <a:chOff x="0" y="0"/>
            <a:chExt cx="3295205" cy="3270845"/>
          </a:xfrm>
        </p:grpSpPr>
        <p:sp>
          <p:nvSpPr>
            <p:cNvPr name="Freeform 7" id="7"/>
            <p:cNvSpPr/>
            <p:nvPr/>
          </p:nvSpPr>
          <p:spPr>
            <a:xfrm flipH="false" flipV="false" rot="0">
              <a:off x="0" y="0"/>
              <a:ext cx="3295200" cy="3270843"/>
            </a:xfrm>
            <a:custGeom>
              <a:avLst/>
              <a:gdLst/>
              <a:ahLst/>
              <a:cxnLst/>
              <a:rect r="r" b="b" t="t" l="l"/>
              <a:pathLst>
                <a:path h="3270843" w="3295200">
                  <a:moveTo>
                    <a:pt x="0" y="0"/>
                  </a:moveTo>
                  <a:lnTo>
                    <a:pt x="3295200" y="0"/>
                  </a:lnTo>
                  <a:lnTo>
                    <a:pt x="3295200" y="3270843"/>
                  </a:lnTo>
                  <a:lnTo>
                    <a:pt x="0" y="3270843"/>
                  </a:lnTo>
                  <a:close/>
                </a:path>
              </a:pathLst>
            </a:custGeom>
            <a:blipFill>
              <a:blip r:embed="rId11">
                <a:alphaModFix amt="0"/>
              </a:blip>
              <a:stretch>
                <a:fillRect l="-37404" t="0" r="-37404" b="31369"/>
              </a:stretch>
            </a:blipFill>
          </p:spPr>
        </p:sp>
        <p:sp>
          <p:nvSpPr>
            <p:cNvPr name="TextBox 8" id="8"/>
            <p:cNvSpPr txBox="true"/>
            <p:nvPr/>
          </p:nvSpPr>
          <p:spPr>
            <a:xfrm>
              <a:off x="0" y="-47625"/>
              <a:ext cx="3295205" cy="3318470"/>
            </a:xfrm>
            <a:prstGeom prst="rect">
              <a:avLst/>
            </a:prstGeom>
          </p:spPr>
          <p:txBody>
            <a:bodyPr anchor="b" rtlCol="false" tIns="0" lIns="0" bIns="0" rIns="0"/>
            <a:lstStyle/>
            <a:p>
              <a:pPr algn="ctr">
                <a:lnSpc>
                  <a:spcPts val="14400"/>
                </a:lnSpc>
              </a:pPr>
              <a:r>
                <a:rPr lang="en-US" sz="12000">
                  <a:solidFill>
                    <a:srgbClr val="35363B"/>
                  </a:solidFill>
                  <a:latin typeface="Arimo"/>
                  <a:ea typeface="Arimo"/>
                  <a:cs typeface="Arimo"/>
                  <a:sym typeface="Arimo"/>
                </a:rPr>
                <a:t>06</a:t>
              </a:r>
            </a:p>
          </p:txBody>
        </p:sp>
      </p:grpSp>
      <p:sp>
        <p:nvSpPr>
          <p:cNvPr name="Freeform 9" id="9"/>
          <p:cNvSpPr/>
          <p:nvPr/>
        </p:nvSpPr>
        <p:spPr>
          <a:xfrm flipH="false" flipV="false" rot="0">
            <a:off x="14883003" y="579701"/>
            <a:ext cx="2733827" cy="2764203"/>
          </a:xfrm>
          <a:custGeom>
            <a:avLst/>
            <a:gdLst/>
            <a:ahLst/>
            <a:cxnLst/>
            <a:rect r="r" b="b" t="t" l="l"/>
            <a:pathLst>
              <a:path h="2764203" w="2733827">
                <a:moveTo>
                  <a:pt x="0" y="0"/>
                </a:moveTo>
                <a:lnTo>
                  <a:pt x="2733827" y="0"/>
                </a:lnTo>
                <a:lnTo>
                  <a:pt x="2733827" y="2764203"/>
                </a:lnTo>
                <a:lnTo>
                  <a:pt x="0" y="276420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08873" y="7390695"/>
            <a:ext cx="1834744" cy="1367142"/>
          </a:xfrm>
          <a:custGeom>
            <a:avLst/>
            <a:gdLst/>
            <a:ahLst/>
            <a:cxnLst/>
            <a:rect r="r" b="b" t="t" l="l"/>
            <a:pathLst>
              <a:path h="1367142" w="1834744">
                <a:moveTo>
                  <a:pt x="0" y="0"/>
                </a:moveTo>
                <a:lnTo>
                  <a:pt x="1834744" y="0"/>
                </a:lnTo>
                <a:lnTo>
                  <a:pt x="1834744" y="1367142"/>
                </a:lnTo>
                <a:lnTo>
                  <a:pt x="0" y="1367142"/>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1" id="11"/>
          <p:cNvSpPr txBox="true"/>
          <p:nvPr/>
        </p:nvSpPr>
        <p:spPr>
          <a:xfrm rot="0">
            <a:off x="1948515" y="4091607"/>
            <a:ext cx="15273214" cy="2743200"/>
          </a:xfrm>
          <a:prstGeom prst="rect">
            <a:avLst/>
          </a:prstGeom>
        </p:spPr>
        <p:txBody>
          <a:bodyPr anchor="t" rtlCol="false" tIns="0" lIns="0" bIns="0" rIns="0">
            <a:spAutoFit/>
          </a:bodyPr>
          <a:lstStyle/>
          <a:p>
            <a:pPr algn="l">
              <a:lnSpc>
                <a:spcPts val="10800"/>
              </a:lnSpc>
            </a:pPr>
            <a:r>
              <a:rPr lang="en-US" sz="9000" b="true">
                <a:solidFill>
                  <a:srgbClr val="35363B"/>
                </a:solidFill>
                <a:latin typeface="Noto Serif Bold"/>
                <a:ea typeface="Noto Serif Bold"/>
                <a:cs typeface="Noto Serif Bold"/>
                <a:sym typeface="Noto Serif Bold"/>
              </a:rPr>
              <a:t>TINH CHỈNH MÔ HÌNH VỚI GENAI </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857250" y="3454670"/>
            <a:ext cx="7929562" cy="4560389"/>
            <a:chOff x="0" y="0"/>
            <a:chExt cx="10572750" cy="6080519"/>
          </a:xfrm>
        </p:grpSpPr>
        <p:sp>
          <p:nvSpPr>
            <p:cNvPr name="Freeform 7" id="7" descr="image.png"/>
            <p:cNvSpPr/>
            <p:nvPr/>
          </p:nvSpPr>
          <p:spPr>
            <a:xfrm flipH="false" flipV="false" rot="0">
              <a:off x="0" y="0"/>
              <a:ext cx="10572750" cy="6080506"/>
            </a:xfrm>
            <a:custGeom>
              <a:avLst/>
              <a:gdLst/>
              <a:ahLst/>
              <a:cxnLst/>
              <a:rect r="r" b="b" t="t" l="l"/>
              <a:pathLst>
                <a:path h="6080506" w="10572750">
                  <a:moveTo>
                    <a:pt x="0" y="0"/>
                  </a:moveTo>
                  <a:lnTo>
                    <a:pt x="10572750" y="0"/>
                  </a:lnTo>
                  <a:lnTo>
                    <a:pt x="10572750" y="6080506"/>
                  </a:lnTo>
                  <a:lnTo>
                    <a:pt x="0" y="6080506"/>
                  </a:lnTo>
                  <a:lnTo>
                    <a:pt x="0" y="0"/>
                  </a:lnTo>
                  <a:close/>
                </a:path>
              </a:pathLst>
            </a:custGeom>
            <a:blipFill>
              <a:blip r:embed="rId11"/>
              <a:stretch>
                <a:fillRect l="0" t="0" r="0" b="-254"/>
              </a:stretch>
            </a:blipFill>
          </p:spPr>
        </p:sp>
      </p:grpSp>
      <p:sp>
        <p:nvSpPr>
          <p:cNvPr name="TextBox 8" id="8"/>
          <p:cNvSpPr txBox="true"/>
          <p:nvPr/>
        </p:nvSpPr>
        <p:spPr>
          <a:xfrm rot="0">
            <a:off x="1690688" y="5628485"/>
            <a:ext cx="6510338"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Nhanh, dễ thử nghiệm.</a:t>
            </a:r>
          </a:p>
        </p:txBody>
      </p:sp>
      <p:sp>
        <p:nvSpPr>
          <p:cNvPr name="TextBox 9" id="9"/>
          <p:cNvSpPr txBox="true"/>
          <p:nvPr/>
        </p:nvSpPr>
        <p:spPr>
          <a:xfrm rot="0">
            <a:off x="1690688" y="6085685"/>
            <a:ext cx="6510338"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Không tốn phí huấn luyện.</a:t>
            </a:r>
          </a:p>
        </p:txBody>
      </p:sp>
      <p:grpSp>
        <p:nvGrpSpPr>
          <p:cNvPr name="Group 10" id="10"/>
          <p:cNvGrpSpPr/>
          <p:nvPr/>
        </p:nvGrpSpPr>
        <p:grpSpPr>
          <a:xfrm rot="0">
            <a:off x="1443038" y="5878506"/>
            <a:ext cx="257175" cy="300038"/>
            <a:chOff x="0" y="0"/>
            <a:chExt cx="342900" cy="400050"/>
          </a:xfrm>
        </p:grpSpPr>
        <p:sp>
          <p:nvSpPr>
            <p:cNvPr name="Freeform 11" id="11"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2"/>
              <a:stretch>
                <a:fillRect l="0" t="0" r="0" b="0"/>
              </a:stretch>
            </a:blipFill>
          </p:spPr>
        </p:sp>
      </p:grpSp>
      <p:grpSp>
        <p:nvGrpSpPr>
          <p:cNvPr name="Group 12" id="12"/>
          <p:cNvGrpSpPr/>
          <p:nvPr/>
        </p:nvGrpSpPr>
        <p:grpSpPr>
          <a:xfrm rot="0">
            <a:off x="1443038" y="6335706"/>
            <a:ext cx="257175" cy="300038"/>
            <a:chOff x="0" y="0"/>
            <a:chExt cx="342900" cy="400050"/>
          </a:xfrm>
        </p:grpSpPr>
        <p:sp>
          <p:nvSpPr>
            <p:cNvPr name="Freeform 13" id="13"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2"/>
              <a:stretch>
                <a:fillRect l="0" t="0" r="0" b="0"/>
              </a:stretch>
            </a:blipFill>
          </p:spPr>
        </p:sp>
      </p:grpSp>
      <p:grpSp>
        <p:nvGrpSpPr>
          <p:cNvPr name="Group 14" id="14"/>
          <p:cNvGrpSpPr/>
          <p:nvPr/>
        </p:nvGrpSpPr>
        <p:grpSpPr>
          <a:xfrm rot="0">
            <a:off x="1443038" y="6792906"/>
            <a:ext cx="214312" cy="300038"/>
            <a:chOff x="0" y="0"/>
            <a:chExt cx="285750" cy="400050"/>
          </a:xfrm>
        </p:grpSpPr>
        <p:sp>
          <p:nvSpPr>
            <p:cNvPr name="Freeform 15" id="15" descr="image.png"/>
            <p:cNvSpPr/>
            <p:nvPr/>
          </p:nvSpPr>
          <p:spPr>
            <a:xfrm flipH="false" flipV="false" rot="0">
              <a:off x="0" y="0"/>
              <a:ext cx="285750" cy="400050"/>
            </a:xfrm>
            <a:custGeom>
              <a:avLst/>
              <a:gdLst/>
              <a:ahLst/>
              <a:cxnLst/>
              <a:rect r="r" b="b" t="t" l="l"/>
              <a:pathLst>
                <a:path h="400050" w="285750">
                  <a:moveTo>
                    <a:pt x="0" y="0"/>
                  </a:moveTo>
                  <a:lnTo>
                    <a:pt x="285750" y="0"/>
                  </a:lnTo>
                  <a:lnTo>
                    <a:pt x="285750" y="400050"/>
                  </a:lnTo>
                  <a:lnTo>
                    <a:pt x="0" y="400050"/>
                  </a:lnTo>
                  <a:lnTo>
                    <a:pt x="0" y="0"/>
                  </a:lnTo>
                  <a:close/>
                </a:path>
              </a:pathLst>
            </a:custGeom>
            <a:blipFill>
              <a:blip r:embed="rId13"/>
              <a:stretch>
                <a:fillRect l="0" t="0" r="0" b="0"/>
              </a:stretch>
            </a:blipFill>
          </p:spPr>
        </p:sp>
      </p:grpSp>
      <p:grpSp>
        <p:nvGrpSpPr>
          <p:cNvPr name="Group 16" id="16"/>
          <p:cNvGrpSpPr/>
          <p:nvPr/>
        </p:nvGrpSpPr>
        <p:grpSpPr>
          <a:xfrm rot="0">
            <a:off x="1443038" y="7250106"/>
            <a:ext cx="214312" cy="300038"/>
            <a:chOff x="0" y="0"/>
            <a:chExt cx="285750" cy="400050"/>
          </a:xfrm>
        </p:grpSpPr>
        <p:sp>
          <p:nvSpPr>
            <p:cNvPr name="Freeform 17" id="17" descr="image.png"/>
            <p:cNvSpPr/>
            <p:nvPr/>
          </p:nvSpPr>
          <p:spPr>
            <a:xfrm flipH="false" flipV="false" rot="0">
              <a:off x="0" y="0"/>
              <a:ext cx="285750" cy="400050"/>
            </a:xfrm>
            <a:custGeom>
              <a:avLst/>
              <a:gdLst/>
              <a:ahLst/>
              <a:cxnLst/>
              <a:rect r="r" b="b" t="t" l="l"/>
              <a:pathLst>
                <a:path h="400050" w="285750">
                  <a:moveTo>
                    <a:pt x="0" y="0"/>
                  </a:moveTo>
                  <a:lnTo>
                    <a:pt x="285750" y="0"/>
                  </a:lnTo>
                  <a:lnTo>
                    <a:pt x="285750" y="400050"/>
                  </a:lnTo>
                  <a:lnTo>
                    <a:pt x="0" y="400050"/>
                  </a:lnTo>
                  <a:lnTo>
                    <a:pt x="0" y="0"/>
                  </a:lnTo>
                  <a:close/>
                </a:path>
              </a:pathLst>
            </a:custGeom>
            <a:blipFill>
              <a:blip r:embed="rId13"/>
              <a:stretch>
                <a:fillRect l="0" t="0" r="0" b="0"/>
              </a:stretch>
            </a:blipFill>
          </p:spPr>
        </p:sp>
      </p:grpSp>
      <p:sp>
        <p:nvSpPr>
          <p:cNvPr name="Freeform 18" id="18"/>
          <p:cNvSpPr/>
          <p:nvPr/>
        </p:nvSpPr>
        <p:spPr>
          <a:xfrm flipH="false" flipV="false" rot="0">
            <a:off x="9144000" y="2878962"/>
            <a:ext cx="8751646" cy="5549825"/>
          </a:xfrm>
          <a:custGeom>
            <a:avLst/>
            <a:gdLst/>
            <a:ahLst/>
            <a:cxnLst/>
            <a:rect r="r" b="b" t="t" l="l"/>
            <a:pathLst>
              <a:path h="5549825" w="8751646">
                <a:moveTo>
                  <a:pt x="0" y="0"/>
                </a:moveTo>
                <a:lnTo>
                  <a:pt x="8751646" y="0"/>
                </a:lnTo>
                <a:lnTo>
                  <a:pt x="8751646" y="5549825"/>
                </a:lnTo>
                <a:lnTo>
                  <a:pt x="0" y="5549825"/>
                </a:lnTo>
                <a:lnTo>
                  <a:pt x="0" y="0"/>
                </a:lnTo>
                <a:close/>
              </a:path>
            </a:pathLst>
          </a:custGeom>
          <a:blipFill>
            <a:blip r:embed="rId14"/>
            <a:stretch>
              <a:fillRect l="0" t="0" r="0" b="0"/>
            </a:stretch>
          </a:blipFill>
        </p:spPr>
      </p:sp>
      <p:sp>
        <p:nvSpPr>
          <p:cNvPr name="TextBox 19" id="19"/>
          <p:cNvSpPr txBox="true"/>
          <p:nvPr/>
        </p:nvSpPr>
        <p:spPr>
          <a:xfrm rot="0">
            <a:off x="1531429" y="952900"/>
            <a:ext cx="11537355"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6.2. So sánh Kỹ thuật Huấn luyện</a:t>
            </a:r>
          </a:p>
        </p:txBody>
      </p:sp>
      <p:sp>
        <p:nvSpPr>
          <p:cNvPr name="TextBox 20" id="20"/>
          <p:cNvSpPr txBox="true"/>
          <p:nvPr/>
        </p:nvSpPr>
        <p:spPr>
          <a:xfrm rot="0">
            <a:off x="1443037" y="4016645"/>
            <a:ext cx="3492897" cy="526923"/>
          </a:xfrm>
          <a:prstGeom prst="rect">
            <a:avLst/>
          </a:prstGeom>
        </p:spPr>
        <p:txBody>
          <a:bodyPr anchor="t" rtlCol="false" tIns="0" lIns="0" bIns="0" rIns="0">
            <a:spAutoFit/>
          </a:bodyPr>
          <a:lstStyle/>
          <a:p>
            <a:pPr algn="l">
              <a:lnSpc>
                <a:spcPts val="4355"/>
              </a:lnSpc>
            </a:pPr>
            <a:r>
              <a:rPr lang="en-US" b="true" sz="3024">
                <a:solidFill>
                  <a:srgbClr val="2563EB"/>
                </a:solidFill>
                <a:latin typeface="Inter Bold"/>
                <a:ea typeface="Inter Bold"/>
                <a:cs typeface="Inter Bold"/>
                <a:sym typeface="Inter Bold"/>
              </a:rPr>
              <a:t>Few-shot Learning</a:t>
            </a:r>
          </a:p>
        </p:txBody>
      </p:sp>
      <p:sp>
        <p:nvSpPr>
          <p:cNvPr name="TextBox 21" id="21"/>
          <p:cNvSpPr txBox="true"/>
          <p:nvPr/>
        </p:nvSpPr>
        <p:spPr>
          <a:xfrm rot="0">
            <a:off x="1443038" y="4528918"/>
            <a:ext cx="6757988"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Đưa ví dụ trực tiếp vào mỗi prompt.</a:t>
            </a:r>
          </a:p>
        </p:txBody>
      </p:sp>
      <p:sp>
        <p:nvSpPr>
          <p:cNvPr name="TextBox 22" id="22"/>
          <p:cNvSpPr txBox="true"/>
          <p:nvPr/>
        </p:nvSpPr>
        <p:spPr>
          <a:xfrm rot="0">
            <a:off x="1662112" y="6542885"/>
            <a:ext cx="6538912"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Tăng chi phí API mỗi lần gọi do prompt dài.</a:t>
            </a:r>
          </a:p>
        </p:txBody>
      </p:sp>
      <p:sp>
        <p:nvSpPr>
          <p:cNvPr name="TextBox 23" id="23"/>
          <p:cNvSpPr txBox="true"/>
          <p:nvPr/>
        </p:nvSpPr>
        <p:spPr>
          <a:xfrm rot="0">
            <a:off x="1662112" y="7000085"/>
            <a:ext cx="6538912"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Khó quản lý khi cần &gt;10 ví dụ.</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9501188" y="3454670"/>
            <a:ext cx="7929562" cy="4560389"/>
            <a:chOff x="0" y="0"/>
            <a:chExt cx="10572750" cy="6080519"/>
          </a:xfrm>
        </p:grpSpPr>
        <p:sp>
          <p:nvSpPr>
            <p:cNvPr name="Freeform 7" id="7" descr="image.png"/>
            <p:cNvSpPr/>
            <p:nvPr/>
          </p:nvSpPr>
          <p:spPr>
            <a:xfrm flipH="false" flipV="false" rot="0">
              <a:off x="0" y="0"/>
              <a:ext cx="10572750" cy="6080506"/>
            </a:xfrm>
            <a:custGeom>
              <a:avLst/>
              <a:gdLst/>
              <a:ahLst/>
              <a:cxnLst/>
              <a:rect r="r" b="b" t="t" l="l"/>
              <a:pathLst>
                <a:path h="6080506" w="10572750">
                  <a:moveTo>
                    <a:pt x="0" y="0"/>
                  </a:moveTo>
                  <a:lnTo>
                    <a:pt x="10572750" y="0"/>
                  </a:lnTo>
                  <a:lnTo>
                    <a:pt x="10572750" y="6080506"/>
                  </a:lnTo>
                  <a:lnTo>
                    <a:pt x="0" y="6080506"/>
                  </a:lnTo>
                  <a:lnTo>
                    <a:pt x="0" y="0"/>
                  </a:lnTo>
                  <a:close/>
                </a:path>
              </a:pathLst>
            </a:custGeom>
            <a:blipFill>
              <a:blip r:embed="rId11"/>
              <a:stretch>
                <a:fillRect l="0" t="0" r="0" b="-254"/>
              </a:stretch>
            </a:blipFill>
          </p:spPr>
        </p:sp>
      </p:grpSp>
      <p:sp>
        <p:nvSpPr>
          <p:cNvPr name="TextBox 8" id="8"/>
          <p:cNvSpPr txBox="true"/>
          <p:nvPr/>
        </p:nvSpPr>
        <p:spPr>
          <a:xfrm rot="0">
            <a:off x="10334625" y="5609435"/>
            <a:ext cx="6510338"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Prompt cực ngắn, gọn gàng.</a:t>
            </a:r>
          </a:p>
        </p:txBody>
      </p:sp>
      <p:sp>
        <p:nvSpPr>
          <p:cNvPr name="TextBox 9" id="9"/>
          <p:cNvSpPr txBox="true"/>
          <p:nvPr/>
        </p:nvSpPr>
        <p:spPr>
          <a:xfrm rot="0">
            <a:off x="10334625" y="6066635"/>
            <a:ext cx="6510338"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Đầu ra chuyên môn hóa, ổn định cao.</a:t>
            </a:r>
          </a:p>
        </p:txBody>
      </p:sp>
      <p:grpSp>
        <p:nvGrpSpPr>
          <p:cNvPr name="Group 10" id="10"/>
          <p:cNvGrpSpPr/>
          <p:nvPr/>
        </p:nvGrpSpPr>
        <p:grpSpPr>
          <a:xfrm rot="0">
            <a:off x="10086975" y="5859456"/>
            <a:ext cx="257175" cy="300038"/>
            <a:chOff x="0" y="0"/>
            <a:chExt cx="342900" cy="400050"/>
          </a:xfrm>
        </p:grpSpPr>
        <p:sp>
          <p:nvSpPr>
            <p:cNvPr name="Freeform 11" id="11"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2"/>
              <a:stretch>
                <a:fillRect l="0" t="0" r="0" b="0"/>
              </a:stretch>
            </a:blipFill>
          </p:spPr>
        </p:sp>
      </p:grpSp>
      <p:grpSp>
        <p:nvGrpSpPr>
          <p:cNvPr name="Group 12" id="12"/>
          <p:cNvGrpSpPr/>
          <p:nvPr/>
        </p:nvGrpSpPr>
        <p:grpSpPr>
          <a:xfrm rot="0">
            <a:off x="10086975" y="6316656"/>
            <a:ext cx="257175" cy="300038"/>
            <a:chOff x="0" y="0"/>
            <a:chExt cx="342900" cy="400050"/>
          </a:xfrm>
        </p:grpSpPr>
        <p:sp>
          <p:nvSpPr>
            <p:cNvPr name="Freeform 13" id="13"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2"/>
              <a:stretch>
                <a:fillRect l="0" t="0" r="0" b="0"/>
              </a:stretch>
            </a:blipFill>
          </p:spPr>
        </p:sp>
      </p:grpSp>
      <p:grpSp>
        <p:nvGrpSpPr>
          <p:cNvPr name="Group 14" id="14"/>
          <p:cNvGrpSpPr/>
          <p:nvPr/>
        </p:nvGrpSpPr>
        <p:grpSpPr>
          <a:xfrm rot="0">
            <a:off x="10086975" y="6773856"/>
            <a:ext cx="214312" cy="300038"/>
            <a:chOff x="0" y="0"/>
            <a:chExt cx="285750" cy="400050"/>
          </a:xfrm>
        </p:grpSpPr>
        <p:sp>
          <p:nvSpPr>
            <p:cNvPr name="Freeform 15" id="15" descr="image.png"/>
            <p:cNvSpPr/>
            <p:nvPr/>
          </p:nvSpPr>
          <p:spPr>
            <a:xfrm flipH="false" flipV="false" rot="0">
              <a:off x="0" y="0"/>
              <a:ext cx="285750" cy="400050"/>
            </a:xfrm>
            <a:custGeom>
              <a:avLst/>
              <a:gdLst/>
              <a:ahLst/>
              <a:cxnLst/>
              <a:rect r="r" b="b" t="t" l="l"/>
              <a:pathLst>
                <a:path h="400050" w="285750">
                  <a:moveTo>
                    <a:pt x="0" y="0"/>
                  </a:moveTo>
                  <a:lnTo>
                    <a:pt x="285750" y="0"/>
                  </a:lnTo>
                  <a:lnTo>
                    <a:pt x="285750" y="400050"/>
                  </a:lnTo>
                  <a:lnTo>
                    <a:pt x="0" y="400050"/>
                  </a:lnTo>
                  <a:lnTo>
                    <a:pt x="0" y="0"/>
                  </a:lnTo>
                  <a:close/>
                </a:path>
              </a:pathLst>
            </a:custGeom>
            <a:blipFill>
              <a:blip r:embed="rId13"/>
              <a:stretch>
                <a:fillRect l="0" t="0" r="0" b="0"/>
              </a:stretch>
            </a:blipFill>
          </p:spPr>
        </p:sp>
      </p:grpSp>
      <p:grpSp>
        <p:nvGrpSpPr>
          <p:cNvPr name="Group 16" id="16"/>
          <p:cNvGrpSpPr/>
          <p:nvPr/>
        </p:nvGrpSpPr>
        <p:grpSpPr>
          <a:xfrm rot="0">
            <a:off x="10086975" y="7231056"/>
            <a:ext cx="214312" cy="300038"/>
            <a:chOff x="0" y="0"/>
            <a:chExt cx="285750" cy="400050"/>
          </a:xfrm>
        </p:grpSpPr>
        <p:sp>
          <p:nvSpPr>
            <p:cNvPr name="Freeform 17" id="17" descr="image.png"/>
            <p:cNvSpPr/>
            <p:nvPr/>
          </p:nvSpPr>
          <p:spPr>
            <a:xfrm flipH="false" flipV="false" rot="0">
              <a:off x="0" y="0"/>
              <a:ext cx="285750" cy="400050"/>
            </a:xfrm>
            <a:custGeom>
              <a:avLst/>
              <a:gdLst/>
              <a:ahLst/>
              <a:cxnLst/>
              <a:rect r="r" b="b" t="t" l="l"/>
              <a:pathLst>
                <a:path h="400050" w="285750">
                  <a:moveTo>
                    <a:pt x="0" y="0"/>
                  </a:moveTo>
                  <a:lnTo>
                    <a:pt x="285750" y="0"/>
                  </a:lnTo>
                  <a:lnTo>
                    <a:pt x="285750" y="400050"/>
                  </a:lnTo>
                  <a:lnTo>
                    <a:pt x="0" y="400050"/>
                  </a:lnTo>
                  <a:lnTo>
                    <a:pt x="0" y="0"/>
                  </a:lnTo>
                  <a:close/>
                </a:path>
              </a:pathLst>
            </a:custGeom>
            <a:blipFill>
              <a:blip r:embed="rId13"/>
              <a:stretch>
                <a:fillRect l="0" t="0" r="0" b="0"/>
              </a:stretch>
            </a:blipFill>
          </p:spPr>
        </p:sp>
      </p:grpSp>
      <p:sp>
        <p:nvSpPr>
          <p:cNvPr name="Freeform 18" id="18"/>
          <p:cNvSpPr/>
          <p:nvPr/>
        </p:nvSpPr>
        <p:spPr>
          <a:xfrm flipH="false" flipV="false" rot="0">
            <a:off x="0" y="3006700"/>
            <a:ext cx="9271441" cy="5456329"/>
          </a:xfrm>
          <a:custGeom>
            <a:avLst/>
            <a:gdLst/>
            <a:ahLst/>
            <a:cxnLst/>
            <a:rect r="r" b="b" t="t" l="l"/>
            <a:pathLst>
              <a:path h="5456329" w="9271441">
                <a:moveTo>
                  <a:pt x="0" y="0"/>
                </a:moveTo>
                <a:lnTo>
                  <a:pt x="9271441" y="0"/>
                </a:lnTo>
                <a:lnTo>
                  <a:pt x="9271441" y="5456329"/>
                </a:lnTo>
                <a:lnTo>
                  <a:pt x="0" y="5456329"/>
                </a:lnTo>
                <a:lnTo>
                  <a:pt x="0" y="0"/>
                </a:lnTo>
                <a:close/>
              </a:path>
            </a:pathLst>
          </a:custGeom>
          <a:blipFill>
            <a:blip r:embed="rId14"/>
            <a:stretch>
              <a:fillRect l="0" t="0" r="0" b="0"/>
            </a:stretch>
          </a:blipFill>
        </p:spPr>
      </p:sp>
      <p:sp>
        <p:nvSpPr>
          <p:cNvPr name="TextBox 19" id="19"/>
          <p:cNvSpPr txBox="true"/>
          <p:nvPr/>
        </p:nvSpPr>
        <p:spPr>
          <a:xfrm rot="0">
            <a:off x="1531429" y="952900"/>
            <a:ext cx="11537355"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6.2. So sánh Kỹ thuật Huấn luyện</a:t>
            </a:r>
          </a:p>
        </p:txBody>
      </p:sp>
      <p:sp>
        <p:nvSpPr>
          <p:cNvPr name="TextBox 20" id="20"/>
          <p:cNvSpPr txBox="true"/>
          <p:nvPr/>
        </p:nvSpPr>
        <p:spPr>
          <a:xfrm rot="0">
            <a:off x="10086975" y="4016645"/>
            <a:ext cx="2157115" cy="526923"/>
          </a:xfrm>
          <a:prstGeom prst="rect">
            <a:avLst/>
          </a:prstGeom>
        </p:spPr>
        <p:txBody>
          <a:bodyPr anchor="t" rtlCol="false" tIns="0" lIns="0" bIns="0" rIns="0">
            <a:spAutoFit/>
          </a:bodyPr>
          <a:lstStyle/>
          <a:p>
            <a:pPr algn="l">
              <a:lnSpc>
                <a:spcPts val="4355"/>
              </a:lnSpc>
            </a:pPr>
            <a:r>
              <a:rPr lang="en-US" b="true" sz="3024">
                <a:solidFill>
                  <a:srgbClr val="0F172A"/>
                </a:solidFill>
                <a:latin typeface="Inter Bold"/>
                <a:ea typeface="Inter Bold"/>
                <a:cs typeface="Inter Bold"/>
                <a:sym typeface="Inter Bold"/>
              </a:rPr>
              <a:t>Fine-tuning</a:t>
            </a:r>
          </a:p>
        </p:txBody>
      </p:sp>
      <p:sp>
        <p:nvSpPr>
          <p:cNvPr name="TextBox 21" id="21"/>
          <p:cNvSpPr txBox="true"/>
          <p:nvPr/>
        </p:nvSpPr>
        <p:spPr>
          <a:xfrm rot="0">
            <a:off x="10086975" y="4528918"/>
            <a:ext cx="6757988" cy="10995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Điều chỉnh trọng số mô hình qua tập dữ liệu mẫu.</a:t>
            </a:r>
          </a:p>
        </p:txBody>
      </p:sp>
      <p:sp>
        <p:nvSpPr>
          <p:cNvPr name="TextBox 22" id="22"/>
          <p:cNvSpPr txBox="true"/>
          <p:nvPr/>
        </p:nvSpPr>
        <p:spPr>
          <a:xfrm rot="0">
            <a:off x="10306050" y="6523835"/>
            <a:ext cx="6538912"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Cần tối thiểu 10-50 ví dụ chuẩn bị kỹ.</a:t>
            </a:r>
          </a:p>
        </p:txBody>
      </p:sp>
      <p:sp>
        <p:nvSpPr>
          <p:cNvPr name="TextBox 23" id="23"/>
          <p:cNvSpPr txBox="true"/>
          <p:nvPr/>
        </p:nvSpPr>
        <p:spPr>
          <a:xfrm rot="0">
            <a:off x="10306050" y="6981035"/>
            <a:ext cx="6538912" cy="528066"/>
          </a:xfrm>
          <a:prstGeom prst="rect">
            <a:avLst/>
          </a:prstGeom>
        </p:spPr>
        <p:txBody>
          <a:bodyPr anchor="t" rtlCol="false" tIns="0" lIns="0" bIns="0" rIns="0">
            <a:spAutoFit/>
          </a:bodyPr>
          <a:lstStyle/>
          <a:p>
            <a:pPr algn="l">
              <a:lnSpc>
                <a:spcPts val="4511"/>
              </a:lnSpc>
            </a:pPr>
            <a:r>
              <a:rPr lang="en-US" sz="2349">
                <a:solidFill>
                  <a:srgbClr val="475569"/>
                </a:solidFill>
                <a:latin typeface="Inter"/>
                <a:ea typeface="Inter"/>
                <a:cs typeface="Inter"/>
                <a:sym typeface="Inter"/>
              </a:rPr>
              <a:t>Tốn chi phí huấn luyện ban đầu.</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1846123"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6.3. Chuẩn bị Dữ liệu (File JSONL)</a:t>
            </a:r>
          </a:p>
        </p:txBody>
      </p:sp>
      <p:sp>
        <p:nvSpPr>
          <p:cNvPr name="TextBox 7" id="7"/>
          <p:cNvSpPr txBox="true"/>
          <p:nvPr/>
        </p:nvSpPr>
        <p:spPr>
          <a:xfrm rot="0">
            <a:off x="2178684" y="2626328"/>
            <a:ext cx="13915975" cy="1354727"/>
          </a:xfrm>
          <a:prstGeom prst="rect">
            <a:avLst/>
          </a:prstGeom>
        </p:spPr>
        <p:txBody>
          <a:bodyPr anchor="t" rtlCol="false" tIns="0" lIns="0" bIns="0" rIns="0">
            <a:spAutoFit/>
          </a:bodyPr>
          <a:lstStyle/>
          <a:p>
            <a:pPr algn="l">
              <a:lnSpc>
                <a:spcPts val="5653"/>
              </a:lnSpc>
            </a:pPr>
            <a:r>
              <a:rPr lang="en-US" b="true" sz="2944">
                <a:solidFill>
                  <a:srgbClr val="475569"/>
                </a:solidFill>
                <a:latin typeface="Inter Bold"/>
                <a:ea typeface="Inter Bold"/>
                <a:cs typeface="Inter Bold"/>
                <a:sym typeface="Inter Bold"/>
              </a:rPr>
              <a:t>Định dạng JSONL:</a:t>
            </a:r>
            <a:r>
              <a:rPr lang="en-US" sz="2944">
                <a:solidFill>
                  <a:srgbClr val="475569"/>
                </a:solidFill>
                <a:latin typeface="Inter"/>
                <a:ea typeface="Inter"/>
                <a:cs typeface="Inter"/>
                <a:sym typeface="Inter"/>
              </a:rPr>
              <a:t> Mỗi dòng là một object độc lập (role: system/user/assistant), bao gồm trọng số đánh giá ().</a:t>
            </a:r>
          </a:p>
        </p:txBody>
      </p:sp>
      <p:sp>
        <p:nvSpPr>
          <p:cNvPr name="TextBox 8" id="8"/>
          <p:cNvSpPr txBox="true"/>
          <p:nvPr/>
        </p:nvSpPr>
        <p:spPr>
          <a:xfrm rot="0">
            <a:off x="2178684" y="4001745"/>
            <a:ext cx="13915975" cy="1354727"/>
          </a:xfrm>
          <a:prstGeom prst="rect">
            <a:avLst/>
          </a:prstGeom>
        </p:spPr>
        <p:txBody>
          <a:bodyPr anchor="t" rtlCol="false" tIns="0" lIns="0" bIns="0" rIns="0">
            <a:spAutoFit/>
          </a:bodyPr>
          <a:lstStyle/>
          <a:p>
            <a:pPr algn="l">
              <a:lnSpc>
                <a:spcPts val="5653"/>
              </a:lnSpc>
            </a:pPr>
            <a:r>
              <a:rPr lang="en-US" b="true" sz="2944">
                <a:solidFill>
                  <a:srgbClr val="475569"/>
                </a:solidFill>
                <a:latin typeface="Inter Bold"/>
                <a:ea typeface="Inter Bold"/>
                <a:cs typeface="Inter Bold"/>
                <a:sym typeface="Inter Bold"/>
              </a:rPr>
              <a:t>Cân bằng tập dữ liệu:</a:t>
            </a:r>
            <a:r>
              <a:rPr lang="en-US" sz="2944">
                <a:solidFill>
                  <a:srgbClr val="475569"/>
                </a:solidFill>
                <a:latin typeface="Inter"/>
                <a:ea typeface="Inter"/>
                <a:cs typeface="Inter"/>
                <a:sym typeface="Inter"/>
              </a:rPr>
              <a:t> 15 ví dụ chia làm 4 nhóm: Code-only, Contrastive code-only, Code no comments, Contrastive no comments.</a:t>
            </a:r>
          </a:p>
        </p:txBody>
      </p:sp>
      <p:sp>
        <p:nvSpPr>
          <p:cNvPr name="TextBox 9" id="9"/>
          <p:cNvSpPr txBox="true"/>
          <p:nvPr/>
        </p:nvSpPr>
        <p:spPr>
          <a:xfrm rot="0">
            <a:off x="2178684" y="5360979"/>
            <a:ext cx="13915975" cy="2066707"/>
          </a:xfrm>
          <a:prstGeom prst="rect">
            <a:avLst/>
          </a:prstGeom>
        </p:spPr>
        <p:txBody>
          <a:bodyPr anchor="t" rtlCol="false" tIns="0" lIns="0" bIns="0" rIns="0">
            <a:spAutoFit/>
          </a:bodyPr>
          <a:lstStyle/>
          <a:p>
            <a:pPr algn="l">
              <a:lnSpc>
                <a:spcPts val="5653"/>
              </a:lnSpc>
            </a:pPr>
            <a:r>
              <a:rPr lang="en-US" b="true" sz="2944">
                <a:solidFill>
                  <a:srgbClr val="475569"/>
                </a:solidFill>
                <a:latin typeface="Inter Bold"/>
                <a:ea typeface="Inter Bold"/>
                <a:cs typeface="Inter Bold"/>
                <a:sym typeface="Inter Bold"/>
              </a:rPr>
              <a:t>Nguyên tắc Nhất quán:</a:t>
            </a:r>
            <a:r>
              <a:rPr lang="en-US" sz="2944">
                <a:solidFill>
                  <a:srgbClr val="475569"/>
                </a:solidFill>
                <a:latin typeface="Inter"/>
                <a:ea typeface="Inter"/>
                <a:cs typeface="Inter"/>
                <a:sym typeface="Inter"/>
              </a:rPr>
              <a:t> Các ví dụ phải cùng chung một phong cách (không comment, phân tách logic thành helper functions). Mô hình học từ tính đồng nhất này.</a:t>
            </a:r>
          </a:p>
        </p:txBody>
      </p:sp>
      <p:sp>
        <p:nvSpPr>
          <p:cNvPr name="TextBox 10" id="10"/>
          <p:cNvSpPr txBox="true"/>
          <p:nvPr/>
        </p:nvSpPr>
        <p:spPr>
          <a:xfrm rot="0">
            <a:off x="2178684" y="7580086"/>
            <a:ext cx="13915975" cy="1354727"/>
          </a:xfrm>
          <a:prstGeom prst="rect">
            <a:avLst/>
          </a:prstGeom>
        </p:spPr>
        <p:txBody>
          <a:bodyPr anchor="t" rtlCol="false" tIns="0" lIns="0" bIns="0" rIns="0">
            <a:spAutoFit/>
          </a:bodyPr>
          <a:lstStyle/>
          <a:p>
            <a:pPr algn="l">
              <a:lnSpc>
                <a:spcPts val="5653"/>
              </a:lnSpc>
            </a:pPr>
            <a:r>
              <a:rPr lang="en-US" b="true" sz="2944">
                <a:solidFill>
                  <a:srgbClr val="475569"/>
                </a:solidFill>
                <a:latin typeface="Inter Bold"/>
                <a:ea typeface="Inter Bold"/>
                <a:cs typeface="Inter Bold"/>
                <a:sym typeface="Inter Bold"/>
              </a:rPr>
              <a:t>Thử nghiệm trước:</a:t>
            </a:r>
            <a:r>
              <a:rPr lang="en-US" sz="2944">
                <a:solidFill>
                  <a:srgbClr val="475569"/>
                </a:solidFill>
                <a:latin typeface="Inter"/>
                <a:ea typeface="Inter"/>
                <a:cs typeface="Inter"/>
                <a:sym typeface="Inter"/>
              </a:rPr>
              <a:t> Luôn dùng OpenAI Playground để đánh giá baseline (mô hình gốc) trước khi quyết định Fine-tune.</a:t>
            </a:r>
          </a:p>
        </p:txBody>
      </p:sp>
      <p:grpSp>
        <p:nvGrpSpPr>
          <p:cNvPr name="Group 11" id="11"/>
          <p:cNvGrpSpPr/>
          <p:nvPr/>
        </p:nvGrpSpPr>
        <p:grpSpPr>
          <a:xfrm rot="0">
            <a:off x="5091330" y="3376520"/>
            <a:ext cx="1165058" cy="469260"/>
            <a:chOff x="0" y="0"/>
            <a:chExt cx="1371600" cy="552450"/>
          </a:xfrm>
        </p:grpSpPr>
        <p:sp>
          <p:nvSpPr>
            <p:cNvPr name="Freeform 12" id="12" descr="image.png"/>
            <p:cNvSpPr/>
            <p:nvPr/>
          </p:nvSpPr>
          <p:spPr>
            <a:xfrm flipH="false" flipV="false" rot="0">
              <a:off x="0" y="0"/>
              <a:ext cx="1371600" cy="552450"/>
            </a:xfrm>
            <a:custGeom>
              <a:avLst/>
              <a:gdLst/>
              <a:ahLst/>
              <a:cxnLst/>
              <a:rect r="r" b="b" t="t" l="l"/>
              <a:pathLst>
                <a:path h="552450" w="1371600">
                  <a:moveTo>
                    <a:pt x="0" y="0"/>
                  </a:moveTo>
                  <a:lnTo>
                    <a:pt x="1371600" y="0"/>
                  </a:lnTo>
                  <a:lnTo>
                    <a:pt x="1371600" y="552450"/>
                  </a:lnTo>
                  <a:lnTo>
                    <a:pt x="0" y="552450"/>
                  </a:lnTo>
                  <a:lnTo>
                    <a:pt x="0" y="0"/>
                  </a:lnTo>
                  <a:close/>
                </a:path>
              </a:pathLst>
            </a:custGeom>
            <a:blipFill>
              <a:blip r:embed="rId11"/>
              <a:stretch>
                <a:fillRect l="0" t="0" r="0" b="-3448"/>
              </a:stretch>
            </a:blipFill>
          </p:spPr>
        </p:sp>
      </p:grpSp>
      <p:grpSp>
        <p:nvGrpSpPr>
          <p:cNvPr name="Group 13" id="13"/>
          <p:cNvGrpSpPr/>
          <p:nvPr/>
        </p:nvGrpSpPr>
        <p:grpSpPr>
          <a:xfrm rot="0">
            <a:off x="1531429" y="2915351"/>
            <a:ext cx="242720" cy="339809"/>
            <a:chOff x="0" y="0"/>
            <a:chExt cx="285750" cy="400050"/>
          </a:xfrm>
        </p:grpSpPr>
        <p:sp>
          <p:nvSpPr>
            <p:cNvPr name="Freeform 14" id="14" descr="image.png"/>
            <p:cNvSpPr/>
            <p:nvPr/>
          </p:nvSpPr>
          <p:spPr>
            <a:xfrm flipH="false" flipV="false" rot="0">
              <a:off x="0" y="0"/>
              <a:ext cx="285750" cy="400050"/>
            </a:xfrm>
            <a:custGeom>
              <a:avLst/>
              <a:gdLst/>
              <a:ahLst/>
              <a:cxnLst/>
              <a:rect r="r" b="b" t="t" l="l"/>
              <a:pathLst>
                <a:path h="400050" w="285750">
                  <a:moveTo>
                    <a:pt x="0" y="0"/>
                  </a:moveTo>
                  <a:lnTo>
                    <a:pt x="285750" y="0"/>
                  </a:lnTo>
                  <a:lnTo>
                    <a:pt x="285750" y="400050"/>
                  </a:lnTo>
                  <a:lnTo>
                    <a:pt x="0" y="400050"/>
                  </a:lnTo>
                  <a:lnTo>
                    <a:pt x="0" y="0"/>
                  </a:lnTo>
                  <a:close/>
                </a:path>
              </a:pathLst>
            </a:custGeom>
            <a:blipFill>
              <a:blip r:embed="rId12"/>
              <a:stretch>
                <a:fillRect l="0" t="0" r="0" b="0"/>
              </a:stretch>
            </a:blipFill>
          </p:spPr>
        </p:sp>
      </p:grpSp>
      <p:grpSp>
        <p:nvGrpSpPr>
          <p:cNvPr name="Group 15" id="15"/>
          <p:cNvGrpSpPr/>
          <p:nvPr/>
        </p:nvGrpSpPr>
        <p:grpSpPr>
          <a:xfrm rot="0">
            <a:off x="1531430" y="4290767"/>
            <a:ext cx="404534" cy="339809"/>
            <a:chOff x="0" y="0"/>
            <a:chExt cx="476250" cy="400050"/>
          </a:xfrm>
        </p:grpSpPr>
        <p:sp>
          <p:nvSpPr>
            <p:cNvPr name="Freeform 16" id="16" descr="image.png"/>
            <p:cNvSpPr/>
            <p:nvPr/>
          </p:nvSpPr>
          <p:spPr>
            <a:xfrm flipH="false" flipV="false" rot="0">
              <a:off x="0" y="0"/>
              <a:ext cx="476250" cy="400050"/>
            </a:xfrm>
            <a:custGeom>
              <a:avLst/>
              <a:gdLst/>
              <a:ahLst/>
              <a:cxnLst/>
              <a:rect r="r" b="b" t="t" l="l"/>
              <a:pathLst>
                <a:path h="400050" w="476250">
                  <a:moveTo>
                    <a:pt x="0" y="0"/>
                  </a:moveTo>
                  <a:lnTo>
                    <a:pt x="476250" y="0"/>
                  </a:lnTo>
                  <a:lnTo>
                    <a:pt x="476250" y="400050"/>
                  </a:lnTo>
                  <a:lnTo>
                    <a:pt x="0" y="400050"/>
                  </a:lnTo>
                  <a:lnTo>
                    <a:pt x="0" y="0"/>
                  </a:lnTo>
                  <a:close/>
                </a:path>
              </a:pathLst>
            </a:custGeom>
            <a:blipFill>
              <a:blip r:embed="rId13"/>
              <a:stretch>
                <a:fillRect l="0" t="0" r="0" b="0"/>
              </a:stretch>
            </a:blipFill>
          </p:spPr>
        </p:sp>
      </p:grpSp>
      <p:grpSp>
        <p:nvGrpSpPr>
          <p:cNvPr name="Group 17" id="17"/>
          <p:cNvGrpSpPr/>
          <p:nvPr/>
        </p:nvGrpSpPr>
        <p:grpSpPr>
          <a:xfrm rot="0">
            <a:off x="1531429" y="5650002"/>
            <a:ext cx="323627" cy="339809"/>
            <a:chOff x="0" y="0"/>
            <a:chExt cx="381000" cy="400050"/>
          </a:xfrm>
        </p:grpSpPr>
        <p:sp>
          <p:nvSpPr>
            <p:cNvPr name="Freeform 18" id="18" descr="image.png"/>
            <p:cNvSpPr/>
            <p:nvPr/>
          </p:nvSpPr>
          <p:spPr>
            <a:xfrm flipH="false" flipV="false" rot="0">
              <a:off x="0" y="0"/>
              <a:ext cx="381000" cy="400050"/>
            </a:xfrm>
            <a:custGeom>
              <a:avLst/>
              <a:gdLst/>
              <a:ahLst/>
              <a:cxnLst/>
              <a:rect r="r" b="b" t="t" l="l"/>
              <a:pathLst>
                <a:path h="400050" w="381000">
                  <a:moveTo>
                    <a:pt x="0" y="0"/>
                  </a:moveTo>
                  <a:lnTo>
                    <a:pt x="381000" y="0"/>
                  </a:lnTo>
                  <a:lnTo>
                    <a:pt x="381000" y="400050"/>
                  </a:lnTo>
                  <a:lnTo>
                    <a:pt x="0" y="400050"/>
                  </a:lnTo>
                  <a:lnTo>
                    <a:pt x="0" y="0"/>
                  </a:lnTo>
                  <a:close/>
                </a:path>
              </a:pathLst>
            </a:custGeom>
            <a:blipFill>
              <a:blip r:embed="rId14"/>
              <a:stretch>
                <a:fillRect l="0" t="0" r="0" b="0"/>
              </a:stretch>
            </a:blipFill>
          </p:spPr>
        </p:sp>
      </p:grpSp>
      <p:grpSp>
        <p:nvGrpSpPr>
          <p:cNvPr name="Group 19" id="19"/>
          <p:cNvGrpSpPr/>
          <p:nvPr/>
        </p:nvGrpSpPr>
        <p:grpSpPr>
          <a:xfrm rot="0">
            <a:off x="1531429" y="7869109"/>
            <a:ext cx="291265" cy="339809"/>
            <a:chOff x="0" y="0"/>
            <a:chExt cx="342900" cy="400050"/>
          </a:xfrm>
        </p:grpSpPr>
        <p:sp>
          <p:nvSpPr>
            <p:cNvPr name="Freeform 20" id="20"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5"/>
              <a:stretch>
                <a:fillRect l="0" t="0" r="0" b="0"/>
              </a:stretch>
            </a:blipFill>
          </p:spPr>
        </p:sp>
      </p:gr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2450763"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6.3.3. Kỹ thuật Contrastive Learning</a:t>
            </a:r>
          </a:p>
        </p:txBody>
      </p:sp>
      <p:grpSp>
        <p:nvGrpSpPr>
          <p:cNvPr name="Group 7" id="7"/>
          <p:cNvGrpSpPr/>
          <p:nvPr/>
        </p:nvGrpSpPr>
        <p:grpSpPr>
          <a:xfrm rot="0">
            <a:off x="2694013" y="4302376"/>
            <a:ext cx="12290344" cy="1497141"/>
            <a:chOff x="0" y="0"/>
            <a:chExt cx="14260375" cy="1737119"/>
          </a:xfrm>
        </p:grpSpPr>
        <p:sp>
          <p:nvSpPr>
            <p:cNvPr name="Freeform 8" id="8" descr="image.png"/>
            <p:cNvSpPr/>
            <p:nvPr/>
          </p:nvSpPr>
          <p:spPr>
            <a:xfrm flipH="false" flipV="false" rot="0">
              <a:off x="0" y="0"/>
              <a:ext cx="14260375" cy="1737106"/>
            </a:xfrm>
            <a:custGeom>
              <a:avLst/>
              <a:gdLst/>
              <a:ahLst/>
              <a:cxnLst/>
              <a:rect r="r" b="b" t="t" l="l"/>
              <a:pathLst>
                <a:path h="1737106" w="14260375">
                  <a:moveTo>
                    <a:pt x="0" y="0"/>
                  </a:moveTo>
                  <a:lnTo>
                    <a:pt x="14260375" y="0"/>
                  </a:lnTo>
                  <a:lnTo>
                    <a:pt x="14260375" y="1737106"/>
                  </a:lnTo>
                  <a:lnTo>
                    <a:pt x="0" y="1737106"/>
                  </a:lnTo>
                  <a:lnTo>
                    <a:pt x="0" y="0"/>
                  </a:lnTo>
                  <a:close/>
                </a:path>
              </a:pathLst>
            </a:custGeom>
            <a:blipFill>
              <a:blip r:embed="rId11"/>
              <a:stretch>
                <a:fillRect l="0" t="-17439" r="0" b="-18642"/>
              </a:stretch>
            </a:blipFill>
          </p:spPr>
        </p:sp>
      </p:grpSp>
      <p:grpSp>
        <p:nvGrpSpPr>
          <p:cNvPr name="Group 9" id="9"/>
          <p:cNvGrpSpPr/>
          <p:nvPr/>
        </p:nvGrpSpPr>
        <p:grpSpPr>
          <a:xfrm rot="0">
            <a:off x="2694013" y="6045802"/>
            <a:ext cx="12290344" cy="1497141"/>
            <a:chOff x="0" y="0"/>
            <a:chExt cx="14260375" cy="1737119"/>
          </a:xfrm>
        </p:grpSpPr>
        <p:sp>
          <p:nvSpPr>
            <p:cNvPr name="Freeform 10" id="10" descr="image.png"/>
            <p:cNvSpPr/>
            <p:nvPr/>
          </p:nvSpPr>
          <p:spPr>
            <a:xfrm flipH="false" flipV="false" rot="0">
              <a:off x="0" y="0"/>
              <a:ext cx="14260375" cy="1737106"/>
            </a:xfrm>
            <a:custGeom>
              <a:avLst/>
              <a:gdLst/>
              <a:ahLst/>
              <a:cxnLst/>
              <a:rect r="r" b="b" t="t" l="l"/>
              <a:pathLst>
                <a:path h="1737106" w="14260375">
                  <a:moveTo>
                    <a:pt x="0" y="0"/>
                  </a:moveTo>
                  <a:lnTo>
                    <a:pt x="14260375" y="0"/>
                  </a:lnTo>
                  <a:lnTo>
                    <a:pt x="14260375" y="1737106"/>
                  </a:lnTo>
                  <a:lnTo>
                    <a:pt x="0" y="1737106"/>
                  </a:lnTo>
                  <a:lnTo>
                    <a:pt x="0" y="0"/>
                  </a:lnTo>
                  <a:close/>
                </a:path>
              </a:pathLst>
            </a:custGeom>
            <a:blipFill>
              <a:blip r:embed="rId12"/>
              <a:stretch>
                <a:fillRect l="0" t="-17439" r="0" b="-20121"/>
              </a:stretch>
            </a:blipFill>
          </p:spPr>
        </p:sp>
      </p:grpSp>
      <p:sp>
        <p:nvSpPr>
          <p:cNvPr name="TextBox 11" id="11"/>
          <p:cNvSpPr txBox="true"/>
          <p:nvPr/>
        </p:nvSpPr>
        <p:spPr>
          <a:xfrm rot="0">
            <a:off x="2694013" y="2210543"/>
            <a:ext cx="12904861" cy="672885"/>
          </a:xfrm>
          <a:prstGeom prst="rect">
            <a:avLst/>
          </a:prstGeom>
        </p:spPr>
        <p:txBody>
          <a:bodyPr anchor="t" rtlCol="false" tIns="0" lIns="0" bIns="0" rIns="0">
            <a:spAutoFit/>
          </a:bodyPr>
          <a:lstStyle/>
          <a:p>
            <a:pPr algn="l">
              <a:lnSpc>
                <a:spcPts val="5560"/>
              </a:lnSpc>
            </a:pPr>
            <a:r>
              <a:rPr lang="en-US" b="true" sz="3861">
                <a:solidFill>
                  <a:srgbClr val="2563EB"/>
                </a:solidFill>
                <a:latin typeface="Inter Bold"/>
                <a:ea typeface="Inter Bold"/>
                <a:cs typeface="Inter Bold"/>
                <a:sym typeface="Inter Bold"/>
              </a:rPr>
              <a:t>Học từ Sự Đối lập</a:t>
            </a:r>
          </a:p>
        </p:txBody>
      </p:sp>
      <p:sp>
        <p:nvSpPr>
          <p:cNvPr name="TextBox 12" id="12"/>
          <p:cNvSpPr txBox="true"/>
          <p:nvPr/>
        </p:nvSpPr>
        <p:spPr>
          <a:xfrm rot="0">
            <a:off x="2694013" y="2786255"/>
            <a:ext cx="12290344" cy="1422832"/>
          </a:xfrm>
          <a:prstGeom prst="rect">
            <a:avLst/>
          </a:prstGeom>
        </p:spPr>
        <p:txBody>
          <a:bodyPr anchor="t" rtlCol="false" tIns="0" lIns="0" bIns="0" rIns="0">
            <a:spAutoFit/>
          </a:bodyPr>
          <a:lstStyle/>
          <a:p>
            <a:pPr algn="l">
              <a:lnSpc>
                <a:spcPts val="5924"/>
              </a:lnSpc>
            </a:pPr>
            <a:r>
              <a:rPr lang="en-US" sz="3085">
                <a:solidFill>
                  <a:srgbClr val="475569"/>
                </a:solidFill>
                <a:latin typeface="Inter"/>
                <a:ea typeface="Inter"/>
                <a:cs typeface="Inter"/>
                <a:sym typeface="Inter"/>
              </a:rPr>
              <a:t>Dạy mô hình bằng cách cho thấy rõ cái gì là sai trước khi chỉ ra cái đúng.</a:t>
            </a:r>
          </a:p>
        </p:txBody>
      </p:sp>
      <p:sp>
        <p:nvSpPr>
          <p:cNvPr name="TextBox 13" id="13"/>
          <p:cNvSpPr txBox="true"/>
          <p:nvPr/>
        </p:nvSpPr>
        <p:spPr>
          <a:xfrm rot="0">
            <a:off x="2694013" y="7570142"/>
            <a:ext cx="12290344" cy="1422832"/>
          </a:xfrm>
          <a:prstGeom prst="rect">
            <a:avLst/>
          </a:prstGeom>
        </p:spPr>
        <p:txBody>
          <a:bodyPr anchor="t" rtlCol="false" tIns="0" lIns="0" bIns="0" rIns="0">
            <a:spAutoFit/>
          </a:bodyPr>
          <a:lstStyle/>
          <a:p>
            <a:pPr algn="l">
              <a:lnSpc>
                <a:spcPts val="5924"/>
              </a:lnSpc>
            </a:pPr>
            <a:r>
              <a:rPr lang="en-US" sz="3085">
                <a:solidFill>
                  <a:srgbClr val="475569"/>
                </a:solidFill>
                <a:latin typeface="Inter"/>
                <a:ea typeface="Inter"/>
                <a:cs typeface="Inter"/>
                <a:sym typeface="Inter"/>
              </a:rPr>
              <a:t>Cách này giống Prompt Chaining nhưng gói gọn vào dữ liệu huấn luyện để mô hình làm đúng ngay từ đầu.</a:t>
            </a:r>
          </a:p>
        </p:txBody>
      </p:sp>
      <p:sp>
        <p:nvSpPr>
          <p:cNvPr name="TextBox 14" id="14"/>
          <p:cNvSpPr txBox="true"/>
          <p:nvPr/>
        </p:nvSpPr>
        <p:spPr>
          <a:xfrm rot="0">
            <a:off x="3225487" y="4449767"/>
            <a:ext cx="11315974" cy="1184367"/>
          </a:xfrm>
          <a:prstGeom prst="rect">
            <a:avLst/>
          </a:prstGeom>
        </p:spPr>
        <p:txBody>
          <a:bodyPr anchor="t" rtlCol="false" tIns="0" lIns="0" bIns="0" rIns="0">
            <a:spAutoFit/>
          </a:bodyPr>
          <a:lstStyle/>
          <a:p>
            <a:pPr algn="l">
              <a:lnSpc>
                <a:spcPts val="4931"/>
              </a:lnSpc>
            </a:pPr>
            <a:r>
              <a:rPr lang="en-US" b="true" sz="2568">
                <a:solidFill>
                  <a:srgbClr val="475569"/>
                </a:solidFill>
                <a:latin typeface="Inter Bold"/>
                <a:ea typeface="Inter Bold"/>
                <a:cs typeface="Inter Bold"/>
                <a:sym typeface="Inter Bold"/>
              </a:rPr>
              <a:t>Bước 1 (Weight=0):</a:t>
            </a:r>
            <a:r>
              <a:rPr lang="en-US" sz="2568">
                <a:solidFill>
                  <a:srgbClr val="475569"/>
                </a:solidFill>
                <a:latin typeface="Inter"/>
                <a:ea typeface="Inter"/>
                <a:cs typeface="Inter"/>
                <a:sym typeface="Inter"/>
              </a:rPr>
              <a:t> Đưa ra phản hồi "Tệ" (có giải thích dài, comment thừa).</a:t>
            </a:r>
          </a:p>
        </p:txBody>
      </p:sp>
      <p:sp>
        <p:nvSpPr>
          <p:cNvPr name="TextBox 15" id="15"/>
          <p:cNvSpPr txBox="true"/>
          <p:nvPr/>
        </p:nvSpPr>
        <p:spPr>
          <a:xfrm rot="0">
            <a:off x="3225487" y="6193193"/>
            <a:ext cx="11315974" cy="1184367"/>
          </a:xfrm>
          <a:prstGeom prst="rect">
            <a:avLst/>
          </a:prstGeom>
        </p:spPr>
        <p:txBody>
          <a:bodyPr anchor="t" rtlCol="false" tIns="0" lIns="0" bIns="0" rIns="0">
            <a:spAutoFit/>
          </a:bodyPr>
          <a:lstStyle/>
          <a:p>
            <a:pPr algn="l">
              <a:lnSpc>
                <a:spcPts val="4931"/>
              </a:lnSpc>
            </a:pPr>
            <a:r>
              <a:rPr lang="en-US" b="true" sz="2568">
                <a:solidFill>
                  <a:srgbClr val="475569"/>
                </a:solidFill>
                <a:latin typeface="Inter Bold"/>
                <a:ea typeface="Inter Bold"/>
                <a:cs typeface="Inter Bold"/>
                <a:sym typeface="Inter Bold"/>
              </a:rPr>
              <a:t>Bước 2 (Weight=1):</a:t>
            </a:r>
            <a:r>
              <a:rPr lang="en-US" sz="2568">
                <a:solidFill>
                  <a:srgbClr val="475569"/>
                </a:solidFill>
                <a:latin typeface="Inter"/>
                <a:ea typeface="Inter"/>
                <a:cs typeface="Inter"/>
                <a:sym typeface="Inter"/>
              </a:rPr>
              <a:t> Đưa ra prompt sửa sai và phản hồi "Tốt" (chỉ code sạch).</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6" id="6"/>
          <p:cNvSpPr txBox="true"/>
          <p:nvPr/>
        </p:nvSpPr>
        <p:spPr>
          <a:xfrm rot="0">
            <a:off x="1531429" y="952900"/>
            <a:ext cx="11802963"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6.4. Chi phí &amp; Quá trình Thực hiện</a:t>
            </a:r>
          </a:p>
        </p:txBody>
      </p:sp>
      <p:sp>
        <p:nvSpPr>
          <p:cNvPr name="TextBox 7" id="7"/>
          <p:cNvSpPr txBox="true"/>
          <p:nvPr/>
        </p:nvSpPr>
        <p:spPr>
          <a:xfrm rot="0">
            <a:off x="857250" y="6591081"/>
            <a:ext cx="16573500" cy="1215010"/>
          </a:xfrm>
          <a:prstGeom prst="rect">
            <a:avLst/>
          </a:prstGeom>
        </p:spPr>
        <p:txBody>
          <a:bodyPr anchor="t" rtlCol="false" tIns="0" lIns="0" bIns="0" rIns="0">
            <a:spAutoFit/>
          </a:bodyPr>
          <a:lstStyle/>
          <a:p>
            <a:pPr algn="ctr">
              <a:lnSpc>
                <a:spcPts val="5087"/>
              </a:lnSpc>
            </a:pPr>
            <a:r>
              <a:rPr lang="en-US" b="true" sz="2649">
                <a:solidFill>
                  <a:srgbClr val="475569"/>
                </a:solidFill>
                <a:latin typeface="Inter Medium"/>
                <a:ea typeface="Inter Medium"/>
                <a:cs typeface="Inter Medium"/>
                <a:sym typeface="Inter Medium"/>
              </a:rPr>
              <a:t>Dù chi phí sử dụng model fine-tune đắt hơn model gốc, việc tiết kiệm token đầu vào/đầu ra khiến tổng chi phí thực tế thấp hơn hoặc tương đương.</a:t>
            </a:r>
          </a:p>
        </p:txBody>
      </p:sp>
      <p:sp>
        <p:nvSpPr>
          <p:cNvPr name="TextBox 8" id="8"/>
          <p:cNvSpPr txBox="true"/>
          <p:nvPr/>
        </p:nvSpPr>
        <p:spPr>
          <a:xfrm rot="0">
            <a:off x="857250" y="3568970"/>
            <a:ext cx="5524576" cy="1028700"/>
          </a:xfrm>
          <a:prstGeom prst="rect">
            <a:avLst/>
          </a:prstGeom>
        </p:spPr>
        <p:txBody>
          <a:bodyPr anchor="t" rtlCol="false" tIns="0" lIns="0" bIns="0" rIns="0">
            <a:spAutoFit/>
          </a:bodyPr>
          <a:lstStyle/>
          <a:p>
            <a:pPr algn="ctr">
              <a:lnSpc>
                <a:spcPts val="9720"/>
              </a:lnSpc>
            </a:pPr>
            <a:r>
              <a:rPr lang="en-US" b="true" sz="8100">
                <a:solidFill>
                  <a:srgbClr val="2563EB"/>
                </a:solidFill>
                <a:latin typeface="Inter Bold"/>
                <a:ea typeface="Inter Bold"/>
                <a:cs typeface="Inter Bold"/>
                <a:sym typeface="Inter Bold"/>
              </a:rPr>
              <a:t>5</a:t>
            </a:r>
          </a:p>
        </p:txBody>
      </p:sp>
      <p:sp>
        <p:nvSpPr>
          <p:cNvPr name="TextBox 9" id="9"/>
          <p:cNvSpPr txBox="true"/>
          <p:nvPr/>
        </p:nvSpPr>
        <p:spPr>
          <a:xfrm rot="0">
            <a:off x="2225217" y="4731020"/>
            <a:ext cx="2788642" cy="438150"/>
          </a:xfrm>
          <a:prstGeom prst="rect">
            <a:avLst/>
          </a:prstGeom>
        </p:spPr>
        <p:txBody>
          <a:bodyPr anchor="t" rtlCol="false" tIns="0" lIns="0" bIns="0" rIns="0">
            <a:spAutoFit/>
          </a:bodyPr>
          <a:lstStyle/>
          <a:p>
            <a:pPr algn="ctr">
              <a:lnSpc>
                <a:spcPts val="3449"/>
              </a:lnSpc>
            </a:pPr>
            <a:r>
              <a:rPr lang="en-US" sz="2874">
                <a:solidFill>
                  <a:srgbClr val="0F172A"/>
                </a:solidFill>
                <a:latin typeface="Inter"/>
                <a:ea typeface="Inter"/>
                <a:cs typeface="Inter"/>
                <a:sym typeface="Inter"/>
              </a:rPr>
              <a:t>Phút Huấn luyện</a:t>
            </a:r>
          </a:p>
        </p:txBody>
      </p:sp>
      <p:sp>
        <p:nvSpPr>
          <p:cNvPr name="TextBox 10" id="10"/>
          <p:cNvSpPr txBox="true"/>
          <p:nvPr/>
        </p:nvSpPr>
        <p:spPr>
          <a:xfrm rot="0">
            <a:off x="857250" y="5102495"/>
            <a:ext cx="5524576" cy="484633"/>
          </a:xfrm>
          <a:prstGeom prst="rect">
            <a:avLst/>
          </a:prstGeom>
        </p:spPr>
        <p:txBody>
          <a:bodyPr anchor="t" rtlCol="false" tIns="0" lIns="0" bIns="0" rIns="0">
            <a:spAutoFit/>
          </a:bodyPr>
          <a:lstStyle/>
          <a:p>
            <a:pPr algn="ctr">
              <a:lnSpc>
                <a:spcPts val="4223"/>
              </a:lnSpc>
            </a:pPr>
            <a:r>
              <a:rPr lang="en-US" sz="2199">
                <a:solidFill>
                  <a:srgbClr val="475569"/>
                </a:solidFill>
                <a:latin typeface="Inter"/>
                <a:ea typeface="Inter"/>
                <a:cs typeface="Inter"/>
                <a:sym typeface="Inter"/>
              </a:rPr>
              <a:t>Qua giao diện GUI trực quan của OpenAI.</a:t>
            </a:r>
          </a:p>
        </p:txBody>
      </p:sp>
      <p:sp>
        <p:nvSpPr>
          <p:cNvPr name="TextBox 11" id="11"/>
          <p:cNvSpPr txBox="true"/>
          <p:nvPr/>
        </p:nvSpPr>
        <p:spPr>
          <a:xfrm rot="0">
            <a:off x="6381826" y="3568970"/>
            <a:ext cx="5524576" cy="1028700"/>
          </a:xfrm>
          <a:prstGeom prst="rect">
            <a:avLst/>
          </a:prstGeom>
        </p:spPr>
        <p:txBody>
          <a:bodyPr anchor="t" rtlCol="false" tIns="0" lIns="0" bIns="0" rIns="0">
            <a:spAutoFit/>
          </a:bodyPr>
          <a:lstStyle/>
          <a:p>
            <a:pPr algn="ctr">
              <a:lnSpc>
                <a:spcPts val="9720"/>
              </a:lnSpc>
            </a:pPr>
            <a:r>
              <a:rPr lang="en-US" b="true" sz="8100">
                <a:solidFill>
                  <a:srgbClr val="2563EB"/>
                </a:solidFill>
                <a:latin typeface="Inter Bold"/>
                <a:ea typeface="Inter Bold"/>
                <a:cs typeface="Inter Bold"/>
                <a:sym typeface="Inter Bold"/>
              </a:rPr>
              <a:t>$0.04</a:t>
            </a:r>
          </a:p>
        </p:txBody>
      </p:sp>
      <p:sp>
        <p:nvSpPr>
          <p:cNvPr name="TextBox 12" id="12"/>
          <p:cNvSpPr txBox="true"/>
          <p:nvPr/>
        </p:nvSpPr>
        <p:spPr>
          <a:xfrm rot="0">
            <a:off x="7872279" y="4731020"/>
            <a:ext cx="2543671" cy="438150"/>
          </a:xfrm>
          <a:prstGeom prst="rect">
            <a:avLst/>
          </a:prstGeom>
        </p:spPr>
        <p:txBody>
          <a:bodyPr anchor="t" rtlCol="false" tIns="0" lIns="0" bIns="0" rIns="0">
            <a:spAutoFit/>
          </a:bodyPr>
          <a:lstStyle/>
          <a:p>
            <a:pPr algn="ctr">
              <a:lnSpc>
                <a:spcPts val="3449"/>
              </a:lnSpc>
            </a:pPr>
            <a:r>
              <a:rPr lang="en-US" sz="2874">
                <a:solidFill>
                  <a:srgbClr val="0F172A"/>
                </a:solidFill>
                <a:latin typeface="Inter"/>
                <a:ea typeface="Inter"/>
                <a:cs typeface="Inter"/>
                <a:sym typeface="Inter"/>
              </a:rPr>
              <a:t>Phí Huấn luyện</a:t>
            </a:r>
          </a:p>
        </p:txBody>
      </p:sp>
      <p:sp>
        <p:nvSpPr>
          <p:cNvPr name="TextBox 13" id="13"/>
          <p:cNvSpPr txBox="true"/>
          <p:nvPr/>
        </p:nvSpPr>
        <p:spPr>
          <a:xfrm rot="0">
            <a:off x="6381826" y="5102495"/>
            <a:ext cx="5524576" cy="484633"/>
          </a:xfrm>
          <a:prstGeom prst="rect">
            <a:avLst/>
          </a:prstGeom>
        </p:spPr>
        <p:txBody>
          <a:bodyPr anchor="t" rtlCol="false" tIns="0" lIns="0" bIns="0" rIns="0">
            <a:spAutoFit/>
          </a:bodyPr>
          <a:lstStyle/>
          <a:p>
            <a:pPr algn="ctr">
              <a:lnSpc>
                <a:spcPts val="4223"/>
              </a:lnSpc>
            </a:pPr>
            <a:r>
              <a:rPr lang="en-US" sz="2199">
                <a:solidFill>
                  <a:srgbClr val="475569"/>
                </a:solidFill>
                <a:latin typeface="Inter"/>
                <a:ea typeface="Inter"/>
                <a:cs typeface="Inter"/>
                <a:sym typeface="Inter"/>
              </a:rPr>
              <a:t>Cho 15 ví dụ (~12.000 token, 6 epochs).</a:t>
            </a:r>
          </a:p>
        </p:txBody>
      </p:sp>
      <p:sp>
        <p:nvSpPr>
          <p:cNvPr name="TextBox 14" id="14"/>
          <p:cNvSpPr txBox="true"/>
          <p:nvPr/>
        </p:nvSpPr>
        <p:spPr>
          <a:xfrm rot="0">
            <a:off x="11906402" y="3568970"/>
            <a:ext cx="5524576" cy="1028700"/>
          </a:xfrm>
          <a:prstGeom prst="rect">
            <a:avLst/>
          </a:prstGeom>
        </p:spPr>
        <p:txBody>
          <a:bodyPr anchor="t" rtlCol="false" tIns="0" lIns="0" bIns="0" rIns="0">
            <a:spAutoFit/>
          </a:bodyPr>
          <a:lstStyle/>
          <a:p>
            <a:pPr algn="ctr">
              <a:lnSpc>
                <a:spcPts val="9720"/>
              </a:lnSpc>
            </a:pPr>
            <a:r>
              <a:rPr lang="en-US" b="true" sz="8100">
                <a:solidFill>
                  <a:srgbClr val="2563EB"/>
                </a:solidFill>
                <a:latin typeface="Inter Bold"/>
                <a:ea typeface="Inter Bold"/>
                <a:cs typeface="Inter Bold"/>
                <a:sym typeface="Inter Bold"/>
              </a:rPr>
              <a:t>-66%</a:t>
            </a:r>
          </a:p>
        </p:txBody>
      </p:sp>
      <p:sp>
        <p:nvSpPr>
          <p:cNvPr name="TextBox 15" id="15"/>
          <p:cNvSpPr txBox="true"/>
          <p:nvPr/>
        </p:nvSpPr>
        <p:spPr>
          <a:xfrm rot="0">
            <a:off x="13527873" y="4731020"/>
            <a:ext cx="2281634" cy="438150"/>
          </a:xfrm>
          <a:prstGeom prst="rect">
            <a:avLst/>
          </a:prstGeom>
        </p:spPr>
        <p:txBody>
          <a:bodyPr anchor="t" rtlCol="false" tIns="0" lIns="0" bIns="0" rIns="0">
            <a:spAutoFit/>
          </a:bodyPr>
          <a:lstStyle/>
          <a:p>
            <a:pPr algn="ctr">
              <a:lnSpc>
                <a:spcPts val="3449"/>
              </a:lnSpc>
            </a:pPr>
            <a:r>
              <a:rPr lang="en-US" sz="2874">
                <a:solidFill>
                  <a:srgbClr val="0F172A"/>
                </a:solidFill>
                <a:latin typeface="Inter"/>
                <a:ea typeface="Inter"/>
                <a:cs typeface="Inter"/>
                <a:sym typeface="Inter"/>
              </a:rPr>
              <a:t>Token Đầu ra</a:t>
            </a:r>
          </a:p>
        </p:txBody>
      </p:sp>
      <p:sp>
        <p:nvSpPr>
          <p:cNvPr name="TextBox 16" id="16"/>
          <p:cNvSpPr txBox="true"/>
          <p:nvPr/>
        </p:nvSpPr>
        <p:spPr>
          <a:xfrm rot="0">
            <a:off x="11906402" y="5102495"/>
            <a:ext cx="5524576" cy="1018033"/>
          </a:xfrm>
          <a:prstGeom prst="rect">
            <a:avLst/>
          </a:prstGeom>
        </p:spPr>
        <p:txBody>
          <a:bodyPr anchor="t" rtlCol="false" tIns="0" lIns="0" bIns="0" rIns="0">
            <a:spAutoFit/>
          </a:bodyPr>
          <a:lstStyle/>
          <a:p>
            <a:pPr algn="ctr">
              <a:lnSpc>
                <a:spcPts val="4223"/>
              </a:lnSpc>
            </a:pPr>
            <a:r>
              <a:rPr lang="en-US" sz="2199">
                <a:solidFill>
                  <a:srgbClr val="475569"/>
                </a:solidFill>
                <a:latin typeface="Inter"/>
                <a:ea typeface="Inter"/>
                <a:cs typeface="Inter"/>
                <a:sym typeface="Inter"/>
              </a:rPr>
              <a:t>Giảm từ 535 (gốc) xuống 179 (sau fine-tune) do bỏ text thừa.</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6094659" y="6081646"/>
            <a:ext cx="6976701" cy="7622629"/>
          </a:xfrm>
          <a:custGeom>
            <a:avLst/>
            <a:gdLst/>
            <a:ahLst/>
            <a:cxnLst/>
            <a:rect r="r" b="b" t="t" l="l"/>
            <a:pathLst>
              <a:path h="7622629" w="6976701">
                <a:moveTo>
                  <a:pt x="0" y="0"/>
                </a:moveTo>
                <a:lnTo>
                  <a:pt x="6976701" y="0"/>
                </a:lnTo>
                <a:lnTo>
                  <a:pt x="6976701" y="7622629"/>
                </a:lnTo>
                <a:lnTo>
                  <a:pt x="0" y="762262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80404" y="8428787"/>
            <a:ext cx="1032234" cy="1558442"/>
          </a:xfrm>
          <a:custGeom>
            <a:avLst/>
            <a:gdLst/>
            <a:ahLst/>
            <a:cxnLst/>
            <a:rect r="r" b="b" t="t" l="l"/>
            <a:pathLst>
              <a:path h="1558442" w="1032234">
                <a:moveTo>
                  <a:pt x="0" y="0"/>
                </a:moveTo>
                <a:lnTo>
                  <a:pt x="1032233" y="0"/>
                </a:lnTo>
                <a:lnTo>
                  <a:pt x="1032233" y="1558442"/>
                </a:lnTo>
                <a:lnTo>
                  <a:pt x="0" y="15584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818905" y="-3039075"/>
            <a:ext cx="5512918" cy="6382026"/>
          </a:xfrm>
          <a:custGeom>
            <a:avLst/>
            <a:gdLst/>
            <a:ahLst/>
            <a:cxnLst/>
            <a:rect r="r" b="b" t="t" l="l"/>
            <a:pathLst>
              <a:path h="6382026" w="5512918">
                <a:moveTo>
                  <a:pt x="0" y="0"/>
                </a:moveTo>
                <a:lnTo>
                  <a:pt x="5512918" y="0"/>
                </a:lnTo>
                <a:lnTo>
                  <a:pt x="5512918" y="6382026"/>
                </a:lnTo>
                <a:lnTo>
                  <a:pt x="0" y="63820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6229943" y="533676"/>
            <a:ext cx="1659988" cy="1501778"/>
          </a:xfrm>
          <a:custGeom>
            <a:avLst/>
            <a:gdLst/>
            <a:ahLst/>
            <a:cxnLst/>
            <a:rect r="r" b="b" t="t" l="l"/>
            <a:pathLst>
              <a:path h="1501778" w="1659988">
                <a:moveTo>
                  <a:pt x="0" y="0"/>
                </a:moveTo>
                <a:lnTo>
                  <a:pt x="1659988" y="0"/>
                </a:lnTo>
                <a:lnTo>
                  <a:pt x="1659988" y="1501778"/>
                </a:lnTo>
                <a:lnTo>
                  <a:pt x="0" y="150177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1028700" y="2121332"/>
            <a:ext cx="7929562" cy="3960314"/>
            <a:chOff x="0" y="0"/>
            <a:chExt cx="10572750" cy="5280419"/>
          </a:xfrm>
        </p:grpSpPr>
        <p:sp>
          <p:nvSpPr>
            <p:cNvPr name="Freeform 7" id="7" descr="image.png"/>
            <p:cNvSpPr/>
            <p:nvPr/>
          </p:nvSpPr>
          <p:spPr>
            <a:xfrm flipH="false" flipV="false" rot="0">
              <a:off x="0" y="0"/>
              <a:ext cx="10572750" cy="5280406"/>
            </a:xfrm>
            <a:custGeom>
              <a:avLst/>
              <a:gdLst/>
              <a:ahLst/>
              <a:cxnLst/>
              <a:rect r="r" b="b" t="t" l="l"/>
              <a:pathLst>
                <a:path h="5280406" w="10572750">
                  <a:moveTo>
                    <a:pt x="0" y="0"/>
                  </a:moveTo>
                  <a:lnTo>
                    <a:pt x="10572750" y="0"/>
                  </a:lnTo>
                  <a:lnTo>
                    <a:pt x="10572750" y="5280406"/>
                  </a:lnTo>
                  <a:lnTo>
                    <a:pt x="0" y="5280406"/>
                  </a:lnTo>
                  <a:lnTo>
                    <a:pt x="0" y="0"/>
                  </a:lnTo>
                  <a:close/>
                </a:path>
              </a:pathLst>
            </a:custGeom>
            <a:blipFill>
              <a:blip r:embed="rId11"/>
              <a:stretch>
                <a:fillRect l="0" t="0" r="0" b="-293"/>
              </a:stretch>
            </a:blipFill>
          </p:spPr>
        </p:sp>
      </p:grpSp>
      <p:grpSp>
        <p:nvGrpSpPr>
          <p:cNvPr name="Group 8" id="8"/>
          <p:cNvGrpSpPr/>
          <p:nvPr/>
        </p:nvGrpSpPr>
        <p:grpSpPr>
          <a:xfrm rot="0">
            <a:off x="1350008" y="4981518"/>
            <a:ext cx="7929562" cy="3960314"/>
            <a:chOff x="0" y="0"/>
            <a:chExt cx="10572750" cy="5280419"/>
          </a:xfrm>
        </p:grpSpPr>
        <p:sp>
          <p:nvSpPr>
            <p:cNvPr name="Freeform 9" id="9" descr="image.png"/>
            <p:cNvSpPr/>
            <p:nvPr/>
          </p:nvSpPr>
          <p:spPr>
            <a:xfrm flipH="false" flipV="false" rot="0">
              <a:off x="0" y="0"/>
              <a:ext cx="10572750" cy="5280406"/>
            </a:xfrm>
            <a:custGeom>
              <a:avLst/>
              <a:gdLst/>
              <a:ahLst/>
              <a:cxnLst/>
              <a:rect r="r" b="b" t="t" l="l"/>
              <a:pathLst>
                <a:path h="5280406" w="10572750">
                  <a:moveTo>
                    <a:pt x="0" y="0"/>
                  </a:moveTo>
                  <a:lnTo>
                    <a:pt x="10572750" y="0"/>
                  </a:lnTo>
                  <a:lnTo>
                    <a:pt x="10572750" y="5280406"/>
                  </a:lnTo>
                  <a:lnTo>
                    <a:pt x="0" y="5280406"/>
                  </a:lnTo>
                  <a:lnTo>
                    <a:pt x="0" y="0"/>
                  </a:lnTo>
                  <a:close/>
                </a:path>
              </a:pathLst>
            </a:custGeom>
            <a:blipFill>
              <a:blip r:embed="rId12"/>
              <a:stretch>
                <a:fillRect l="0" t="0" r="0" b="-293"/>
              </a:stretch>
            </a:blipFill>
          </p:spPr>
        </p:sp>
      </p:grpSp>
      <p:sp>
        <p:nvSpPr>
          <p:cNvPr name="TextBox 10" id="10"/>
          <p:cNvSpPr txBox="true"/>
          <p:nvPr/>
        </p:nvSpPr>
        <p:spPr>
          <a:xfrm rot="0">
            <a:off x="2183446" y="6122441"/>
            <a:ext cx="6510338" cy="619125"/>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Chỉ trả về code sạch.</a:t>
            </a:r>
          </a:p>
        </p:txBody>
      </p:sp>
      <p:sp>
        <p:nvSpPr>
          <p:cNvPr name="TextBox 11" id="11"/>
          <p:cNvSpPr txBox="true"/>
          <p:nvPr/>
        </p:nvSpPr>
        <p:spPr>
          <a:xfrm rot="0">
            <a:off x="2183446" y="6579641"/>
            <a:ext cx="6510338" cy="1090613"/>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Tự động phân chia logic (tạo hàm helper ).</a:t>
            </a:r>
          </a:p>
        </p:txBody>
      </p:sp>
      <p:sp>
        <p:nvSpPr>
          <p:cNvPr name="TextBox 12" id="12"/>
          <p:cNvSpPr txBox="true"/>
          <p:nvPr/>
        </p:nvSpPr>
        <p:spPr>
          <a:xfrm rot="0">
            <a:off x="2183446" y="7508329"/>
            <a:ext cx="6510338" cy="619125"/>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Hành vi chuẩn hóa cho toàn dự án.</a:t>
            </a:r>
          </a:p>
        </p:txBody>
      </p:sp>
      <p:grpSp>
        <p:nvGrpSpPr>
          <p:cNvPr name="Group 13" id="13"/>
          <p:cNvGrpSpPr/>
          <p:nvPr/>
        </p:nvGrpSpPr>
        <p:grpSpPr>
          <a:xfrm rot="0">
            <a:off x="1935796" y="7227341"/>
            <a:ext cx="3314700" cy="414338"/>
            <a:chOff x="0" y="0"/>
            <a:chExt cx="4419600" cy="552450"/>
          </a:xfrm>
        </p:grpSpPr>
        <p:sp>
          <p:nvSpPr>
            <p:cNvPr name="Freeform 14" id="14" descr="image.png"/>
            <p:cNvSpPr/>
            <p:nvPr/>
          </p:nvSpPr>
          <p:spPr>
            <a:xfrm flipH="false" flipV="false" rot="0">
              <a:off x="0" y="0"/>
              <a:ext cx="4419600" cy="552450"/>
            </a:xfrm>
            <a:custGeom>
              <a:avLst/>
              <a:gdLst/>
              <a:ahLst/>
              <a:cxnLst/>
              <a:rect r="r" b="b" t="t" l="l"/>
              <a:pathLst>
                <a:path h="552450" w="4419600">
                  <a:moveTo>
                    <a:pt x="0" y="0"/>
                  </a:moveTo>
                  <a:lnTo>
                    <a:pt x="4419600" y="0"/>
                  </a:lnTo>
                  <a:lnTo>
                    <a:pt x="4419600" y="552450"/>
                  </a:lnTo>
                  <a:lnTo>
                    <a:pt x="0" y="552450"/>
                  </a:lnTo>
                  <a:lnTo>
                    <a:pt x="0" y="0"/>
                  </a:lnTo>
                  <a:close/>
                </a:path>
              </a:pathLst>
            </a:custGeom>
            <a:blipFill>
              <a:blip r:embed="rId13"/>
              <a:stretch>
                <a:fillRect l="0" t="0" r="0" b="-3448"/>
              </a:stretch>
            </a:blipFill>
          </p:spPr>
        </p:sp>
      </p:grpSp>
      <p:grpSp>
        <p:nvGrpSpPr>
          <p:cNvPr name="Group 15" id="15"/>
          <p:cNvGrpSpPr/>
          <p:nvPr/>
        </p:nvGrpSpPr>
        <p:grpSpPr>
          <a:xfrm rot="0">
            <a:off x="1935796" y="6362938"/>
            <a:ext cx="257175" cy="300038"/>
            <a:chOff x="0" y="0"/>
            <a:chExt cx="342900" cy="400050"/>
          </a:xfrm>
        </p:grpSpPr>
        <p:sp>
          <p:nvSpPr>
            <p:cNvPr name="Freeform 16" id="16"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4"/>
              <a:stretch>
                <a:fillRect l="0" t="0" r="0" b="0"/>
              </a:stretch>
            </a:blipFill>
          </p:spPr>
        </p:sp>
      </p:grpSp>
      <p:grpSp>
        <p:nvGrpSpPr>
          <p:cNvPr name="Group 17" id="17"/>
          <p:cNvGrpSpPr/>
          <p:nvPr/>
        </p:nvGrpSpPr>
        <p:grpSpPr>
          <a:xfrm rot="0">
            <a:off x="1935796" y="6820138"/>
            <a:ext cx="257175" cy="300038"/>
            <a:chOff x="0" y="0"/>
            <a:chExt cx="342900" cy="400050"/>
          </a:xfrm>
        </p:grpSpPr>
        <p:sp>
          <p:nvSpPr>
            <p:cNvPr name="Freeform 18" id="18"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4"/>
              <a:stretch>
                <a:fillRect l="0" t="0" r="0" b="0"/>
              </a:stretch>
            </a:blipFill>
          </p:spPr>
        </p:sp>
      </p:grpSp>
      <p:grpSp>
        <p:nvGrpSpPr>
          <p:cNvPr name="Group 19" id="19"/>
          <p:cNvGrpSpPr/>
          <p:nvPr/>
        </p:nvGrpSpPr>
        <p:grpSpPr>
          <a:xfrm rot="0">
            <a:off x="1935796" y="7748826"/>
            <a:ext cx="257175" cy="300038"/>
            <a:chOff x="0" y="0"/>
            <a:chExt cx="342900" cy="400050"/>
          </a:xfrm>
        </p:grpSpPr>
        <p:sp>
          <p:nvSpPr>
            <p:cNvPr name="Freeform 20" id="20" descr="image.png"/>
            <p:cNvSpPr/>
            <p:nvPr/>
          </p:nvSpPr>
          <p:spPr>
            <a:xfrm flipH="false" flipV="false" rot="0">
              <a:off x="0" y="0"/>
              <a:ext cx="342900" cy="400050"/>
            </a:xfrm>
            <a:custGeom>
              <a:avLst/>
              <a:gdLst/>
              <a:ahLst/>
              <a:cxnLst/>
              <a:rect r="r" b="b" t="t" l="l"/>
              <a:pathLst>
                <a:path h="400050" w="342900">
                  <a:moveTo>
                    <a:pt x="0" y="0"/>
                  </a:moveTo>
                  <a:lnTo>
                    <a:pt x="342900" y="0"/>
                  </a:lnTo>
                  <a:lnTo>
                    <a:pt x="342900" y="400050"/>
                  </a:lnTo>
                  <a:lnTo>
                    <a:pt x="0" y="400050"/>
                  </a:lnTo>
                  <a:lnTo>
                    <a:pt x="0" y="0"/>
                  </a:lnTo>
                  <a:close/>
                </a:path>
              </a:pathLst>
            </a:custGeom>
            <a:blipFill>
              <a:blip r:embed="rId14"/>
              <a:stretch>
                <a:fillRect l="0" t="0" r="0" b="0"/>
              </a:stretch>
            </a:blipFill>
          </p:spPr>
        </p:sp>
      </p:grpSp>
      <p:sp>
        <p:nvSpPr>
          <p:cNvPr name="Freeform 21" id="21"/>
          <p:cNvSpPr/>
          <p:nvPr/>
        </p:nvSpPr>
        <p:spPr>
          <a:xfrm flipH="false" flipV="false" rot="0">
            <a:off x="8710374" y="3086660"/>
            <a:ext cx="9210270" cy="4555018"/>
          </a:xfrm>
          <a:custGeom>
            <a:avLst/>
            <a:gdLst/>
            <a:ahLst/>
            <a:cxnLst/>
            <a:rect r="r" b="b" t="t" l="l"/>
            <a:pathLst>
              <a:path h="4555018" w="9210270">
                <a:moveTo>
                  <a:pt x="0" y="0"/>
                </a:moveTo>
                <a:lnTo>
                  <a:pt x="9210270" y="0"/>
                </a:lnTo>
                <a:lnTo>
                  <a:pt x="9210270" y="4555019"/>
                </a:lnTo>
                <a:lnTo>
                  <a:pt x="0" y="4555019"/>
                </a:lnTo>
                <a:lnTo>
                  <a:pt x="0" y="0"/>
                </a:lnTo>
                <a:close/>
              </a:path>
            </a:pathLst>
          </a:custGeom>
          <a:blipFill>
            <a:blip r:embed="rId15"/>
            <a:stretch>
              <a:fillRect l="0" t="0" r="0" b="0"/>
            </a:stretch>
          </a:blipFill>
        </p:spPr>
      </p:sp>
      <p:sp>
        <p:nvSpPr>
          <p:cNvPr name="TextBox 22" id="22"/>
          <p:cNvSpPr txBox="true"/>
          <p:nvPr/>
        </p:nvSpPr>
        <p:spPr>
          <a:xfrm rot="0">
            <a:off x="1531429" y="952900"/>
            <a:ext cx="15496282" cy="942975"/>
          </a:xfrm>
          <a:prstGeom prst="rect">
            <a:avLst/>
          </a:prstGeom>
        </p:spPr>
        <p:txBody>
          <a:bodyPr anchor="t" rtlCol="false" tIns="0" lIns="0" bIns="0" rIns="0">
            <a:spAutoFit/>
          </a:bodyPr>
          <a:lstStyle/>
          <a:p>
            <a:pPr algn="l">
              <a:lnSpc>
                <a:spcPts val="7200"/>
              </a:lnSpc>
            </a:pPr>
            <a:r>
              <a:rPr lang="en-US" b="true" sz="6000" spc="-120">
                <a:solidFill>
                  <a:srgbClr val="35363B"/>
                </a:solidFill>
                <a:latin typeface="Arimo Bold"/>
                <a:ea typeface="Arimo Bold"/>
                <a:cs typeface="Arimo Bold"/>
                <a:sym typeface="Arimo Bold"/>
              </a:rPr>
              <a:t>So sánh Kết quả: Tính Nghiệm phương trình</a:t>
            </a:r>
          </a:p>
        </p:txBody>
      </p:sp>
      <p:sp>
        <p:nvSpPr>
          <p:cNvPr name="TextBox 23" id="23"/>
          <p:cNvSpPr txBox="true"/>
          <p:nvPr/>
        </p:nvSpPr>
        <p:spPr>
          <a:xfrm rot="0">
            <a:off x="1614487" y="2640444"/>
            <a:ext cx="7095887" cy="512264"/>
          </a:xfrm>
          <a:prstGeom prst="rect">
            <a:avLst/>
          </a:prstGeom>
        </p:spPr>
        <p:txBody>
          <a:bodyPr anchor="t" rtlCol="false" tIns="0" lIns="0" bIns="0" rIns="0">
            <a:spAutoFit/>
          </a:bodyPr>
          <a:lstStyle/>
          <a:p>
            <a:pPr algn="l">
              <a:lnSpc>
                <a:spcPts val="4212"/>
              </a:lnSpc>
            </a:pPr>
            <a:r>
              <a:rPr lang="en-US" b="true" sz="2925">
                <a:solidFill>
                  <a:srgbClr val="64748B"/>
                </a:solidFill>
                <a:latin typeface="Inter Bold"/>
                <a:ea typeface="Inter Bold"/>
                <a:cs typeface="Inter Bold"/>
                <a:sym typeface="Inter Bold"/>
              </a:rPr>
              <a:t>Mô hình Gốc (GPT-4o mini)</a:t>
            </a:r>
          </a:p>
        </p:txBody>
      </p:sp>
      <p:sp>
        <p:nvSpPr>
          <p:cNvPr name="TextBox 24" id="24"/>
          <p:cNvSpPr txBox="true"/>
          <p:nvPr/>
        </p:nvSpPr>
        <p:spPr>
          <a:xfrm rot="0">
            <a:off x="1935796" y="5543493"/>
            <a:ext cx="7095887" cy="512264"/>
          </a:xfrm>
          <a:prstGeom prst="rect">
            <a:avLst/>
          </a:prstGeom>
        </p:spPr>
        <p:txBody>
          <a:bodyPr anchor="t" rtlCol="false" tIns="0" lIns="0" bIns="0" rIns="0">
            <a:spAutoFit/>
          </a:bodyPr>
          <a:lstStyle/>
          <a:p>
            <a:pPr algn="l">
              <a:lnSpc>
                <a:spcPts val="4212"/>
              </a:lnSpc>
            </a:pPr>
            <a:r>
              <a:rPr lang="en-US" b="true" sz="2925">
                <a:solidFill>
                  <a:srgbClr val="0F172A"/>
                </a:solidFill>
                <a:latin typeface="Inter Bold"/>
                <a:ea typeface="Inter Bold"/>
                <a:cs typeface="Inter Bold"/>
                <a:sym typeface="Inter Bold"/>
              </a:rPr>
              <a:t>Mô hình Fine-tuned</a:t>
            </a:r>
          </a:p>
        </p:txBody>
      </p:sp>
      <p:sp>
        <p:nvSpPr>
          <p:cNvPr name="TextBox 25" id="25"/>
          <p:cNvSpPr txBox="true"/>
          <p:nvPr/>
        </p:nvSpPr>
        <p:spPr>
          <a:xfrm rot="0">
            <a:off x="1833562" y="3219393"/>
            <a:ext cx="6538912" cy="619125"/>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Giải thích toán học dài dòng bằng văn bản.</a:t>
            </a:r>
          </a:p>
        </p:txBody>
      </p:sp>
      <p:sp>
        <p:nvSpPr>
          <p:cNvPr name="TextBox 26" id="26"/>
          <p:cNvSpPr txBox="true"/>
          <p:nvPr/>
        </p:nvSpPr>
        <p:spPr>
          <a:xfrm rot="0">
            <a:off x="1833562" y="3676593"/>
            <a:ext cx="6538912" cy="619125"/>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Phân tích từng bước cách giải.</a:t>
            </a:r>
          </a:p>
        </p:txBody>
      </p:sp>
      <p:sp>
        <p:nvSpPr>
          <p:cNvPr name="TextBox 27" id="27"/>
          <p:cNvSpPr txBox="true"/>
          <p:nvPr/>
        </p:nvSpPr>
        <p:spPr>
          <a:xfrm rot="0">
            <a:off x="1833562" y="4133793"/>
            <a:ext cx="6538912" cy="619125"/>
          </a:xfrm>
          <a:prstGeom prst="rect">
            <a:avLst/>
          </a:prstGeom>
        </p:spPr>
        <p:txBody>
          <a:bodyPr anchor="t" rtlCol="false" tIns="0" lIns="0" bIns="0" rIns="0">
            <a:spAutoFit/>
          </a:bodyPr>
          <a:lstStyle/>
          <a:p>
            <a:pPr algn="l">
              <a:lnSpc>
                <a:spcPts val="4320"/>
              </a:lnSpc>
            </a:pPr>
            <a:r>
              <a:rPr lang="en-US" sz="2250">
                <a:solidFill>
                  <a:srgbClr val="475569"/>
                </a:solidFill>
                <a:latin typeface="Inter"/>
                <a:ea typeface="Inter"/>
                <a:cs typeface="Inter"/>
                <a:sym typeface="Inter"/>
              </a:rPr>
              <a:t>Mã nguồn chứa đầy comment nội dòng thừa.</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2999861" y="-2475357"/>
            <a:ext cx="7458732" cy="7364178"/>
          </a:xfrm>
          <a:custGeom>
            <a:avLst/>
            <a:gdLst/>
            <a:ahLst/>
            <a:cxnLst/>
            <a:rect r="r" b="b" t="t" l="l"/>
            <a:pathLst>
              <a:path h="7364178" w="7458732">
                <a:moveTo>
                  <a:pt x="0" y="0"/>
                </a:moveTo>
                <a:lnTo>
                  <a:pt x="7458733" y="0"/>
                </a:lnTo>
                <a:lnTo>
                  <a:pt x="7458733" y="7364178"/>
                </a:lnTo>
                <a:lnTo>
                  <a:pt x="0" y="736417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14586699" y="6235970"/>
            <a:ext cx="5733259" cy="6486601"/>
          </a:xfrm>
          <a:custGeom>
            <a:avLst/>
            <a:gdLst/>
            <a:ahLst/>
            <a:cxnLst/>
            <a:rect r="r" b="b" t="t" l="l"/>
            <a:pathLst>
              <a:path h="6486601" w="5733259">
                <a:moveTo>
                  <a:pt x="0" y="0"/>
                </a:moveTo>
                <a:lnTo>
                  <a:pt x="5733260" y="0"/>
                </a:lnTo>
                <a:lnTo>
                  <a:pt x="5733260" y="6486601"/>
                </a:lnTo>
                <a:lnTo>
                  <a:pt x="0" y="648660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4" id="4"/>
          <p:cNvSpPr/>
          <p:nvPr/>
        </p:nvSpPr>
        <p:spPr>
          <a:xfrm flipH="false" flipV="false" rot="0">
            <a:off x="205711" y="7314895"/>
            <a:ext cx="3021501" cy="2786463"/>
          </a:xfrm>
          <a:custGeom>
            <a:avLst/>
            <a:gdLst/>
            <a:ahLst/>
            <a:cxnLst/>
            <a:rect r="r" b="b" t="t" l="l"/>
            <a:pathLst>
              <a:path h="2786463" w="3021501">
                <a:moveTo>
                  <a:pt x="0" y="0"/>
                </a:moveTo>
                <a:lnTo>
                  <a:pt x="3021502" y="0"/>
                </a:lnTo>
                <a:lnTo>
                  <a:pt x="3021502" y="2786463"/>
                </a:lnTo>
                <a:lnTo>
                  <a:pt x="0" y="278646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5" id="5"/>
          <p:cNvSpPr/>
          <p:nvPr/>
        </p:nvSpPr>
        <p:spPr>
          <a:xfrm flipH="false" flipV="false" rot="0">
            <a:off x="12961439" y="-4664783"/>
            <a:ext cx="8983799" cy="7642146"/>
          </a:xfrm>
          <a:custGeom>
            <a:avLst/>
            <a:gdLst/>
            <a:ahLst/>
            <a:cxnLst/>
            <a:rect r="r" b="b" t="t" l="l"/>
            <a:pathLst>
              <a:path h="7642146" w="8983799">
                <a:moveTo>
                  <a:pt x="0" y="0"/>
                </a:moveTo>
                <a:lnTo>
                  <a:pt x="8983799" y="0"/>
                </a:lnTo>
                <a:lnTo>
                  <a:pt x="8983799" y="7642146"/>
                </a:lnTo>
                <a:lnTo>
                  <a:pt x="0" y="7642146"/>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grpSp>
        <p:nvGrpSpPr>
          <p:cNvPr name="Group 6" id="6"/>
          <p:cNvGrpSpPr/>
          <p:nvPr/>
        </p:nvGrpSpPr>
        <p:grpSpPr>
          <a:xfrm rot="0">
            <a:off x="4695901" y="3130013"/>
            <a:ext cx="8896198" cy="3517616"/>
            <a:chOff x="0" y="0"/>
            <a:chExt cx="11861597" cy="4690154"/>
          </a:xfrm>
        </p:grpSpPr>
        <p:sp>
          <p:nvSpPr>
            <p:cNvPr name="Freeform 7" id="7"/>
            <p:cNvSpPr/>
            <p:nvPr/>
          </p:nvSpPr>
          <p:spPr>
            <a:xfrm flipH="false" flipV="false" rot="0">
              <a:off x="0" y="0"/>
              <a:ext cx="11861600" cy="4690157"/>
            </a:xfrm>
            <a:custGeom>
              <a:avLst/>
              <a:gdLst/>
              <a:ahLst/>
              <a:cxnLst/>
              <a:rect r="r" b="b" t="t" l="l"/>
              <a:pathLst>
                <a:path h="4690157" w="11861600">
                  <a:moveTo>
                    <a:pt x="0" y="0"/>
                  </a:moveTo>
                  <a:lnTo>
                    <a:pt x="11861600" y="0"/>
                  </a:lnTo>
                  <a:lnTo>
                    <a:pt x="11861600" y="4690157"/>
                  </a:lnTo>
                  <a:lnTo>
                    <a:pt x="0" y="4690157"/>
                  </a:lnTo>
                  <a:close/>
                </a:path>
              </a:pathLst>
            </a:custGeom>
            <a:blipFill>
              <a:blip r:embed="rId11">
                <a:alphaModFix amt="0"/>
              </a:blip>
              <a:stretch>
                <a:fillRect l="0" t="-19181" r="0" b="20624"/>
              </a:stretch>
            </a:blipFill>
          </p:spPr>
        </p:sp>
        <p:sp>
          <p:nvSpPr>
            <p:cNvPr name="TextBox 8" id="8"/>
            <p:cNvSpPr txBox="true"/>
            <p:nvPr/>
          </p:nvSpPr>
          <p:spPr>
            <a:xfrm>
              <a:off x="0" y="-66675"/>
              <a:ext cx="11861597" cy="4756829"/>
            </a:xfrm>
            <a:prstGeom prst="rect">
              <a:avLst/>
            </a:prstGeom>
          </p:spPr>
          <p:txBody>
            <a:bodyPr anchor="b" rtlCol="false" tIns="0" lIns="0" bIns="0" rIns="0"/>
            <a:lstStyle/>
            <a:p>
              <a:pPr algn="ctr">
                <a:lnSpc>
                  <a:spcPts val="20400"/>
                </a:lnSpc>
              </a:pPr>
              <a:r>
                <a:rPr lang="en-US" b="true" sz="17000">
                  <a:solidFill>
                    <a:srgbClr val="35363B"/>
                  </a:solidFill>
                  <a:latin typeface="Arimo Bold"/>
                  <a:ea typeface="Arimo Bold"/>
                  <a:cs typeface="Arimo Bold"/>
                  <a:sym typeface="Arimo Bold"/>
                </a:rPr>
                <a:t>Thanks!</a:t>
              </a:r>
            </a:p>
          </p:txBody>
        </p:sp>
      </p:grpSp>
      <p:sp>
        <p:nvSpPr>
          <p:cNvPr name="Freeform 9" id="9"/>
          <p:cNvSpPr/>
          <p:nvPr/>
        </p:nvSpPr>
        <p:spPr>
          <a:xfrm flipH="false" flipV="false" rot="0">
            <a:off x="16841391" y="6513805"/>
            <a:ext cx="75409" cy="1085707"/>
          </a:xfrm>
          <a:custGeom>
            <a:avLst/>
            <a:gdLst/>
            <a:ahLst/>
            <a:cxnLst/>
            <a:rect r="r" b="b" t="t" l="l"/>
            <a:pathLst>
              <a:path h="1085707" w="75409">
                <a:moveTo>
                  <a:pt x="0" y="0"/>
                </a:moveTo>
                <a:lnTo>
                  <a:pt x="75409" y="0"/>
                </a:lnTo>
                <a:lnTo>
                  <a:pt x="75409" y="1085707"/>
                </a:lnTo>
                <a:lnTo>
                  <a:pt x="0" y="108570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16383200" y="5328190"/>
            <a:ext cx="958167" cy="1190063"/>
          </a:xfrm>
          <a:custGeom>
            <a:avLst/>
            <a:gdLst/>
            <a:ahLst/>
            <a:cxnLst/>
            <a:rect r="r" b="b" t="t" l="l"/>
            <a:pathLst>
              <a:path h="1190063" w="958167">
                <a:moveTo>
                  <a:pt x="0" y="0"/>
                </a:moveTo>
                <a:lnTo>
                  <a:pt x="958167" y="0"/>
                </a:lnTo>
                <a:lnTo>
                  <a:pt x="958167" y="1190063"/>
                </a:lnTo>
                <a:lnTo>
                  <a:pt x="0" y="1190063"/>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1" id="11"/>
          <p:cNvSpPr/>
          <p:nvPr/>
        </p:nvSpPr>
        <p:spPr>
          <a:xfrm flipH="false" flipV="false" rot="0">
            <a:off x="272205" y="643823"/>
            <a:ext cx="2307803" cy="2333501"/>
          </a:xfrm>
          <a:custGeom>
            <a:avLst/>
            <a:gdLst/>
            <a:ahLst/>
            <a:cxnLst/>
            <a:rect r="r" b="b" t="t" l="l"/>
            <a:pathLst>
              <a:path h="2333501" w="2307803">
                <a:moveTo>
                  <a:pt x="0" y="0"/>
                </a:moveTo>
                <a:lnTo>
                  <a:pt x="2307803" y="0"/>
                </a:lnTo>
                <a:lnTo>
                  <a:pt x="2307803" y="2333501"/>
                </a:lnTo>
                <a:lnTo>
                  <a:pt x="0" y="233350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2" id="12"/>
          <p:cNvSpPr/>
          <p:nvPr/>
        </p:nvSpPr>
        <p:spPr>
          <a:xfrm flipH="false" flipV="false" rot="0">
            <a:off x="16215932" y="7595102"/>
            <a:ext cx="1291199" cy="2333539"/>
          </a:xfrm>
          <a:custGeom>
            <a:avLst/>
            <a:gdLst/>
            <a:ahLst/>
            <a:cxnLst/>
            <a:rect r="r" b="b" t="t" l="l"/>
            <a:pathLst>
              <a:path h="2333539" w="1291199">
                <a:moveTo>
                  <a:pt x="0" y="0"/>
                </a:moveTo>
                <a:lnTo>
                  <a:pt x="1291199" y="0"/>
                </a:lnTo>
                <a:lnTo>
                  <a:pt x="1291199" y="2333539"/>
                </a:lnTo>
                <a:lnTo>
                  <a:pt x="0" y="2333539"/>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DAHEW1nZ3T0</dc:identifier>
  <dcterms:modified xsi:type="dcterms:W3CDTF">2011-08-01T06:04:30Z</dcterms:modified>
  <cp:revision>1</cp:revision>
  <dc:title>Multimedia Software Pitch Deck by Slidesgo.pptx</dc:title>
</cp:coreProperties>
</file>