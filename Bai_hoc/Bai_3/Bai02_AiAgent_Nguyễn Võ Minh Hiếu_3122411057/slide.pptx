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pzdEIfOnZNtI3mk/DsaLna0Cz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 name="Shape 8"/>
        <p:cNvGrpSpPr/>
        <p:nvPr/>
      </p:nvGrpSpPr>
      <p:grpSpPr>
        <a:xfrm>
          <a:off x="0" y="0"/>
          <a:ext cx="0" cy="0"/>
          <a:chOff x="0" y="0"/>
          <a:chExt cx="0" cy="0"/>
        </a:xfrm>
      </p:grpSpPr>
      <p:sp>
        <p:nvSpPr>
          <p:cNvPr id="9" name="Google Shape;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 name="Google Shape;1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 name="Google Shape;1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 name="Google Shape;3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7" name="Google Shape;8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0" name="Google Shape;18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2" name="Google Shape;26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6" name="Google Shape;34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28" name="Google Shape;42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93" name="Google Shape;49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6" name="Google Shape;55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57" name="Google Shape;55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4" name="Google Shape;64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45" name="Google Shape;64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7" name="Shape 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 name="Shape 12"/>
        <p:cNvGrpSpPr/>
        <p:nvPr/>
      </p:nvGrpSpPr>
      <p:grpSpPr>
        <a:xfrm>
          <a:off x="0" y="0"/>
          <a:ext cx="0" cy="0"/>
          <a:chOff x="0" y="0"/>
          <a:chExt cx="0" cy="0"/>
        </a:xfrm>
      </p:grpSpPr>
      <p:pic>
        <p:nvPicPr>
          <p:cNvPr descr="https://kimi-web-img.moonshot.cn/img/viterbischool.usc.edu/fced240e37babee736ad5a601d7b1a3989b3f3f6.jpg" id="13" name="Google Shape;13;p1"/>
          <p:cNvPicPr preferRelativeResize="0"/>
          <p:nvPr/>
        </p:nvPicPr>
        <p:blipFill rotWithShape="1">
          <a:blip r:embed="rId3">
            <a:alphaModFix amt="30000"/>
          </a:blip>
          <a:srcRect b="7841" l="0" r="0" t="7842"/>
          <a:stretch/>
        </p:blipFill>
        <p:spPr>
          <a:xfrm>
            <a:off x="0" y="0"/>
            <a:ext cx="12192000" cy="6858000"/>
          </a:xfrm>
          <a:prstGeom prst="roundRect">
            <a:avLst>
              <a:gd fmla="val 0" name="adj"/>
            </a:avLst>
          </a:prstGeom>
          <a:noFill/>
          <a:ln>
            <a:noFill/>
          </a:ln>
        </p:spPr>
      </p:pic>
      <p:sp>
        <p:nvSpPr>
          <p:cNvPr id="14" name="Google Shape;14;p1"/>
          <p:cNvSpPr/>
          <p:nvPr/>
        </p:nvSpPr>
        <p:spPr>
          <a:xfrm>
            <a:off x="0" y="0"/>
            <a:ext cx="12192000" cy="6858000"/>
          </a:xfrm>
          <a:custGeom>
            <a:rect b="b" l="l" r="r" t="t"/>
            <a:pathLst>
              <a:path extrusionOk="0" h="6858000" w="12192000">
                <a:moveTo>
                  <a:pt x="0" y="0"/>
                </a:moveTo>
                <a:lnTo>
                  <a:pt x="12192000" y="0"/>
                </a:lnTo>
                <a:lnTo>
                  <a:pt x="12192000" y="6858000"/>
                </a:lnTo>
                <a:lnTo>
                  <a:pt x="0" y="6858000"/>
                </a:lnTo>
                <a:lnTo>
                  <a:pt x="0" y="0"/>
                </a:lnTo>
                <a:close/>
              </a:path>
            </a:pathLst>
          </a:custGeom>
          <a:gradFill>
            <a:gsLst>
              <a:gs pos="0">
                <a:srgbClr val="0F172A">
                  <a:alpha val="89803"/>
                </a:srgbClr>
              </a:gs>
              <a:gs pos="50000">
                <a:srgbClr val="1E293B">
                  <a:alpha val="80000"/>
                </a:srgbClr>
              </a:gs>
              <a:gs pos="100000">
                <a:srgbClr val="3B82F6">
                  <a:alpha val="29803"/>
                </a:srgbClr>
              </a:gs>
            </a:gsLst>
            <a:lin ang="2700000" scaled="0"/>
          </a:gradFill>
          <a:ln>
            <a:noFill/>
          </a:ln>
        </p:spPr>
      </p:sp>
      <p:sp>
        <p:nvSpPr>
          <p:cNvPr id="15" name="Google Shape;15;p1"/>
          <p:cNvSpPr/>
          <p:nvPr/>
        </p:nvSpPr>
        <p:spPr>
          <a:xfrm>
            <a:off x="4767858" y="1600200"/>
            <a:ext cx="2657475" cy="504825"/>
          </a:xfrm>
          <a:custGeom>
            <a:rect b="b" l="l" r="r" t="t"/>
            <a:pathLst>
              <a:path extrusionOk="0" h="504825" w="2657475">
                <a:moveTo>
                  <a:pt x="252413" y="0"/>
                </a:moveTo>
                <a:lnTo>
                  <a:pt x="2405063" y="0"/>
                </a:lnTo>
                <a:cubicBezTo>
                  <a:pt x="2544373" y="0"/>
                  <a:pt x="2657475" y="113102"/>
                  <a:pt x="2657475" y="252413"/>
                </a:cubicBezTo>
                <a:lnTo>
                  <a:pt x="2657475" y="252413"/>
                </a:lnTo>
                <a:cubicBezTo>
                  <a:pt x="2657475" y="391723"/>
                  <a:pt x="2544373" y="504825"/>
                  <a:pt x="2405063" y="504825"/>
                </a:cubicBezTo>
                <a:lnTo>
                  <a:pt x="252413" y="504825"/>
                </a:lnTo>
                <a:cubicBezTo>
                  <a:pt x="113102" y="504825"/>
                  <a:pt x="0" y="391723"/>
                  <a:pt x="0" y="252413"/>
                </a:cubicBezTo>
                <a:lnTo>
                  <a:pt x="0" y="252413"/>
                </a:lnTo>
                <a:cubicBezTo>
                  <a:pt x="0" y="113102"/>
                  <a:pt x="113102" y="0"/>
                  <a:pt x="252412" y="0"/>
                </a:cubicBezTo>
                <a:close/>
              </a:path>
            </a:pathLst>
          </a:custGeom>
          <a:solidFill>
            <a:srgbClr val="3B82F6">
              <a:alpha val="20000"/>
            </a:srgbClr>
          </a:solidFill>
          <a:ln cap="flat" cmpd="sng" w="12700">
            <a:solidFill>
              <a:srgbClr val="3B82F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5001220" y="1757363"/>
            <a:ext cx="238125" cy="190500"/>
          </a:xfrm>
          <a:custGeom>
            <a:rect b="b" l="l" r="r" t="t"/>
            <a:pathLst>
              <a:path extrusionOk="0" h="190500" w="238125">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310783" y="1719263"/>
            <a:ext cx="1924050"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350" u="none" cap="none" strike="noStrike">
                <a:solidFill>
                  <a:srgbClr val="06B6D4"/>
                </a:solidFill>
                <a:latin typeface="Arial"/>
                <a:ea typeface="Arial"/>
                <a:cs typeface="Arial"/>
                <a:sym typeface="Arial"/>
              </a:rPr>
              <a:t>BÁO CÁO BÀI TẬP</a:t>
            </a:r>
            <a:endParaRPr b="0" i="0" sz="1600" u="none" cap="none" strike="noStrike">
              <a:solidFill>
                <a:schemeClr val="dk1"/>
              </a:solidFill>
              <a:latin typeface="Calibri"/>
              <a:ea typeface="Calibri"/>
              <a:cs typeface="Calibri"/>
              <a:sym typeface="Calibri"/>
            </a:endParaRPr>
          </a:p>
        </p:txBody>
      </p:sp>
      <p:sp>
        <p:nvSpPr>
          <p:cNvPr id="18" name="Google Shape;18;p1"/>
          <p:cNvSpPr/>
          <p:nvPr/>
        </p:nvSpPr>
        <p:spPr>
          <a:xfrm>
            <a:off x="1542306" y="2414588"/>
            <a:ext cx="9105900" cy="7143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4500" u="none" cap="none" strike="noStrike">
                <a:solidFill>
                  <a:srgbClr val="F8FAFC"/>
                </a:solidFill>
                <a:latin typeface="Arial"/>
                <a:ea typeface="Arial"/>
                <a:cs typeface="Arial"/>
                <a:sym typeface="Arial"/>
              </a:rPr>
              <a:t>Chatbot Telegram Tích hợp </a:t>
            </a:r>
            <a:r>
              <a:rPr b="1" i="0" lang="en-US" sz="4500" u="none" cap="none" strike="noStrike">
                <a:solidFill>
                  <a:srgbClr val="3B82F6"/>
                </a:solidFill>
                <a:latin typeface="Arial"/>
                <a:ea typeface="Arial"/>
                <a:cs typeface="Arial"/>
                <a:sym typeface="Arial"/>
              </a:rPr>
              <a:t>n8n</a:t>
            </a:r>
            <a:endParaRPr b="0" i="0" sz="1600" u="none" cap="none" strike="noStrike">
              <a:solidFill>
                <a:schemeClr val="dk1"/>
              </a:solidFill>
              <a:latin typeface="Calibri"/>
              <a:ea typeface="Calibri"/>
              <a:cs typeface="Calibri"/>
              <a:sym typeface="Calibri"/>
            </a:endParaRPr>
          </a:p>
        </p:txBody>
      </p:sp>
      <p:sp>
        <p:nvSpPr>
          <p:cNvPr id="19" name="Google Shape;19;p1"/>
          <p:cNvSpPr/>
          <p:nvPr/>
        </p:nvSpPr>
        <p:spPr>
          <a:xfrm>
            <a:off x="3762970" y="3357563"/>
            <a:ext cx="4667250" cy="381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i="0" lang="en-US" sz="2700" u="none" cap="none" strike="noStrike">
                <a:solidFill>
                  <a:srgbClr val="06B6D4"/>
                </a:solidFill>
                <a:latin typeface="Arial"/>
                <a:ea typeface="Arial"/>
                <a:cs typeface="Arial"/>
                <a:sym typeface="Arial"/>
              </a:rPr>
              <a:t>Tra cứu Phim và Rạp Chiếu</a:t>
            </a:r>
            <a:endParaRPr b="0" i="0" sz="1600" u="none" cap="none" strike="noStrike">
              <a:solidFill>
                <a:schemeClr val="dk1"/>
              </a:solidFill>
              <a:latin typeface="Calibri"/>
              <a:ea typeface="Calibri"/>
              <a:cs typeface="Calibri"/>
              <a:sym typeface="Calibri"/>
            </a:endParaRPr>
          </a:p>
        </p:txBody>
      </p:sp>
      <p:sp>
        <p:nvSpPr>
          <p:cNvPr id="20" name="Google Shape;20;p1"/>
          <p:cNvSpPr/>
          <p:nvPr/>
        </p:nvSpPr>
        <p:spPr>
          <a:xfrm>
            <a:off x="2832050" y="4043363"/>
            <a:ext cx="6524625" cy="3048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500" u="none" cap="none" strike="noStrike">
                <a:solidFill>
                  <a:srgbClr val="94A3B8"/>
                </a:solidFill>
                <a:latin typeface="Arial"/>
                <a:ea typeface="Arial"/>
                <a:cs typeface="Arial"/>
                <a:sym typeface="Arial"/>
              </a:rPr>
              <a:t>Giải pháp tự động hóa trải nghiệm giải trí điện ảnh cho người dùng đô thị</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4691063" y="4805363"/>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4836319" y="4938713"/>
            <a:ext cx="166688" cy="190500"/>
          </a:xfrm>
          <a:custGeom>
            <a:rect b="b" l="l" r="r" t="t"/>
            <a:pathLst>
              <a:path extrusionOk="0" h="190500" w="166688">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5219700" y="4900613"/>
            <a:ext cx="48577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350" u="none" cap="none" strike="noStrike">
                <a:solidFill>
                  <a:srgbClr val="94A3B8"/>
                </a:solidFill>
                <a:latin typeface="Arial"/>
                <a:ea typeface="Arial"/>
                <a:cs typeface="Arial"/>
                <a:sym typeface="Arial"/>
              </a:rPr>
              <a:t>202</a:t>
            </a:r>
            <a:r>
              <a:rPr lang="en-US" sz="1350">
                <a:solidFill>
                  <a:srgbClr val="94A3B8"/>
                </a:solidFill>
              </a:rPr>
              <a:t>6</a:t>
            </a:r>
            <a:endParaRPr b="0" i="0" sz="1600" u="none" cap="none" strike="noStrike">
              <a:solidFill>
                <a:schemeClr val="dk1"/>
              </a:solidFill>
              <a:latin typeface="Calibri"/>
              <a:ea typeface="Calibri"/>
              <a:cs typeface="Calibri"/>
              <a:sym typeface="Calibri"/>
            </a:endParaRPr>
          </a:p>
        </p:txBody>
      </p:sp>
      <p:sp>
        <p:nvSpPr>
          <p:cNvPr id="24" name="Google Shape;24;p1"/>
          <p:cNvSpPr/>
          <p:nvPr/>
        </p:nvSpPr>
        <p:spPr>
          <a:xfrm>
            <a:off x="5969943" y="4843463"/>
            <a:ext cx="9525" cy="381000"/>
          </a:xfrm>
          <a:custGeom>
            <a:rect b="b" l="l" r="r" t="t"/>
            <a:pathLst>
              <a:path extrusionOk="0" h="381000" w="9525">
                <a:moveTo>
                  <a:pt x="0" y="0"/>
                </a:moveTo>
                <a:lnTo>
                  <a:pt x="9525" y="0"/>
                </a:lnTo>
                <a:lnTo>
                  <a:pt x="9525" y="381000"/>
                </a:lnTo>
                <a:lnTo>
                  <a:pt x="0" y="381000"/>
                </a:lnTo>
                <a:lnTo>
                  <a:pt x="0" y="0"/>
                </a:lnTo>
                <a:close/>
              </a:path>
            </a:pathLst>
          </a:custGeom>
          <a:solidFill>
            <a:srgbClr val="3B82F6">
              <a:alpha val="29803"/>
            </a:srgbClr>
          </a:solidFill>
          <a:ln>
            <a:noFill/>
          </a:ln>
        </p:spPr>
      </p:sp>
      <p:sp>
        <p:nvSpPr>
          <p:cNvPr id="25" name="Google Shape;25;p1"/>
          <p:cNvSpPr/>
          <p:nvPr/>
        </p:nvSpPr>
        <p:spPr>
          <a:xfrm>
            <a:off x="6284268" y="4805363"/>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6441430" y="4938713"/>
            <a:ext cx="142875" cy="190500"/>
          </a:xfrm>
          <a:custGeom>
            <a:rect b="b" l="l" r="r" t="t"/>
            <a:pathLst>
              <a:path extrusionOk="0" h="190500" w="142875">
                <a:moveTo>
                  <a:pt x="0" y="70172"/>
                </a:moveTo>
                <a:cubicBezTo>
                  <a:pt x="0" y="31403"/>
                  <a:pt x="31998" y="0"/>
                  <a:pt x="71438" y="0"/>
                </a:cubicBezTo>
                <a:cubicBezTo>
                  <a:pt x="110877" y="0"/>
                  <a:pt x="142875" y="31403"/>
                  <a:pt x="142875" y="70172"/>
                </a:cubicBezTo>
                <a:cubicBezTo>
                  <a:pt x="142875" y="114560"/>
                  <a:pt x="98152" y="167767"/>
                  <a:pt x="79474" y="188044"/>
                </a:cubicBezTo>
                <a:cubicBezTo>
                  <a:pt x="75084" y="192807"/>
                  <a:pt x="67754" y="192807"/>
                  <a:pt x="63364" y="188044"/>
                </a:cubicBezTo>
                <a:cubicBezTo>
                  <a:pt x="44686" y="167767"/>
                  <a:pt x="-37" y="114560"/>
                  <a:pt x="-37" y="70172"/>
                </a:cubicBezTo>
                <a:close/>
                <a:moveTo>
                  <a:pt x="71438" y="95250"/>
                </a:moveTo>
                <a:cubicBezTo>
                  <a:pt x="84580" y="95250"/>
                  <a:pt x="95250" y="84580"/>
                  <a:pt x="95250" y="71438"/>
                </a:cubicBezTo>
                <a:cubicBezTo>
                  <a:pt x="95250" y="58295"/>
                  <a:pt x="84580" y="47625"/>
                  <a:pt x="71438" y="47625"/>
                </a:cubicBezTo>
                <a:cubicBezTo>
                  <a:pt x="58295" y="47625"/>
                  <a:pt x="47625" y="58295"/>
                  <a:pt x="47625" y="71438"/>
                </a:cubicBezTo>
                <a:cubicBezTo>
                  <a:pt x="47625" y="84580"/>
                  <a:pt x="58295" y="95250"/>
                  <a:pt x="71438" y="9525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6812905" y="4900613"/>
            <a:ext cx="73342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350" u="none" cap="none" strike="noStrike">
                <a:solidFill>
                  <a:srgbClr val="94A3B8"/>
                </a:solidFill>
                <a:latin typeface="Arial"/>
                <a:ea typeface="Arial"/>
                <a:cs typeface="Arial"/>
                <a:sym typeface="Arial"/>
              </a:rPr>
              <a:t>TP.HCM</a:t>
            </a:r>
            <a:endParaRPr b="0" i="0" sz="1600" u="none" cap="none" strike="noStrike">
              <a:solidFill>
                <a:schemeClr val="dk1"/>
              </a:solidFill>
              <a:latin typeface="Calibri"/>
              <a:ea typeface="Calibri"/>
              <a:cs typeface="Calibri"/>
              <a:sym typeface="Calibri"/>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2" name="Shape 32"/>
        <p:cNvGrpSpPr/>
        <p:nvPr/>
      </p:nvGrpSpPr>
      <p:grpSpPr>
        <a:xfrm>
          <a:off x="0" y="0"/>
          <a:ext cx="0" cy="0"/>
          <a:chOff x="0" y="0"/>
          <a:chExt cx="0" cy="0"/>
        </a:xfrm>
      </p:grpSpPr>
      <p:sp>
        <p:nvSpPr>
          <p:cNvPr id="33" name="Google Shape;33;p2"/>
          <p:cNvSpPr/>
          <p:nvPr/>
        </p:nvSpPr>
        <p:spPr>
          <a:xfrm>
            <a:off x="381000" y="381000"/>
            <a:ext cx="115062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3B82F6"/>
                </a:solidFill>
                <a:latin typeface="Arial"/>
                <a:ea typeface="Arial"/>
                <a:cs typeface="Arial"/>
                <a:sym typeface="Arial"/>
              </a:rPr>
              <a:t>AGENDA</a:t>
            </a:r>
            <a:endParaRPr sz="1600">
              <a:solidFill>
                <a:schemeClr val="dk1"/>
              </a:solidFill>
              <a:latin typeface="Calibri"/>
              <a:ea typeface="Calibri"/>
              <a:cs typeface="Calibri"/>
              <a:sym typeface="Calibri"/>
            </a:endParaRPr>
          </a:p>
        </p:txBody>
      </p:sp>
      <p:sp>
        <p:nvSpPr>
          <p:cNvPr id="34" name="Google Shape;34;p2"/>
          <p:cNvSpPr/>
          <p:nvPr/>
        </p:nvSpPr>
        <p:spPr>
          <a:xfrm>
            <a:off x="381000" y="685800"/>
            <a:ext cx="1160145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700">
                <a:solidFill>
                  <a:srgbClr val="F8FAFC"/>
                </a:solidFill>
                <a:latin typeface="Arial"/>
                <a:ea typeface="Arial"/>
                <a:cs typeface="Arial"/>
                <a:sym typeface="Arial"/>
              </a:rPr>
              <a:t>Nội dung trình bày</a:t>
            </a:r>
            <a:endParaRPr sz="1600">
              <a:solidFill>
                <a:schemeClr val="dk1"/>
              </a:solidFill>
              <a:latin typeface="Calibri"/>
              <a:ea typeface="Calibri"/>
              <a:cs typeface="Calibri"/>
              <a:sym typeface="Calibri"/>
            </a:endParaRPr>
          </a:p>
        </p:txBody>
      </p:sp>
      <p:sp>
        <p:nvSpPr>
          <p:cNvPr id="35" name="Google Shape;35;p2"/>
          <p:cNvSpPr/>
          <p:nvPr/>
        </p:nvSpPr>
        <p:spPr>
          <a:xfrm>
            <a:off x="381000" y="1181100"/>
            <a:ext cx="914400" cy="38100"/>
          </a:xfrm>
          <a:custGeom>
            <a:rect b="b" l="l" r="r" t="t"/>
            <a:pathLst>
              <a:path extrusionOk="0" h="38100" w="914400">
                <a:moveTo>
                  <a:pt x="0" y="0"/>
                </a:moveTo>
                <a:lnTo>
                  <a:pt x="914400" y="0"/>
                </a:lnTo>
                <a:lnTo>
                  <a:pt x="914400" y="38100"/>
                </a:lnTo>
                <a:lnTo>
                  <a:pt x="0" y="38100"/>
                </a:lnTo>
                <a:lnTo>
                  <a:pt x="0" y="0"/>
                </a:lnTo>
                <a:close/>
              </a:path>
            </a:pathLst>
          </a:custGeom>
          <a:gradFill>
            <a:gsLst>
              <a:gs pos="0">
                <a:srgbClr val="3B82F6"/>
              </a:gs>
              <a:gs pos="100000">
                <a:srgbClr val="06B6D4"/>
              </a:gs>
            </a:gsLst>
            <a:lin ang="0" scaled="0"/>
          </a:gradFill>
          <a:ln>
            <a:noFill/>
          </a:ln>
        </p:spPr>
      </p:sp>
      <p:sp>
        <p:nvSpPr>
          <p:cNvPr id="36" name="Google Shape;36;p2"/>
          <p:cNvSpPr/>
          <p:nvPr/>
        </p:nvSpPr>
        <p:spPr>
          <a:xfrm>
            <a:off x="400050" y="1447800"/>
            <a:ext cx="5619750" cy="1143000"/>
          </a:xfrm>
          <a:custGeom>
            <a:rect b="b" l="l" r="r" t="t"/>
            <a:pathLst>
              <a:path extrusionOk="0" h="1143000" w="5619750">
                <a:moveTo>
                  <a:pt x="38100" y="0"/>
                </a:moveTo>
                <a:lnTo>
                  <a:pt x="5505450" y="0"/>
                </a:lnTo>
                <a:cubicBezTo>
                  <a:pt x="5568534" y="0"/>
                  <a:pt x="5619750" y="51216"/>
                  <a:pt x="5619750" y="114300"/>
                </a:cubicBezTo>
                <a:lnTo>
                  <a:pt x="5619750" y="1028700"/>
                </a:lnTo>
                <a:cubicBezTo>
                  <a:pt x="5619750" y="1091784"/>
                  <a:pt x="5568534" y="1143000"/>
                  <a:pt x="5505450" y="1143000"/>
                </a:cubicBezTo>
                <a:lnTo>
                  <a:pt x="38100" y="1143000"/>
                </a:lnTo>
                <a:cubicBezTo>
                  <a:pt x="17072" y="1143000"/>
                  <a:pt x="0" y="1125928"/>
                  <a:pt x="0" y="11049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00050" y="1447800"/>
            <a:ext cx="38100" cy="1143000"/>
          </a:xfrm>
          <a:custGeom>
            <a:rect b="b" l="l" r="r" t="t"/>
            <a:pathLst>
              <a:path extrusionOk="0" h="1143000" w="381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09600" y="16383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53219" y="1757363"/>
            <a:ext cx="361950"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3B82F6"/>
                </a:solidFill>
                <a:latin typeface="Arial"/>
                <a:ea typeface="Arial"/>
                <a:cs typeface="Arial"/>
                <a:sym typeface="Arial"/>
              </a:rPr>
              <a:t>01</a:t>
            </a:r>
            <a:endParaRPr sz="1600">
              <a:solidFill>
                <a:schemeClr val="dk1"/>
              </a:solidFill>
              <a:latin typeface="Calibri"/>
              <a:ea typeface="Calibri"/>
              <a:cs typeface="Calibri"/>
              <a:sym typeface="Calibri"/>
            </a:endParaRPr>
          </a:p>
        </p:txBody>
      </p:sp>
      <p:sp>
        <p:nvSpPr>
          <p:cNvPr id="40" name="Google Shape;40;p2"/>
          <p:cNvSpPr/>
          <p:nvPr/>
        </p:nvSpPr>
        <p:spPr>
          <a:xfrm>
            <a:off x="1295400" y="1638300"/>
            <a:ext cx="30384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Lý do chọn đề tài</a:t>
            </a:r>
            <a:endParaRPr sz="1600">
              <a:solidFill>
                <a:schemeClr val="dk1"/>
              </a:solidFill>
              <a:latin typeface="Calibri"/>
              <a:ea typeface="Calibri"/>
              <a:cs typeface="Calibri"/>
              <a:sym typeface="Calibri"/>
            </a:endParaRPr>
          </a:p>
        </p:txBody>
      </p:sp>
      <p:sp>
        <p:nvSpPr>
          <p:cNvPr id="41" name="Google Shape;41;p2"/>
          <p:cNvSpPr/>
          <p:nvPr/>
        </p:nvSpPr>
        <p:spPr>
          <a:xfrm>
            <a:off x="1295400" y="1981200"/>
            <a:ext cx="3019425" cy="2476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Bối cảnh thực tiễn và giải pháp công nghệ</a:t>
            </a:r>
            <a:endParaRPr sz="1600">
              <a:solidFill>
                <a:schemeClr val="dk1"/>
              </a:solidFill>
              <a:latin typeface="Calibri"/>
              <a:ea typeface="Calibri"/>
              <a:cs typeface="Calibri"/>
              <a:sym typeface="Calibri"/>
            </a:endParaRPr>
          </a:p>
        </p:txBody>
      </p:sp>
      <p:sp>
        <p:nvSpPr>
          <p:cNvPr id="42" name="Google Shape;42;p2"/>
          <p:cNvSpPr/>
          <p:nvPr/>
        </p:nvSpPr>
        <p:spPr>
          <a:xfrm>
            <a:off x="6191250" y="1447800"/>
            <a:ext cx="5619750" cy="1143000"/>
          </a:xfrm>
          <a:custGeom>
            <a:rect b="b" l="l" r="r" t="t"/>
            <a:pathLst>
              <a:path extrusionOk="0" h="1143000" w="5619750">
                <a:moveTo>
                  <a:pt x="38100" y="0"/>
                </a:moveTo>
                <a:lnTo>
                  <a:pt x="5505450" y="0"/>
                </a:lnTo>
                <a:cubicBezTo>
                  <a:pt x="5568534" y="0"/>
                  <a:pt x="5619750" y="51216"/>
                  <a:pt x="5619750" y="114300"/>
                </a:cubicBezTo>
                <a:lnTo>
                  <a:pt x="5619750" y="1028700"/>
                </a:lnTo>
                <a:cubicBezTo>
                  <a:pt x="5619750" y="1091784"/>
                  <a:pt x="5568534" y="1143000"/>
                  <a:pt x="5505450" y="1143000"/>
                </a:cubicBezTo>
                <a:lnTo>
                  <a:pt x="38100" y="1143000"/>
                </a:lnTo>
                <a:cubicBezTo>
                  <a:pt x="17072" y="1143000"/>
                  <a:pt x="0" y="1125928"/>
                  <a:pt x="0" y="11049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191250" y="1447800"/>
            <a:ext cx="38100" cy="1143000"/>
          </a:xfrm>
          <a:custGeom>
            <a:rect b="b" l="l" r="r" t="t"/>
            <a:pathLst>
              <a:path extrusionOk="0" h="1143000" w="381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6400800" y="16383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525220" y="1757363"/>
            <a:ext cx="400050"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8B5CF6"/>
                </a:solidFill>
                <a:latin typeface="Arial"/>
                <a:ea typeface="Arial"/>
                <a:cs typeface="Arial"/>
                <a:sym typeface="Arial"/>
              </a:rPr>
              <a:t>02</a:t>
            </a:r>
            <a:endParaRPr sz="1600">
              <a:solidFill>
                <a:schemeClr val="dk1"/>
              </a:solidFill>
              <a:latin typeface="Calibri"/>
              <a:ea typeface="Calibri"/>
              <a:cs typeface="Calibri"/>
              <a:sym typeface="Calibri"/>
            </a:endParaRPr>
          </a:p>
        </p:txBody>
      </p:sp>
      <p:sp>
        <p:nvSpPr>
          <p:cNvPr id="46" name="Google Shape;46;p2"/>
          <p:cNvSpPr/>
          <p:nvPr/>
        </p:nvSpPr>
        <p:spPr>
          <a:xfrm>
            <a:off x="7086600" y="1638300"/>
            <a:ext cx="25717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Cơ sở lý thuyết</a:t>
            </a:r>
            <a:endParaRPr sz="1600">
              <a:solidFill>
                <a:schemeClr val="dk1"/>
              </a:solidFill>
              <a:latin typeface="Calibri"/>
              <a:ea typeface="Calibri"/>
              <a:cs typeface="Calibri"/>
              <a:sym typeface="Calibri"/>
            </a:endParaRPr>
          </a:p>
        </p:txBody>
      </p:sp>
      <p:sp>
        <p:nvSpPr>
          <p:cNvPr id="47" name="Google Shape;47;p2"/>
          <p:cNvSpPr/>
          <p:nvPr/>
        </p:nvSpPr>
        <p:spPr>
          <a:xfrm>
            <a:off x="7086600" y="1981200"/>
            <a:ext cx="2552700" cy="2476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Nền tảng công nghệ và kiến trúc lai</a:t>
            </a:r>
            <a:endParaRPr sz="1600">
              <a:solidFill>
                <a:schemeClr val="dk1"/>
              </a:solidFill>
              <a:latin typeface="Calibri"/>
              <a:ea typeface="Calibri"/>
              <a:cs typeface="Calibri"/>
              <a:sym typeface="Calibri"/>
            </a:endParaRPr>
          </a:p>
        </p:txBody>
      </p:sp>
      <p:sp>
        <p:nvSpPr>
          <p:cNvPr id="48" name="Google Shape;48;p2"/>
          <p:cNvSpPr/>
          <p:nvPr/>
        </p:nvSpPr>
        <p:spPr>
          <a:xfrm>
            <a:off x="400050" y="2743200"/>
            <a:ext cx="5619750" cy="1143000"/>
          </a:xfrm>
          <a:custGeom>
            <a:rect b="b" l="l" r="r" t="t"/>
            <a:pathLst>
              <a:path extrusionOk="0" h="1143000" w="5619750">
                <a:moveTo>
                  <a:pt x="38100" y="0"/>
                </a:moveTo>
                <a:lnTo>
                  <a:pt x="5505450" y="0"/>
                </a:lnTo>
                <a:cubicBezTo>
                  <a:pt x="5568534" y="0"/>
                  <a:pt x="5619750" y="51216"/>
                  <a:pt x="5619750" y="114300"/>
                </a:cubicBezTo>
                <a:lnTo>
                  <a:pt x="5619750" y="1028700"/>
                </a:lnTo>
                <a:cubicBezTo>
                  <a:pt x="5619750" y="1091784"/>
                  <a:pt x="5568534" y="1143000"/>
                  <a:pt x="5505450" y="1143000"/>
                </a:cubicBezTo>
                <a:lnTo>
                  <a:pt x="38100" y="1143000"/>
                </a:lnTo>
                <a:cubicBezTo>
                  <a:pt x="17072" y="1143000"/>
                  <a:pt x="0" y="1125928"/>
                  <a:pt x="0" y="11049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400050" y="2743200"/>
            <a:ext cx="38100" cy="1143000"/>
          </a:xfrm>
          <a:custGeom>
            <a:rect b="b" l="l" r="r" t="t"/>
            <a:pathLst>
              <a:path extrusionOk="0" h="1143000" w="381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609600" y="29337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731044" y="3052763"/>
            <a:ext cx="409575"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6B6D4"/>
                </a:solidFill>
                <a:latin typeface="Arial"/>
                <a:ea typeface="Arial"/>
                <a:cs typeface="Arial"/>
                <a:sym typeface="Arial"/>
              </a:rPr>
              <a:t>03</a:t>
            </a:r>
            <a:endParaRPr sz="1600">
              <a:solidFill>
                <a:schemeClr val="dk1"/>
              </a:solidFill>
              <a:latin typeface="Calibri"/>
              <a:ea typeface="Calibri"/>
              <a:cs typeface="Calibri"/>
              <a:sym typeface="Calibri"/>
            </a:endParaRPr>
          </a:p>
        </p:txBody>
      </p:sp>
      <p:sp>
        <p:nvSpPr>
          <p:cNvPr id="52" name="Google Shape;52;p2"/>
          <p:cNvSpPr/>
          <p:nvPr/>
        </p:nvSpPr>
        <p:spPr>
          <a:xfrm>
            <a:off x="1295400" y="2933700"/>
            <a:ext cx="20955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Kiến trúc hệ thống</a:t>
            </a:r>
            <a:endParaRPr sz="1600">
              <a:solidFill>
                <a:schemeClr val="dk1"/>
              </a:solidFill>
              <a:latin typeface="Calibri"/>
              <a:ea typeface="Calibri"/>
              <a:cs typeface="Calibri"/>
              <a:sym typeface="Calibri"/>
            </a:endParaRPr>
          </a:p>
        </p:txBody>
      </p:sp>
      <p:sp>
        <p:nvSpPr>
          <p:cNvPr id="53" name="Google Shape;53;p2"/>
          <p:cNvSpPr/>
          <p:nvPr/>
        </p:nvSpPr>
        <p:spPr>
          <a:xfrm>
            <a:off x="1295400" y="3276600"/>
            <a:ext cx="2076450" cy="2476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3 lớp kiến trúc và luồng xử lý</a:t>
            </a:r>
            <a:endParaRPr sz="1600">
              <a:solidFill>
                <a:schemeClr val="dk1"/>
              </a:solidFill>
              <a:latin typeface="Calibri"/>
              <a:ea typeface="Calibri"/>
              <a:cs typeface="Calibri"/>
              <a:sym typeface="Calibri"/>
            </a:endParaRPr>
          </a:p>
        </p:txBody>
      </p:sp>
      <p:sp>
        <p:nvSpPr>
          <p:cNvPr id="54" name="Google Shape;54;p2"/>
          <p:cNvSpPr/>
          <p:nvPr/>
        </p:nvSpPr>
        <p:spPr>
          <a:xfrm>
            <a:off x="6191250" y="2743200"/>
            <a:ext cx="5619750" cy="1143000"/>
          </a:xfrm>
          <a:custGeom>
            <a:rect b="b" l="l" r="r" t="t"/>
            <a:pathLst>
              <a:path extrusionOk="0" h="1143000" w="5619750">
                <a:moveTo>
                  <a:pt x="38100" y="0"/>
                </a:moveTo>
                <a:lnTo>
                  <a:pt x="5505450" y="0"/>
                </a:lnTo>
                <a:cubicBezTo>
                  <a:pt x="5568534" y="0"/>
                  <a:pt x="5619750" y="51216"/>
                  <a:pt x="5619750" y="114300"/>
                </a:cubicBezTo>
                <a:lnTo>
                  <a:pt x="5619750" y="1028700"/>
                </a:lnTo>
                <a:cubicBezTo>
                  <a:pt x="5619750" y="1091784"/>
                  <a:pt x="5568534" y="1143000"/>
                  <a:pt x="5505450" y="1143000"/>
                </a:cubicBezTo>
                <a:lnTo>
                  <a:pt x="38100" y="1143000"/>
                </a:lnTo>
                <a:cubicBezTo>
                  <a:pt x="17072" y="1143000"/>
                  <a:pt x="0" y="1125928"/>
                  <a:pt x="0" y="11049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191250" y="2743200"/>
            <a:ext cx="38100" cy="1143000"/>
          </a:xfrm>
          <a:custGeom>
            <a:rect b="b" l="l" r="r" t="t"/>
            <a:pathLst>
              <a:path extrusionOk="0" h="1143000" w="381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400800" y="29337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6522393" y="3052763"/>
            <a:ext cx="400050"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10B981"/>
                </a:solidFill>
                <a:latin typeface="Arial"/>
                <a:ea typeface="Arial"/>
                <a:cs typeface="Arial"/>
                <a:sym typeface="Arial"/>
              </a:rPr>
              <a:t>04</a:t>
            </a:r>
            <a:endParaRPr sz="1600">
              <a:solidFill>
                <a:schemeClr val="dk1"/>
              </a:solidFill>
              <a:latin typeface="Calibri"/>
              <a:ea typeface="Calibri"/>
              <a:cs typeface="Calibri"/>
              <a:sym typeface="Calibri"/>
            </a:endParaRPr>
          </a:p>
        </p:txBody>
      </p:sp>
      <p:sp>
        <p:nvSpPr>
          <p:cNvPr id="58" name="Google Shape;58;p2"/>
          <p:cNvSpPr/>
          <p:nvPr/>
        </p:nvSpPr>
        <p:spPr>
          <a:xfrm>
            <a:off x="7086600" y="2933700"/>
            <a:ext cx="22479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Phương pháp thực hiện</a:t>
            </a:r>
            <a:endParaRPr sz="1600">
              <a:solidFill>
                <a:schemeClr val="dk1"/>
              </a:solidFill>
              <a:latin typeface="Calibri"/>
              <a:ea typeface="Calibri"/>
              <a:cs typeface="Calibri"/>
              <a:sym typeface="Calibri"/>
            </a:endParaRPr>
          </a:p>
        </p:txBody>
      </p:sp>
      <p:sp>
        <p:nvSpPr>
          <p:cNvPr id="59" name="Google Shape;59;p2"/>
          <p:cNvSpPr/>
          <p:nvPr/>
        </p:nvSpPr>
        <p:spPr>
          <a:xfrm>
            <a:off x="7086600" y="3276600"/>
            <a:ext cx="2228850" cy="2476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5 bước phát triển và kiểm thử</a:t>
            </a:r>
            <a:endParaRPr sz="1600">
              <a:solidFill>
                <a:schemeClr val="dk1"/>
              </a:solidFill>
              <a:latin typeface="Calibri"/>
              <a:ea typeface="Calibri"/>
              <a:cs typeface="Calibri"/>
              <a:sym typeface="Calibri"/>
            </a:endParaRPr>
          </a:p>
        </p:txBody>
      </p:sp>
      <p:sp>
        <p:nvSpPr>
          <p:cNvPr id="60" name="Google Shape;60;p2"/>
          <p:cNvSpPr/>
          <p:nvPr/>
        </p:nvSpPr>
        <p:spPr>
          <a:xfrm>
            <a:off x="400050" y="4038600"/>
            <a:ext cx="5619750" cy="1143000"/>
          </a:xfrm>
          <a:custGeom>
            <a:rect b="b" l="l" r="r" t="t"/>
            <a:pathLst>
              <a:path extrusionOk="0" h="1143000" w="5619750">
                <a:moveTo>
                  <a:pt x="38100" y="0"/>
                </a:moveTo>
                <a:lnTo>
                  <a:pt x="5505450" y="0"/>
                </a:lnTo>
                <a:cubicBezTo>
                  <a:pt x="5568534" y="0"/>
                  <a:pt x="5619750" y="51216"/>
                  <a:pt x="5619750" y="114300"/>
                </a:cubicBezTo>
                <a:lnTo>
                  <a:pt x="5619750" y="1028700"/>
                </a:lnTo>
                <a:cubicBezTo>
                  <a:pt x="5619750" y="1091784"/>
                  <a:pt x="5568534" y="1143000"/>
                  <a:pt x="5505450" y="1143000"/>
                </a:cubicBezTo>
                <a:lnTo>
                  <a:pt x="38100" y="1143000"/>
                </a:lnTo>
                <a:cubicBezTo>
                  <a:pt x="17072" y="1143000"/>
                  <a:pt x="0" y="1125928"/>
                  <a:pt x="0" y="11049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400050" y="4038600"/>
            <a:ext cx="38100" cy="1143000"/>
          </a:xfrm>
          <a:custGeom>
            <a:rect b="b" l="l" r="r" t="t"/>
            <a:pathLst>
              <a:path extrusionOk="0" h="1143000" w="381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609600" y="42291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730002" y="4348163"/>
            <a:ext cx="409575"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F59E0B"/>
                </a:solidFill>
                <a:latin typeface="Arial"/>
                <a:ea typeface="Arial"/>
                <a:cs typeface="Arial"/>
                <a:sym typeface="Arial"/>
              </a:rPr>
              <a:t>05</a:t>
            </a:r>
            <a:endParaRPr sz="1600">
              <a:solidFill>
                <a:schemeClr val="dk1"/>
              </a:solidFill>
              <a:latin typeface="Calibri"/>
              <a:ea typeface="Calibri"/>
              <a:cs typeface="Calibri"/>
              <a:sym typeface="Calibri"/>
            </a:endParaRPr>
          </a:p>
        </p:txBody>
      </p:sp>
      <p:sp>
        <p:nvSpPr>
          <p:cNvPr id="64" name="Google Shape;64;p2"/>
          <p:cNvSpPr/>
          <p:nvPr/>
        </p:nvSpPr>
        <p:spPr>
          <a:xfrm>
            <a:off x="1295400" y="4229100"/>
            <a:ext cx="19240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Kịch bản chức năng</a:t>
            </a:r>
            <a:endParaRPr sz="1600">
              <a:solidFill>
                <a:schemeClr val="dk1"/>
              </a:solidFill>
              <a:latin typeface="Calibri"/>
              <a:ea typeface="Calibri"/>
              <a:cs typeface="Calibri"/>
              <a:sym typeface="Calibri"/>
            </a:endParaRPr>
          </a:p>
        </p:txBody>
      </p:sp>
      <p:sp>
        <p:nvSpPr>
          <p:cNvPr id="65" name="Google Shape;65;p2"/>
          <p:cNvSpPr/>
          <p:nvPr/>
        </p:nvSpPr>
        <p:spPr>
          <a:xfrm>
            <a:off x="1295400" y="4572000"/>
            <a:ext cx="1905000" cy="2476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5 kịch bản sử dụng chính</a:t>
            </a:r>
            <a:endParaRPr sz="1600">
              <a:solidFill>
                <a:schemeClr val="dk1"/>
              </a:solidFill>
              <a:latin typeface="Calibri"/>
              <a:ea typeface="Calibri"/>
              <a:cs typeface="Calibri"/>
              <a:sym typeface="Calibri"/>
            </a:endParaRPr>
          </a:p>
        </p:txBody>
      </p:sp>
      <p:sp>
        <p:nvSpPr>
          <p:cNvPr id="66" name="Google Shape;66;p2"/>
          <p:cNvSpPr/>
          <p:nvPr/>
        </p:nvSpPr>
        <p:spPr>
          <a:xfrm>
            <a:off x="6191250" y="4038600"/>
            <a:ext cx="5619750" cy="1143000"/>
          </a:xfrm>
          <a:custGeom>
            <a:rect b="b" l="l" r="r" t="t"/>
            <a:pathLst>
              <a:path extrusionOk="0" h="1143000" w="5619750">
                <a:moveTo>
                  <a:pt x="38100" y="0"/>
                </a:moveTo>
                <a:lnTo>
                  <a:pt x="5505450" y="0"/>
                </a:lnTo>
                <a:cubicBezTo>
                  <a:pt x="5568534" y="0"/>
                  <a:pt x="5619750" y="51216"/>
                  <a:pt x="5619750" y="114300"/>
                </a:cubicBezTo>
                <a:lnTo>
                  <a:pt x="5619750" y="1028700"/>
                </a:lnTo>
                <a:cubicBezTo>
                  <a:pt x="5619750" y="1091784"/>
                  <a:pt x="5568534" y="1143000"/>
                  <a:pt x="5505450" y="1143000"/>
                </a:cubicBezTo>
                <a:lnTo>
                  <a:pt x="38100" y="1143000"/>
                </a:lnTo>
                <a:cubicBezTo>
                  <a:pt x="17072" y="1143000"/>
                  <a:pt x="0" y="1125928"/>
                  <a:pt x="0" y="11049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191250" y="4038600"/>
            <a:ext cx="38100" cy="1143000"/>
          </a:xfrm>
          <a:custGeom>
            <a:rect b="b" l="l" r="r" t="t"/>
            <a:pathLst>
              <a:path extrusionOk="0" h="1143000" w="381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EC4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400800" y="42291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EC48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520755" y="4348163"/>
            <a:ext cx="409575"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EC4899"/>
                </a:solidFill>
                <a:latin typeface="Arial"/>
                <a:ea typeface="Arial"/>
                <a:cs typeface="Arial"/>
                <a:sym typeface="Arial"/>
              </a:rPr>
              <a:t>06</a:t>
            </a:r>
            <a:endParaRPr sz="1600">
              <a:solidFill>
                <a:schemeClr val="dk1"/>
              </a:solidFill>
              <a:latin typeface="Calibri"/>
              <a:ea typeface="Calibri"/>
              <a:cs typeface="Calibri"/>
              <a:sym typeface="Calibri"/>
            </a:endParaRPr>
          </a:p>
        </p:txBody>
      </p:sp>
      <p:sp>
        <p:nvSpPr>
          <p:cNvPr id="70" name="Google Shape;70;p2"/>
          <p:cNvSpPr/>
          <p:nvPr/>
        </p:nvSpPr>
        <p:spPr>
          <a:xfrm>
            <a:off x="7086600" y="4229100"/>
            <a:ext cx="16954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Kết quả đạt được</a:t>
            </a:r>
            <a:endParaRPr sz="1600">
              <a:solidFill>
                <a:schemeClr val="dk1"/>
              </a:solidFill>
              <a:latin typeface="Calibri"/>
              <a:ea typeface="Calibri"/>
              <a:cs typeface="Calibri"/>
              <a:sym typeface="Calibri"/>
            </a:endParaRPr>
          </a:p>
        </p:txBody>
      </p:sp>
      <p:sp>
        <p:nvSpPr>
          <p:cNvPr id="71" name="Google Shape;71;p2"/>
          <p:cNvSpPr/>
          <p:nvPr/>
        </p:nvSpPr>
        <p:spPr>
          <a:xfrm>
            <a:off x="7086600" y="4572000"/>
            <a:ext cx="1676400" cy="2476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Thành tựu và triển khai</a:t>
            </a:r>
            <a:endParaRPr sz="1600">
              <a:solidFill>
                <a:schemeClr val="dk1"/>
              </a:solidFill>
              <a:latin typeface="Calibri"/>
              <a:ea typeface="Calibri"/>
              <a:cs typeface="Calibri"/>
              <a:sym typeface="Calibri"/>
            </a:endParaRPr>
          </a:p>
        </p:txBody>
      </p:sp>
      <p:sp>
        <p:nvSpPr>
          <p:cNvPr id="72" name="Google Shape;72;p2"/>
          <p:cNvSpPr/>
          <p:nvPr/>
        </p:nvSpPr>
        <p:spPr>
          <a:xfrm>
            <a:off x="400050" y="5334000"/>
            <a:ext cx="5619750" cy="1143000"/>
          </a:xfrm>
          <a:custGeom>
            <a:rect b="b" l="l" r="r" t="t"/>
            <a:pathLst>
              <a:path extrusionOk="0" h="1143000" w="5619750">
                <a:moveTo>
                  <a:pt x="38100" y="0"/>
                </a:moveTo>
                <a:lnTo>
                  <a:pt x="5505450" y="0"/>
                </a:lnTo>
                <a:cubicBezTo>
                  <a:pt x="5568534" y="0"/>
                  <a:pt x="5619750" y="51216"/>
                  <a:pt x="5619750" y="114300"/>
                </a:cubicBezTo>
                <a:lnTo>
                  <a:pt x="5619750" y="1028700"/>
                </a:lnTo>
                <a:cubicBezTo>
                  <a:pt x="5619750" y="1091784"/>
                  <a:pt x="5568534" y="1143000"/>
                  <a:pt x="5505450" y="1143000"/>
                </a:cubicBezTo>
                <a:lnTo>
                  <a:pt x="38100" y="1143000"/>
                </a:lnTo>
                <a:cubicBezTo>
                  <a:pt x="17072" y="1143000"/>
                  <a:pt x="0" y="1125928"/>
                  <a:pt x="0" y="11049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400050" y="5334000"/>
            <a:ext cx="38100" cy="1143000"/>
          </a:xfrm>
          <a:custGeom>
            <a:rect b="b" l="l" r="r" t="t"/>
            <a:pathLst>
              <a:path extrusionOk="0" h="1143000" w="381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6366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609600" y="55245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6366F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738932" y="5643563"/>
            <a:ext cx="390525"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6366F1"/>
                </a:solidFill>
                <a:latin typeface="Arial"/>
                <a:ea typeface="Arial"/>
                <a:cs typeface="Arial"/>
                <a:sym typeface="Arial"/>
              </a:rPr>
              <a:t>07</a:t>
            </a:r>
            <a:endParaRPr sz="1600">
              <a:solidFill>
                <a:schemeClr val="dk1"/>
              </a:solidFill>
              <a:latin typeface="Calibri"/>
              <a:ea typeface="Calibri"/>
              <a:cs typeface="Calibri"/>
              <a:sym typeface="Calibri"/>
            </a:endParaRPr>
          </a:p>
        </p:txBody>
      </p:sp>
      <p:sp>
        <p:nvSpPr>
          <p:cNvPr id="76" name="Google Shape;76;p2"/>
          <p:cNvSpPr/>
          <p:nvPr/>
        </p:nvSpPr>
        <p:spPr>
          <a:xfrm>
            <a:off x="1295400" y="5524500"/>
            <a:ext cx="19335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Đánh giá &amp; Hạn chế</a:t>
            </a:r>
            <a:endParaRPr sz="1600">
              <a:solidFill>
                <a:schemeClr val="dk1"/>
              </a:solidFill>
              <a:latin typeface="Calibri"/>
              <a:ea typeface="Calibri"/>
              <a:cs typeface="Calibri"/>
              <a:sym typeface="Calibri"/>
            </a:endParaRPr>
          </a:p>
        </p:txBody>
      </p:sp>
      <p:sp>
        <p:nvSpPr>
          <p:cNvPr id="77" name="Google Shape;77;p2"/>
          <p:cNvSpPr/>
          <p:nvPr/>
        </p:nvSpPr>
        <p:spPr>
          <a:xfrm>
            <a:off x="1295400" y="5867400"/>
            <a:ext cx="1914525" cy="2476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Phân tích ưu nhược điểm</a:t>
            </a:r>
            <a:endParaRPr sz="1600">
              <a:solidFill>
                <a:schemeClr val="dk1"/>
              </a:solidFill>
              <a:latin typeface="Calibri"/>
              <a:ea typeface="Calibri"/>
              <a:cs typeface="Calibri"/>
              <a:sym typeface="Calibri"/>
            </a:endParaRPr>
          </a:p>
        </p:txBody>
      </p:sp>
      <p:sp>
        <p:nvSpPr>
          <p:cNvPr id="78" name="Google Shape;78;p2"/>
          <p:cNvSpPr/>
          <p:nvPr/>
        </p:nvSpPr>
        <p:spPr>
          <a:xfrm>
            <a:off x="6191250" y="5334000"/>
            <a:ext cx="5619750" cy="1143000"/>
          </a:xfrm>
          <a:custGeom>
            <a:rect b="b" l="l" r="r" t="t"/>
            <a:pathLst>
              <a:path extrusionOk="0" h="1143000" w="5619750">
                <a:moveTo>
                  <a:pt x="38100" y="0"/>
                </a:moveTo>
                <a:lnTo>
                  <a:pt x="5505450" y="0"/>
                </a:lnTo>
                <a:cubicBezTo>
                  <a:pt x="5568534" y="0"/>
                  <a:pt x="5619750" y="51216"/>
                  <a:pt x="5619750" y="114300"/>
                </a:cubicBezTo>
                <a:lnTo>
                  <a:pt x="5619750" y="1028700"/>
                </a:lnTo>
                <a:cubicBezTo>
                  <a:pt x="5619750" y="1091784"/>
                  <a:pt x="5568534" y="1143000"/>
                  <a:pt x="5505450" y="1143000"/>
                </a:cubicBezTo>
                <a:lnTo>
                  <a:pt x="38100" y="1143000"/>
                </a:lnTo>
                <a:cubicBezTo>
                  <a:pt x="17072" y="1143000"/>
                  <a:pt x="0" y="1125928"/>
                  <a:pt x="0" y="11049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6191250" y="5334000"/>
            <a:ext cx="38100" cy="1143000"/>
          </a:xfrm>
          <a:custGeom>
            <a:rect b="b" l="l" r="r" t="t"/>
            <a:pathLst>
              <a:path extrusionOk="0" h="1143000" w="381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6400800" y="55245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14B8A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6518225" y="5643563"/>
            <a:ext cx="409575"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14B8A6"/>
                </a:solidFill>
                <a:latin typeface="Arial"/>
                <a:ea typeface="Arial"/>
                <a:cs typeface="Arial"/>
                <a:sym typeface="Arial"/>
              </a:rPr>
              <a:t>08</a:t>
            </a:r>
            <a:endParaRPr sz="1600">
              <a:solidFill>
                <a:schemeClr val="dk1"/>
              </a:solidFill>
              <a:latin typeface="Calibri"/>
              <a:ea typeface="Calibri"/>
              <a:cs typeface="Calibri"/>
              <a:sym typeface="Calibri"/>
            </a:endParaRPr>
          </a:p>
        </p:txBody>
      </p:sp>
      <p:sp>
        <p:nvSpPr>
          <p:cNvPr id="82" name="Google Shape;82;p2"/>
          <p:cNvSpPr/>
          <p:nvPr/>
        </p:nvSpPr>
        <p:spPr>
          <a:xfrm>
            <a:off x="7086600" y="5524500"/>
            <a:ext cx="16668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Hướng phát triển</a:t>
            </a:r>
            <a:endParaRPr sz="1600">
              <a:solidFill>
                <a:schemeClr val="dk1"/>
              </a:solidFill>
              <a:latin typeface="Calibri"/>
              <a:ea typeface="Calibri"/>
              <a:cs typeface="Calibri"/>
              <a:sym typeface="Calibri"/>
            </a:endParaRPr>
          </a:p>
        </p:txBody>
      </p:sp>
      <p:sp>
        <p:nvSpPr>
          <p:cNvPr id="83" name="Google Shape;83;p2"/>
          <p:cNvSpPr/>
          <p:nvPr/>
        </p:nvSpPr>
        <p:spPr>
          <a:xfrm>
            <a:off x="7086600" y="5867400"/>
            <a:ext cx="1647825" cy="2476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Tầm nhìn tương lai</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8" name="Shape 88"/>
        <p:cNvGrpSpPr/>
        <p:nvPr/>
      </p:nvGrpSpPr>
      <p:grpSpPr>
        <a:xfrm>
          <a:off x="0" y="0"/>
          <a:ext cx="0" cy="0"/>
          <a:chOff x="0" y="0"/>
          <a:chExt cx="0" cy="0"/>
        </a:xfrm>
      </p:grpSpPr>
      <p:sp>
        <p:nvSpPr>
          <p:cNvPr id="89" name="Google Shape;89;p3"/>
          <p:cNvSpPr/>
          <p:nvPr/>
        </p:nvSpPr>
        <p:spPr>
          <a:xfrm>
            <a:off x="381000" y="381000"/>
            <a:ext cx="115062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3B82F6"/>
                </a:solidFill>
                <a:latin typeface="Arial"/>
                <a:ea typeface="Arial"/>
                <a:cs typeface="Arial"/>
                <a:sym typeface="Arial"/>
              </a:rPr>
              <a:t>01 / LÝ DO CHỌN ĐỀ TÀI</a:t>
            </a:r>
            <a:endParaRPr sz="1600">
              <a:solidFill>
                <a:schemeClr val="dk1"/>
              </a:solidFill>
              <a:latin typeface="Calibri"/>
              <a:ea typeface="Calibri"/>
              <a:cs typeface="Calibri"/>
              <a:sym typeface="Calibri"/>
            </a:endParaRPr>
          </a:p>
        </p:txBody>
      </p:sp>
      <p:sp>
        <p:nvSpPr>
          <p:cNvPr id="90" name="Google Shape;90;p3"/>
          <p:cNvSpPr/>
          <p:nvPr/>
        </p:nvSpPr>
        <p:spPr>
          <a:xfrm>
            <a:off x="381000" y="685800"/>
            <a:ext cx="1160145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700">
                <a:solidFill>
                  <a:srgbClr val="F8FAFC"/>
                </a:solidFill>
                <a:latin typeface="Arial"/>
                <a:ea typeface="Arial"/>
                <a:cs typeface="Arial"/>
                <a:sym typeface="Arial"/>
              </a:rPr>
              <a:t>Tại sao chọn chatbot tra cứu phim?</a:t>
            </a:r>
            <a:endParaRPr sz="1600">
              <a:solidFill>
                <a:schemeClr val="dk1"/>
              </a:solidFill>
              <a:latin typeface="Calibri"/>
              <a:ea typeface="Calibri"/>
              <a:cs typeface="Calibri"/>
              <a:sym typeface="Calibri"/>
            </a:endParaRPr>
          </a:p>
        </p:txBody>
      </p:sp>
      <p:sp>
        <p:nvSpPr>
          <p:cNvPr id="91" name="Google Shape;91;p3"/>
          <p:cNvSpPr/>
          <p:nvPr/>
        </p:nvSpPr>
        <p:spPr>
          <a:xfrm>
            <a:off x="381000" y="1181100"/>
            <a:ext cx="914400" cy="38100"/>
          </a:xfrm>
          <a:custGeom>
            <a:rect b="b" l="l" r="r" t="t"/>
            <a:pathLst>
              <a:path extrusionOk="0" h="38100" w="914400">
                <a:moveTo>
                  <a:pt x="0" y="0"/>
                </a:moveTo>
                <a:lnTo>
                  <a:pt x="914400" y="0"/>
                </a:lnTo>
                <a:lnTo>
                  <a:pt x="914400" y="38100"/>
                </a:lnTo>
                <a:lnTo>
                  <a:pt x="0" y="38100"/>
                </a:lnTo>
                <a:lnTo>
                  <a:pt x="0" y="0"/>
                </a:lnTo>
                <a:close/>
              </a:path>
            </a:pathLst>
          </a:custGeom>
          <a:gradFill>
            <a:gsLst>
              <a:gs pos="0">
                <a:srgbClr val="3B82F6"/>
              </a:gs>
              <a:gs pos="100000">
                <a:srgbClr val="06B6D4"/>
              </a:gs>
            </a:gsLst>
            <a:lin ang="0" scaled="0"/>
          </a:gradFill>
          <a:ln>
            <a:noFill/>
          </a:ln>
        </p:spPr>
      </p:sp>
      <p:sp>
        <p:nvSpPr>
          <p:cNvPr id="92" name="Google Shape;92;p3"/>
          <p:cNvSpPr/>
          <p:nvPr/>
        </p:nvSpPr>
        <p:spPr>
          <a:xfrm>
            <a:off x="385763" y="1376363"/>
            <a:ext cx="5629275" cy="1962150"/>
          </a:xfrm>
          <a:custGeom>
            <a:rect b="b" l="l" r="r" t="t"/>
            <a:pathLst>
              <a:path extrusionOk="0" h="1962150" w="5629275">
                <a:moveTo>
                  <a:pt x="114295" y="0"/>
                </a:moveTo>
                <a:lnTo>
                  <a:pt x="5514980" y="0"/>
                </a:lnTo>
                <a:cubicBezTo>
                  <a:pt x="5578103" y="0"/>
                  <a:pt x="5629275" y="51172"/>
                  <a:pt x="5629275" y="114295"/>
                </a:cubicBezTo>
                <a:lnTo>
                  <a:pt x="5629275" y="1847855"/>
                </a:lnTo>
                <a:cubicBezTo>
                  <a:pt x="5629275" y="1910978"/>
                  <a:pt x="5578103" y="1962150"/>
                  <a:pt x="5514980" y="1962150"/>
                </a:cubicBezTo>
                <a:lnTo>
                  <a:pt x="114295" y="1962150"/>
                </a:lnTo>
                <a:cubicBezTo>
                  <a:pt x="51172" y="1962150"/>
                  <a:pt x="0" y="1910978"/>
                  <a:pt x="0" y="1847855"/>
                </a:cubicBezTo>
                <a:lnTo>
                  <a:pt x="0" y="114295"/>
                </a:lnTo>
                <a:cubicBezTo>
                  <a:pt x="0" y="51172"/>
                  <a:pt x="51172" y="0"/>
                  <a:pt x="114295" y="0"/>
                </a:cubicBezTo>
                <a:close/>
              </a:path>
            </a:pathLst>
          </a:custGeom>
          <a:gradFill>
            <a:gsLst>
              <a:gs pos="0">
                <a:srgbClr val="1E293B"/>
              </a:gs>
              <a:gs pos="100000">
                <a:srgbClr val="0F172A"/>
              </a:gs>
            </a:gsLst>
            <a:lin ang="2700000" scaled="0"/>
          </a:gradFill>
          <a:ln cap="flat" cmpd="sng" w="12700">
            <a:solidFill>
              <a:srgbClr val="3B82F6">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581025" y="1700213"/>
            <a:ext cx="457200" cy="457200"/>
          </a:xfrm>
          <a:custGeom>
            <a:rect b="b" l="l" r="r" t="t"/>
            <a:pathLst>
              <a:path extrusionOk="0" h="457200" w="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714375" y="1833563"/>
            <a:ext cx="190500" cy="190500"/>
          </a:xfrm>
          <a:custGeom>
            <a:rect b="b" l="l" r="r" t="t"/>
            <a:pathLst>
              <a:path extrusionOk="0" h="190500" w="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1152525" y="1795463"/>
            <a:ext cx="17811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Bối cảnh thực tiễn</a:t>
            </a:r>
            <a:endParaRPr sz="1600">
              <a:solidFill>
                <a:schemeClr val="dk1"/>
              </a:solidFill>
              <a:latin typeface="Calibri"/>
              <a:ea typeface="Calibri"/>
              <a:cs typeface="Calibri"/>
              <a:sym typeface="Calibri"/>
            </a:endParaRPr>
          </a:p>
        </p:txBody>
      </p:sp>
      <p:sp>
        <p:nvSpPr>
          <p:cNvPr id="96" name="Google Shape;96;p3"/>
          <p:cNvSpPr/>
          <p:nvPr/>
        </p:nvSpPr>
        <p:spPr>
          <a:xfrm>
            <a:off x="581025" y="2271713"/>
            <a:ext cx="5314950" cy="7429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Thị trường điện ảnh Việt Nam đang </a:t>
            </a:r>
            <a:r>
              <a:rPr b="1" lang="en-US" sz="1200">
                <a:solidFill>
                  <a:srgbClr val="10B981"/>
                </a:solidFill>
                <a:latin typeface="Arial"/>
                <a:ea typeface="Arial"/>
                <a:cs typeface="Arial"/>
                <a:sym typeface="Arial"/>
              </a:rPr>
              <a:t>phục hồi mạnh mẽ</a:t>
            </a:r>
            <a:r>
              <a:rPr lang="en-US" sz="1200">
                <a:solidFill>
                  <a:srgbClr val="94A3B8"/>
                </a:solidFill>
                <a:latin typeface="Arial"/>
                <a:ea typeface="Arial"/>
                <a:cs typeface="Arial"/>
                <a:sym typeface="Arial"/>
              </a:rPr>
              <a:t> sau đại dịch, nhu cầu giải trí của người dân tăng cao. Các rạp chiếu phim liên tục công chiếu bom tấn, thu hút hàng triệu lượt khán giả mỗi tuần.</a:t>
            </a:r>
            <a:endParaRPr sz="1600">
              <a:solidFill>
                <a:schemeClr val="dk1"/>
              </a:solidFill>
              <a:latin typeface="Calibri"/>
              <a:ea typeface="Calibri"/>
              <a:cs typeface="Calibri"/>
              <a:sym typeface="Calibri"/>
            </a:endParaRPr>
          </a:p>
        </p:txBody>
      </p:sp>
      <p:sp>
        <p:nvSpPr>
          <p:cNvPr id="97" name="Google Shape;97;p3"/>
          <p:cNvSpPr/>
          <p:nvPr/>
        </p:nvSpPr>
        <p:spPr>
          <a:xfrm>
            <a:off x="385763" y="3500438"/>
            <a:ext cx="5629275" cy="1962150"/>
          </a:xfrm>
          <a:custGeom>
            <a:rect b="b" l="l" r="r" t="t"/>
            <a:pathLst>
              <a:path extrusionOk="0" h="1962150" w="5629275">
                <a:moveTo>
                  <a:pt x="114295" y="0"/>
                </a:moveTo>
                <a:lnTo>
                  <a:pt x="5514980" y="0"/>
                </a:lnTo>
                <a:cubicBezTo>
                  <a:pt x="5578103" y="0"/>
                  <a:pt x="5629275" y="51172"/>
                  <a:pt x="5629275" y="114295"/>
                </a:cubicBezTo>
                <a:lnTo>
                  <a:pt x="5629275" y="1847855"/>
                </a:lnTo>
                <a:cubicBezTo>
                  <a:pt x="5629275" y="1910978"/>
                  <a:pt x="5578103" y="1962150"/>
                  <a:pt x="5514980" y="1962150"/>
                </a:cubicBezTo>
                <a:lnTo>
                  <a:pt x="114295" y="1962150"/>
                </a:lnTo>
                <a:cubicBezTo>
                  <a:pt x="51172" y="1962150"/>
                  <a:pt x="0" y="1910978"/>
                  <a:pt x="0" y="1847855"/>
                </a:cubicBezTo>
                <a:lnTo>
                  <a:pt x="0" y="114295"/>
                </a:lnTo>
                <a:cubicBezTo>
                  <a:pt x="0" y="51172"/>
                  <a:pt x="51172" y="0"/>
                  <a:pt x="114295" y="0"/>
                </a:cubicBezTo>
                <a:close/>
              </a:path>
            </a:pathLst>
          </a:custGeom>
          <a:gradFill>
            <a:gsLst>
              <a:gs pos="0">
                <a:srgbClr val="1E293B"/>
              </a:gs>
              <a:gs pos="100000">
                <a:srgbClr val="0F172A"/>
              </a:gs>
            </a:gsLst>
            <a:lin ang="2700000" scaled="0"/>
          </a:gradFill>
          <a:ln cap="flat" cmpd="sng" w="12700">
            <a:solidFill>
              <a:srgbClr val="8B5CF6">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81025" y="3824288"/>
            <a:ext cx="457200" cy="457200"/>
          </a:xfrm>
          <a:custGeom>
            <a:rect b="b" l="l" r="r" t="t"/>
            <a:pathLst>
              <a:path extrusionOk="0" h="457200" w="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714375" y="3957638"/>
            <a:ext cx="190500" cy="190500"/>
          </a:xfrm>
          <a:custGeom>
            <a:rect b="b" l="l" r="r" t="t"/>
            <a:pathLst>
              <a:path extrusionOk="0" h="190500" w="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1152525" y="3919537"/>
            <a:ext cx="14668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Vấn đề hiện tại</a:t>
            </a:r>
            <a:endParaRPr sz="1600">
              <a:solidFill>
                <a:schemeClr val="dk1"/>
              </a:solidFill>
              <a:latin typeface="Calibri"/>
              <a:ea typeface="Calibri"/>
              <a:cs typeface="Calibri"/>
              <a:sym typeface="Calibri"/>
            </a:endParaRPr>
          </a:p>
        </p:txBody>
      </p:sp>
      <p:sp>
        <p:nvSpPr>
          <p:cNvPr id="101" name="Google Shape;101;p3"/>
          <p:cNvSpPr/>
          <p:nvPr/>
        </p:nvSpPr>
        <p:spPr>
          <a:xfrm>
            <a:off x="581025" y="4395788"/>
            <a:ext cx="5314950" cy="7429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Người dùng phải </a:t>
            </a:r>
            <a:r>
              <a:rPr b="1" lang="en-US" sz="1200">
                <a:solidFill>
                  <a:srgbClr val="8B5CF6"/>
                </a:solidFill>
                <a:latin typeface="Arial"/>
                <a:ea typeface="Arial"/>
                <a:cs typeface="Arial"/>
                <a:sym typeface="Arial"/>
              </a:rPr>
              <a:t>tra cứu thủ công</a:t>
            </a:r>
            <a:r>
              <a:rPr lang="en-US" sz="1200">
                <a:solidFill>
                  <a:srgbClr val="94A3B8"/>
                </a:solidFill>
                <a:latin typeface="Arial"/>
                <a:ea typeface="Arial"/>
                <a:cs typeface="Arial"/>
                <a:sym typeface="Arial"/>
              </a:rPr>
              <a:t> qua nhiều website riêng lẻ (CGV, Lotte, Galaxy...), tốn thời gian và khó khăn trong việc so sánh lịch chiếu, giá vé giữa các rạp.</a:t>
            </a:r>
            <a:endParaRPr sz="1600">
              <a:solidFill>
                <a:schemeClr val="dk1"/>
              </a:solidFill>
              <a:latin typeface="Calibri"/>
              <a:ea typeface="Calibri"/>
              <a:cs typeface="Calibri"/>
              <a:sym typeface="Calibri"/>
            </a:endParaRPr>
          </a:p>
        </p:txBody>
      </p:sp>
      <p:sp>
        <p:nvSpPr>
          <p:cNvPr id="102" name="Google Shape;102;p3"/>
          <p:cNvSpPr/>
          <p:nvPr/>
        </p:nvSpPr>
        <p:spPr>
          <a:xfrm>
            <a:off x="6176963" y="1376363"/>
            <a:ext cx="5629275" cy="1962150"/>
          </a:xfrm>
          <a:custGeom>
            <a:rect b="b" l="l" r="r" t="t"/>
            <a:pathLst>
              <a:path extrusionOk="0" h="1962150" w="5629275">
                <a:moveTo>
                  <a:pt x="114295" y="0"/>
                </a:moveTo>
                <a:lnTo>
                  <a:pt x="5514980" y="0"/>
                </a:lnTo>
                <a:cubicBezTo>
                  <a:pt x="5578103" y="0"/>
                  <a:pt x="5629275" y="51172"/>
                  <a:pt x="5629275" y="114295"/>
                </a:cubicBezTo>
                <a:lnTo>
                  <a:pt x="5629275" y="1847855"/>
                </a:lnTo>
                <a:cubicBezTo>
                  <a:pt x="5629275" y="1910978"/>
                  <a:pt x="5578103" y="1962150"/>
                  <a:pt x="5514980" y="1962150"/>
                </a:cubicBezTo>
                <a:lnTo>
                  <a:pt x="114295" y="1962150"/>
                </a:lnTo>
                <a:cubicBezTo>
                  <a:pt x="51172" y="1962150"/>
                  <a:pt x="0" y="1910978"/>
                  <a:pt x="0" y="1847855"/>
                </a:cubicBezTo>
                <a:lnTo>
                  <a:pt x="0" y="114295"/>
                </a:lnTo>
                <a:cubicBezTo>
                  <a:pt x="0" y="51172"/>
                  <a:pt x="51172" y="0"/>
                  <a:pt x="114295" y="0"/>
                </a:cubicBezTo>
                <a:close/>
              </a:path>
            </a:pathLst>
          </a:custGeom>
          <a:gradFill>
            <a:gsLst>
              <a:gs pos="0">
                <a:srgbClr val="1E293B"/>
              </a:gs>
              <a:gs pos="100000">
                <a:srgbClr val="0F172A"/>
              </a:gs>
            </a:gsLst>
            <a:lin ang="2700000" scaled="0"/>
          </a:gradFill>
          <a:ln cap="flat" cmpd="sng" w="12700">
            <a:solidFill>
              <a:srgbClr val="06B6D4">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6372225" y="1700213"/>
            <a:ext cx="457200" cy="457200"/>
          </a:xfrm>
          <a:custGeom>
            <a:rect b="b" l="l" r="r" t="t"/>
            <a:pathLst>
              <a:path extrusionOk="0" h="457200" w="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6529388" y="1833563"/>
            <a:ext cx="142875" cy="190500"/>
          </a:xfrm>
          <a:custGeom>
            <a:rect b="b" l="l" r="r" t="t"/>
            <a:pathLst>
              <a:path extrusionOk="0" h="190500" w="142875">
                <a:moveTo>
                  <a:pt x="5953" y="23812"/>
                </a:moveTo>
                <a:cubicBezTo>
                  <a:pt x="5953" y="10678"/>
                  <a:pt x="16632" y="0"/>
                  <a:pt x="29766" y="0"/>
                </a:cubicBezTo>
                <a:lnTo>
                  <a:pt x="113109" y="0"/>
                </a:lnTo>
                <a:cubicBezTo>
                  <a:pt x="126243" y="0"/>
                  <a:pt x="136922" y="10678"/>
                  <a:pt x="136922" y="23812"/>
                </a:cubicBezTo>
                <a:lnTo>
                  <a:pt x="136922" y="166688"/>
                </a:lnTo>
                <a:cubicBezTo>
                  <a:pt x="136922" y="179822"/>
                  <a:pt x="126243" y="190500"/>
                  <a:pt x="113109" y="190500"/>
                </a:cubicBezTo>
                <a:lnTo>
                  <a:pt x="29766" y="190500"/>
                </a:lnTo>
                <a:cubicBezTo>
                  <a:pt x="16632" y="190500"/>
                  <a:pt x="5953" y="179822"/>
                  <a:pt x="5953" y="166688"/>
                </a:cubicBezTo>
                <a:lnTo>
                  <a:pt x="5953" y="23812"/>
                </a:lnTo>
                <a:close/>
                <a:moveTo>
                  <a:pt x="29766" y="23812"/>
                </a:moveTo>
                <a:lnTo>
                  <a:pt x="29766" y="136922"/>
                </a:lnTo>
                <a:lnTo>
                  <a:pt x="113109" y="136922"/>
                </a:lnTo>
                <a:lnTo>
                  <a:pt x="113109" y="23812"/>
                </a:lnTo>
                <a:lnTo>
                  <a:pt x="29766" y="23812"/>
                </a:lnTo>
                <a:close/>
                <a:moveTo>
                  <a:pt x="71438" y="175617"/>
                </a:moveTo>
                <a:cubicBezTo>
                  <a:pt x="78023" y="175617"/>
                  <a:pt x="83344" y="170297"/>
                  <a:pt x="83344" y="163711"/>
                </a:cubicBezTo>
                <a:cubicBezTo>
                  <a:pt x="83344" y="157125"/>
                  <a:pt x="78023" y="151805"/>
                  <a:pt x="71438" y="151805"/>
                </a:cubicBezTo>
                <a:cubicBezTo>
                  <a:pt x="64852" y="151805"/>
                  <a:pt x="59531" y="157125"/>
                  <a:pt x="59531" y="163711"/>
                </a:cubicBezTo>
                <a:cubicBezTo>
                  <a:pt x="59531" y="170297"/>
                  <a:pt x="64852" y="175617"/>
                  <a:pt x="71438" y="175617"/>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6943725" y="1795463"/>
            <a:ext cx="214312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Xu hướng chuyển dịch</a:t>
            </a:r>
            <a:endParaRPr sz="1600">
              <a:solidFill>
                <a:schemeClr val="dk1"/>
              </a:solidFill>
              <a:latin typeface="Calibri"/>
              <a:ea typeface="Calibri"/>
              <a:cs typeface="Calibri"/>
              <a:sym typeface="Calibri"/>
            </a:endParaRPr>
          </a:p>
        </p:txBody>
      </p:sp>
      <p:sp>
        <p:nvSpPr>
          <p:cNvPr id="106" name="Google Shape;106;p3"/>
          <p:cNvSpPr/>
          <p:nvPr/>
        </p:nvSpPr>
        <p:spPr>
          <a:xfrm>
            <a:off x="6372225" y="2271713"/>
            <a:ext cx="5314950" cy="7429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Khán giả trẻ đang chuyển dịch sang </a:t>
            </a:r>
            <a:r>
              <a:rPr b="1" lang="en-US" sz="1200">
                <a:solidFill>
                  <a:srgbClr val="06B6D4"/>
                </a:solidFill>
                <a:latin typeface="Arial"/>
                <a:ea typeface="Arial"/>
                <a:cs typeface="Arial"/>
                <a:sym typeface="Arial"/>
              </a:rPr>
              <a:t>ưu tiên sự tiện lợi</a:t>
            </a:r>
            <a:r>
              <a:rPr lang="en-US" sz="1200">
                <a:solidFill>
                  <a:srgbClr val="94A3B8"/>
                </a:solidFill>
                <a:latin typeface="Arial"/>
                <a:ea typeface="Arial"/>
                <a:cs typeface="Arial"/>
                <a:sym typeface="Arial"/>
              </a:rPr>
              <a:t> và tương tác tức thời trên nền tảng mạng xã hội. Họ muốn tra cứu thông tin nhanh chóng ngay trong ứng dụng chat quen thuộc.</a:t>
            </a:r>
            <a:endParaRPr sz="1600">
              <a:solidFill>
                <a:schemeClr val="dk1"/>
              </a:solidFill>
              <a:latin typeface="Calibri"/>
              <a:ea typeface="Calibri"/>
              <a:cs typeface="Calibri"/>
              <a:sym typeface="Calibri"/>
            </a:endParaRPr>
          </a:p>
        </p:txBody>
      </p:sp>
      <p:sp>
        <p:nvSpPr>
          <p:cNvPr id="107" name="Google Shape;107;p3"/>
          <p:cNvSpPr/>
          <p:nvPr/>
        </p:nvSpPr>
        <p:spPr>
          <a:xfrm>
            <a:off x="6176963" y="3500438"/>
            <a:ext cx="5629275" cy="1962150"/>
          </a:xfrm>
          <a:custGeom>
            <a:rect b="b" l="l" r="r" t="t"/>
            <a:pathLst>
              <a:path extrusionOk="0" h="1962150" w="5629275">
                <a:moveTo>
                  <a:pt x="114295" y="0"/>
                </a:moveTo>
                <a:lnTo>
                  <a:pt x="5514980" y="0"/>
                </a:lnTo>
                <a:cubicBezTo>
                  <a:pt x="5578103" y="0"/>
                  <a:pt x="5629275" y="51172"/>
                  <a:pt x="5629275" y="114295"/>
                </a:cubicBezTo>
                <a:lnTo>
                  <a:pt x="5629275" y="1847855"/>
                </a:lnTo>
                <a:cubicBezTo>
                  <a:pt x="5629275" y="1910978"/>
                  <a:pt x="5578103" y="1962150"/>
                  <a:pt x="5514980" y="1962150"/>
                </a:cubicBezTo>
                <a:lnTo>
                  <a:pt x="114295" y="1962150"/>
                </a:lnTo>
                <a:cubicBezTo>
                  <a:pt x="51172" y="1962150"/>
                  <a:pt x="0" y="1910978"/>
                  <a:pt x="0" y="1847855"/>
                </a:cubicBezTo>
                <a:lnTo>
                  <a:pt x="0" y="114295"/>
                </a:lnTo>
                <a:cubicBezTo>
                  <a:pt x="0" y="51172"/>
                  <a:pt x="51172" y="0"/>
                  <a:pt x="114295" y="0"/>
                </a:cubicBezTo>
                <a:close/>
              </a:path>
            </a:pathLst>
          </a:custGeom>
          <a:gradFill>
            <a:gsLst>
              <a:gs pos="0">
                <a:srgbClr val="1E293B"/>
              </a:gs>
              <a:gs pos="100000">
                <a:srgbClr val="0F172A"/>
              </a:gs>
            </a:gsLst>
            <a:lin ang="2700000" scaled="0"/>
          </a:gradFill>
          <a:ln cap="flat" cmpd="sng" w="12700">
            <a:solidFill>
              <a:srgbClr val="F59E0B">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6372225" y="3824288"/>
            <a:ext cx="457200" cy="457200"/>
          </a:xfrm>
          <a:custGeom>
            <a:rect b="b" l="l" r="r" t="t"/>
            <a:pathLst>
              <a:path extrusionOk="0" h="457200" w="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6529388" y="3957638"/>
            <a:ext cx="142875" cy="190500"/>
          </a:xfrm>
          <a:custGeom>
            <a:rect b="b" l="l" r="r" t="t"/>
            <a:pathLst>
              <a:path extrusionOk="0" h="190500" w="142875">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6943725" y="3919537"/>
            <a:ext cx="17145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Giải pháp đề xuất</a:t>
            </a:r>
            <a:endParaRPr sz="1600">
              <a:solidFill>
                <a:schemeClr val="dk1"/>
              </a:solidFill>
              <a:latin typeface="Calibri"/>
              <a:ea typeface="Calibri"/>
              <a:cs typeface="Calibri"/>
              <a:sym typeface="Calibri"/>
            </a:endParaRPr>
          </a:p>
        </p:txBody>
      </p:sp>
      <p:sp>
        <p:nvSpPr>
          <p:cNvPr id="111" name="Google Shape;111;p3"/>
          <p:cNvSpPr/>
          <p:nvPr/>
        </p:nvSpPr>
        <p:spPr>
          <a:xfrm>
            <a:off x="6372225" y="4395788"/>
            <a:ext cx="5314950" cy="7429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Xây dựng </a:t>
            </a:r>
            <a:r>
              <a:rPr b="1" lang="en-US" sz="1200">
                <a:solidFill>
                  <a:srgbClr val="F59E0B"/>
                </a:solidFill>
                <a:latin typeface="Arial"/>
                <a:ea typeface="Arial"/>
                <a:cs typeface="Arial"/>
                <a:sym typeface="Arial"/>
              </a:rPr>
              <a:t>chatbot Telegram tích hợp n8n</a:t>
            </a:r>
            <a:r>
              <a:rPr lang="en-US" sz="1200">
                <a:solidFill>
                  <a:srgbClr val="94A3B8"/>
                </a:solidFill>
                <a:latin typeface="Arial"/>
                <a:ea typeface="Arial"/>
                <a:cs typeface="Arial"/>
                <a:sym typeface="Arial"/>
              </a:rPr>
              <a:t> để tra cứu phim và rạp chiếu tự động, kết hợp AI để hiểu ngôn ngữ tự nhiên và cung cấp trải nghiệm liền mạch.</a:t>
            </a:r>
            <a:endParaRPr sz="1600">
              <a:solidFill>
                <a:schemeClr val="dk1"/>
              </a:solidFill>
              <a:latin typeface="Calibri"/>
              <a:ea typeface="Calibri"/>
              <a:cs typeface="Calibri"/>
              <a:sym typeface="Calibri"/>
            </a:endParaRPr>
          </a:p>
        </p:txBody>
      </p:sp>
      <p:sp>
        <p:nvSpPr>
          <p:cNvPr id="112" name="Google Shape;112;p3"/>
          <p:cNvSpPr/>
          <p:nvPr/>
        </p:nvSpPr>
        <p:spPr>
          <a:xfrm>
            <a:off x="385763" y="5624513"/>
            <a:ext cx="11420475" cy="847725"/>
          </a:xfrm>
          <a:custGeom>
            <a:rect b="b" l="l" r="r" t="t"/>
            <a:pathLst>
              <a:path extrusionOk="0" h="847725" w="11420475">
                <a:moveTo>
                  <a:pt x="114299" y="0"/>
                </a:moveTo>
                <a:lnTo>
                  <a:pt x="11306176" y="0"/>
                </a:lnTo>
                <a:cubicBezTo>
                  <a:pt x="11369302" y="0"/>
                  <a:pt x="11420475" y="51173"/>
                  <a:pt x="11420475" y="114299"/>
                </a:cubicBezTo>
                <a:lnTo>
                  <a:pt x="11420475" y="733426"/>
                </a:lnTo>
                <a:cubicBezTo>
                  <a:pt x="11420475" y="796552"/>
                  <a:pt x="11369302" y="847725"/>
                  <a:pt x="11306176" y="847725"/>
                </a:cubicBezTo>
                <a:lnTo>
                  <a:pt x="114299" y="847725"/>
                </a:lnTo>
                <a:cubicBezTo>
                  <a:pt x="51216" y="847725"/>
                  <a:pt x="0" y="796509"/>
                  <a:pt x="0" y="733426"/>
                </a:cubicBezTo>
                <a:lnTo>
                  <a:pt x="0" y="114299"/>
                </a:lnTo>
                <a:cubicBezTo>
                  <a:pt x="0" y="51216"/>
                  <a:pt x="51216" y="0"/>
                  <a:pt x="114299" y="0"/>
                </a:cubicBezTo>
                <a:close/>
              </a:path>
            </a:pathLst>
          </a:custGeom>
          <a:gradFill>
            <a:gsLst>
              <a:gs pos="0">
                <a:srgbClr val="3B82F6">
                  <a:alpha val="20000"/>
                </a:srgbClr>
              </a:gs>
              <a:gs pos="50000">
                <a:srgbClr val="8B5CF6">
                  <a:alpha val="20000"/>
                </a:srgbClr>
              </a:gs>
              <a:gs pos="100000">
                <a:srgbClr val="06B6D4">
                  <a:alpha val="20000"/>
                </a:srgbClr>
              </a:gs>
            </a:gsLst>
            <a:lin ang="0" scaled="0"/>
          </a:gradFill>
          <a:ln cap="flat" cmpd="sng" w="12700">
            <a:solidFill>
              <a:srgbClr val="3B82F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542925" y="5819775"/>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676275" y="5953125"/>
            <a:ext cx="190500" cy="190500"/>
          </a:xfrm>
          <a:custGeom>
            <a:rect b="b" l="l" r="r" t="t"/>
            <a:pathLst>
              <a:path extrusionOk="0" h="190500" w="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1152525" y="5781675"/>
            <a:ext cx="935355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50">
                <a:solidFill>
                  <a:srgbClr val="F8FAFC"/>
                </a:solidFill>
                <a:latin typeface="Arial"/>
                <a:ea typeface="Arial"/>
                <a:cs typeface="Arial"/>
                <a:sym typeface="Arial"/>
              </a:rPr>
              <a:t>Mục tiêu dự án</a:t>
            </a:r>
            <a:endParaRPr sz="1600">
              <a:solidFill>
                <a:schemeClr val="dk1"/>
              </a:solidFill>
              <a:latin typeface="Calibri"/>
              <a:ea typeface="Calibri"/>
              <a:cs typeface="Calibri"/>
              <a:sym typeface="Calibri"/>
            </a:endParaRPr>
          </a:p>
        </p:txBody>
      </p:sp>
      <p:sp>
        <p:nvSpPr>
          <p:cNvPr id="116" name="Google Shape;116;p3"/>
          <p:cNvSpPr/>
          <p:nvPr/>
        </p:nvSpPr>
        <p:spPr>
          <a:xfrm>
            <a:off x="1152525" y="6086475"/>
            <a:ext cx="93440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94A3B8"/>
                </a:solidFill>
                <a:latin typeface="Arial"/>
                <a:ea typeface="Arial"/>
                <a:cs typeface="Arial"/>
                <a:sym typeface="Arial"/>
              </a:rPr>
              <a:t>Tiết kiệm thời gian, nâng cao trải nghiệm giải trí cho người dùng đô thị lớn ( </a:t>
            </a:r>
            <a:r>
              <a:rPr b="1" lang="en-US" sz="1200">
                <a:solidFill>
                  <a:srgbClr val="3B82F6"/>
                </a:solidFill>
                <a:latin typeface="Arial"/>
                <a:ea typeface="Arial"/>
                <a:cs typeface="Arial"/>
                <a:sym typeface="Arial"/>
              </a:rPr>
              <a:t>TP.HCM</a:t>
            </a:r>
            <a:r>
              <a:rPr lang="en-US" sz="1200">
                <a:solidFill>
                  <a:srgbClr val="94A3B8"/>
                </a:solidFill>
                <a:latin typeface="Arial"/>
                <a:ea typeface="Arial"/>
                <a:cs typeface="Arial"/>
                <a:sym typeface="Arial"/>
              </a:rPr>
              <a:t> ) thông qua giải pháp tự động hóa thông minh.</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1" name="Shape 121"/>
        <p:cNvGrpSpPr/>
        <p:nvPr/>
      </p:nvGrpSpPr>
      <p:grpSpPr>
        <a:xfrm>
          <a:off x="0" y="0"/>
          <a:ext cx="0" cy="0"/>
          <a:chOff x="0" y="0"/>
          <a:chExt cx="0" cy="0"/>
        </a:xfrm>
      </p:grpSpPr>
      <p:sp>
        <p:nvSpPr>
          <p:cNvPr id="122" name="Google Shape;122;p4"/>
          <p:cNvSpPr/>
          <p:nvPr/>
        </p:nvSpPr>
        <p:spPr>
          <a:xfrm>
            <a:off x="381000" y="381000"/>
            <a:ext cx="115062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8B5CF6"/>
                </a:solidFill>
                <a:latin typeface="Arial"/>
                <a:ea typeface="Arial"/>
                <a:cs typeface="Arial"/>
                <a:sym typeface="Arial"/>
              </a:rPr>
              <a:t>02 / CƠ SỞ LÝ THUYẾT</a:t>
            </a:r>
            <a:endParaRPr sz="1600">
              <a:solidFill>
                <a:schemeClr val="dk1"/>
              </a:solidFill>
              <a:latin typeface="Calibri"/>
              <a:ea typeface="Calibri"/>
              <a:cs typeface="Calibri"/>
              <a:sym typeface="Calibri"/>
            </a:endParaRPr>
          </a:p>
        </p:txBody>
      </p:sp>
      <p:sp>
        <p:nvSpPr>
          <p:cNvPr id="123" name="Google Shape;123;p4"/>
          <p:cNvSpPr/>
          <p:nvPr/>
        </p:nvSpPr>
        <p:spPr>
          <a:xfrm>
            <a:off x="381000" y="685800"/>
            <a:ext cx="1160145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700">
                <a:solidFill>
                  <a:srgbClr val="F8FAFC"/>
                </a:solidFill>
                <a:latin typeface="Arial"/>
                <a:ea typeface="Arial"/>
                <a:cs typeface="Arial"/>
                <a:sym typeface="Arial"/>
              </a:rPr>
              <a:t>Nền tảng công nghệ</a:t>
            </a:r>
            <a:endParaRPr sz="1600">
              <a:solidFill>
                <a:schemeClr val="dk1"/>
              </a:solidFill>
              <a:latin typeface="Calibri"/>
              <a:ea typeface="Calibri"/>
              <a:cs typeface="Calibri"/>
              <a:sym typeface="Calibri"/>
            </a:endParaRPr>
          </a:p>
        </p:txBody>
      </p:sp>
      <p:sp>
        <p:nvSpPr>
          <p:cNvPr id="124" name="Google Shape;124;p4"/>
          <p:cNvSpPr/>
          <p:nvPr/>
        </p:nvSpPr>
        <p:spPr>
          <a:xfrm>
            <a:off x="381000" y="1181100"/>
            <a:ext cx="914400" cy="38100"/>
          </a:xfrm>
          <a:custGeom>
            <a:rect b="b" l="l" r="r" t="t"/>
            <a:pathLst>
              <a:path extrusionOk="0" h="38100" w="914400">
                <a:moveTo>
                  <a:pt x="0" y="0"/>
                </a:moveTo>
                <a:lnTo>
                  <a:pt x="914400" y="0"/>
                </a:lnTo>
                <a:lnTo>
                  <a:pt x="914400" y="38100"/>
                </a:lnTo>
                <a:lnTo>
                  <a:pt x="0" y="38100"/>
                </a:lnTo>
                <a:lnTo>
                  <a:pt x="0" y="0"/>
                </a:lnTo>
                <a:close/>
              </a:path>
            </a:pathLst>
          </a:custGeom>
          <a:gradFill>
            <a:gsLst>
              <a:gs pos="0">
                <a:srgbClr val="8B5CF6"/>
              </a:gs>
              <a:gs pos="100000">
                <a:srgbClr val="06B6D4"/>
              </a:gs>
            </a:gsLst>
            <a:lin ang="0" scaled="0"/>
          </a:gradFill>
          <a:ln>
            <a:noFill/>
          </a:ln>
        </p:spPr>
      </p:sp>
      <p:sp>
        <p:nvSpPr>
          <p:cNvPr id="125" name="Google Shape;125;p4"/>
          <p:cNvSpPr/>
          <p:nvPr/>
        </p:nvSpPr>
        <p:spPr>
          <a:xfrm>
            <a:off x="400050" y="1333500"/>
            <a:ext cx="5619750" cy="1485900"/>
          </a:xfrm>
          <a:custGeom>
            <a:rect b="b" l="l" r="r" t="t"/>
            <a:pathLst>
              <a:path extrusionOk="0" h="1485900" w="5619750">
                <a:moveTo>
                  <a:pt x="38100" y="0"/>
                </a:moveTo>
                <a:lnTo>
                  <a:pt x="5505455" y="0"/>
                </a:lnTo>
                <a:cubicBezTo>
                  <a:pt x="5568536" y="0"/>
                  <a:pt x="5619750" y="51214"/>
                  <a:pt x="5619750" y="114295"/>
                </a:cubicBezTo>
                <a:lnTo>
                  <a:pt x="5619750" y="1371605"/>
                </a:lnTo>
                <a:cubicBezTo>
                  <a:pt x="5619750" y="1434686"/>
                  <a:pt x="5568536" y="1485900"/>
                  <a:pt x="5505455" y="1485900"/>
                </a:cubicBezTo>
                <a:lnTo>
                  <a:pt x="38100" y="1485900"/>
                </a:lnTo>
                <a:cubicBezTo>
                  <a:pt x="17072" y="1485900"/>
                  <a:pt x="0" y="1468828"/>
                  <a:pt x="0" y="14478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400050" y="1333500"/>
            <a:ext cx="38100" cy="1485900"/>
          </a:xfrm>
          <a:custGeom>
            <a:rect b="b" l="l" r="r" t="t"/>
            <a:pathLst>
              <a:path extrusionOk="0" h="1485900" w="38100">
                <a:moveTo>
                  <a:pt x="38100" y="0"/>
                </a:moveTo>
                <a:lnTo>
                  <a:pt x="38100" y="0"/>
                </a:lnTo>
                <a:lnTo>
                  <a:pt x="38100" y="1485900"/>
                </a:lnTo>
                <a:lnTo>
                  <a:pt x="38100" y="1485900"/>
                </a:lnTo>
                <a:cubicBezTo>
                  <a:pt x="17072" y="1485900"/>
                  <a:pt x="0" y="1468828"/>
                  <a:pt x="0" y="1447800"/>
                </a:cubicBezTo>
                <a:lnTo>
                  <a:pt x="0" y="38100"/>
                </a:lnTo>
                <a:cubicBezTo>
                  <a:pt x="0" y="17072"/>
                  <a:pt x="17072" y="0"/>
                  <a:pt x="38100"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571500" y="14859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709613" y="1638300"/>
            <a:ext cx="257175" cy="228600"/>
          </a:xfrm>
          <a:custGeom>
            <a:rect b="b" l="l" r="r" t="t"/>
            <a:pathLst>
              <a:path extrusionOk="0" h="228600" w="257175">
                <a:moveTo>
                  <a:pt x="161092" y="536"/>
                </a:moveTo>
                <a:cubicBezTo>
                  <a:pt x="153501" y="-1652"/>
                  <a:pt x="145599" y="2768"/>
                  <a:pt x="143411" y="10358"/>
                </a:cubicBezTo>
                <a:lnTo>
                  <a:pt x="86261" y="210383"/>
                </a:lnTo>
                <a:cubicBezTo>
                  <a:pt x="84073" y="217974"/>
                  <a:pt x="88493" y="225876"/>
                  <a:pt x="96083" y="228064"/>
                </a:cubicBezTo>
                <a:cubicBezTo>
                  <a:pt x="103674" y="230252"/>
                  <a:pt x="111576" y="225832"/>
                  <a:pt x="113764" y="218242"/>
                </a:cubicBezTo>
                <a:lnTo>
                  <a:pt x="170914" y="18217"/>
                </a:lnTo>
                <a:cubicBezTo>
                  <a:pt x="173102" y="10626"/>
                  <a:pt x="168682" y="2724"/>
                  <a:pt x="161092" y="536"/>
                </a:cubicBezTo>
                <a:close/>
                <a:moveTo>
                  <a:pt x="189934" y="61302"/>
                </a:moveTo>
                <a:cubicBezTo>
                  <a:pt x="184353" y="66883"/>
                  <a:pt x="184353" y="75947"/>
                  <a:pt x="189934" y="81528"/>
                </a:cubicBezTo>
                <a:lnTo>
                  <a:pt x="222706" y="114300"/>
                </a:lnTo>
                <a:lnTo>
                  <a:pt x="189934" y="147072"/>
                </a:lnTo>
                <a:cubicBezTo>
                  <a:pt x="184353" y="152653"/>
                  <a:pt x="184353" y="161717"/>
                  <a:pt x="189934" y="167298"/>
                </a:cubicBezTo>
                <a:cubicBezTo>
                  <a:pt x="195516" y="172879"/>
                  <a:pt x="204579" y="172879"/>
                  <a:pt x="210160" y="167298"/>
                </a:cubicBezTo>
                <a:lnTo>
                  <a:pt x="253023" y="124435"/>
                </a:lnTo>
                <a:cubicBezTo>
                  <a:pt x="258604" y="118854"/>
                  <a:pt x="258604" y="109791"/>
                  <a:pt x="253023" y="104209"/>
                </a:cubicBezTo>
                <a:lnTo>
                  <a:pt x="210160" y="61347"/>
                </a:lnTo>
                <a:cubicBezTo>
                  <a:pt x="204579" y="55766"/>
                  <a:pt x="195516" y="55766"/>
                  <a:pt x="189934" y="61347"/>
                </a:cubicBezTo>
                <a:close/>
                <a:moveTo>
                  <a:pt x="67285" y="61302"/>
                </a:moveTo>
                <a:cubicBezTo>
                  <a:pt x="61704" y="55721"/>
                  <a:pt x="52641" y="55721"/>
                  <a:pt x="47059" y="61302"/>
                </a:cubicBezTo>
                <a:lnTo>
                  <a:pt x="4197" y="104165"/>
                </a:lnTo>
                <a:cubicBezTo>
                  <a:pt x="-1384" y="109746"/>
                  <a:pt x="-1384" y="118809"/>
                  <a:pt x="4197" y="124391"/>
                </a:cubicBezTo>
                <a:lnTo>
                  <a:pt x="47059" y="167253"/>
                </a:lnTo>
                <a:cubicBezTo>
                  <a:pt x="52641" y="172834"/>
                  <a:pt x="61704" y="172834"/>
                  <a:pt x="67285" y="167253"/>
                </a:cubicBezTo>
                <a:cubicBezTo>
                  <a:pt x="72866" y="161672"/>
                  <a:pt x="72866" y="152608"/>
                  <a:pt x="67285" y="147027"/>
                </a:cubicBezTo>
                <a:lnTo>
                  <a:pt x="34513" y="114300"/>
                </a:lnTo>
                <a:lnTo>
                  <a:pt x="67241" y="81528"/>
                </a:lnTo>
                <a:cubicBezTo>
                  <a:pt x="72822" y="75947"/>
                  <a:pt x="72822" y="66883"/>
                  <a:pt x="67241" y="61302"/>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1257300" y="1485900"/>
            <a:ext cx="47053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Low-code/No-code Platform</a:t>
            </a:r>
            <a:endParaRPr sz="1600">
              <a:solidFill>
                <a:schemeClr val="dk1"/>
              </a:solidFill>
              <a:latin typeface="Calibri"/>
              <a:ea typeface="Calibri"/>
              <a:cs typeface="Calibri"/>
              <a:sym typeface="Calibri"/>
            </a:endParaRPr>
          </a:p>
        </p:txBody>
      </p:sp>
      <p:sp>
        <p:nvSpPr>
          <p:cNvPr id="130" name="Google Shape;130;p4"/>
          <p:cNvSpPr/>
          <p:nvPr/>
        </p:nvSpPr>
        <p:spPr>
          <a:xfrm>
            <a:off x="1257300" y="1828800"/>
            <a:ext cx="468630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US" sz="1200">
                <a:solidFill>
                  <a:srgbClr val="3B82F6"/>
                </a:solidFill>
                <a:latin typeface="Arial"/>
                <a:ea typeface="Arial"/>
                <a:cs typeface="Arial"/>
                <a:sym typeface="Arial"/>
              </a:rPr>
              <a:t>n8n</a:t>
            </a:r>
            <a:r>
              <a:rPr lang="en-US" sz="1200">
                <a:solidFill>
                  <a:srgbClr val="94A3B8"/>
                </a:solidFill>
                <a:latin typeface="Arial"/>
                <a:ea typeface="Arial"/>
                <a:cs typeface="Arial"/>
                <a:sym typeface="Arial"/>
              </a:rPr>
              <a:t> - Công cụ tự động hóa workflow mã nguồn mở, cho phép xây dựng luồng xử lý phức tạp mà không cần viết nhiều code.</a:t>
            </a:r>
            <a:endParaRPr sz="1600">
              <a:solidFill>
                <a:schemeClr val="dk1"/>
              </a:solidFill>
              <a:latin typeface="Calibri"/>
              <a:ea typeface="Calibri"/>
              <a:cs typeface="Calibri"/>
              <a:sym typeface="Calibri"/>
            </a:endParaRPr>
          </a:p>
        </p:txBody>
      </p:sp>
      <p:sp>
        <p:nvSpPr>
          <p:cNvPr id="131" name="Google Shape;131;p4"/>
          <p:cNvSpPr/>
          <p:nvPr/>
        </p:nvSpPr>
        <p:spPr>
          <a:xfrm>
            <a:off x="1257300" y="2400300"/>
            <a:ext cx="828675" cy="266700"/>
          </a:xfrm>
          <a:custGeom>
            <a:rect b="b" l="l" r="r" t="t"/>
            <a:pathLst>
              <a:path extrusionOk="0" h="266700" w="828675">
                <a:moveTo>
                  <a:pt x="133350" y="0"/>
                </a:moveTo>
                <a:lnTo>
                  <a:pt x="695325" y="0"/>
                </a:lnTo>
                <a:cubicBezTo>
                  <a:pt x="768923" y="0"/>
                  <a:pt x="828675" y="59752"/>
                  <a:pt x="828675" y="133350"/>
                </a:cubicBezTo>
                <a:lnTo>
                  <a:pt x="828675" y="133350"/>
                </a:lnTo>
                <a:cubicBezTo>
                  <a:pt x="828675" y="206948"/>
                  <a:pt x="768923" y="266700"/>
                  <a:pt x="695325" y="266700"/>
                </a:cubicBezTo>
                <a:lnTo>
                  <a:pt x="133350" y="266700"/>
                </a:lnTo>
                <a:cubicBezTo>
                  <a:pt x="59752" y="266700"/>
                  <a:pt x="0" y="206948"/>
                  <a:pt x="0" y="133350"/>
                </a:cubicBezTo>
                <a:lnTo>
                  <a:pt x="0" y="133350"/>
                </a:lnTo>
                <a:cubicBezTo>
                  <a:pt x="0" y="59752"/>
                  <a:pt x="59752" y="0"/>
                  <a:pt x="133350"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1257300" y="2400300"/>
            <a:ext cx="8953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3B82F6"/>
                </a:solidFill>
                <a:latin typeface="Arial"/>
                <a:ea typeface="Arial"/>
                <a:cs typeface="Arial"/>
                <a:sym typeface="Arial"/>
              </a:rPr>
              <a:t>Linh hoạt</a:t>
            </a:r>
            <a:endParaRPr sz="1600">
              <a:solidFill>
                <a:schemeClr val="dk1"/>
              </a:solidFill>
              <a:latin typeface="Calibri"/>
              <a:ea typeface="Calibri"/>
              <a:cs typeface="Calibri"/>
              <a:sym typeface="Calibri"/>
            </a:endParaRPr>
          </a:p>
        </p:txBody>
      </p:sp>
      <p:sp>
        <p:nvSpPr>
          <p:cNvPr id="133" name="Google Shape;133;p4"/>
          <p:cNvSpPr/>
          <p:nvPr/>
        </p:nvSpPr>
        <p:spPr>
          <a:xfrm>
            <a:off x="2166342" y="2400300"/>
            <a:ext cx="990600" cy="266700"/>
          </a:xfrm>
          <a:custGeom>
            <a:rect b="b" l="l" r="r" t="t"/>
            <a:pathLst>
              <a:path extrusionOk="0" h="266700" w="990600">
                <a:moveTo>
                  <a:pt x="133350" y="0"/>
                </a:moveTo>
                <a:lnTo>
                  <a:pt x="857250" y="0"/>
                </a:lnTo>
                <a:cubicBezTo>
                  <a:pt x="930848" y="0"/>
                  <a:pt x="990600" y="59752"/>
                  <a:pt x="990600" y="133350"/>
                </a:cubicBezTo>
                <a:lnTo>
                  <a:pt x="990600" y="133350"/>
                </a:lnTo>
                <a:cubicBezTo>
                  <a:pt x="990600" y="206948"/>
                  <a:pt x="930848" y="266700"/>
                  <a:pt x="857250" y="266700"/>
                </a:cubicBezTo>
                <a:lnTo>
                  <a:pt x="133350" y="266700"/>
                </a:lnTo>
                <a:cubicBezTo>
                  <a:pt x="59752" y="266700"/>
                  <a:pt x="0" y="206948"/>
                  <a:pt x="0" y="133350"/>
                </a:cubicBezTo>
                <a:lnTo>
                  <a:pt x="0" y="133350"/>
                </a:lnTo>
                <a:cubicBezTo>
                  <a:pt x="0" y="59752"/>
                  <a:pt x="59752" y="0"/>
                  <a:pt x="133350"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2166342" y="2400300"/>
            <a:ext cx="1057275"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3B82F6"/>
                </a:solidFill>
                <a:latin typeface="Arial"/>
                <a:ea typeface="Arial"/>
                <a:cs typeface="Arial"/>
                <a:sym typeface="Arial"/>
              </a:rPr>
              <a:t>Dễ mở rộng</a:t>
            </a:r>
            <a:endParaRPr sz="1600">
              <a:solidFill>
                <a:schemeClr val="dk1"/>
              </a:solidFill>
              <a:latin typeface="Calibri"/>
              <a:ea typeface="Calibri"/>
              <a:cs typeface="Calibri"/>
              <a:sym typeface="Calibri"/>
            </a:endParaRPr>
          </a:p>
        </p:txBody>
      </p:sp>
      <p:sp>
        <p:nvSpPr>
          <p:cNvPr id="135" name="Google Shape;135;p4"/>
          <p:cNvSpPr/>
          <p:nvPr/>
        </p:nvSpPr>
        <p:spPr>
          <a:xfrm>
            <a:off x="400050" y="2933700"/>
            <a:ext cx="5619750" cy="1485900"/>
          </a:xfrm>
          <a:custGeom>
            <a:rect b="b" l="l" r="r" t="t"/>
            <a:pathLst>
              <a:path extrusionOk="0" h="1485900" w="5619750">
                <a:moveTo>
                  <a:pt x="38100" y="0"/>
                </a:moveTo>
                <a:lnTo>
                  <a:pt x="5505455" y="0"/>
                </a:lnTo>
                <a:cubicBezTo>
                  <a:pt x="5568536" y="0"/>
                  <a:pt x="5619750" y="51214"/>
                  <a:pt x="5619750" y="114295"/>
                </a:cubicBezTo>
                <a:lnTo>
                  <a:pt x="5619750" y="1371605"/>
                </a:lnTo>
                <a:cubicBezTo>
                  <a:pt x="5619750" y="1434686"/>
                  <a:pt x="5568536" y="1485900"/>
                  <a:pt x="5505455" y="1485900"/>
                </a:cubicBezTo>
                <a:lnTo>
                  <a:pt x="38100" y="1485900"/>
                </a:lnTo>
                <a:cubicBezTo>
                  <a:pt x="17072" y="1485900"/>
                  <a:pt x="0" y="1468828"/>
                  <a:pt x="0" y="14478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400050" y="2933700"/>
            <a:ext cx="38100" cy="1485900"/>
          </a:xfrm>
          <a:custGeom>
            <a:rect b="b" l="l" r="r" t="t"/>
            <a:pathLst>
              <a:path extrusionOk="0" h="1485900" w="38100">
                <a:moveTo>
                  <a:pt x="38100" y="0"/>
                </a:moveTo>
                <a:lnTo>
                  <a:pt x="38100" y="0"/>
                </a:lnTo>
                <a:lnTo>
                  <a:pt x="38100" y="1485900"/>
                </a:lnTo>
                <a:lnTo>
                  <a:pt x="38100" y="1485900"/>
                </a:lnTo>
                <a:cubicBezTo>
                  <a:pt x="17072" y="1485900"/>
                  <a:pt x="0" y="1468828"/>
                  <a:pt x="0" y="1447800"/>
                </a:cubicBezTo>
                <a:lnTo>
                  <a:pt x="0" y="38100"/>
                </a:lnTo>
                <a:cubicBezTo>
                  <a:pt x="0" y="17072"/>
                  <a:pt x="17072" y="0"/>
                  <a:pt x="38100"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571500" y="30861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723900" y="3238500"/>
            <a:ext cx="228600" cy="228600"/>
          </a:xfrm>
          <a:custGeom>
            <a:rect b="b" l="l" r="r" t="t"/>
            <a:pathLst>
              <a:path extrusionOk="0" h="228600" w="228600">
                <a:moveTo>
                  <a:pt x="53578" y="25003"/>
                </a:moveTo>
                <a:cubicBezTo>
                  <a:pt x="53578" y="11207"/>
                  <a:pt x="64785" y="0"/>
                  <a:pt x="78581" y="0"/>
                </a:cubicBezTo>
                <a:lnTo>
                  <a:pt x="89297" y="0"/>
                </a:lnTo>
                <a:cubicBezTo>
                  <a:pt x="97200" y="0"/>
                  <a:pt x="103584" y="6385"/>
                  <a:pt x="103584" y="14288"/>
                </a:cubicBezTo>
                <a:lnTo>
                  <a:pt x="103584" y="214313"/>
                </a:lnTo>
                <a:cubicBezTo>
                  <a:pt x="103584" y="222215"/>
                  <a:pt x="97200" y="228600"/>
                  <a:pt x="89297" y="228600"/>
                </a:cubicBezTo>
                <a:lnTo>
                  <a:pt x="75009" y="228600"/>
                </a:lnTo>
                <a:cubicBezTo>
                  <a:pt x="61704" y="228600"/>
                  <a:pt x="50497" y="219492"/>
                  <a:pt x="47327" y="207169"/>
                </a:cubicBezTo>
                <a:cubicBezTo>
                  <a:pt x="47015" y="207169"/>
                  <a:pt x="46747" y="207169"/>
                  <a:pt x="46434" y="207169"/>
                </a:cubicBezTo>
                <a:cubicBezTo>
                  <a:pt x="26700" y="207169"/>
                  <a:pt x="10716" y="191185"/>
                  <a:pt x="10716" y="171450"/>
                </a:cubicBezTo>
                <a:cubicBezTo>
                  <a:pt x="10716" y="163413"/>
                  <a:pt x="13395" y="156002"/>
                  <a:pt x="17859" y="150019"/>
                </a:cubicBezTo>
                <a:cubicBezTo>
                  <a:pt x="9198" y="143500"/>
                  <a:pt x="3572" y="133142"/>
                  <a:pt x="3572" y="121444"/>
                </a:cubicBezTo>
                <a:cubicBezTo>
                  <a:pt x="3572" y="107647"/>
                  <a:pt x="11430" y="95637"/>
                  <a:pt x="22860" y="89699"/>
                </a:cubicBezTo>
                <a:cubicBezTo>
                  <a:pt x="19690" y="84341"/>
                  <a:pt x="17859" y="78090"/>
                  <a:pt x="17859" y="71438"/>
                </a:cubicBezTo>
                <a:cubicBezTo>
                  <a:pt x="17859" y="51703"/>
                  <a:pt x="33844" y="35719"/>
                  <a:pt x="53578" y="35719"/>
                </a:cubicBezTo>
                <a:lnTo>
                  <a:pt x="53578" y="25003"/>
                </a:lnTo>
                <a:close/>
                <a:moveTo>
                  <a:pt x="175022" y="25003"/>
                </a:moveTo>
                <a:lnTo>
                  <a:pt x="175022" y="35719"/>
                </a:lnTo>
                <a:cubicBezTo>
                  <a:pt x="194756" y="35719"/>
                  <a:pt x="210741" y="51703"/>
                  <a:pt x="210741" y="71438"/>
                </a:cubicBezTo>
                <a:cubicBezTo>
                  <a:pt x="210741" y="78135"/>
                  <a:pt x="208910" y="84386"/>
                  <a:pt x="205740" y="89699"/>
                </a:cubicBezTo>
                <a:cubicBezTo>
                  <a:pt x="217215" y="95637"/>
                  <a:pt x="225028" y="107603"/>
                  <a:pt x="225028" y="121444"/>
                </a:cubicBezTo>
                <a:cubicBezTo>
                  <a:pt x="225028" y="133142"/>
                  <a:pt x="219402" y="143500"/>
                  <a:pt x="210741" y="150019"/>
                </a:cubicBezTo>
                <a:cubicBezTo>
                  <a:pt x="215205" y="156002"/>
                  <a:pt x="217884" y="163413"/>
                  <a:pt x="217884" y="171450"/>
                </a:cubicBezTo>
                <a:cubicBezTo>
                  <a:pt x="217884" y="191185"/>
                  <a:pt x="201900" y="207169"/>
                  <a:pt x="182166" y="207169"/>
                </a:cubicBezTo>
                <a:cubicBezTo>
                  <a:pt x="181853" y="207169"/>
                  <a:pt x="181585" y="207169"/>
                  <a:pt x="181273" y="207169"/>
                </a:cubicBezTo>
                <a:cubicBezTo>
                  <a:pt x="178103" y="219492"/>
                  <a:pt x="166896" y="228600"/>
                  <a:pt x="153591" y="228600"/>
                </a:cubicBezTo>
                <a:lnTo>
                  <a:pt x="139303" y="228600"/>
                </a:lnTo>
                <a:cubicBezTo>
                  <a:pt x="131400" y="228600"/>
                  <a:pt x="125016" y="222215"/>
                  <a:pt x="125016" y="214313"/>
                </a:cubicBezTo>
                <a:lnTo>
                  <a:pt x="125016" y="14288"/>
                </a:lnTo>
                <a:cubicBezTo>
                  <a:pt x="125016" y="6385"/>
                  <a:pt x="131400" y="0"/>
                  <a:pt x="139303" y="0"/>
                </a:cubicBezTo>
                <a:lnTo>
                  <a:pt x="150019" y="0"/>
                </a:lnTo>
                <a:cubicBezTo>
                  <a:pt x="163815" y="0"/>
                  <a:pt x="175022" y="11207"/>
                  <a:pt x="175022" y="25003"/>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1257300" y="3086100"/>
            <a:ext cx="47053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Xử lý ngôn ngữ tự nhiên (NLP)</a:t>
            </a:r>
            <a:endParaRPr sz="1600">
              <a:solidFill>
                <a:schemeClr val="dk1"/>
              </a:solidFill>
              <a:latin typeface="Calibri"/>
              <a:ea typeface="Calibri"/>
              <a:cs typeface="Calibri"/>
              <a:sym typeface="Calibri"/>
            </a:endParaRPr>
          </a:p>
        </p:txBody>
      </p:sp>
      <p:sp>
        <p:nvSpPr>
          <p:cNvPr id="140" name="Google Shape;140;p4"/>
          <p:cNvSpPr/>
          <p:nvPr/>
        </p:nvSpPr>
        <p:spPr>
          <a:xfrm>
            <a:off x="1257300" y="3429000"/>
            <a:ext cx="468630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US" sz="1200">
                <a:solidFill>
                  <a:srgbClr val="8B5CF6"/>
                </a:solidFill>
                <a:latin typeface="Arial"/>
                <a:ea typeface="Arial"/>
                <a:cs typeface="Arial"/>
                <a:sym typeface="Arial"/>
              </a:rPr>
              <a:t>Google Gemini API</a:t>
            </a:r>
            <a:r>
              <a:rPr lang="en-US" sz="1200">
                <a:solidFill>
                  <a:srgbClr val="94A3B8"/>
                </a:solidFill>
                <a:latin typeface="Arial"/>
                <a:ea typeface="Arial"/>
                <a:cs typeface="Arial"/>
                <a:sym typeface="Arial"/>
              </a:rPr>
              <a:t> - Mô hình AI tiên tiến, phân tích ý định người dùng và sinh câu trả lời tự nhiên, thông minh.</a:t>
            </a:r>
            <a:endParaRPr sz="1600">
              <a:solidFill>
                <a:schemeClr val="dk1"/>
              </a:solidFill>
              <a:latin typeface="Calibri"/>
              <a:ea typeface="Calibri"/>
              <a:cs typeface="Calibri"/>
              <a:sym typeface="Calibri"/>
            </a:endParaRPr>
          </a:p>
        </p:txBody>
      </p:sp>
      <p:sp>
        <p:nvSpPr>
          <p:cNvPr id="141" name="Google Shape;141;p4"/>
          <p:cNvSpPr/>
          <p:nvPr/>
        </p:nvSpPr>
        <p:spPr>
          <a:xfrm>
            <a:off x="1257300" y="4000500"/>
            <a:ext cx="1171575" cy="266700"/>
          </a:xfrm>
          <a:custGeom>
            <a:rect b="b" l="l" r="r" t="t"/>
            <a:pathLst>
              <a:path extrusionOk="0" h="266700" w="1171575">
                <a:moveTo>
                  <a:pt x="133350" y="0"/>
                </a:moveTo>
                <a:lnTo>
                  <a:pt x="1038225" y="0"/>
                </a:lnTo>
                <a:cubicBezTo>
                  <a:pt x="1111823" y="0"/>
                  <a:pt x="1171575" y="59752"/>
                  <a:pt x="1171575" y="133350"/>
                </a:cubicBezTo>
                <a:lnTo>
                  <a:pt x="1171575" y="133350"/>
                </a:lnTo>
                <a:cubicBezTo>
                  <a:pt x="1171575" y="206948"/>
                  <a:pt x="1111823" y="266700"/>
                  <a:pt x="1038225" y="266700"/>
                </a:cubicBezTo>
                <a:lnTo>
                  <a:pt x="133350" y="266700"/>
                </a:lnTo>
                <a:cubicBezTo>
                  <a:pt x="59752" y="266700"/>
                  <a:pt x="0" y="206948"/>
                  <a:pt x="0" y="133350"/>
                </a:cubicBezTo>
                <a:lnTo>
                  <a:pt x="0" y="133350"/>
                </a:lnTo>
                <a:cubicBezTo>
                  <a:pt x="0" y="59752"/>
                  <a:pt x="59752" y="0"/>
                  <a:pt x="133350"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1257300" y="4000500"/>
            <a:ext cx="12382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8B5CF6"/>
                </a:solidFill>
                <a:latin typeface="Arial"/>
                <a:ea typeface="Arial"/>
                <a:cs typeface="Arial"/>
                <a:sym typeface="Arial"/>
              </a:rPr>
              <a:t>Intent Analysis</a:t>
            </a:r>
            <a:endParaRPr sz="1600">
              <a:solidFill>
                <a:schemeClr val="dk1"/>
              </a:solidFill>
              <a:latin typeface="Calibri"/>
              <a:ea typeface="Calibri"/>
              <a:cs typeface="Calibri"/>
              <a:sym typeface="Calibri"/>
            </a:endParaRPr>
          </a:p>
        </p:txBody>
      </p:sp>
      <p:sp>
        <p:nvSpPr>
          <p:cNvPr id="143" name="Google Shape;143;p4"/>
          <p:cNvSpPr/>
          <p:nvPr/>
        </p:nvSpPr>
        <p:spPr>
          <a:xfrm>
            <a:off x="2503289" y="4000500"/>
            <a:ext cx="1362075" cy="266700"/>
          </a:xfrm>
          <a:custGeom>
            <a:rect b="b" l="l" r="r" t="t"/>
            <a:pathLst>
              <a:path extrusionOk="0" h="266700" w="1362075">
                <a:moveTo>
                  <a:pt x="133350" y="0"/>
                </a:moveTo>
                <a:lnTo>
                  <a:pt x="1228725" y="0"/>
                </a:lnTo>
                <a:cubicBezTo>
                  <a:pt x="1302323" y="0"/>
                  <a:pt x="1362075" y="59752"/>
                  <a:pt x="1362075" y="133350"/>
                </a:cubicBezTo>
                <a:lnTo>
                  <a:pt x="1362075" y="133350"/>
                </a:lnTo>
                <a:cubicBezTo>
                  <a:pt x="1362075" y="206948"/>
                  <a:pt x="1302323" y="266700"/>
                  <a:pt x="1228725" y="266700"/>
                </a:cubicBezTo>
                <a:lnTo>
                  <a:pt x="133350" y="266700"/>
                </a:lnTo>
                <a:cubicBezTo>
                  <a:pt x="59752" y="266700"/>
                  <a:pt x="0" y="206948"/>
                  <a:pt x="0" y="133350"/>
                </a:cubicBezTo>
                <a:lnTo>
                  <a:pt x="0" y="133350"/>
                </a:lnTo>
                <a:cubicBezTo>
                  <a:pt x="0" y="59752"/>
                  <a:pt x="59752" y="0"/>
                  <a:pt x="133350"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2503289" y="4000500"/>
            <a:ext cx="14287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8B5CF6"/>
                </a:solidFill>
                <a:latin typeface="Arial"/>
                <a:ea typeface="Arial"/>
                <a:cs typeface="Arial"/>
                <a:sym typeface="Arial"/>
              </a:rPr>
              <a:t>Natural Response</a:t>
            </a:r>
            <a:endParaRPr sz="1600">
              <a:solidFill>
                <a:schemeClr val="dk1"/>
              </a:solidFill>
              <a:latin typeface="Calibri"/>
              <a:ea typeface="Calibri"/>
              <a:cs typeface="Calibri"/>
              <a:sym typeface="Calibri"/>
            </a:endParaRPr>
          </a:p>
        </p:txBody>
      </p:sp>
      <p:sp>
        <p:nvSpPr>
          <p:cNvPr id="145" name="Google Shape;145;p4"/>
          <p:cNvSpPr/>
          <p:nvPr/>
        </p:nvSpPr>
        <p:spPr>
          <a:xfrm>
            <a:off x="400050" y="4533900"/>
            <a:ext cx="5619750" cy="1485900"/>
          </a:xfrm>
          <a:custGeom>
            <a:rect b="b" l="l" r="r" t="t"/>
            <a:pathLst>
              <a:path extrusionOk="0" h="1485900" w="5619750">
                <a:moveTo>
                  <a:pt x="38100" y="0"/>
                </a:moveTo>
                <a:lnTo>
                  <a:pt x="5505455" y="0"/>
                </a:lnTo>
                <a:cubicBezTo>
                  <a:pt x="5568536" y="0"/>
                  <a:pt x="5619750" y="51214"/>
                  <a:pt x="5619750" y="114295"/>
                </a:cubicBezTo>
                <a:lnTo>
                  <a:pt x="5619750" y="1371605"/>
                </a:lnTo>
                <a:cubicBezTo>
                  <a:pt x="5619750" y="1434686"/>
                  <a:pt x="5568536" y="1485900"/>
                  <a:pt x="5505455" y="1485900"/>
                </a:cubicBezTo>
                <a:lnTo>
                  <a:pt x="38100" y="1485900"/>
                </a:lnTo>
                <a:cubicBezTo>
                  <a:pt x="17072" y="1485900"/>
                  <a:pt x="0" y="1468828"/>
                  <a:pt x="0" y="14478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400050" y="4533900"/>
            <a:ext cx="38100" cy="1485900"/>
          </a:xfrm>
          <a:custGeom>
            <a:rect b="b" l="l" r="r" t="t"/>
            <a:pathLst>
              <a:path extrusionOk="0" h="1485900" w="38100">
                <a:moveTo>
                  <a:pt x="38100" y="0"/>
                </a:moveTo>
                <a:lnTo>
                  <a:pt x="38100" y="0"/>
                </a:lnTo>
                <a:lnTo>
                  <a:pt x="38100" y="1485900"/>
                </a:lnTo>
                <a:lnTo>
                  <a:pt x="38100" y="1485900"/>
                </a:lnTo>
                <a:cubicBezTo>
                  <a:pt x="17072" y="1485900"/>
                  <a:pt x="0" y="1468828"/>
                  <a:pt x="0" y="1447800"/>
                </a:cubicBezTo>
                <a:lnTo>
                  <a:pt x="0" y="38100"/>
                </a:lnTo>
                <a:cubicBezTo>
                  <a:pt x="0" y="17072"/>
                  <a:pt x="17072" y="0"/>
                  <a:pt x="38100" y="0"/>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571500" y="46863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738188" y="4838700"/>
            <a:ext cx="200025" cy="228600"/>
          </a:xfrm>
          <a:custGeom>
            <a:rect b="b" l="l" r="r" t="t"/>
            <a:pathLst>
              <a:path extrusionOk="0" h="228600" w="200025">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1257300" y="4686300"/>
            <a:ext cx="47053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Nguồn dữ liệu phim</a:t>
            </a:r>
            <a:endParaRPr sz="1600">
              <a:solidFill>
                <a:schemeClr val="dk1"/>
              </a:solidFill>
              <a:latin typeface="Calibri"/>
              <a:ea typeface="Calibri"/>
              <a:cs typeface="Calibri"/>
              <a:sym typeface="Calibri"/>
            </a:endParaRPr>
          </a:p>
        </p:txBody>
      </p:sp>
      <p:sp>
        <p:nvSpPr>
          <p:cNvPr id="150" name="Google Shape;150;p4"/>
          <p:cNvSpPr/>
          <p:nvPr/>
        </p:nvSpPr>
        <p:spPr>
          <a:xfrm>
            <a:off x="1257300" y="5029200"/>
            <a:ext cx="468630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US" sz="1200">
                <a:solidFill>
                  <a:srgbClr val="06B6D4"/>
                </a:solidFill>
                <a:latin typeface="Arial"/>
                <a:ea typeface="Arial"/>
                <a:cs typeface="Arial"/>
                <a:sym typeface="Arial"/>
              </a:rPr>
              <a:t>The Movie Database (TMDB) API</a:t>
            </a:r>
            <a:r>
              <a:rPr lang="en-US" sz="1200">
                <a:solidFill>
                  <a:srgbClr val="94A3B8"/>
                </a:solidFill>
                <a:latin typeface="Arial"/>
                <a:ea typeface="Arial"/>
                <a:cs typeface="Arial"/>
                <a:sym typeface="Arial"/>
              </a:rPr>
              <a:t> - Cung cấp thông tin phim toàn diện, cập nhật thời gian thực: poster, đánh giá, lịch chiếu.</a:t>
            </a:r>
            <a:endParaRPr sz="1600">
              <a:solidFill>
                <a:schemeClr val="dk1"/>
              </a:solidFill>
              <a:latin typeface="Calibri"/>
              <a:ea typeface="Calibri"/>
              <a:cs typeface="Calibri"/>
              <a:sym typeface="Calibri"/>
            </a:endParaRPr>
          </a:p>
        </p:txBody>
      </p:sp>
      <p:sp>
        <p:nvSpPr>
          <p:cNvPr id="151" name="Google Shape;151;p4"/>
          <p:cNvSpPr/>
          <p:nvPr/>
        </p:nvSpPr>
        <p:spPr>
          <a:xfrm>
            <a:off x="1257300" y="5600700"/>
            <a:ext cx="857250" cy="266700"/>
          </a:xfrm>
          <a:custGeom>
            <a:rect b="b" l="l" r="r" t="t"/>
            <a:pathLst>
              <a:path extrusionOk="0" h="266700" w="857250">
                <a:moveTo>
                  <a:pt x="133350" y="0"/>
                </a:moveTo>
                <a:lnTo>
                  <a:pt x="723900" y="0"/>
                </a:lnTo>
                <a:cubicBezTo>
                  <a:pt x="797498" y="0"/>
                  <a:pt x="857250" y="59752"/>
                  <a:pt x="857250" y="133350"/>
                </a:cubicBezTo>
                <a:lnTo>
                  <a:pt x="857250" y="133350"/>
                </a:lnTo>
                <a:cubicBezTo>
                  <a:pt x="857250" y="206948"/>
                  <a:pt x="797498" y="266700"/>
                  <a:pt x="723900" y="266700"/>
                </a:cubicBezTo>
                <a:lnTo>
                  <a:pt x="133350" y="266700"/>
                </a:lnTo>
                <a:cubicBezTo>
                  <a:pt x="59752" y="266700"/>
                  <a:pt x="0" y="206948"/>
                  <a:pt x="0" y="133350"/>
                </a:cubicBezTo>
                <a:lnTo>
                  <a:pt x="0" y="133350"/>
                </a:lnTo>
                <a:cubicBezTo>
                  <a:pt x="0" y="59752"/>
                  <a:pt x="59752" y="0"/>
                  <a:pt x="133350"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1257300" y="5600700"/>
            <a:ext cx="923925"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06B6D4"/>
                </a:solidFill>
                <a:latin typeface="Arial"/>
                <a:ea typeface="Arial"/>
                <a:cs typeface="Arial"/>
                <a:sym typeface="Arial"/>
              </a:rPr>
              <a:t>Real-time</a:t>
            </a:r>
            <a:endParaRPr sz="1600">
              <a:solidFill>
                <a:schemeClr val="dk1"/>
              </a:solidFill>
              <a:latin typeface="Calibri"/>
              <a:ea typeface="Calibri"/>
              <a:cs typeface="Calibri"/>
              <a:sym typeface="Calibri"/>
            </a:endParaRPr>
          </a:p>
        </p:txBody>
      </p:sp>
      <p:sp>
        <p:nvSpPr>
          <p:cNvPr id="153" name="Google Shape;153;p4"/>
          <p:cNvSpPr/>
          <p:nvPr/>
        </p:nvSpPr>
        <p:spPr>
          <a:xfrm>
            <a:off x="2188369" y="5600700"/>
            <a:ext cx="1228725" cy="266700"/>
          </a:xfrm>
          <a:custGeom>
            <a:rect b="b" l="l" r="r" t="t"/>
            <a:pathLst>
              <a:path extrusionOk="0" h="266700" w="1228725">
                <a:moveTo>
                  <a:pt x="133350" y="0"/>
                </a:moveTo>
                <a:lnTo>
                  <a:pt x="1095375" y="0"/>
                </a:lnTo>
                <a:cubicBezTo>
                  <a:pt x="1168973" y="0"/>
                  <a:pt x="1228725" y="59752"/>
                  <a:pt x="1228725" y="133350"/>
                </a:cubicBezTo>
                <a:lnTo>
                  <a:pt x="1228725" y="133350"/>
                </a:lnTo>
                <a:cubicBezTo>
                  <a:pt x="1228725" y="206948"/>
                  <a:pt x="1168973" y="266700"/>
                  <a:pt x="1095375" y="266700"/>
                </a:cubicBezTo>
                <a:lnTo>
                  <a:pt x="133350" y="266700"/>
                </a:lnTo>
                <a:cubicBezTo>
                  <a:pt x="59752" y="266700"/>
                  <a:pt x="0" y="206948"/>
                  <a:pt x="0" y="133350"/>
                </a:cubicBezTo>
                <a:lnTo>
                  <a:pt x="0" y="133350"/>
                </a:lnTo>
                <a:cubicBezTo>
                  <a:pt x="0" y="59752"/>
                  <a:pt x="59752" y="0"/>
                  <a:pt x="133350"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2188369" y="5600700"/>
            <a:ext cx="129540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06B6D4"/>
                </a:solidFill>
                <a:latin typeface="Arial"/>
                <a:ea typeface="Arial"/>
                <a:cs typeface="Arial"/>
                <a:sym typeface="Arial"/>
              </a:rPr>
              <a:t>Comprehensive</a:t>
            </a:r>
            <a:endParaRPr sz="1600">
              <a:solidFill>
                <a:schemeClr val="dk1"/>
              </a:solidFill>
              <a:latin typeface="Calibri"/>
              <a:ea typeface="Calibri"/>
              <a:cs typeface="Calibri"/>
              <a:sym typeface="Calibri"/>
            </a:endParaRPr>
          </a:p>
        </p:txBody>
      </p:sp>
      <p:sp>
        <p:nvSpPr>
          <p:cNvPr id="155" name="Google Shape;155;p4"/>
          <p:cNvSpPr/>
          <p:nvPr/>
        </p:nvSpPr>
        <p:spPr>
          <a:xfrm>
            <a:off x="6191250" y="1333500"/>
            <a:ext cx="5619750" cy="1485900"/>
          </a:xfrm>
          <a:custGeom>
            <a:rect b="b" l="l" r="r" t="t"/>
            <a:pathLst>
              <a:path extrusionOk="0" h="1485900" w="5619750">
                <a:moveTo>
                  <a:pt x="38100" y="0"/>
                </a:moveTo>
                <a:lnTo>
                  <a:pt x="5505455" y="0"/>
                </a:lnTo>
                <a:cubicBezTo>
                  <a:pt x="5568536" y="0"/>
                  <a:pt x="5619750" y="51214"/>
                  <a:pt x="5619750" y="114295"/>
                </a:cubicBezTo>
                <a:lnTo>
                  <a:pt x="5619750" y="1371605"/>
                </a:lnTo>
                <a:cubicBezTo>
                  <a:pt x="5619750" y="1434686"/>
                  <a:pt x="5568536" y="1485900"/>
                  <a:pt x="5505455" y="1485900"/>
                </a:cubicBezTo>
                <a:lnTo>
                  <a:pt x="38100" y="1485900"/>
                </a:lnTo>
                <a:cubicBezTo>
                  <a:pt x="17072" y="1485900"/>
                  <a:pt x="0" y="1468828"/>
                  <a:pt x="0" y="14478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6191250" y="1333500"/>
            <a:ext cx="38100" cy="1485900"/>
          </a:xfrm>
          <a:custGeom>
            <a:rect b="b" l="l" r="r" t="t"/>
            <a:pathLst>
              <a:path extrusionOk="0" h="1485900" w="38100">
                <a:moveTo>
                  <a:pt x="38100" y="0"/>
                </a:moveTo>
                <a:lnTo>
                  <a:pt x="38100" y="0"/>
                </a:lnTo>
                <a:lnTo>
                  <a:pt x="38100" y="1485900"/>
                </a:lnTo>
                <a:lnTo>
                  <a:pt x="38100" y="1485900"/>
                </a:lnTo>
                <a:cubicBezTo>
                  <a:pt x="17072" y="1485900"/>
                  <a:pt x="0" y="1468828"/>
                  <a:pt x="0" y="1447800"/>
                </a:cubicBezTo>
                <a:lnTo>
                  <a:pt x="0" y="38100"/>
                </a:lnTo>
                <a:cubicBezTo>
                  <a:pt x="0" y="17072"/>
                  <a:pt x="17072" y="0"/>
                  <a:pt x="38100"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6362700" y="14859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6515100" y="1638300"/>
            <a:ext cx="228600" cy="228600"/>
          </a:xfrm>
          <a:custGeom>
            <a:rect b="b" l="l" r="r" t="t"/>
            <a:pathLst>
              <a:path extrusionOk="0" h="228600" w="228600">
                <a:moveTo>
                  <a:pt x="114300" y="3572"/>
                </a:moveTo>
                <a:cubicBezTo>
                  <a:pt x="53187" y="3572"/>
                  <a:pt x="3572" y="53187"/>
                  <a:pt x="3572" y="114300"/>
                </a:cubicBezTo>
                <a:cubicBezTo>
                  <a:pt x="3572" y="175413"/>
                  <a:pt x="53187" y="225028"/>
                  <a:pt x="114300" y="225028"/>
                </a:cubicBezTo>
                <a:cubicBezTo>
                  <a:pt x="175413" y="225028"/>
                  <a:pt x="225028" y="175413"/>
                  <a:pt x="225028" y="114300"/>
                </a:cubicBezTo>
                <a:cubicBezTo>
                  <a:pt x="225028" y="53187"/>
                  <a:pt x="175413" y="3572"/>
                  <a:pt x="114300" y="3572"/>
                </a:cubicBezTo>
                <a:close/>
                <a:moveTo>
                  <a:pt x="165646" y="78894"/>
                </a:moveTo>
                <a:cubicBezTo>
                  <a:pt x="163994" y="96396"/>
                  <a:pt x="156761" y="138901"/>
                  <a:pt x="153099" y="158502"/>
                </a:cubicBezTo>
                <a:cubicBezTo>
                  <a:pt x="151537" y="166807"/>
                  <a:pt x="148501" y="169575"/>
                  <a:pt x="145554" y="169843"/>
                </a:cubicBezTo>
                <a:cubicBezTo>
                  <a:pt x="139125" y="170423"/>
                  <a:pt x="134258" y="165601"/>
                  <a:pt x="128007" y="161493"/>
                </a:cubicBezTo>
                <a:cubicBezTo>
                  <a:pt x="118274" y="155109"/>
                  <a:pt x="112737" y="151135"/>
                  <a:pt x="103316" y="144884"/>
                </a:cubicBezTo>
                <a:cubicBezTo>
                  <a:pt x="92378" y="137696"/>
                  <a:pt x="99477" y="133722"/>
                  <a:pt x="105683" y="127248"/>
                </a:cubicBezTo>
                <a:cubicBezTo>
                  <a:pt x="107335" y="125551"/>
                  <a:pt x="135642" y="99789"/>
                  <a:pt x="136178" y="97468"/>
                </a:cubicBezTo>
                <a:cubicBezTo>
                  <a:pt x="136267" y="97155"/>
                  <a:pt x="136312" y="96083"/>
                  <a:pt x="135642" y="95503"/>
                </a:cubicBezTo>
                <a:cubicBezTo>
                  <a:pt x="134972" y="94923"/>
                  <a:pt x="134035" y="95146"/>
                  <a:pt x="133365" y="95280"/>
                </a:cubicBezTo>
                <a:cubicBezTo>
                  <a:pt x="132383" y="95503"/>
                  <a:pt x="116800" y="105772"/>
                  <a:pt x="86663" y="126132"/>
                </a:cubicBezTo>
                <a:cubicBezTo>
                  <a:pt x="82242" y="129168"/>
                  <a:pt x="78224" y="130641"/>
                  <a:pt x="74652" y="130552"/>
                </a:cubicBezTo>
                <a:cubicBezTo>
                  <a:pt x="70678" y="130463"/>
                  <a:pt x="63088" y="128320"/>
                  <a:pt x="57418" y="126489"/>
                </a:cubicBezTo>
                <a:cubicBezTo>
                  <a:pt x="50497" y="124257"/>
                  <a:pt x="44961" y="123051"/>
                  <a:pt x="45452" y="119211"/>
                </a:cubicBezTo>
                <a:cubicBezTo>
                  <a:pt x="45720" y="117202"/>
                  <a:pt x="48444" y="115193"/>
                  <a:pt x="53667" y="113094"/>
                </a:cubicBezTo>
                <a:cubicBezTo>
                  <a:pt x="85948" y="99030"/>
                  <a:pt x="107469" y="89743"/>
                  <a:pt x="118229" y="85279"/>
                </a:cubicBezTo>
                <a:cubicBezTo>
                  <a:pt x="148992" y="72509"/>
                  <a:pt x="155377" y="70277"/>
                  <a:pt x="159529" y="70187"/>
                </a:cubicBezTo>
                <a:cubicBezTo>
                  <a:pt x="160466" y="70187"/>
                  <a:pt x="162476" y="70411"/>
                  <a:pt x="163815" y="71482"/>
                </a:cubicBezTo>
                <a:cubicBezTo>
                  <a:pt x="164708" y="72241"/>
                  <a:pt x="165244" y="73313"/>
                  <a:pt x="165378" y="74474"/>
                </a:cubicBezTo>
                <a:cubicBezTo>
                  <a:pt x="165601" y="75902"/>
                  <a:pt x="165646" y="77376"/>
                  <a:pt x="165556" y="78849"/>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7048500" y="1485900"/>
            <a:ext cx="47053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Giao diện người dùng</a:t>
            </a:r>
            <a:endParaRPr sz="1600">
              <a:solidFill>
                <a:schemeClr val="dk1"/>
              </a:solidFill>
              <a:latin typeface="Calibri"/>
              <a:ea typeface="Calibri"/>
              <a:cs typeface="Calibri"/>
              <a:sym typeface="Calibri"/>
            </a:endParaRPr>
          </a:p>
        </p:txBody>
      </p:sp>
      <p:sp>
        <p:nvSpPr>
          <p:cNvPr id="160" name="Google Shape;160;p4"/>
          <p:cNvSpPr/>
          <p:nvPr/>
        </p:nvSpPr>
        <p:spPr>
          <a:xfrm>
            <a:off x="7048500" y="1828800"/>
            <a:ext cx="468630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US" sz="1200">
                <a:solidFill>
                  <a:srgbClr val="10B981"/>
                </a:solidFill>
                <a:latin typeface="Arial"/>
                <a:ea typeface="Arial"/>
                <a:cs typeface="Arial"/>
                <a:sym typeface="Arial"/>
              </a:rPr>
              <a:t>Telegram Bot API</a:t>
            </a:r>
            <a:r>
              <a:rPr lang="en-US" sz="1200">
                <a:solidFill>
                  <a:srgbClr val="94A3B8"/>
                </a:solidFill>
                <a:latin typeface="Arial"/>
                <a:ea typeface="Arial"/>
                <a:cs typeface="Arial"/>
                <a:sym typeface="Arial"/>
              </a:rPr>
              <a:t> - Nền tảng nhắn tin phổ biến tại Việt Nam, hỗ trợ tương tác hai chiều, gửi hình ảnh, form nhập liệu.</a:t>
            </a:r>
            <a:endParaRPr sz="1600">
              <a:solidFill>
                <a:schemeClr val="dk1"/>
              </a:solidFill>
              <a:latin typeface="Calibri"/>
              <a:ea typeface="Calibri"/>
              <a:cs typeface="Calibri"/>
              <a:sym typeface="Calibri"/>
            </a:endParaRPr>
          </a:p>
        </p:txBody>
      </p:sp>
      <p:sp>
        <p:nvSpPr>
          <p:cNvPr id="161" name="Google Shape;161;p4"/>
          <p:cNvSpPr/>
          <p:nvPr/>
        </p:nvSpPr>
        <p:spPr>
          <a:xfrm>
            <a:off x="7048500" y="2400300"/>
            <a:ext cx="914400" cy="266700"/>
          </a:xfrm>
          <a:custGeom>
            <a:rect b="b" l="l" r="r" t="t"/>
            <a:pathLst>
              <a:path extrusionOk="0" h="266700" w="914400">
                <a:moveTo>
                  <a:pt x="133350" y="0"/>
                </a:moveTo>
                <a:lnTo>
                  <a:pt x="781050" y="0"/>
                </a:lnTo>
                <a:cubicBezTo>
                  <a:pt x="854648" y="0"/>
                  <a:pt x="914400" y="59752"/>
                  <a:pt x="914400" y="133350"/>
                </a:cubicBezTo>
                <a:lnTo>
                  <a:pt x="914400" y="133350"/>
                </a:lnTo>
                <a:cubicBezTo>
                  <a:pt x="914400" y="206948"/>
                  <a:pt x="854648" y="266700"/>
                  <a:pt x="781050" y="266700"/>
                </a:cubicBezTo>
                <a:lnTo>
                  <a:pt x="133350" y="266700"/>
                </a:lnTo>
                <a:cubicBezTo>
                  <a:pt x="59752" y="266700"/>
                  <a:pt x="0" y="206948"/>
                  <a:pt x="0" y="133350"/>
                </a:cubicBezTo>
                <a:lnTo>
                  <a:pt x="0" y="133350"/>
                </a:lnTo>
                <a:cubicBezTo>
                  <a:pt x="0" y="59752"/>
                  <a:pt x="59752" y="0"/>
                  <a:pt x="133350"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a:off x="7048500" y="2400300"/>
            <a:ext cx="981075"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10B981"/>
                </a:solidFill>
                <a:latin typeface="Arial"/>
                <a:ea typeface="Arial"/>
                <a:cs typeface="Arial"/>
                <a:sym typeface="Arial"/>
              </a:rPr>
              <a:t>Interactive</a:t>
            </a:r>
            <a:endParaRPr sz="1600">
              <a:solidFill>
                <a:schemeClr val="dk1"/>
              </a:solidFill>
              <a:latin typeface="Calibri"/>
              <a:ea typeface="Calibri"/>
              <a:cs typeface="Calibri"/>
              <a:sym typeface="Calibri"/>
            </a:endParaRPr>
          </a:p>
        </p:txBody>
      </p:sp>
      <p:sp>
        <p:nvSpPr>
          <p:cNvPr id="163" name="Google Shape;163;p4"/>
          <p:cNvSpPr/>
          <p:nvPr/>
        </p:nvSpPr>
        <p:spPr>
          <a:xfrm>
            <a:off x="8035677" y="2400300"/>
            <a:ext cx="942975" cy="266700"/>
          </a:xfrm>
          <a:custGeom>
            <a:rect b="b" l="l" r="r" t="t"/>
            <a:pathLst>
              <a:path extrusionOk="0" h="266700" w="942975">
                <a:moveTo>
                  <a:pt x="133350" y="0"/>
                </a:moveTo>
                <a:lnTo>
                  <a:pt x="809625" y="0"/>
                </a:lnTo>
                <a:cubicBezTo>
                  <a:pt x="883223" y="0"/>
                  <a:pt x="942975" y="59752"/>
                  <a:pt x="942975" y="133350"/>
                </a:cubicBezTo>
                <a:lnTo>
                  <a:pt x="942975" y="133350"/>
                </a:lnTo>
                <a:cubicBezTo>
                  <a:pt x="942975" y="206948"/>
                  <a:pt x="883223" y="266700"/>
                  <a:pt x="809625" y="266700"/>
                </a:cubicBezTo>
                <a:lnTo>
                  <a:pt x="133350" y="266700"/>
                </a:lnTo>
                <a:cubicBezTo>
                  <a:pt x="59752" y="266700"/>
                  <a:pt x="0" y="206948"/>
                  <a:pt x="0" y="133350"/>
                </a:cubicBezTo>
                <a:lnTo>
                  <a:pt x="0" y="133350"/>
                </a:lnTo>
                <a:cubicBezTo>
                  <a:pt x="0" y="59752"/>
                  <a:pt x="59752" y="0"/>
                  <a:pt x="133350"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8035677" y="2400300"/>
            <a:ext cx="10096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10B981"/>
                </a:solidFill>
                <a:latin typeface="Arial"/>
                <a:ea typeface="Arial"/>
                <a:cs typeface="Arial"/>
                <a:sym typeface="Arial"/>
              </a:rPr>
              <a:t>Rich Media</a:t>
            </a:r>
            <a:endParaRPr sz="1600">
              <a:solidFill>
                <a:schemeClr val="dk1"/>
              </a:solidFill>
              <a:latin typeface="Calibri"/>
              <a:ea typeface="Calibri"/>
              <a:cs typeface="Calibri"/>
              <a:sym typeface="Calibri"/>
            </a:endParaRPr>
          </a:p>
        </p:txBody>
      </p:sp>
      <p:sp>
        <p:nvSpPr>
          <p:cNvPr id="165" name="Google Shape;165;p4"/>
          <p:cNvSpPr/>
          <p:nvPr/>
        </p:nvSpPr>
        <p:spPr>
          <a:xfrm>
            <a:off x="6191250" y="2933700"/>
            <a:ext cx="5619750" cy="2057400"/>
          </a:xfrm>
          <a:custGeom>
            <a:rect b="b" l="l" r="r" t="t"/>
            <a:pathLst>
              <a:path extrusionOk="0" h="2057400" w="5619750">
                <a:moveTo>
                  <a:pt x="38100" y="0"/>
                </a:moveTo>
                <a:lnTo>
                  <a:pt x="5505441" y="0"/>
                </a:lnTo>
                <a:cubicBezTo>
                  <a:pt x="5568572" y="0"/>
                  <a:pt x="5619750" y="51178"/>
                  <a:pt x="5619750" y="114309"/>
                </a:cubicBezTo>
                <a:lnTo>
                  <a:pt x="5619750" y="1943091"/>
                </a:lnTo>
                <a:cubicBezTo>
                  <a:pt x="5619750" y="2006222"/>
                  <a:pt x="5568572" y="2057400"/>
                  <a:pt x="5505441" y="2057400"/>
                </a:cubicBezTo>
                <a:lnTo>
                  <a:pt x="38100" y="2057400"/>
                </a:lnTo>
                <a:cubicBezTo>
                  <a:pt x="17072" y="2057400"/>
                  <a:pt x="0" y="2040328"/>
                  <a:pt x="0" y="2019300"/>
                </a:cubicBezTo>
                <a:lnTo>
                  <a:pt x="0" y="38100"/>
                </a:lnTo>
                <a:cubicBezTo>
                  <a:pt x="0" y="17072"/>
                  <a:pt x="17072" y="0"/>
                  <a:pt x="38100"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6191250" y="2933700"/>
            <a:ext cx="38100" cy="2057400"/>
          </a:xfrm>
          <a:custGeom>
            <a:rect b="b" l="l" r="r" t="t"/>
            <a:pathLst>
              <a:path extrusionOk="0" h="2057400" w="38100">
                <a:moveTo>
                  <a:pt x="38100" y="0"/>
                </a:moveTo>
                <a:lnTo>
                  <a:pt x="38100" y="0"/>
                </a:lnTo>
                <a:lnTo>
                  <a:pt x="38100" y="2057400"/>
                </a:lnTo>
                <a:lnTo>
                  <a:pt x="38100" y="2057400"/>
                </a:lnTo>
                <a:cubicBezTo>
                  <a:pt x="17072" y="2057400"/>
                  <a:pt x="0" y="2040328"/>
                  <a:pt x="0" y="2019300"/>
                </a:cubicBezTo>
                <a:lnTo>
                  <a:pt x="0" y="38100"/>
                </a:lnTo>
                <a:cubicBezTo>
                  <a:pt x="0" y="17072"/>
                  <a:pt x="17072" y="0"/>
                  <a:pt x="38100" y="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6400800" y="312420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6553200" y="3276600"/>
            <a:ext cx="228600" cy="228600"/>
          </a:xfrm>
          <a:custGeom>
            <a:rect b="b" l="l" r="r" t="t"/>
            <a:pathLst>
              <a:path extrusionOk="0" h="228600" w="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7086600" y="3124200"/>
            <a:ext cx="46291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8FAFC"/>
                </a:solidFill>
                <a:latin typeface="Arial"/>
                <a:ea typeface="Arial"/>
                <a:cs typeface="Arial"/>
                <a:sym typeface="Arial"/>
              </a:rPr>
              <a:t>Kiến trúc lai (Hybrid)</a:t>
            </a:r>
            <a:endParaRPr sz="1600">
              <a:solidFill>
                <a:schemeClr val="dk1"/>
              </a:solidFill>
              <a:latin typeface="Calibri"/>
              <a:ea typeface="Calibri"/>
              <a:cs typeface="Calibri"/>
              <a:sym typeface="Calibri"/>
            </a:endParaRPr>
          </a:p>
        </p:txBody>
      </p:sp>
      <p:sp>
        <p:nvSpPr>
          <p:cNvPr id="170" name="Google Shape;170;p4"/>
          <p:cNvSpPr/>
          <p:nvPr/>
        </p:nvSpPr>
        <p:spPr>
          <a:xfrm>
            <a:off x="7086600" y="3467100"/>
            <a:ext cx="461010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Kết hợp </a:t>
            </a:r>
            <a:r>
              <a:rPr b="1" lang="en-US" sz="1200">
                <a:solidFill>
                  <a:srgbClr val="F59E0B"/>
                </a:solidFill>
                <a:latin typeface="Arial"/>
                <a:ea typeface="Arial"/>
                <a:cs typeface="Arial"/>
                <a:sym typeface="Arial"/>
              </a:rPr>
              <a:t>luồng logic cứng</a:t>
            </a:r>
            <a:r>
              <a:rPr lang="en-US" sz="1200">
                <a:solidFill>
                  <a:srgbClr val="94A3B8"/>
                </a:solidFill>
                <a:latin typeface="Arial"/>
                <a:ea typeface="Arial"/>
                <a:cs typeface="Arial"/>
                <a:sym typeface="Arial"/>
              </a:rPr>
              <a:t> (tra cứu dữ liệu chính xác) và </a:t>
            </a:r>
            <a:r>
              <a:rPr b="1" lang="en-US" sz="1200">
                <a:solidFill>
                  <a:srgbClr val="F59E0B"/>
                </a:solidFill>
                <a:latin typeface="Arial"/>
                <a:ea typeface="Arial"/>
                <a:cs typeface="Arial"/>
                <a:sym typeface="Arial"/>
              </a:rPr>
              <a:t>AI mềm</a:t>
            </a:r>
            <a:r>
              <a:rPr lang="en-US" sz="1200">
                <a:solidFill>
                  <a:srgbClr val="94A3B8"/>
                </a:solidFill>
                <a:latin typeface="Arial"/>
                <a:ea typeface="Arial"/>
                <a:cs typeface="Arial"/>
                <a:sym typeface="Arial"/>
              </a:rPr>
              <a:t> (hội thoại tự do), tận dụng ưu điểm cả hai phương pháp.</a:t>
            </a:r>
            <a:endParaRPr sz="1600">
              <a:solidFill>
                <a:schemeClr val="dk1"/>
              </a:solidFill>
              <a:latin typeface="Calibri"/>
              <a:ea typeface="Calibri"/>
              <a:cs typeface="Calibri"/>
              <a:sym typeface="Calibri"/>
            </a:endParaRPr>
          </a:p>
        </p:txBody>
      </p:sp>
      <p:sp>
        <p:nvSpPr>
          <p:cNvPr id="171" name="Google Shape;171;p4"/>
          <p:cNvSpPr/>
          <p:nvPr/>
        </p:nvSpPr>
        <p:spPr>
          <a:xfrm>
            <a:off x="7086600" y="4076700"/>
            <a:ext cx="2209800" cy="723900"/>
          </a:xfrm>
          <a:custGeom>
            <a:rect b="b" l="l" r="r" t="t"/>
            <a:pathLst>
              <a:path extrusionOk="0" h="723900" w="2209800">
                <a:moveTo>
                  <a:pt x="76198" y="0"/>
                </a:moveTo>
                <a:lnTo>
                  <a:pt x="2133602" y="0"/>
                </a:lnTo>
                <a:cubicBezTo>
                  <a:pt x="2175657" y="0"/>
                  <a:pt x="2209800" y="34143"/>
                  <a:pt x="2209800" y="76198"/>
                </a:cubicBezTo>
                <a:lnTo>
                  <a:pt x="2209800" y="647702"/>
                </a:lnTo>
                <a:cubicBezTo>
                  <a:pt x="2209800" y="689757"/>
                  <a:pt x="2175657" y="723900"/>
                  <a:pt x="21336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7158038" y="4191000"/>
            <a:ext cx="206692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350">
                <a:solidFill>
                  <a:srgbClr val="F59E0B"/>
                </a:solidFill>
                <a:latin typeface="Arial"/>
                <a:ea typeface="Arial"/>
                <a:cs typeface="Arial"/>
                <a:sym typeface="Arial"/>
              </a:rPr>
              <a:t>Hard Logic</a:t>
            </a:r>
            <a:endParaRPr sz="1600">
              <a:solidFill>
                <a:schemeClr val="dk1"/>
              </a:solidFill>
              <a:latin typeface="Calibri"/>
              <a:ea typeface="Calibri"/>
              <a:cs typeface="Calibri"/>
              <a:sym typeface="Calibri"/>
            </a:endParaRPr>
          </a:p>
        </p:txBody>
      </p:sp>
      <p:sp>
        <p:nvSpPr>
          <p:cNvPr id="173" name="Google Shape;173;p4"/>
          <p:cNvSpPr/>
          <p:nvPr/>
        </p:nvSpPr>
        <p:spPr>
          <a:xfrm>
            <a:off x="7167563" y="4495800"/>
            <a:ext cx="2047875" cy="190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lang="en-US" sz="1050">
                <a:solidFill>
                  <a:srgbClr val="94A3B8"/>
                </a:solidFill>
                <a:latin typeface="Arial"/>
                <a:ea typeface="Arial"/>
                <a:cs typeface="Arial"/>
                <a:sym typeface="Arial"/>
              </a:rPr>
              <a:t>Data Query</a:t>
            </a:r>
            <a:endParaRPr sz="1600">
              <a:solidFill>
                <a:schemeClr val="dk1"/>
              </a:solidFill>
              <a:latin typeface="Calibri"/>
              <a:ea typeface="Calibri"/>
              <a:cs typeface="Calibri"/>
              <a:sym typeface="Calibri"/>
            </a:endParaRPr>
          </a:p>
        </p:txBody>
      </p:sp>
      <p:sp>
        <p:nvSpPr>
          <p:cNvPr id="174" name="Google Shape;174;p4"/>
          <p:cNvSpPr/>
          <p:nvPr/>
        </p:nvSpPr>
        <p:spPr>
          <a:xfrm>
            <a:off x="9410700" y="4076700"/>
            <a:ext cx="2209800" cy="723900"/>
          </a:xfrm>
          <a:custGeom>
            <a:rect b="b" l="l" r="r" t="t"/>
            <a:pathLst>
              <a:path extrusionOk="0" h="723900" w="2209800">
                <a:moveTo>
                  <a:pt x="76198" y="0"/>
                </a:moveTo>
                <a:lnTo>
                  <a:pt x="2133602" y="0"/>
                </a:lnTo>
                <a:cubicBezTo>
                  <a:pt x="2175657" y="0"/>
                  <a:pt x="2209800" y="34143"/>
                  <a:pt x="2209800" y="76198"/>
                </a:cubicBezTo>
                <a:lnTo>
                  <a:pt x="2209800" y="647702"/>
                </a:lnTo>
                <a:cubicBezTo>
                  <a:pt x="2209800" y="689757"/>
                  <a:pt x="2175657" y="723900"/>
                  <a:pt x="21336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4"/>
          <p:cNvSpPr/>
          <p:nvPr/>
        </p:nvSpPr>
        <p:spPr>
          <a:xfrm>
            <a:off x="9482138" y="4191000"/>
            <a:ext cx="206692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350">
                <a:solidFill>
                  <a:srgbClr val="F59E0B"/>
                </a:solidFill>
                <a:latin typeface="Arial"/>
                <a:ea typeface="Arial"/>
                <a:cs typeface="Arial"/>
                <a:sym typeface="Arial"/>
              </a:rPr>
              <a:t>Soft AI</a:t>
            </a:r>
            <a:endParaRPr sz="1600">
              <a:solidFill>
                <a:schemeClr val="dk1"/>
              </a:solidFill>
              <a:latin typeface="Calibri"/>
              <a:ea typeface="Calibri"/>
              <a:cs typeface="Calibri"/>
              <a:sym typeface="Calibri"/>
            </a:endParaRPr>
          </a:p>
        </p:txBody>
      </p:sp>
      <p:sp>
        <p:nvSpPr>
          <p:cNvPr id="176" name="Google Shape;176;p4"/>
          <p:cNvSpPr/>
          <p:nvPr/>
        </p:nvSpPr>
        <p:spPr>
          <a:xfrm>
            <a:off x="9491663" y="4495800"/>
            <a:ext cx="2047875" cy="190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lang="en-US" sz="1050">
                <a:solidFill>
                  <a:srgbClr val="94A3B8"/>
                </a:solidFill>
                <a:latin typeface="Arial"/>
                <a:ea typeface="Arial"/>
                <a:cs typeface="Arial"/>
                <a:sym typeface="Arial"/>
              </a:rPr>
              <a:t>Conversation</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1" name="Shape 181"/>
        <p:cNvGrpSpPr/>
        <p:nvPr/>
      </p:nvGrpSpPr>
      <p:grpSpPr>
        <a:xfrm>
          <a:off x="0" y="0"/>
          <a:ext cx="0" cy="0"/>
          <a:chOff x="0" y="0"/>
          <a:chExt cx="0" cy="0"/>
        </a:xfrm>
      </p:grpSpPr>
      <p:sp>
        <p:nvSpPr>
          <p:cNvPr id="182" name="Google Shape;182;p5"/>
          <p:cNvSpPr/>
          <p:nvPr/>
        </p:nvSpPr>
        <p:spPr>
          <a:xfrm>
            <a:off x="361512" y="361512"/>
            <a:ext cx="11541278"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39">
                <a:solidFill>
                  <a:srgbClr val="06B6D4"/>
                </a:solidFill>
                <a:latin typeface="Arial"/>
                <a:ea typeface="Arial"/>
                <a:cs typeface="Arial"/>
                <a:sym typeface="Arial"/>
              </a:rPr>
              <a:t>03 / KIẾN TRÚC HỆ THỐNG</a:t>
            </a:r>
            <a:endParaRPr sz="1600">
              <a:solidFill>
                <a:schemeClr val="dk1"/>
              </a:solidFill>
              <a:latin typeface="Calibri"/>
              <a:ea typeface="Calibri"/>
              <a:cs typeface="Calibri"/>
              <a:sym typeface="Calibri"/>
            </a:endParaRPr>
          </a:p>
        </p:txBody>
      </p:sp>
      <p:sp>
        <p:nvSpPr>
          <p:cNvPr id="183" name="Google Shape;183;p5"/>
          <p:cNvSpPr/>
          <p:nvPr/>
        </p:nvSpPr>
        <p:spPr>
          <a:xfrm>
            <a:off x="361512" y="650722"/>
            <a:ext cx="11631656" cy="36151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562">
                <a:solidFill>
                  <a:srgbClr val="F8FAFC"/>
                </a:solidFill>
                <a:latin typeface="Arial"/>
                <a:ea typeface="Arial"/>
                <a:cs typeface="Arial"/>
                <a:sym typeface="Arial"/>
              </a:rPr>
              <a:t>3 lớp kiến trúc tổng quan</a:t>
            </a:r>
            <a:endParaRPr sz="1600">
              <a:solidFill>
                <a:schemeClr val="dk1"/>
              </a:solidFill>
              <a:latin typeface="Calibri"/>
              <a:ea typeface="Calibri"/>
              <a:cs typeface="Calibri"/>
              <a:sym typeface="Calibri"/>
            </a:endParaRPr>
          </a:p>
        </p:txBody>
      </p:sp>
      <p:sp>
        <p:nvSpPr>
          <p:cNvPr id="184" name="Google Shape;184;p5"/>
          <p:cNvSpPr/>
          <p:nvPr/>
        </p:nvSpPr>
        <p:spPr>
          <a:xfrm>
            <a:off x="361512" y="1120688"/>
            <a:ext cx="867629" cy="36151"/>
          </a:xfrm>
          <a:custGeom>
            <a:rect b="b" l="l" r="r" t="t"/>
            <a:pathLst>
              <a:path extrusionOk="0" h="36151" w="867629">
                <a:moveTo>
                  <a:pt x="0" y="0"/>
                </a:moveTo>
                <a:lnTo>
                  <a:pt x="867629" y="0"/>
                </a:lnTo>
                <a:lnTo>
                  <a:pt x="867629" y="36151"/>
                </a:lnTo>
                <a:lnTo>
                  <a:pt x="0" y="36151"/>
                </a:lnTo>
                <a:lnTo>
                  <a:pt x="0" y="0"/>
                </a:lnTo>
                <a:close/>
              </a:path>
            </a:pathLst>
          </a:custGeom>
          <a:gradFill>
            <a:gsLst>
              <a:gs pos="0">
                <a:srgbClr val="06B6D4"/>
              </a:gs>
              <a:gs pos="100000">
                <a:srgbClr val="10B981"/>
              </a:gs>
            </a:gsLst>
            <a:lin ang="0" scaled="0"/>
          </a:gradFill>
          <a:ln>
            <a:noFill/>
          </a:ln>
        </p:spPr>
      </p:sp>
      <p:sp>
        <p:nvSpPr>
          <p:cNvPr id="185" name="Google Shape;185;p5"/>
          <p:cNvSpPr/>
          <p:nvPr/>
        </p:nvSpPr>
        <p:spPr>
          <a:xfrm>
            <a:off x="379588" y="1265293"/>
            <a:ext cx="8251517" cy="1337595"/>
          </a:xfrm>
          <a:custGeom>
            <a:rect b="b" l="l" r="r" t="t"/>
            <a:pathLst>
              <a:path extrusionOk="0" h="1337595" w="8251517">
                <a:moveTo>
                  <a:pt x="36151" y="0"/>
                </a:moveTo>
                <a:lnTo>
                  <a:pt x="8143064" y="0"/>
                </a:lnTo>
                <a:cubicBezTo>
                  <a:pt x="8202961" y="0"/>
                  <a:pt x="8251517" y="48556"/>
                  <a:pt x="8251517" y="108452"/>
                </a:cubicBezTo>
                <a:lnTo>
                  <a:pt x="8251517" y="1229143"/>
                </a:lnTo>
                <a:cubicBezTo>
                  <a:pt x="8251517" y="1289040"/>
                  <a:pt x="8202961" y="1337595"/>
                  <a:pt x="8143064" y="1337595"/>
                </a:cubicBezTo>
                <a:lnTo>
                  <a:pt x="36151" y="1337595"/>
                </a:lnTo>
                <a:cubicBezTo>
                  <a:pt x="16185" y="1337595"/>
                  <a:pt x="0" y="1321410"/>
                  <a:pt x="0" y="1301444"/>
                </a:cubicBezTo>
                <a:lnTo>
                  <a:pt x="0" y="36151"/>
                </a:lnTo>
                <a:cubicBezTo>
                  <a:pt x="0" y="16199"/>
                  <a:pt x="16199" y="0"/>
                  <a:pt x="36151" y="0"/>
                </a:cubicBezTo>
                <a:close/>
              </a:path>
            </a:pathLst>
          </a:custGeom>
          <a:gradFill>
            <a:gsLst>
              <a:gs pos="0">
                <a:srgbClr val="10B981">
                  <a:alpha val="20000"/>
                </a:srgbClr>
              </a:gs>
              <a:gs pos="100000">
                <a:srgbClr val="10B981">
                  <a:alpha val="4705"/>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379588" y="1265293"/>
            <a:ext cx="36151" cy="1337595"/>
          </a:xfrm>
          <a:custGeom>
            <a:rect b="b" l="l" r="r" t="t"/>
            <a:pathLst>
              <a:path extrusionOk="0" h="1337595" w="36151">
                <a:moveTo>
                  <a:pt x="36151" y="0"/>
                </a:moveTo>
                <a:lnTo>
                  <a:pt x="36151" y="0"/>
                </a:lnTo>
                <a:lnTo>
                  <a:pt x="36151" y="1337595"/>
                </a:lnTo>
                <a:lnTo>
                  <a:pt x="36151" y="1337595"/>
                </a:lnTo>
                <a:cubicBezTo>
                  <a:pt x="16185" y="1337595"/>
                  <a:pt x="0" y="1321410"/>
                  <a:pt x="0" y="1301444"/>
                </a:cubicBezTo>
                <a:lnTo>
                  <a:pt x="0" y="36151"/>
                </a:lnTo>
                <a:cubicBezTo>
                  <a:pt x="0" y="16199"/>
                  <a:pt x="16199" y="0"/>
                  <a:pt x="36151"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506117" y="1373746"/>
            <a:ext cx="361512" cy="361512"/>
          </a:xfrm>
          <a:custGeom>
            <a:rect b="b" l="l" r="r" t="t"/>
            <a:pathLst>
              <a:path extrusionOk="0" h="361512" w="361512">
                <a:moveTo>
                  <a:pt x="72302" y="0"/>
                </a:moveTo>
                <a:lnTo>
                  <a:pt x="289210" y="0"/>
                </a:lnTo>
                <a:cubicBezTo>
                  <a:pt x="329115" y="0"/>
                  <a:pt x="361512" y="32398"/>
                  <a:pt x="361512" y="72302"/>
                </a:cubicBezTo>
                <a:lnTo>
                  <a:pt x="361512" y="289210"/>
                </a:lnTo>
                <a:cubicBezTo>
                  <a:pt x="361512" y="329115"/>
                  <a:pt x="329115" y="361512"/>
                  <a:pt x="289210" y="361512"/>
                </a:cubicBezTo>
                <a:lnTo>
                  <a:pt x="72302" y="361512"/>
                </a:lnTo>
                <a:cubicBezTo>
                  <a:pt x="32398" y="361512"/>
                  <a:pt x="0" y="329115"/>
                  <a:pt x="0" y="289210"/>
                </a:cubicBezTo>
                <a:lnTo>
                  <a:pt x="0" y="72302"/>
                </a:lnTo>
                <a:cubicBezTo>
                  <a:pt x="0" y="32398"/>
                  <a:pt x="32398" y="0"/>
                  <a:pt x="72302" y="0"/>
                </a:cubicBezTo>
                <a:close/>
              </a:path>
            </a:pathLst>
          </a:custGeom>
          <a:solidFill>
            <a:srgbClr val="10B981">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648745" y="1427973"/>
            <a:ext cx="162681" cy="25305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423">
                <a:solidFill>
                  <a:srgbClr val="10B981"/>
                </a:solidFill>
                <a:latin typeface="Arial"/>
                <a:ea typeface="Arial"/>
                <a:cs typeface="Arial"/>
                <a:sym typeface="Arial"/>
              </a:rPr>
              <a:t>1</a:t>
            </a:r>
            <a:endParaRPr sz="1600">
              <a:solidFill>
                <a:schemeClr val="dk1"/>
              </a:solidFill>
              <a:latin typeface="Calibri"/>
              <a:ea typeface="Calibri"/>
              <a:cs typeface="Calibri"/>
              <a:sym typeface="Calibri"/>
            </a:endParaRPr>
          </a:p>
        </p:txBody>
      </p:sp>
      <p:sp>
        <p:nvSpPr>
          <p:cNvPr id="189" name="Google Shape;189;p5"/>
          <p:cNvSpPr/>
          <p:nvPr/>
        </p:nvSpPr>
        <p:spPr>
          <a:xfrm>
            <a:off x="976083" y="1427973"/>
            <a:ext cx="2196187" cy="25305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423">
                <a:solidFill>
                  <a:srgbClr val="F8FAFC"/>
                </a:solidFill>
                <a:latin typeface="Arial"/>
                <a:ea typeface="Arial"/>
                <a:cs typeface="Arial"/>
                <a:sym typeface="Arial"/>
              </a:rPr>
              <a:t>Lớp Giao diện (UI Layer)</a:t>
            </a:r>
            <a:endParaRPr sz="1600">
              <a:solidFill>
                <a:schemeClr val="dk1"/>
              </a:solidFill>
              <a:latin typeface="Calibri"/>
              <a:ea typeface="Calibri"/>
              <a:cs typeface="Calibri"/>
              <a:sym typeface="Calibri"/>
            </a:endParaRPr>
          </a:p>
        </p:txBody>
      </p:sp>
      <p:sp>
        <p:nvSpPr>
          <p:cNvPr id="190" name="Google Shape;190;p5"/>
          <p:cNvSpPr/>
          <p:nvPr/>
        </p:nvSpPr>
        <p:spPr>
          <a:xfrm>
            <a:off x="506117" y="1807561"/>
            <a:ext cx="3949521" cy="686873"/>
          </a:xfrm>
          <a:custGeom>
            <a:rect b="b" l="l" r="r" t="t"/>
            <a:pathLst>
              <a:path extrusionOk="0" h="686873" w="3949521">
                <a:moveTo>
                  <a:pt x="72300" y="0"/>
                </a:moveTo>
                <a:lnTo>
                  <a:pt x="3877221" y="0"/>
                </a:lnTo>
                <a:cubicBezTo>
                  <a:pt x="3917151" y="0"/>
                  <a:pt x="3949521" y="32370"/>
                  <a:pt x="3949521" y="72300"/>
                </a:cubicBezTo>
                <a:lnTo>
                  <a:pt x="3949521" y="614573"/>
                </a:lnTo>
                <a:cubicBezTo>
                  <a:pt x="3949521" y="654503"/>
                  <a:pt x="3917151" y="686873"/>
                  <a:pt x="3877221" y="686873"/>
                </a:cubicBezTo>
                <a:lnTo>
                  <a:pt x="72300" y="686873"/>
                </a:lnTo>
                <a:cubicBezTo>
                  <a:pt x="32370" y="686873"/>
                  <a:pt x="0" y="654503"/>
                  <a:pt x="0" y="614573"/>
                </a:cubicBezTo>
                <a:lnTo>
                  <a:pt x="0" y="72300"/>
                </a:lnTo>
                <a:cubicBezTo>
                  <a:pt x="0" y="32397"/>
                  <a:pt x="32397" y="0"/>
                  <a:pt x="72300"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632646" y="1952166"/>
            <a:ext cx="144605" cy="144605"/>
          </a:xfrm>
          <a:custGeom>
            <a:rect b="b" l="l" r="r" t="t"/>
            <a:pathLst>
              <a:path extrusionOk="0" h="144605" w="144605">
                <a:moveTo>
                  <a:pt x="72302" y="2259"/>
                </a:moveTo>
                <a:cubicBezTo>
                  <a:pt x="33645" y="2259"/>
                  <a:pt x="2259" y="33645"/>
                  <a:pt x="2259" y="72302"/>
                </a:cubicBezTo>
                <a:cubicBezTo>
                  <a:pt x="2259" y="110960"/>
                  <a:pt x="33645" y="142345"/>
                  <a:pt x="72302" y="142345"/>
                </a:cubicBezTo>
                <a:cubicBezTo>
                  <a:pt x="110960" y="142345"/>
                  <a:pt x="142345" y="110960"/>
                  <a:pt x="142345" y="72302"/>
                </a:cubicBezTo>
                <a:cubicBezTo>
                  <a:pt x="142345" y="33645"/>
                  <a:pt x="110960" y="2259"/>
                  <a:pt x="72302" y="2259"/>
                </a:cubicBezTo>
                <a:close/>
                <a:moveTo>
                  <a:pt x="104782" y="49906"/>
                </a:moveTo>
                <a:cubicBezTo>
                  <a:pt x="103737" y="60977"/>
                  <a:pt x="99162" y="87864"/>
                  <a:pt x="96846" y="100263"/>
                </a:cubicBezTo>
                <a:cubicBezTo>
                  <a:pt x="95857" y="105516"/>
                  <a:pt x="93937" y="107267"/>
                  <a:pt x="92073" y="107437"/>
                </a:cubicBezTo>
                <a:cubicBezTo>
                  <a:pt x="88006" y="107804"/>
                  <a:pt x="84927" y="104754"/>
                  <a:pt x="80973" y="102155"/>
                </a:cubicBezTo>
                <a:cubicBezTo>
                  <a:pt x="74816" y="98117"/>
                  <a:pt x="71314" y="95603"/>
                  <a:pt x="65355" y="91649"/>
                </a:cubicBezTo>
                <a:cubicBezTo>
                  <a:pt x="58435" y="87102"/>
                  <a:pt x="62926" y="84588"/>
                  <a:pt x="66852" y="80493"/>
                </a:cubicBezTo>
                <a:cubicBezTo>
                  <a:pt x="67897" y="79420"/>
                  <a:pt x="85803" y="63123"/>
                  <a:pt x="86142" y="61655"/>
                </a:cubicBezTo>
                <a:cubicBezTo>
                  <a:pt x="86198" y="61457"/>
                  <a:pt x="86226" y="60779"/>
                  <a:pt x="85803" y="60412"/>
                </a:cubicBezTo>
                <a:cubicBezTo>
                  <a:pt x="85379" y="60045"/>
                  <a:pt x="84786" y="60186"/>
                  <a:pt x="84362" y="60271"/>
                </a:cubicBezTo>
                <a:cubicBezTo>
                  <a:pt x="83741" y="60412"/>
                  <a:pt x="73884" y="66908"/>
                  <a:pt x="54820" y="79787"/>
                </a:cubicBezTo>
                <a:cubicBezTo>
                  <a:pt x="52024" y="81707"/>
                  <a:pt x="49482" y="82639"/>
                  <a:pt x="47223" y="82583"/>
                </a:cubicBezTo>
                <a:cubicBezTo>
                  <a:pt x="44709" y="82526"/>
                  <a:pt x="39908" y="81171"/>
                  <a:pt x="36321" y="80013"/>
                </a:cubicBezTo>
                <a:cubicBezTo>
                  <a:pt x="31943" y="78601"/>
                  <a:pt x="28441" y="77838"/>
                  <a:pt x="28752" y="75409"/>
                </a:cubicBezTo>
                <a:cubicBezTo>
                  <a:pt x="28921" y="74138"/>
                  <a:pt x="30644" y="72867"/>
                  <a:pt x="33948" y="71540"/>
                </a:cubicBezTo>
                <a:cubicBezTo>
                  <a:pt x="54368" y="62643"/>
                  <a:pt x="67981" y="56769"/>
                  <a:pt x="74788" y="53944"/>
                </a:cubicBezTo>
                <a:cubicBezTo>
                  <a:pt x="94247" y="45867"/>
                  <a:pt x="98286" y="44455"/>
                  <a:pt x="100913" y="44398"/>
                </a:cubicBezTo>
                <a:cubicBezTo>
                  <a:pt x="101506" y="44398"/>
                  <a:pt x="102777" y="44539"/>
                  <a:pt x="103624" y="45217"/>
                </a:cubicBezTo>
                <a:cubicBezTo>
                  <a:pt x="104189" y="45697"/>
                  <a:pt x="104528" y="46375"/>
                  <a:pt x="104613" y="47110"/>
                </a:cubicBezTo>
                <a:cubicBezTo>
                  <a:pt x="104754" y="48013"/>
                  <a:pt x="104782" y="48945"/>
                  <a:pt x="104726" y="49877"/>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867629" y="1916015"/>
            <a:ext cx="1192990"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39">
                <a:solidFill>
                  <a:srgbClr val="F8FAFC"/>
                </a:solidFill>
                <a:latin typeface="Arial"/>
                <a:ea typeface="Arial"/>
                <a:cs typeface="Arial"/>
                <a:sym typeface="Arial"/>
              </a:rPr>
              <a:t>Telegram Bot UI</a:t>
            </a:r>
            <a:endParaRPr sz="1600">
              <a:solidFill>
                <a:schemeClr val="dk1"/>
              </a:solidFill>
              <a:latin typeface="Calibri"/>
              <a:ea typeface="Calibri"/>
              <a:cs typeface="Calibri"/>
              <a:sym typeface="Calibri"/>
            </a:endParaRPr>
          </a:p>
        </p:txBody>
      </p:sp>
      <p:sp>
        <p:nvSpPr>
          <p:cNvPr id="193" name="Google Shape;193;p5"/>
          <p:cNvSpPr/>
          <p:nvPr/>
        </p:nvSpPr>
        <p:spPr>
          <a:xfrm>
            <a:off x="614571" y="2205225"/>
            <a:ext cx="3795878" cy="1807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96">
                <a:solidFill>
                  <a:srgbClr val="94A3B8"/>
                </a:solidFill>
                <a:latin typeface="Arial"/>
                <a:ea typeface="Arial"/>
                <a:cs typeface="Arial"/>
                <a:sym typeface="Arial"/>
              </a:rPr>
              <a:t>Người dùng tương tác qua tin nhắn và form nhập liệu</a:t>
            </a:r>
            <a:endParaRPr sz="1600">
              <a:solidFill>
                <a:schemeClr val="dk1"/>
              </a:solidFill>
              <a:latin typeface="Calibri"/>
              <a:ea typeface="Calibri"/>
              <a:cs typeface="Calibri"/>
              <a:sym typeface="Calibri"/>
            </a:endParaRPr>
          </a:p>
        </p:txBody>
      </p:sp>
      <p:sp>
        <p:nvSpPr>
          <p:cNvPr id="194" name="Google Shape;194;p5"/>
          <p:cNvSpPr/>
          <p:nvPr/>
        </p:nvSpPr>
        <p:spPr>
          <a:xfrm>
            <a:off x="4566351" y="1807561"/>
            <a:ext cx="3949521" cy="686873"/>
          </a:xfrm>
          <a:custGeom>
            <a:rect b="b" l="l" r="r" t="t"/>
            <a:pathLst>
              <a:path extrusionOk="0" h="686873" w="3949521">
                <a:moveTo>
                  <a:pt x="72300" y="0"/>
                </a:moveTo>
                <a:lnTo>
                  <a:pt x="3877221" y="0"/>
                </a:lnTo>
                <a:cubicBezTo>
                  <a:pt x="3917151" y="0"/>
                  <a:pt x="3949521" y="32370"/>
                  <a:pt x="3949521" y="72300"/>
                </a:cubicBezTo>
                <a:lnTo>
                  <a:pt x="3949521" y="614573"/>
                </a:lnTo>
                <a:cubicBezTo>
                  <a:pt x="3949521" y="654503"/>
                  <a:pt x="3917151" y="686873"/>
                  <a:pt x="3877221" y="686873"/>
                </a:cubicBezTo>
                <a:lnTo>
                  <a:pt x="72300" y="686873"/>
                </a:lnTo>
                <a:cubicBezTo>
                  <a:pt x="32370" y="686873"/>
                  <a:pt x="0" y="654503"/>
                  <a:pt x="0" y="614573"/>
                </a:cubicBezTo>
                <a:lnTo>
                  <a:pt x="0" y="72300"/>
                </a:lnTo>
                <a:cubicBezTo>
                  <a:pt x="0" y="32397"/>
                  <a:pt x="32397" y="0"/>
                  <a:pt x="72300"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4683843" y="1952166"/>
            <a:ext cx="162681" cy="144605"/>
          </a:xfrm>
          <a:custGeom>
            <a:rect b="b" l="l" r="r" t="t"/>
            <a:pathLst>
              <a:path extrusionOk="0" h="144605" w="162681">
                <a:moveTo>
                  <a:pt x="18076" y="18076"/>
                </a:moveTo>
                <a:cubicBezTo>
                  <a:pt x="8106" y="18076"/>
                  <a:pt x="0" y="26181"/>
                  <a:pt x="0" y="36151"/>
                </a:cubicBezTo>
                <a:lnTo>
                  <a:pt x="0" y="108454"/>
                </a:lnTo>
                <a:cubicBezTo>
                  <a:pt x="0" y="118423"/>
                  <a:pt x="8106" y="126529"/>
                  <a:pt x="18076" y="126529"/>
                </a:cubicBezTo>
                <a:lnTo>
                  <a:pt x="144605" y="126529"/>
                </a:lnTo>
                <a:cubicBezTo>
                  <a:pt x="154575" y="126529"/>
                  <a:pt x="162681" y="118423"/>
                  <a:pt x="162681" y="108454"/>
                </a:cubicBezTo>
                <a:lnTo>
                  <a:pt x="162681" y="36151"/>
                </a:lnTo>
                <a:cubicBezTo>
                  <a:pt x="162681" y="26181"/>
                  <a:pt x="154575" y="18076"/>
                  <a:pt x="144605" y="18076"/>
                </a:cubicBezTo>
                <a:lnTo>
                  <a:pt x="18076" y="18076"/>
                </a:lnTo>
                <a:close/>
                <a:moveTo>
                  <a:pt x="22595" y="36151"/>
                </a:moveTo>
                <a:lnTo>
                  <a:pt x="31632" y="36151"/>
                </a:lnTo>
                <a:cubicBezTo>
                  <a:pt x="34118" y="36151"/>
                  <a:pt x="36151" y="38185"/>
                  <a:pt x="36151" y="40670"/>
                </a:cubicBezTo>
                <a:lnTo>
                  <a:pt x="36151" y="49708"/>
                </a:lnTo>
                <a:cubicBezTo>
                  <a:pt x="36151" y="52193"/>
                  <a:pt x="34118" y="54227"/>
                  <a:pt x="31632" y="54227"/>
                </a:cubicBezTo>
                <a:lnTo>
                  <a:pt x="22595" y="54227"/>
                </a:lnTo>
                <a:cubicBezTo>
                  <a:pt x="20109" y="54227"/>
                  <a:pt x="18076" y="52193"/>
                  <a:pt x="18076" y="49708"/>
                </a:cubicBezTo>
                <a:lnTo>
                  <a:pt x="18076" y="40670"/>
                </a:lnTo>
                <a:cubicBezTo>
                  <a:pt x="18076" y="38185"/>
                  <a:pt x="20109" y="36151"/>
                  <a:pt x="22595" y="36151"/>
                </a:cubicBezTo>
                <a:close/>
                <a:moveTo>
                  <a:pt x="18076" y="67784"/>
                </a:moveTo>
                <a:cubicBezTo>
                  <a:pt x="18076" y="65298"/>
                  <a:pt x="20109" y="63265"/>
                  <a:pt x="22595" y="63265"/>
                </a:cubicBezTo>
                <a:lnTo>
                  <a:pt x="31632" y="63265"/>
                </a:lnTo>
                <a:cubicBezTo>
                  <a:pt x="34118" y="63265"/>
                  <a:pt x="36151" y="65298"/>
                  <a:pt x="36151" y="67784"/>
                </a:cubicBezTo>
                <a:lnTo>
                  <a:pt x="36151" y="76821"/>
                </a:lnTo>
                <a:cubicBezTo>
                  <a:pt x="36151" y="79307"/>
                  <a:pt x="34118" y="81340"/>
                  <a:pt x="31632" y="81340"/>
                </a:cubicBezTo>
                <a:lnTo>
                  <a:pt x="22595" y="81340"/>
                </a:lnTo>
                <a:cubicBezTo>
                  <a:pt x="20109" y="81340"/>
                  <a:pt x="18076" y="79307"/>
                  <a:pt x="18076" y="76821"/>
                </a:cubicBezTo>
                <a:lnTo>
                  <a:pt x="18076" y="67784"/>
                </a:lnTo>
                <a:close/>
                <a:moveTo>
                  <a:pt x="49708" y="36151"/>
                </a:moveTo>
                <a:lnTo>
                  <a:pt x="58746" y="36151"/>
                </a:lnTo>
                <a:cubicBezTo>
                  <a:pt x="61231" y="36151"/>
                  <a:pt x="63265" y="38185"/>
                  <a:pt x="63265" y="40670"/>
                </a:cubicBezTo>
                <a:lnTo>
                  <a:pt x="63265" y="49708"/>
                </a:lnTo>
                <a:cubicBezTo>
                  <a:pt x="63265" y="52193"/>
                  <a:pt x="61231" y="54227"/>
                  <a:pt x="58746" y="54227"/>
                </a:cubicBezTo>
                <a:lnTo>
                  <a:pt x="49708" y="54227"/>
                </a:lnTo>
                <a:cubicBezTo>
                  <a:pt x="47223" y="54227"/>
                  <a:pt x="45189" y="52193"/>
                  <a:pt x="45189" y="49708"/>
                </a:cubicBezTo>
                <a:lnTo>
                  <a:pt x="45189" y="40670"/>
                </a:lnTo>
                <a:cubicBezTo>
                  <a:pt x="45189" y="38185"/>
                  <a:pt x="47223" y="36151"/>
                  <a:pt x="49708" y="36151"/>
                </a:cubicBezTo>
                <a:close/>
                <a:moveTo>
                  <a:pt x="45189" y="67784"/>
                </a:moveTo>
                <a:cubicBezTo>
                  <a:pt x="45189" y="65298"/>
                  <a:pt x="47223" y="63265"/>
                  <a:pt x="49708" y="63265"/>
                </a:cubicBezTo>
                <a:lnTo>
                  <a:pt x="58746" y="63265"/>
                </a:lnTo>
                <a:cubicBezTo>
                  <a:pt x="61231" y="63265"/>
                  <a:pt x="63265" y="65298"/>
                  <a:pt x="63265" y="67784"/>
                </a:cubicBezTo>
                <a:lnTo>
                  <a:pt x="63265" y="76821"/>
                </a:lnTo>
                <a:cubicBezTo>
                  <a:pt x="63265" y="79307"/>
                  <a:pt x="61231" y="81340"/>
                  <a:pt x="58746" y="81340"/>
                </a:cubicBezTo>
                <a:lnTo>
                  <a:pt x="49708" y="81340"/>
                </a:lnTo>
                <a:cubicBezTo>
                  <a:pt x="47223" y="81340"/>
                  <a:pt x="45189" y="79307"/>
                  <a:pt x="45189" y="76821"/>
                </a:cubicBezTo>
                <a:lnTo>
                  <a:pt x="45189" y="67784"/>
                </a:lnTo>
                <a:close/>
                <a:moveTo>
                  <a:pt x="49708" y="90378"/>
                </a:moveTo>
                <a:lnTo>
                  <a:pt x="112973" y="90378"/>
                </a:lnTo>
                <a:cubicBezTo>
                  <a:pt x="115458" y="90378"/>
                  <a:pt x="117491" y="92412"/>
                  <a:pt x="117491" y="94897"/>
                </a:cubicBezTo>
                <a:lnTo>
                  <a:pt x="117491" y="103935"/>
                </a:lnTo>
                <a:cubicBezTo>
                  <a:pt x="117491" y="106420"/>
                  <a:pt x="115458" y="108454"/>
                  <a:pt x="112973" y="108454"/>
                </a:cubicBezTo>
                <a:lnTo>
                  <a:pt x="49708" y="108454"/>
                </a:lnTo>
                <a:cubicBezTo>
                  <a:pt x="47223" y="108454"/>
                  <a:pt x="45189" y="106420"/>
                  <a:pt x="45189" y="103935"/>
                </a:cubicBezTo>
                <a:lnTo>
                  <a:pt x="45189" y="94897"/>
                </a:lnTo>
                <a:cubicBezTo>
                  <a:pt x="45189" y="92412"/>
                  <a:pt x="47223" y="90378"/>
                  <a:pt x="49708" y="90378"/>
                </a:cubicBezTo>
                <a:close/>
                <a:moveTo>
                  <a:pt x="72302" y="40670"/>
                </a:moveTo>
                <a:cubicBezTo>
                  <a:pt x="72302" y="38185"/>
                  <a:pt x="74336" y="36151"/>
                  <a:pt x="76821" y="36151"/>
                </a:cubicBezTo>
                <a:lnTo>
                  <a:pt x="85859" y="36151"/>
                </a:lnTo>
                <a:cubicBezTo>
                  <a:pt x="88345" y="36151"/>
                  <a:pt x="90378" y="38185"/>
                  <a:pt x="90378" y="40670"/>
                </a:cubicBezTo>
                <a:lnTo>
                  <a:pt x="90378" y="49708"/>
                </a:lnTo>
                <a:cubicBezTo>
                  <a:pt x="90378" y="52193"/>
                  <a:pt x="88345" y="54227"/>
                  <a:pt x="85859" y="54227"/>
                </a:cubicBezTo>
                <a:lnTo>
                  <a:pt x="76821" y="54227"/>
                </a:lnTo>
                <a:cubicBezTo>
                  <a:pt x="74336" y="54227"/>
                  <a:pt x="72302" y="52193"/>
                  <a:pt x="72302" y="49708"/>
                </a:cubicBezTo>
                <a:lnTo>
                  <a:pt x="72302" y="40670"/>
                </a:lnTo>
                <a:close/>
                <a:moveTo>
                  <a:pt x="76821" y="63265"/>
                </a:moveTo>
                <a:lnTo>
                  <a:pt x="85859" y="63265"/>
                </a:lnTo>
                <a:cubicBezTo>
                  <a:pt x="88345" y="63265"/>
                  <a:pt x="90378" y="65298"/>
                  <a:pt x="90378" y="67784"/>
                </a:cubicBezTo>
                <a:lnTo>
                  <a:pt x="90378" y="76821"/>
                </a:lnTo>
                <a:cubicBezTo>
                  <a:pt x="90378" y="79307"/>
                  <a:pt x="88345" y="81340"/>
                  <a:pt x="85859" y="81340"/>
                </a:cubicBezTo>
                <a:lnTo>
                  <a:pt x="76821" y="81340"/>
                </a:lnTo>
                <a:cubicBezTo>
                  <a:pt x="74336" y="81340"/>
                  <a:pt x="72302" y="79307"/>
                  <a:pt x="72302" y="76821"/>
                </a:cubicBezTo>
                <a:lnTo>
                  <a:pt x="72302" y="67784"/>
                </a:lnTo>
                <a:cubicBezTo>
                  <a:pt x="72302" y="65298"/>
                  <a:pt x="74336" y="63265"/>
                  <a:pt x="76821" y="63265"/>
                </a:cubicBezTo>
                <a:close/>
                <a:moveTo>
                  <a:pt x="99416" y="40670"/>
                </a:moveTo>
                <a:cubicBezTo>
                  <a:pt x="99416" y="38185"/>
                  <a:pt x="101449" y="36151"/>
                  <a:pt x="103935" y="36151"/>
                </a:cubicBezTo>
                <a:lnTo>
                  <a:pt x="112973" y="36151"/>
                </a:lnTo>
                <a:cubicBezTo>
                  <a:pt x="115458" y="36151"/>
                  <a:pt x="117491" y="38185"/>
                  <a:pt x="117491" y="40670"/>
                </a:cubicBezTo>
                <a:lnTo>
                  <a:pt x="117491" y="49708"/>
                </a:lnTo>
                <a:cubicBezTo>
                  <a:pt x="117491" y="52193"/>
                  <a:pt x="115458" y="54227"/>
                  <a:pt x="112973" y="54227"/>
                </a:cubicBezTo>
                <a:lnTo>
                  <a:pt x="103935" y="54227"/>
                </a:lnTo>
                <a:cubicBezTo>
                  <a:pt x="101449" y="54227"/>
                  <a:pt x="99416" y="52193"/>
                  <a:pt x="99416" y="49708"/>
                </a:cubicBezTo>
                <a:lnTo>
                  <a:pt x="99416" y="40670"/>
                </a:lnTo>
                <a:close/>
                <a:moveTo>
                  <a:pt x="103935" y="63265"/>
                </a:moveTo>
                <a:lnTo>
                  <a:pt x="112973" y="63265"/>
                </a:lnTo>
                <a:cubicBezTo>
                  <a:pt x="115458" y="63265"/>
                  <a:pt x="117491" y="65298"/>
                  <a:pt x="117491" y="67784"/>
                </a:cubicBezTo>
                <a:lnTo>
                  <a:pt x="117491" y="76821"/>
                </a:lnTo>
                <a:cubicBezTo>
                  <a:pt x="117491" y="79307"/>
                  <a:pt x="115458" y="81340"/>
                  <a:pt x="112973" y="81340"/>
                </a:cubicBezTo>
                <a:lnTo>
                  <a:pt x="103935" y="81340"/>
                </a:lnTo>
                <a:cubicBezTo>
                  <a:pt x="101449" y="81340"/>
                  <a:pt x="99416" y="79307"/>
                  <a:pt x="99416" y="76821"/>
                </a:cubicBezTo>
                <a:lnTo>
                  <a:pt x="99416" y="67784"/>
                </a:lnTo>
                <a:cubicBezTo>
                  <a:pt x="99416" y="65298"/>
                  <a:pt x="101449" y="63265"/>
                  <a:pt x="103935" y="63265"/>
                </a:cubicBezTo>
                <a:close/>
                <a:moveTo>
                  <a:pt x="126529" y="40670"/>
                </a:moveTo>
                <a:cubicBezTo>
                  <a:pt x="126529" y="38185"/>
                  <a:pt x="128563" y="36151"/>
                  <a:pt x="131048" y="36151"/>
                </a:cubicBezTo>
                <a:lnTo>
                  <a:pt x="140086" y="36151"/>
                </a:lnTo>
                <a:cubicBezTo>
                  <a:pt x="142571" y="36151"/>
                  <a:pt x="144605" y="38185"/>
                  <a:pt x="144605" y="40670"/>
                </a:cubicBezTo>
                <a:lnTo>
                  <a:pt x="144605" y="49708"/>
                </a:lnTo>
                <a:cubicBezTo>
                  <a:pt x="144605" y="52193"/>
                  <a:pt x="142571" y="54227"/>
                  <a:pt x="140086" y="54227"/>
                </a:cubicBezTo>
                <a:lnTo>
                  <a:pt x="131048" y="54227"/>
                </a:lnTo>
                <a:cubicBezTo>
                  <a:pt x="128563" y="54227"/>
                  <a:pt x="126529" y="52193"/>
                  <a:pt x="126529" y="49708"/>
                </a:cubicBezTo>
                <a:lnTo>
                  <a:pt x="126529" y="40670"/>
                </a:lnTo>
                <a:close/>
                <a:moveTo>
                  <a:pt x="131048" y="63265"/>
                </a:moveTo>
                <a:lnTo>
                  <a:pt x="140086" y="63265"/>
                </a:lnTo>
                <a:cubicBezTo>
                  <a:pt x="142571" y="63265"/>
                  <a:pt x="144605" y="65298"/>
                  <a:pt x="144605" y="67784"/>
                </a:cubicBezTo>
                <a:lnTo>
                  <a:pt x="144605" y="76821"/>
                </a:lnTo>
                <a:cubicBezTo>
                  <a:pt x="144605" y="79307"/>
                  <a:pt x="142571" y="81340"/>
                  <a:pt x="140086" y="81340"/>
                </a:cubicBezTo>
                <a:lnTo>
                  <a:pt x="131048" y="81340"/>
                </a:lnTo>
                <a:cubicBezTo>
                  <a:pt x="128563" y="81340"/>
                  <a:pt x="126529" y="79307"/>
                  <a:pt x="126529" y="76821"/>
                </a:cubicBezTo>
                <a:lnTo>
                  <a:pt x="126529" y="67784"/>
                </a:lnTo>
                <a:cubicBezTo>
                  <a:pt x="126529" y="65298"/>
                  <a:pt x="128563" y="63265"/>
                  <a:pt x="131048" y="63265"/>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4927864" y="1916015"/>
            <a:ext cx="1084537"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39">
                <a:solidFill>
                  <a:srgbClr val="F8FAFC"/>
                </a:solidFill>
                <a:latin typeface="Arial"/>
                <a:ea typeface="Arial"/>
                <a:cs typeface="Arial"/>
                <a:sym typeface="Arial"/>
              </a:rPr>
              <a:t>Input Methods</a:t>
            </a:r>
            <a:endParaRPr sz="1600">
              <a:solidFill>
                <a:schemeClr val="dk1"/>
              </a:solidFill>
              <a:latin typeface="Calibri"/>
              <a:ea typeface="Calibri"/>
              <a:cs typeface="Calibri"/>
              <a:sym typeface="Calibri"/>
            </a:endParaRPr>
          </a:p>
        </p:txBody>
      </p:sp>
      <p:sp>
        <p:nvSpPr>
          <p:cNvPr id="197" name="Google Shape;197;p5"/>
          <p:cNvSpPr/>
          <p:nvPr/>
        </p:nvSpPr>
        <p:spPr>
          <a:xfrm>
            <a:off x="4674805" y="2205225"/>
            <a:ext cx="3795878" cy="1807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96">
                <a:solidFill>
                  <a:srgbClr val="94A3B8"/>
                </a:solidFill>
                <a:latin typeface="Arial"/>
                <a:ea typeface="Arial"/>
                <a:cs typeface="Arial"/>
                <a:sym typeface="Arial"/>
              </a:rPr>
              <a:t>Text commands (/phim, /rap) và chat tự do</a:t>
            </a:r>
            <a:endParaRPr sz="1600">
              <a:solidFill>
                <a:schemeClr val="dk1"/>
              </a:solidFill>
              <a:latin typeface="Calibri"/>
              <a:ea typeface="Calibri"/>
              <a:cs typeface="Calibri"/>
              <a:sym typeface="Calibri"/>
            </a:endParaRPr>
          </a:p>
        </p:txBody>
      </p:sp>
      <p:sp>
        <p:nvSpPr>
          <p:cNvPr id="198" name="Google Shape;198;p5"/>
          <p:cNvSpPr/>
          <p:nvPr/>
        </p:nvSpPr>
        <p:spPr>
          <a:xfrm>
            <a:off x="379588" y="2675191"/>
            <a:ext cx="8251517" cy="2657115"/>
          </a:xfrm>
          <a:custGeom>
            <a:rect b="b" l="l" r="r" t="t"/>
            <a:pathLst>
              <a:path extrusionOk="0" h="2657115" w="8251517">
                <a:moveTo>
                  <a:pt x="36151" y="0"/>
                </a:moveTo>
                <a:lnTo>
                  <a:pt x="8143053" y="0"/>
                </a:lnTo>
                <a:cubicBezTo>
                  <a:pt x="8202956" y="0"/>
                  <a:pt x="8251517" y="48561"/>
                  <a:pt x="8251517" y="108463"/>
                </a:cubicBezTo>
                <a:lnTo>
                  <a:pt x="8251517" y="2548651"/>
                </a:lnTo>
                <a:cubicBezTo>
                  <a:pt x="8251517" y="2608554"/>
                  <a:pt x="8202956" y="2657115"/>
                  <a:pt x="8143053" y="2657115"/>
                </a:cubicBezTo>
                <a:lnTo>
                  <a:pt x="36151" y="2657115"/>
                </a:lnTo>
                <a:cubicBezTo>
                  <a:pt x="16185" y="2657115"/>
                  <a:pt x="0" y="2640929"/>
                  <a:pt x="0" y="2620964"/>
                </a:cubicBezTo>
                <a:lnTo>
                  <a:pt x="0" y="36151"/>
                </a:lnTo>
                <a:cubicBezTo>
                  <a:pt x="0" y="16199"/>
                  <a:pt x="16199" y="0"/>
                  <a:pt x="36151" y="0"/>
                </a:cubicBezTo>
                <a:close/>
              </a:path>
            </a:pathLst>
          </a:custGeom>
          <a:gradFill>
            <a:gsLst>
              <a:gs pos="0">
                <a:srgbClr val="3B82F6">
                  <a:alpha val="20000"/>
                </a:srgbClr>
              </a:gs>
              <a:gs pos="100000">
                <a:srgbClr val="3B82F6">
                  <a:alpha val="4705"/>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379588" y="2675191"/>
            <a:ext cx="36151" cy="2657115"/>
          </a:xfrm>
          <a:custGeom>
            <a:rect b="b" l="l" r="r" t="t"/>
            <a:pathLst>
              <a:path extrusionOk="0" h="2657115" w="36151">
                <a:moveTo>
                  <a:pt x="36151" y="0"/>
                </a:moveTo>
                <a:lnTo>
                  <a:pt x="36151" y="0"/>
                </a:lnTo>
                <a:lnTo>
                  <a:pt x="36151" y="2657115"/>
                </a:lnTo>
                <a:lnTo>
                  <a:pt x="36151" y="2657115"/>
                </a:lnTo>
                <a:cubicBezTo>
                  <a:pt x="16185" y="2657115"/>
                  <a:pt x="0" y="2640929"/>
                  <a:pt x="0" y="2620964"/>
                </a:cubicBezTo>
                <a:lnTo>
                  <a:pt x="0" y="36151"/>
                </a:lnTo>
                <a:cubicBezTo>
                  <a:pt x="0" y="16199"/>
                  <a:pt x="16199" y="0"/>
                  <a:pt x="36151"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506117" y="2783644"/>
            <a:ext cx="361512" cy="361512"/>
          </a:xfrm>
          <a:custGeom>
            <a:rect b="b" l="l" r="r" t="t"/>
            <a:pathLst>
              <a:path extrusionOk="0" h="361512" w="361512">
                <a:moveTo>
                  <a:pt x="72302" y="0"/>
                </a:moveTo>
                <a:lnTo>
                  <a:pt x="289210" y="0"/>
                </a:lnTo>
                <a:cubicBezTo>
                  <a:pt x="329115" y="0"/>
                  <a:pt x="361512" y="32398"/>
                  <a:pt x="361512" y="72302"/>
                </a:cubicBezTo>
                <a:lnTo>
                  <a:pt x="361512" y="289210"/>
                </a:lnTo>
                <a:cubicBezTo>
                  <a:pt x="361512" y="329115"/>
                  <a:pt x="329115" y="361512"/>
                  <a:pt x="289210" y="361512"/>
                </a:cubicBezTo>
                <a:lnTo>
                  <a:pt x="72302" y="361512"/>
                </a:lnTo>
                <a:cubicBezTo>
                  <a:pt x="32398" y="361512"/>
                  <a:pt x="0" y="329115"/>
                  <a:pt x="0" y="289210"/>
                </a:cubicBezTo>
                <a:lnTo>
                  <a:pt x="0" y="72302"/>
                </a:lnTo>
                <a:cubicBezTo>
                  <a:pt x="0" y="32398"/>
                  <a:pt x="32398" y="0"/>
                  <a:pt x="72302" y="0"/>
                </a:cubicBezTo>
                <a:close/>
              </a:path>
            </a:pathLst>
          </a:custGeom>
          <a:solidFill>
            <a:srgbClr val="3B82F6">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633494" y="2837871"/>
            <a:ext cx="198832" cy="25305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423">
                <a:solidFill>
                  <a:srgbClr val="3B82F6"/>
                </a:solidFill>
                <a:latin typeface="Arial"/>
                <a:ea typeface="Arial"/>
                <a:cs typeface="Arial"/>
                <a:sym typeface="Arial"/>
              </a:rPr>
              <a:t>2</a:t>
            </a:r>
            <a:endParaRPr sz="1600">
              <a:solidFill>
                <a:schemeClr val="dk1"/>
              </a:solidFill>
              <a:latin typeface="Calibri"/>
              <a:ea typeface="Calibri"/>
              <a:cs typeface="Calibri"/>
              <a:sym typeface="Calibri"/>
            </a:endParaRPr>
          </a:p>
        </p:txBody>
      </p:sp>
      <p:sp>
        <p:nvSpPr>
          <p:cNvPr id="202" name="Google Shape;202;p5"/>
          <p:cNvSpPr/>
          <p:nvPr/>
        </p:nvSpPr>
        <p:spPr>
          <a:xfrm>
            <a:off x="976083" y="2837871"/>
            <a:ext cx="2684228" cy="25305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423">
                <a:solidFill>
                  <a:srgbClr val="F8FAFC"/>
                </a:solidFill>
                <a:latin typeface="Arial"/>
                <a:ea typeface="Arial"/>
                <a:cs typeface="Arial"/>
                <a:sym typeface="Arial"/>
              </a:rPr>
              <a:t>Lớp Điều phối (Orchestration)</a:t>
            </a:r>
            <a:endParaRPr sz="1600">
              <a:solidFill>
                <a:schemeClr val="dk1"/>
              </a:solidFill>
              <a:latin typeface="Calibri"/>
              <a:ea typeface="Calibri"/>
              <a:cs typeface="Calibri"/>
              <a:sym typeface="Calibri"/>
            </a:endParaRPr>
          </a:p>
        </p:txBody>
      </p:sp>
      <p:sp>
        <p:nvSpPr>
          <p:cNvPr id="203" name="Google Shape;203;p5"/>
          <p:cNvSpPr/>
          <p:nvPr/>
        </p:nvSpPr>
        <p:spPr>
          <a:xfrm>
            <a:off x="506117" y="3217459"/>
            <a:ext cx="8016534" cy="759176"/>
          </a:xfrm>
          <a:custGeom>
            <a:rect b="b" l="l" r="r" t="t"/>
            <a:pathLst>
              <a:path extrusionOk="0" h="759176" w="8016534">
                <a:moveTo>
                  <a:pt x="72304" y="0"/>
                </a:moveTo>
                <a:lnTo>
                  <a:pt x="7944230" y="0"/>
                </a:lnTo>
                <a:cubicBezTo>
                  <a:pt x="7984162" y="0"/>
                  <a:pt x="8016534" y="32372"/>
                  <a:pt x="8016534" y="72304"/>
                </a:cubicBezTo>
                <a:lnTo>
                  <a:pt x="8016534" y="686872"/>
                </a:lnTo>
                <a:cubicBezTo>
                  <a:pt x="8016534" y="726804"/>
                  <a:pt x="7984162" y="759176"/>
                  <a:pt x="7944230" y="759176"/>
                </a:cubicBezTo>
                <a:lnTo>
                  <a:pt x="72304" y="759176"/>
                </a:lnTo>
                <a:cubicBezTo>
                  <a:pt x="32398" y="759176"/>
                  <a:pt x="0" y="726777"/>
                  <a:pt x="0" y="686872"/>
                </a:cubicBezTo>
                <a:lnTo>
                  <a:pt x="0" y="72304"/>
                </a:lnTo>
                <a:cubicBezTo>
                  <a:pt x="0" y="32398"/>
                  <a:pt x="32398" y="0"/>
                  <a:pt x="72304"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ttps://kimi-web-img.moonshot.cn/img/cdn.hashnode.com/339641bfe78df3e42ed9c174b3830d9c9213ca9c.png" id="204" name="Google Shape;204;p5"/>
          <p:cNvPicPr preferRelativeResize="0"/>
          <p:nvPr/>
        </p:nvPicPr>
        <p:blipFill rotWithShape="1">
          <a:blip r:embed="rId3">
            <a:alphaModFix/>
          </a:blip>
          <a:srcRect b="0" l="15250" r="15250" t="0"/>
          <a:stretch/>
        </p:blipFill>
        <p:spPr>
          <a:xfrm>
            <a:off x="614571" y="3325913"/>
            <a:ext cx="289210" cy="289210"/>
          </a:xfrm>
          <a:prstGeom prst="roundRect">
            <a:avLst>
              <a:gd fmla="val 0" name="adj"/>
            </a:avLst>
          </a:prstGeom>
          <a:noFill/>
          <a:ln>
            <a:noFill/>
          </a:ln>
        </p:spPr>
      </p:pic>
      <p:sp>
        <p:nvSpPr>
          <p:cNvPr id="205" name="Google Shape;205;p5"/>
          <p:cNvSpPr/>
          <p:nvPr/>
        </p:nvSpPr>
        <p:spPr>
          <a:xfrm>
            <a:off x="1012234" y="3362064"/>
            <a:ext cx="1771410"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39">
                <a:solidFill>
                  <a:srgbClr val="F8FAFC"/>
                </a:solidFill>
                <a:latin typeface="Arial"/>
                <a:ea typeface="Arial"/>
                <a:cs typeface="Arial"/>
                <a:sym typeface="Arial"/>
              </a:rPr>
              <a:t>n8n Orchestration Layer</a:t>
            </a:r>
            <a:endParaRPr sz="1600">
              <a:solidFill>
                <a:schemeClr val="dk1"/>
              </a:solidFill>
              <a:latin typeface="Calibri"/>
              <a:ea typeface="Calibri"/>
              <a:cs typeface="Calibri"/>
              <a:sym typeface="Calibri"/>
            </a:endParaRPr>
          </a:p>
        </p:txBody>
      </p:sp>
      <p:sp>
        <p:nvSpPr>
          <p:cNvPr id="206" name="Google Shape;206;p5"/>
          <p:cNvSpPr/>
          <p:nvPr/>
        </p:nvSpPr>
        <p:spPr>
          <a:xfrm>
            <a:off x="640554" y="3714538"/>
            <a:ext cx="110713" cy="126529"/>
          </a:xfrm>
          <a:custGeom>
            <a:rect b="b" l="l" r="r" t="t"/>
            <a:pathLst>
              <a:path extrusionOk="0" h="126529" w="110713">
                <a:moveTo>
                  <a:pt x="83727" y="-2447"/>
                </a:moveTo>
                <a:cubicBezTo>
                  <a:pt x="86668" y="-321"/>
                  <a:pt x="87755" y="3534"/>
                  <a:pt x="86420" y="6895"/>
                </a:cubicBezTo>
                <a:lnTo>
                  <a:pt x="67046" y="55357"/>
                </a:lnTo>
                <a:lnTo>
                  <a:pt x="102805" y="55357"/>
                </a:lnTo>
                <a:cubicBezTo>
                  <a:pt x="106141" y="55357"/>
                  <a:pt x="109107" y="57432"/>
                  <a:pt x="110244" y="60571"/>
                </a:cubicBezTo>
                <a:cubicBezTo>
                  <a:pt x="111380" y="63709"/>
                  <a:pt x="110417" y="67219"/>
                  <a:pt x="107871" y="69344"/>
                </a:cubicBezTo>
                <a:lnTo>
                  <a:pt x="36698" y="128655"/>
                </a:lnTo>
                <a:cubicBezTo>
                  <a:pt x="33906" y="130978"/>
                  <a:pt x="29927" y="131101"/>
                  <a:pt x="26986" y="128976"/>
                </a:cubicBezTo>
                <a:cubicBezTo>
                  <a:pt x="24046" y="126851"/>
                  <a:pt x="22958" y="122995"/>
                  <a:pt x="24293" y="119634"/>
                </a:cubicBezTo>
                <a:lnTo>
                  <a:pt x="43667" y="71173"/>
                </a:lnTo>
                <a:lnTo>
                  <a:pt x="7908" y="71173"/>
                </a:lnTo>
                <a:cubicBezTo>
                  <a:pt x="4572" y="71173"/>
                  <a:pt x="1606" y="69097"/>
                  <a:pt x="470" y="65958"/>
                </a:cubicBezTo>
                <a:cubicBezTo>
                  <a:pt x="-667" y="62820"/>
                  <a:pt x="297" y="59311"/>
                  <a:pt x="2842" y="57185"/>
                </a:cubicBezTo>
                <a:lnTo>
                  <a:pt x="74015" y="-2125"/>
                </a:lnTo>
                <a:cubicBezTo>
                  <a:pt x="76807" y="-4448"/>
                  <a:pt x="80786" y="-4572"/>
                  <a:pt x="83727" y="-2447"/>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845035" y="3687425"/>
            <a:ext cx="1039348" cy="1807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96">
                <a:solidFill>
                  <a:srgbClr val="94A3B8"/>
                </a:solidFill>
                <a:latin typeface="Arial"/>
                <a:ea typeface="Arial"/>
                <a:cs typeface="Arial"/>
                <a:sym typeface="Arial"/>
              </a:rPr>
              <a:t>Telegram Trigger</a:t>
            </a:r>
            <a:endParaRPr sz="1600">
              <a:solidFill>
                <a:schemeClr val="dk1"/>
              </a:solidFill>
              <a:latin typeface="Calibri"/>
              <a:ea typeface="Calibri"/>
              <a:cs typeface="Calibri"/>
              <a:sym typeface="Calibri"/>
            </a:endParaRPr>
          </a:p>
        </p:txBody>
      </p:sp>
      <p:sp>
        <p:nvSpPr>
          <p:cNvPr id="208" name="Google Shape;208;p5"/>
          <p:cNvSpPr/>
          <p:nvPr/>
        </p:nvSpPr>
        <p:spPr>
          <a:xfrm>
            <a:off x="4566351" y="3714538"/>
            <a:ext cx="126529" cy="126529"/>
          </a:xfrm>
          <a:custGeom>
            <a:rect b="b" l="l" r="r" t="t"/>
            <a:pathLst>
              <a:path extrusionOk="0" h="126529" w="126529">
                <a:moveTo>
                  <a:pt x="99790" y="8501"/>
                </a:moveTo>
                <a:cubicBezTo>
                  <a:pt x="102756" y="7266"/>
                  <a:pt x="106141" y="7958"/>
                  <a:pt x="108415" y="10206"/>
                </a:cubicBezTo>
                <a:lnTo>
                  <a:pt x="124231" y="26023"/>
                </a:lnTo>
                <a:cubicBezTo>
                  <a:pt x="125714" y="27505"/>
                  <a:pt x="126554" y="29507"/>
                  <a:pt x="126554" y="31608"/>
                </a:cubicBezTo>
                <a:cubicBezTo>
                  <a:pt x="126554" y="33708"/>
                  <a:pt x="125714" y="35710"/>
                  <a:pt x="124231" y="37193"/>
                </a:cubicBezTo>
                <a:lnTo>
                  <a:pt x="108415" y="53009"/>
                </a:lnTo>
                <a:cubicBezTo>
                  <a:pt x="106141" y="55282"/>
                  <a:pt x="102756" y="55950"/>
                  <a:pt x="99790" y="54714"/>
                </a:cubicBezTo>
                <a:cubicBezTo>
                  <a:pt x="96825" y="53478"/>
                  <a:pt x="94897" y="50636"/>
                  <a:pt x="94897" y="47448"/>
                </a:cubicBezTo>
                <a:lnTo>
                  <a:pt x="94897" y="39540"/>
                </a:lnTo>
                <a:lnTo>
                  <a:pt x="86989" y="39540"/>
                </a:lnTo>
                <a:cubicBezTo>
                  <a:pt x="84493" y="39540"/>
                  <a:pt x="82145" y="40702"/>
                  <a:pt x="80662" y="42704"/>
                </a:cubicBezTo>
                <a:lnTo>
                  <a:pt x="72655" y="53380"/>
                </a:lnTo>
                <a:lnTo>
                  <a:pt x="62770" y="40208"/>
                </a:lnTo>
                <a:lnTo>
                  <a:pt x="68009" y="33214"/>
                </a:lnTo>
                <a:cubicBezTo>
                  <a:pt x="72482" y="27233"/>
                  <a:pt x="79526" y="23724"/>
                  <a:pt x="86989" y="23724"/>
                </a:cubicBezTo>
                <a:lnTo>
                  <a:pt x="94897" y="23724"/>
                </a:lnTo>
                <a:lnTo>
                  <a:pt x="94897" y="15816"/>
                </a:lnTo>
                <a:cubicBezTo>
                  <a:pt x="94897" y="12628"/>
                  <a:pt x="96825" y="9737"/>
                  <a:pt x="99790" y="8501"/>
                </a:cubicBezTo>
                <a:close/>
                <a:moveTo>
                  <a:pt x="38058" y="73150"/>
                </a:moveTo>
                <a:lnTo>
                  <a:pt x="47943" y="86322"/>
                </a:lnTo>
                <a:lnTo>
                  <a:pt x="42704" y="93315"/>
                </a:lnTo>
                <a:cubicBezTo>
                  <a:pt x="38231" y="99296"/>
                  <a:pt x="31187" y="102805"/>
                  <a:pt x="23724" y="102805"/>
                </a:cubicBezTo>
                <a:lnTo>
                  <a:pt x="7908" y="102805"/>
                </a:lnTo>
                <a:cubicBezTo>
                  <a:pt x="3534" y="102805"/>
                  <a:pt x="0" y="99271"/>
                  <a:pt x="0" y="94897"/>
                </a:cubicBezTo>
                <a:cubicBezTo>
                  <a:pt x="0" y="90523"/>
                  <a:pt x="3534" y="86989"/>
                  <a:pt x="7908" y="86989"/>
                </a:cubicBezTo>
                <a:lnTo>
                  <a:pt x="23724" y="86989"/>
                </a:lnTo>
                <a:cubicBezTo>
                  <a:pt x="26220" y="86989"/>
                  <a:pt x="28568" y="85827"/>
                  <a:pt x="30051" y="83826"/>
                </a:cubicBezTo>
                <a:lnTo>
                  <a:pt x="38058" y="73150"/>
                </a:lnTo>
                <a:close/>
                <a:moveTo>
                  <a:pt x="108390" y="116298"/>
                </a:moveTo>
                <a:cubicBezTo>
                  <a:pt x="106117" y="118572"/>
                  <a:pt x="102731" y="119239"/>
                  <a:pt x="99765" y="118003"/>
                </a:cubicBezTo>
                <a:cubicBezTo>
                  <a:pt x="96800" y="116768"/>
                  <a:pt x="94897" y="113901"/>
                  <a:pt x="94897" y="110713"/>
                </a:cubicBezTo>
                <a:lnTo>
                  <a:pt x="94897" y="102805"/>
                </a:lnTo>
                <a:lnTo>
                  <a:pt x="86989" y="102805"/>
                </a:lnTo>
                <a:cubicBezTo>
                  <a:pt x="79526" y="102805"/>
                  <a:pt x="72482" y="99296"/>
                  <a:pt x="68009" y="93315"/>
                </a:cubicBezTo>
                <a:lnTo>
                  <a:pt x="30051" y="42704"/>
                </a:lnTo>
                <a:cubicBezTo>
                  <a:pt x="28568" y="40702"/>
                  <a:pt x="26220" y="39540"/>
                  <a:pt x="23724" y="39540"/>
                </a:cubicBezTo>
                <a:lnTo>
                  <a:pt x="7908" y="39540"/>
                </a:lnTo>
                <a:cubicBezTo>
                  <a:pt x="3534" y="39540"/>
                  <a:pt x="0" y="36006"/>
                  <a:pt x="0" y="31632"/>
                </a:cubicBezTo>
                <a:cubicBezTo>
                  <a:pt x="0" y="27258"/>
                  <a:pt x="3534" y="23724"/>
                  <a:pt x="7908" y="23724"/>
                </a:cubicBezTo>
                <a:lnTo>
                  <a:pt x="23724" y="23724"/>
                </a:lnTo>
                <a:cubicBezTo>
                  <a:pt x="31187" y="23724"/>
                  <a:pt x="38231" y="27233"/>
                  <a:pt x="42704" y="33214"/>
                </a:cubicBezTo>
                <a:lnTo>
                  <a:pt x="80662" y="83826"/>
                </a:lnTo>
                <a:cubicBezTo>
                  <a:pt x="82145" y="85827"/>
                  <a:pt x="84493" y="86989"/>
                  <a:pt x="86989" y="86989"/>
                </a:cubicBezTo>
                <a:lnTo>
                  <a:pt x="94897" y="86989"/>
                </a:lnTo>
                <a:lnTo>
                  <a:pt x="94897" y="79081"/>
                </a:lnTo>
                <a:cubicBezTo>
                  <a:pt x="94897" y="75893"/>
                  <a:pt x="96825" y="73001"/>
                  <a:pt x="99790" y="71766"/>
                </a:cubicBezTo>
                <a:cubicBezTo>
                  <a:pt x="102756" y="70530"/>
                  <a:pt x="106141" y="71222"/>
                  <a:pt x="108415" y="73471"/>
                </a:cubicBezTo>
                <a:lnTo>
                  <a:pt x="124231" y="89287"/>
                </a:lnTo>
                <a:cubicBezTo>
                  <a:pt x="125714" y="90770"/>
                  <a:pt x="126554" y="92772"/>
                  <a:pt x="126554" y="94872"/>
                </a:cubicBezTo>
                <a:cubicBezTo>
                  <a:pt x="126554" y="96973"/>
                  <a:pt x="125714" y="98975"/>
                  <a:pt x="124231" y="100457"/>
                </a:cubicBezTo>
                <a:lnTo>
                  <a:pt x="108415" y="116273"/>
                </a:ln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4778740" y="3687425"/>
            <a:ext cx="795327" cy="1807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96">
                <a:solidFill>
                  <a:srgbClr val="94A3B8"/>
                </a:solidFill>
                <a:latin typeface="Arial"/>
                <a:ea typeface="Arial"/>
                <a:cs typeface="Arial"/>
                <a:sym typeface="Arial"/>
              </a:rPr>
              <a:t>Switch Node</a:t>
            </a:r>
            <a:endParaRPr sz="1600">
              <a:solidFill>
                <a:schemeClr val="dk1"/>
              </a:solidFill>
              <a:latin typeface="Calibri"/>
              <a:ea typeface="Calibri"/>
              <a:cs typeface="Calibri"/>
              <a:sym typeface="Calibri"/>
            </a:endParaRPr>
          </a:p>
        </p:txBody>
      </p:sp>
      <p:sp>
        <p:nvSpPr>
          <p:cNvPr id="210" name="Google Shape;210;p5"/>
          <p:cNvSpPr/>
          <p:nvPr/>
        </p:nvSpPr>
        <p:spPr>
          <a:xfrm>
            <a:off x="510636" y="4089607"/>
            <a:ext cx="3940483" cy="1129726"/>
          </a:xfrm>
          <a:custGeom>
            <a:rect b="b" l="l" r="r" t="t"/>
            <a:pathLst>
              <a:path extrusionOk="0" h="1129726" w="3940483">
                <a:moveTo>
                  <a:pt x="72302" y="0"/>
                </a:moveTo>
                <a:lnTo>
                  <a:pt x="3868181" y="0"/>
                </a:lnTo>
                <a:cubicBezTo>
                  <a:pt x="3908112" y="0"/>
                  <a:pt x="3940483" y="32371"/>
                  <a:pt x="3940483" y="72302"/>
                </a:cubicBezTo>
                <a:lnTo>
                  <a:pt x="3940483" y="1057423"/>
                </a:lnTo>
                <a:cubicBezTo>
                  <a:pt x="3940483" y="1097355"/>
                  <a:pt x="3908112" y="1129726"/>
                  <a:pt x="3868181" y="1129726"/>
                </a:cubicBezTo>
                <a:lnTo>
                  <a:pt x="72302" y="1129726"/>
                </a:lnTo>
                <a:cubicBezTo>
                  <a:pt x="32371" y="1129726"/>
                  <a:pt x="0" y="1097355"/>
                  <a:pt x="0" y="1057423"/>
                </a:cubicBezTo>
                <a:lnTo>
                  <a:pt x="0" y="72302"/>
                </a:lnTo>
                <a:cubicBezTo>
                  <a:pt x="0" y="32398"/>
                  <a:pt x="32398" y="0"/>
                  <a:pt x="72302" y="0"/>
                </a:cubicBezTo>
                <a:close/>
              </a:path>
            </a:pathLst>
          </a:custGeom>
          <a:solidFill>
            <a:srgbClr val="0F172A"/>
          </a:solidFill>
          <a:ln cap="flat" cmpd="sng" w="12700">
            <a:solidFill>
              <a:srgbClr val="06B6D4">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650722" y="4220655"/>
            <a:ext cx="126529" cy="144605"/>
          </a:xfrm>
          <a:custGeom>
            <a:rect b="b" l="l" r="r" t="t"/>
            <a:pathLst>
              <a:path extrusionOk="0" h="144605" w="126529">
                <a:moveTo>
                  <a:pt x="0" y="27113"/>
                </a:moveTo>
                <a:cubicBezTo>
                  <a:pt x="0" y="17144"/>
                  <a:pt x="8106" y="9038"/>
                  <a:pt x="18076" y="9038"/>
                </a:cubicBezTo>
                <a:lnTo>
                  <a:pt x="108454" y="9038"/>
                </a:lnTo>
                <a:cubicBezTo>
                  <a:pt x="118423" y="9038"/>
                  <a:pt x="126529" y="17144"/>
                  <a:pt x="126529" y="27113"/>
                </a:cubicBezTo>
                <a:lnTo>
                  <a:pt x="126529" y="117491"/>
                </a:lnTo>
                <a:cubicBezTo>
                  <a:pt x="126529" y="127461"/>
                  <a:pt x="118423" y="135567"/>
                  <a:pt x="108454" y="135567"/>
                </a:cubicBezTo>
                <a:lnTo>
                  <a:pt x="18076" y="135567"/>
                </a:lnTo>
                <a:cubicBezTo>
                  <a:pt x="8106" y="135567"/>
                  <a:pt x="0" y="127461"/>
                  <a:pt x="0" y="117491"/>
                </a:cubicBezTo>
                <a:lnTo>
                  <a:pt x="0" y="27113"/>
                </a:lnTo>
                <a:close/>
                <a:moveTo>
                  <a:pt x="13557" y="103935"/>
                </a:moveTo>
                <a:lnTo>
                  <a:pt x="13557" y="112973"/>
                </a:lnTo>
                <a:cubicBezTo>
                  <a:pt x="13557" y="115458"/>
                  <a:pt x="15590" y="117491"/>
                  <a:pt x="18076" y="117491"/>
                </a:cubicBezTo>
                <a:lnTo>
                  <a:pt x="27113" y="117491"/>
                </a:lnTo>
                <a:cubicBezTo>
                  <a:pt x="29599" y="117491"/>
                  <a:pt x="31632" y="115458"/>
                  <a:pt x="31632" y="112973"/>
                </a:cubicBezTo>
                <a:lnTo>
                  <a:pt x="31632" y="103935"/>
                </a:lnTo>
                <a:cubicBezTo>
                  <a:pt x="31632" y="101449"/>
                  <a:pt x="29599" y="99416"/>
                  <a:pt x="27113" y="99416"/>
                </a:cubicBezTo>
                <a:lnTo>
                  <a:pt x="18076" y="99416"/>
                </a:lnTo>
                <a:cubicBezTo>
                  <a:pt x="15590" y="99416"/>
                  <a:pt x="13557" y="101449"/>
                  <a:pt x="13557" y="103935"/>
                </a:cubicBezTo>
                <a:close/>
                <a:moveTo>
                  <a:pt x="99416" y="99416"/>
                </a:moveTo>
                <a:cubicBezTo>
                  <a:pt x="96930" y="99416"/>
                  <a:pt x="94897" y="101449"/>
                  <a:pt x="94897" y="103935"/>
                </a:cubicBezTo>
                <a:lnTo>
                  <a:pt x="94897" y="112973"/>
                </a:lnTo>
                <a:cubicBezTo>
                  <a:pt x="94897" y="115458"/>
                  <a:pt x="96930" y="117491"/>
                  <a:pt x="99416" y="117491"/>
                </a:cubicBezTo>
                <a:lnTo>
                  <a:pt x="108454" y="117491"/>
                </a:lnTo>
                <a:cubicBezTo>
                  <a:pt x="110939" y="117491"/>
                  <a:pt x="112973" y="115458"/>
                  <a:pt x="112973" y="112973"/>
                </a:cubicBezTo>
                <a:lnTo>
                  <a:pt x="112973" y="103935"/>
                </a:lnTo>
                <a:cubicBezTo>
                  <a:pt x="112973" y="101449"/>
                  <a:pt x="110939" y="99416"/>
                  <a:pt x="108454" y="99416"/>
                </a:cubicBezTo>
                <a:lnTo>
                  <a:pt x="99416" y="99416"/>
                </a:lnTo>
                <a:close/>
                <a:moveTo>
                  <a:pt x="13557" y="67784"/>
                </a:moveTo>
                <a:lnTo>
                  <a:pt x="13557" y="76821"/>
                </a:lnTo>
                <a:cubicBezTo>
                  <a:pt x="13557" y="79307"/>
                  <a:pt x="15590" y="81340"/>
                  <a:pt x="18076" y="81340"/>
                </a:cubicBezTo>
                <a:lnTo>
                  <a:pt x="27113" y="81340"/>
                </a:lnTo>
                <a:cubicBezTo>
                  <a:pt x="29599" y="81340"/>
                  <a:pt x="31632" y="79307"/>
                  <a:pt x="31632" y="76821"/>
                </a:cubicBezTo>
                <a:lnTo>
                  <a:pt x="31632" y="67784"/>
                </a:lnTo>
                <a:cubicBezTo>
                  <a:pt x="31632" y="65298"/>
                  <a:pt x="29599" y="63265"/>
                  <a:pt x="27113" y="63265"/>
                </a:cubicBezTo>
                <a:lnTo>
                  <a:pt x="18076" y="63265"/>
                </a:lnTo>
                <a:cubicBezTo>
                  <a:pt x="15590" y="63265"/>
                  <a:pt x="13557" y="65298"/>
                  <a:pt x="13557" y="67784"/>
                </a:cubicBezTo>
                <a:close/>
                <a:moveTo>
                  <a:pt x="99416" y="63265"/>
                </a:moveTo>
                <a:cubicBezTo>
                  <a:pt x="96930" y="63265"/>
                  <a:pt x="94897" y="65298"/>
                  <a:pt x="94897" y="67784"/>
                </a:cubicBezTo>
                <a:lnTo>
                  <a:pt x="94897" y="76821"/>
                </a:lnTo>
                <a:cubicBezTo>
                  <a:pt x="94897" y="79307"/>
                  <a:pt x="96930" y="81340"/>
                  <a:pt x="99416" y="81340"/>
                </a:cubicBezTo>
                <a:lnTo>
                  <a:pt x="108454" y="81340"/>
                </a:lnTo>
                <a:cubicBezTo>
                  <a:pt x="110939" y="81340"/>
                  <a:pt x="112973" y="79307"/>
                  <a:pt x="112973" y="76821"/>
                </a:cubicBezTo>
                <a:lnTo>
                  <a:pt x="112973" y="67784"/>
                </a:lnTo>
                <a:cubicBezTo>
                  <a:pt x="112973" y="65298"/>
                  <a:pt x="110939" y="63265"/>
                  <a:pt x="108454" y="63265"/>
                </a:cubicBezTo>
                <a:lnTo>
                  <a:pt x="99416" y="63265"/>
                </a:lnTo>
                <a:close/>
                <a:moveTo>
                  <a:pt x="13557" y="31632"/>
                </a:moveTo>
                <a:lnTo>
                  <a:pt x="13557" y="40670"/>
                </a:lnTo>
                <a:cubicBezTo>
                  <a:pt x="13557" y="43156"/>
                  <a:pt x="15590" y="45189"/>
                  <a:pt x="18076" y="45189"/>
                </a:cubicBezTo>
                <a:lnTo>
                  <a:pt x="27113" y="45189"/>
                </a:lnTo>
                <a:cubicBezTo>
                  <a:pt x="29599" y="45189"/>
                  <a:pt x="31632" y="43156"/>
                  <a:pt x="31632" y="40670"/>
                </a:cubicBezTo>
                <a:lnTo>
                  <a:pt x="31632" y="31632"/>
                </a:lnTo>
                <a:cubicBezTo>
                  <a:pt x="31632" y="29147"/>
                  <a:pt x="29599" y="27113"/>
                  <a:pt x="27113" y="27113"/>
                </a:cubicBezTo>
                <a:lnTo>
                  <a:pt x="18076" y="27113"/>
                </a:lnTo>
                <a:cubicBezTo>
                  <a:pt x="15590" y="27113"/>
                  <a:pt x="13557" y="29147"/>
                  <a:pt x="13557" y="31632"/>
                </a:cubicBezTo>
                <a:close/>
                <a:moveTo>
                  <a:pt x="99416" y="27113"/>
                </a:moveTo>
                <a:cubicBezTo>
                  <a:pt x="96930" y="27113"/>
                  <a:pt x="94897" y="29147"/>
                  <a:pt x="94897" y="31632"/>
                </a:cubicBezTo>
                <a:lnTo>
                  <a:pt x="94897" y="40670"/>
                </a:lnTo>
                <a:cubicBezTo>
                  <a:pt x="94897" y="43156"/>
                  <a:pt x="96930" y="45189"/>
                  <a:pt x="99416" y="45189"/>
                </a:cubicBezTo>
                <a:lnTo>
                  <a:pt x="108454" y="45189"/>
                </a:lnTo>
                <a:cubicBezTo>
                  <a:pt x="110939" y="45189"/>
                  <a:pt x="112973" y="43156"/>
                  <a:pt x="112973" y="40670"/>
                </a:cubicBezTo>
                <a:lnTo>
                  <a:pt x="112973" y="31632"/>
                </a:lnTo>
                <a:cubicBezTo>
                  <a:pt x="112973" y="29147"/>
                  <a:pt x="110939" y="27113"/>
                  <a:pt x="108454" y="27113"/>
                </a:cubicBezTo>
                <a:lnTo>
                  <a:pt x="99416" y="27113"/>
                </a:ln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876667" y="4202580"/>
            <a:ext cx="840516" cy="1807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996">
                <a:solidFill>
                  <a:srgbClr val="F8FAFC"/>
                </a:solidFill>
                <a:latin typeface="Arial"/>
                <a:ea typeface="Arial"/>
                <a:cs typeface="Arial"/>
                <a:sym typeface="Arial"/>
              </a:rPr>
              <a:t>Luồng /phim</a:t>
            </a:r>
            <a:endParaRPr sz="1600">
              <a:solidFill>
                <a:schemeClr val="dk1"/>
              </a:solidFill>
              <a:latin typeface="Calibri"/>
              <a:ea typeface="Calibri"/>
              <a:cs typeface="Calibri"/>
              <a:sym typeface="Calibri"/>
            </a:endParaRPr>
          </a:p>
        </p:txBody>
      </p:sp>
      <p:sp>
        <p:nvSpPr>
          <p:cNvPr id="213" name="Google Shape;213;p5"/>
          <p:cNvSpPr/>
          <p:nvPr/>
        </p:nvSpPr>
        <p:spPr>
          <a:xfrm>
            <a:off x="623609" y="4455638"/>
            <a:ext cx="3768765" cy="135567"/>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54">
                <a:solidFill>
                  <a:srgbClr val="94A3B8"/>
                </a:solidFill>
                <a:latin typeface="Arial"/>
                <a:ea typeface="Arial"/>
                <a:cs typeface="Arial"/>
                <a:sym typeface="Arial"/>
              </a:rPr>
              <a:t>→ HTTP Request</a:t>
            </a:r>
            <a:endParaRPr sz="1600">
              <a:solidFill>
                <a:schemeClr val="dk1"/>
              </a:solidFill>
              <a:latin typeface="Calibri"/>
              <a:ea typeface="Calibri"/>
              <a:cs typeface="Calibri"/>
              <a:sym typeface="Calibri"/>
            </a:endParaRPr>
          </a:p>
        </p:txBody>
      </p:sp>
      <p:sp>
        <p:nvSpPr>
          <p:cNvPr id="214" name="Google Shape;214;p5"/>
          <p:cNvSpPr/>
          <p:nvPr/>
        </p:nvSpPr>
        <p:spPr>
          <a:xfrm>
            <a:off x="623609" y="4627357"/>
            <a:ext cx="3768765" cy="135567"/>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54">
                <a:solidFill>
                  <a:srgbClr val="94A3B8"/>
                </a:solidFill>
                <a:latin typeface="Arial"/>
                <a:ea typeface="Arial"/>
                <a:cs typeface="Arial"/>
                <a:sym typeface="Arial"/>
              </a:rPr>
              <a:t>→ TMDB API</a:t>
            </a:r>
            <a:endParaRPr sz="1600">
              <a:solidFill>
                <a:schemeClr val="dk1"/>
              </a:solidFill>
              <a:latin typeface="Calibri"/>
              <a:ea typeface="Calibri"/>
              <a:cs typeface="Calibri"/>
              <a:sym typeface="Calibri"/>
            </a:endParaRPr>
          </a:p>
        </p:txBody>
      </p:sp>
      <p:sp>
        <p:nvSpPr>
          <p:cNvPr id="215" name="Google Shape;215;p5"/>
          <p:cNvSpPr/>
          <p:nvPr/>
        </p:nvSpPr>
        <p:spPr>
          <a:xfrm>
            <a:off x="623609" y="4799075"/>
            <a:ext cx="3768765" cy="135567"/>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54">
                <a:solidFill>
                  <a:srgbClr val="94A3B8"/>
                </a:solidFill>
                <a:latin typeface="Arial"/>
                <a:ea typeface="Arial"/>
                <a:cs typeface="Arial"/>
                <a:sym typeface="Arial"/>
              </a:rPr>
              <a:t>→ Code Node lọc</a:t>
            </a:r>
            <a:endParaRPr sz="1600">
              <a:solidFill>
                <a:schemeClr val="dk1"/>
              </a:solidFill>
              <a:latin typeface="Calibri"/>
              <a:ea typeface="Calibri"/>
              <a:cs typeface="Calibri"/>
              <a:sym typeface="Calibri"/>
            </a:endParaRPr>
          </a:p>
        </p:txBody>
      </p:sp>
      <p:sp>
        <p:nvSpPr>
          <p:cNvPr id="216" name="Google Shape;216;p5"/>
          <p:cNvSpPr/>
          <p:nvPr/>
        </p:nvSpPr>
        <p:spPr>
          <a:xfrm>
            <a:off x="623609" y="4970793"/>
            <a:ext cx="3768765" cy="135567"/>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54">
                <a:solidFill>
                  <a:srgbClr val="94A3B8"/>
                </a:solidFill>
                <a:latin typeface="Arial"/>
                <a:ea typeface="Arial"/>
                <a:cs typeface="Arial"/>
                <a:sym typeface="Arial"/>
              </a:rPr>
              <a:t>→ Trả kết quả</a:t>
            </a:r>
            <a:endParaRPr sz="1600">
              <a:solidFill>
                <a:schemeClr val="dk1"/>
              </a:solidFill>
              <a:latin typeface="Calibri"/>
              <a:ea typeface="Calibri"/>
              <a:cs typeface="Calibri"/>
              <a:sym typeface="Calibri"/>
            </a:endParaRPr>
          </a:p>
        </p:txBody>
      </p:sp>
      <p:sp>
        <p:nvSpPr>
          <p:cNvPr id="217" name="Google Shape;217;p5"/>
          <p:cNvSpPr/>
          <p:nvPr/>
        </p:nvSpPr>
        <p:spPr>
          <a:xfrm>
            <a:off x="4570870" y="4089607"/>
            <a:ext cx="3940483" cy="1129726"/>
          </a:xfrm>
          <a:custGeom>
            <a:rect b="b" l="l" r="r" t="t"/>
            <a:pathLst>
              <a:path extrusionOk="0" h="1129726" w="3940483">
                <a:moveTo>
                  <a:pt x="72302" y="0"/>
                </a:moveTo>
                <a:lnTo>
                  <a:pt x="3868181" y="0"/>
                </a:lnTo>
                <a:cubicBezTo>
                  <a:pt x="3908112" y="0"/>
                  <a:pt x="3940483" y="32371"/>
                  <a:pt x="3940483" y="72302"/>
                </a:cubicBezTo>
                <a:lnTo>
                  <a:pt x="3940483" y="1057423"/>
                </a:lnTo>
                <a:cubicBezTo>
                  <a:pt x="3940483" y="1097355"/>
                  <a:pt x="3908112" y="1129726"/>
                  <a:pt x="3868181" y="1129726"/>
                </a:cubicBezTo>
                <a:lnTo>
                  <a:pt x="72302" y="1129726"/>
                </a:lnTo>
                <a:cubicBezTo>
                  <a:pt x="32371" y="1129726"/>
                  <a:pt x="0" y="1097355"/>
                  <a:pt x="0" y="1057423"/>
                </a:cubicBezTo>
                <a:lnTo>
                  <a:pt x="0" y="72302"/>
                </a:lnTo>
                <a:cubicBezTo>
                  <a:pt x="0" y="32398"/>
                  <a:pt x="32398" y="0"/>
                  <a:pt x="72302" y="0"/>
                </a:cubicBezTo>
                <a:close/>
              </a:path>
            </a:pathLst>
          </a:custGeom>
          <a:solidFill>
            <a:srgbClr val="0F172A"/>
          </a:solidFill>
          <a:ln cap="flat" cmpd="sng" w="12700">
            <a:solidFill>
              <a:srgbClr val="8B5CF6">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4692881" y="4220655"/>
            <a:ext cx="162681" cy="144605"/>
          </a:xfrm>
          <a:custGeom>
            <a:rect b="b" l="l" r="r" t="t"/>
            <a:pathLst>
              <a:path extrusionOk="0" h="144605" w="162681">
                <a:moveTo>
                  <a:pt x="108454" y="40670"/>
                </a:moveTo>
                <a:cubicBezTo>
                  <a:pt x="108454" y="68122"/>
                  <a:pt x="84165" y="90378"/>
                  <a:pt x="54227" y="90378"/>
                </a:cubicBezTo>
                <a:cubicBezTo>
                  <a:pt x="46686" y="90378"/>
                  <a:pt x="39512" y="88966"/>
                  <a:pt x="32988" y="86424"/>
                </a:cubicBezTo>
                <a:lnTo>
                  <a:pt x="9942" y="98625"/>
                </a:lnTo>
                <a:cubicBezTo>
                  <a:pt x="7315" y="100009"/>
                  <a:pt x="4095" y="99529"/>
                  <a:pt x="1977" y="97439"/>
                </a:cubicBezTo>
                <a:cubicBezTo>
                  <a:pt x="-141" y="95349"/>
                  <a:pt x="-621" y="92101"/>
                  <a:pt x="791" y="89474"/>
                </a:cubicBezTo>
                <a:lnTo>
                  <a:pt x="10845" y="70495"/>
                </a:lnTo>
                <a:cubicBezTo>
                  <a:pt x="4039" y="62191"/>
                  <a:pt x="0" y="51854"/>
                  <a:pt x="0" y="40670"/>
                </a:cubicBezTo>
                <a:cubicBezTo>
                  <a:pt x="0" y="13218"/>
                  <a:pt x="24289" y="-9038"/>
                  <a:pt x="54227" y="-9038"/>
                </a:cubicBezTo>
                <a:cubicBezTo>
                  <a:pt x="84165" y="-9038"/>
                  <a:pt x="108454" y="13218"/>
                  <a:pt x="108454" y="40670"/>
                </a:cubicBezTo>
                <a:close/>
                <a:moveTo>
                  <a:pt x="108454" y="144605"/>
                </a:moveTo>
                <a:cubicBezTo>
                  <a:pt x="81877" y="144605"/>
                  <a:pt x="59762" y="127066"/>
                  <a:pt x="55131" y="103935"/>
                </a:cubicBezTo>
                <a:cubicBezTo>
                  <a:pt x="89022" y="103511"/>
                  <a:pt x="118480" y="79391"/>
                  <a:pt x="121728" y="46686"/>
                </a:cubicBezTo>
                <a:cubicBezTo>
                  <a:pt x="145254" y="52109"/>
                  <a:pt x="162681" y="71625"/>
                  <a:pt x="162681" y="94897"/>
                </a:cubicBezTo>
                <a:cubicBezTo>
                  <a:pt x="162681" y="106081"/>
                  <a:pt x="158642" y="116418"/>
                  <a:pt x="151835" y="124722"/>
                </a:cubicBezTo>
                <a:lnTo>
                  <a:pt x="161890" y="143701"/>
                </a:lnTo>
                <a:cubicBezTo>
                  <a:pt x="163274" y="146328"/>
                  <a:pt x="162793" y="149547"/>
                  <a:pt x="160703" y="151666"/>
                </a:cubicBezTo>
                <a:cubicBezTo>
                  <a:pt x="158613" y="153784"/>
                  <a:pt x="155366" y="154264"/>
                  <a:pt x="152739" y="152852"/>
                </a:cubicBezTo>
                <a:lnTo>
                  <a:pt x="129693" y="140651"/>
                </a:lnTo>
                <a:cubicBezTo>
                  <a:pt x="123168" y="143193"/>
                  <a:pt x="115995" y="144605"/>
                  <a:pt x="108454" y="144605"/>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4936901" y="4202580"/>
            <a:ext cx="777251" cy="1807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996">
                <a:solidFill>
                  <a:srgbClr val="F8FAFC"/>
                </a:solidFill>
                <a:latin typeface="Arial"/>
                <a:ea typeface="Arial"/>
                <a:cs typeface="Arial"/>
                <a:sym typeface="Arial"/>
              </a:rPr>
              <a:t>Luồng Chat</a:t>
            </a:r>
            <a:endParaRPr sz="1600">
              <a:solidFill>
                <a:schemeClr val="dk1"/>
              </a:solidFill>
              <a:latin typeface="Calibri"/>
              <a:ea typeface="Calibri"/>
              <a:cs typeface="Calibri"/>
              <a:sym typeface="Calibri"/>
            </a:endParaRPr>
          </a:p>
        </p:txBody>
      </p:sp>
      <p:sp>
        <p:nvSpPr>
          <p:cNvPr id="220" name="Google Shape;220;p5"/>
          <p:cNvSpPr/>
          <p:nvPr/>
        </p:nvSpPr>
        <p:spPr>
          <a:xfrm>
            <a:off x="4683843" y="4455638"/>
            <a:ext cx="3768765" cy="135567"/>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54">
                <a:solidFill>
                  <a:srgbClr val="94A3B8"/>
                </a:solidFill>
                <a:latin typeface="Arial"/>
                <a:ea typeface="Arial"/>
                <a:cs typeface="Arial"/>
                <a:sym typeface="Arial"/>
              </a:rPr>
              <a:t>→ Basic LLM Chain</a:t>
            </a:r>
            <a:endParaRPr sz="1600">
              <a:solidFill>
                <a:schemeClr val="dk1"/>
              </a:solidFill>
              <a:latin typeface="Calibri"/>
              <a:ea typeface="Calibri"/>
              <a:cs typeface="Calibri"/>
              <a:sym typeface="Calibri"/>
            </a:endParaRPr>
          </a:p>
        </p:txBody>
      </p:sp>
      <p:sp>
        <p:nvSpPr>
          <p:cNvPr id="221" name="Google Shape;221;p5"/>
          <p:cNvSpPr/>
          <p:nvPr/>
        </p:nvSpPr>
        <p:spPr>
          <a:xfrm>
            <a:off x="4683843" y="4627357"/>
            <a:ext cx="3768765" cy="135567"/>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54">
                <a:solidFill>
                  <a:srgbClr val="94A3B8"/>
                </a:solidFill>
                <a:latin typeface="Arial"/>
                <a:ea typeface="Arial"/>
                <a:cs typeface="Arial"/>
                <a:sym typeface="Arial"/>
              </a:rPr>
              <a:t>→ Gemini API</a:t>
            </a:r>
            <a:endParaRPr sz="1600">
              <a:solidFill>
                <a:schemeClr val="dk1"/>
              </a:solidFill>
              <a:latin typeface="Calibri"/>
              <a:ea typeface="Calibri"/>
              <a:cs typeface="Calibri"/>
              <a:sym typeface="Calibri"/>
            </a:endParaRPr>
          </a:p>
        </p:txBody>
      </p:sp>
      <p:sp>
        <p:nvSpPr>
          <p:cNvPr id="222" name="Google Shape;222;p5"/>
          <p:cNvSpPr/>
          <p:nvPr/>
        </p:nvSpPr>
        <p:spPr>
          <a:xfrm>
            <a:off x="4683843" y="4799075"/>
            <a:ext cx="3768765" cy="135567"/>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54">
                <a:solidFill>
                  <a:srgbClr val="94A3B8"/>
                </a:solidFill>
                <a:latin typeface="Arial"/>
                <a:ea typeface="Arial"/>
                <a:cs typeface="Arial"/>
                <a:sym typeface="Arial"/>
              </a:rPr>
              <a:t>→ Sinh câu trả lời</a:t>
            </a:r>
            <a:endParaRPr sz="1600">
              <a:solidFill>
                <a:schemeClr val="dk1"/>
              </a:solidFill>
              <a:latin typeface="Calibri"/>
              <a:ea typeface="Calibri"/>
              <a:cs typeface="Calibri"/>
              <a:sym typeface="Calibri"/>
            </a:endParaRPr>
          </a:p>
        </p:txBody>
      </p:sp>
      <p:sp>
        <p:nvSpPr>
          <p:cNvPr id="223" name="Google Shape;223;p5"/>
          <p:cNvSpPr/>
          <p:nvPr/>
        </p:nvSpPr>
        <p:spPr>
          <a:xfrm>
            <a:off x="4683843" y="4970793"/>
            <a:ext cx="3768765" cy="135567"/>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54">
                <a:solidFill>
                  <a:srgbClr val="94A3B8"/>
                </a:solidFill>
                <a:latin typeface="Arial"/>
                <a:ea typeface="Arial"/>
                <a:cs typeface="Arial"/>
                <a:sym typeface="Arial"/>
              </a:rPr>
              <a:t>→ Trả phản hồi</a:t>
            </a:r>
            <a:endParaRPr sz="1600">
              <a:solidFill>
                <a:schemeClr val="dk1"/>
              </a:solidFill>
              <a:latin typeface="Calibri"/>
              <a:ea typeface="Calibri"/>
              <a:cs typeface="Calibri"/>
              <a:sym typeface="Calibri"/>
            </a:endParaRPr>
          </a:p>
        </p:txBody>
      </p:sp>
      <p:sp>
        <p:nvSpPr>
          <p:cNvPr id="224" name="Google Shape;224;p5"/>
          <p:cNvSpPr/>
          <p:nvPr/>
        </p:nvSpPr>
        <p:spPr>
          <a:xfrm>
            <a:off x="379588" y="5404608"/>
            <a:ext cx="8251517" cy="1455087"/>
          </a:xfrm>
          <a:custGeom>
            <a:rect b="b" l="l" r="r" t="t"/>
            <a:pathLst>
              <a:path extrusionOk="0" h="1455087" w="8251517">
                <a:moveTo>
                  <a:pt x="36151" y="0"/>
                </a:moveTo>
                <a:lnTo>
                  <a:pt x="8143069" y="0"/>
                </a:lnTo>
                <a:cubicBezTo>
                  <a:pt x="8202963" y="0"/>
                  <a:pt x="8251517" y="48554"/>
                  <a:pt x="8251517" y="108448"/>
                </a:cubicBezTo>
                <a:lnTo>
                  <a:pt x="8251517" y="1346639"/>
                </a:lnTo>
                <a:cubicBezTo>
                  <a:pt x="8251517" y="1406533"/>
                  <a:pt x="8202963" y="1455087"/>
                  <a:pt x="8143069" y="1455087"/>
                </a:cubicBezTo>
                <a:lnTo>
                  <a:pt x="36151" y="1455087"/>
                </a:lnTo>
                <a:cubicBezTo>
                  <a:pt x="16185" y="1455087"/>
                  <a:pt x="0" y="1438901"/>
                  <a:pt x="0" y="1418936"/>
                </a:cubicBezTo>
                <a:lnTo>
                  <a:pt x="0" y="36151"/>
                </a:lnTo>
                <a:cubicBezTo>
                  <a:pt x="0" y="16199"/>
                  <a:pt x="16199" y="0"/>
                  <a:pt x="36151" y="0"/>
                </a:cubicBezTo>
                <a:close/>
              </a:path>
            </a:pathLst>
          </a:custGeom>
          <a:gradFill>
            <a:gsLst>
              <a:gs pos="0">
                <a:srgbClr val="8B5CF6">
                  <a:alpha val="20000"/>
                </a:srgbClr>
              </a:gs>
              <a:gs pos="100000">
                <a:srgbClr val="8B5CF6">
                  <a:alpha val="4705"/>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379588" y="5404608"/>
            <a:ext cx="36151" cy="1455087"/>
          </a:xfrm>
          <a:custGeom>
            <a:rect b="b" l="l" r="r" t="t"/>
            <a:pathLst>
              <a:path extrusionOk="0" h="1455087" w="36151">
                <a:moveTo>
                  <a:pt x="36151" y="0"/>
                </a:moveTo>
                <a:lnTo>
                  <a:pt x="36151" y="0"/>
                </a:lnTo>
                <a:lnTo>
                  <a:pt x="36151" y="1455087"/>
                </a:lnTo>
                <a:lnTo>
                  <a:pt x="36151" y="1455087"/>
                </a:lnTo>
                <a:cubicBezTo>
                  <a:pt x="16185" y="1455087"/>
                  <a:pt x="0" y="1438901"/>
                  <a:pt x="0" y="1418936"/>
                </a:cubicBezTo>
                <a:lnTo>
                  <a:pt x="0" y="36151"/>
                </a:lnTo>
                <a:cubicBezTo>
                  <a:pt x="0" y="16199"/>
                  <a:pt x="16199" y="0"/>
                  <a:pt x="36151"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506117" y="5513062"/>
            <a:ext cx="361512" cy="361512"/>
          </a:xfrm>
          <a:custGeom>
            <a:rect b="b" l="l" r="r" t="t"/>
            <a:pathLst>
              <a:path extrusionOk="0" h="361512" w="361512">
                <a:moveTo>
                  <a:pt x="72302" y="0"/>
                </a:moveTo>
                <a:lnTo>
                  <a:pt x="289210" y="0"/>
                </a:lnTo>
                <a:cubicBezTo>
                  <a:pt x="329115" y="0"/>
                  <a:pt x="361512" y="32398"/>
                  <a:pt x="361512" y="72302"/>
                </a:cubicBezTo>
                <a:lnTo>
                  <a:pt x="361512" y="289210"/>
                </a:lnTo>
                <a:cubicBezTo>
                  <a:pt x="361512" y="329115"/>
                  <a:pt x="329115" y="361512"/>
                  <a:pt x="289210" y="361512"/>
                </a:cubicBezTo>
                <a:lnTo>
                  <a:pt x="72302" y="361512"/>
                </a:lnTo>
                <a:cubicBezTo>
                  <a:pt x="32398" y="361512"/>
                  <a:pt x="0" y="329115"/>
                  <a:pt x="0" y="289210"/>
                </a:cubicBezTo>
                <a:lnTo>
                  <a:pt x="0" y="72302"/>
                </a:lnTo>
                <a:cubicBezTo>
                  <a:pt x="0" y="32398"/>
                  <a:pt x="32398" y="0"/>
                  <a:pt x="72302" y="0"/>
                </a:cubicBezTo>
                <a:close/>
              </a:path>
            </a:pathLst>
          </a:custGeom>
          <a:solidFill>
            <a:srgbClr val="8B5CF6">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631093" y="5567288"/>
            <a:ext cx="198832" cy="25305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423">
                <a:solidFill>
                  <a:srgbClr val="8B5CF6"/>
                </a:solidFill>
                <a:latin typeface="Arial"/>
                <a:ea typeface="Arial"/>
                <a:cs typeface="Arial"/>
                <a:sym typeface="Arial"/>
              </a:rPr>
              <a:t>3</a:t>
            </a:r>
            <a:endParaRPr sz="1600">
              <a:solidFill>
                <a:schemeClr val="dk1"/>
              </a:solidFill>
              <a:latin typeface="Calibri"/>
              <a:ea typeface="Calibri"/>
              <a:cs typeface="Calibri"/>
              <a:sym typeface="Calibri"/>
            </a:endParaRPr>
          </a:p>
        </p:txBody>
      </p:sp>
      <p:sp>
        <p:nvSpPr>
          <p:cNvPr id="228" name="Google Shape;228;p5"/>
          <p:cNvSpPr/>
          <p:nvPr/>
        </p:nvSpPr>
        <p:spPr>
          <a:xfrm>
            <a:off x="976083" y="5567288"/>
            <a:ext cx="3018627" cy="25305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423">
                <a:solidFill>
                  <a:srgbClr val="F8FAFC"/>
                </a:solidFill>
                <a:latin typeface="Arial"/>
                <a:ea typeface="Arial"/>
                <a:cs typeface="Arial"/>
                <a:sym typeface="Arial"/>
              </a:rPr>
              <a:t>Lớp Dịch vụ Ngoài (External APIs)</a:t>
            </a:r>
            <a:endParaRPr sz="1600">
              <a:solidFill>
                <a:schemeClr val="dk1"/>
              </a:solidFill>
              <a:latin typeface="Calibri"/>
              <a:ea typeface="Calibri"/>
              <a:cs typeface="Calibri"/>
              <a:sym typeface="Calibri"/>
            </a:endParaRPr>
          </a:p>
        </p:txBody>
      </p:sp>
      <p:sp>
        <p:nvSpPr>
          <p:cNvPr id="229" name="Google Shape;229;p5"/>
          <p:cNvSpPr/>
          <p:nvPr/>
        </p:nvSpPr>
        <p:spPr>
          <a:xfrm>
            <a:off x="506117" y="5946876"/>
            <a:ext cx="2602888" cy="804365"/>
          </a:xfrm>
          <a:custGeom>
            <a:rect b="b" l="l" r="r" t="t"/>
            <a:pathLst>
              <a:path extrusionOk="0" h="804365" w="2602888">
                <a:moveTo>
                  <a:pt x="72304" y="0"/>
                </a:moveTo>
                <a:lnTo>
                  <a:pt x="2530584" y="0"/>
                </a:lnTo>
                <a:cubicBezTo>
                  <a:pt x="2570490" y="0"/>
                  <a:pt x="2602888" y="32398"/>
                  <a:pt x="2602888" y="72304"/>
                </a:cubicBezTo>
                <a:lnTo>
                  <a:pt x="2602888" y="732060"/>
                </a:lnTo>
                <a:cubicBezTo>
                  <a:pt x="2602888" y="771993"/>
                  <a:pt x="2570516" y="804365"/>
                  <a:pt x="2530584" y="804365"/>
                </a:cubicBezTo>
                <a:lnTo>
                  <a:pt x="72304" y="804365"/>
                </a:lnTo>
                <a:cubicBezTo>
                  <a:pt x="32398" y="804365"/>
                  <a:pt x="0" y="771966"/>
                  <a:pt x="0" y="732060"/>
                </a:cubicBezTo>
                <a:lnTo>
                  <a:pt x="0" y="72304"/>
                </a:lnTo>
                <a:cubicBezTo>
                  <a:pt x="0" y="32398"/>
                  <a:pt x="32398" y="0"/>
                  <a:pt x="72304"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1726221" y="6073405"/>
            <a:ext cx="158162" cy="180756"/>
          </a:xfrm>
          <a:custGeom>
            <a:rect b="b" l="l" r="r" t="t"/>
            <a:pathLst>
              <a:path extrusionOk="0" h="180756" w="158162">
                <a:moveTo>
                  <a:pt x="158162" y="72655"/>
                </a:moveTo>
                <a:cubicBezTo>
                  <a:pt x="152937" y="76115"/>
                  <a:pt x="146935" y="78904"/>
                  <a:pt x="140686" y="81128"/>
                </a:cubicBezTo>
                <a:cubicBezTo>
                  <a:pt x="124093" y="87059"/>
                  <a:pt x="102311" y="90378"/>
                  <a:pt x="79081" y="90378"/>
                </a:cubicBezTo>
                <a:cubicBezTo>
                  <a:pt x="55851" y="90378"/>
                  <a:pt x="34033" y="87024"/>
                  <a:pt x="17475" y="81128"/>
                </a:cubicBezTo>
                <a:cubicBezTo>
                  <a:pt x="11262" y="78904"/>
                  <a:pt x="5225" y="76115"/>
                  <a:pt x="0" y="72655"/>
                </a:cubicBezTo>
                <a:lnTo>
                  <a:pt x="0" y="101675"/>
                </a:lnTo>
                <a:cubicBezTo>
                  <a:pt x="0" y="117280"/>
                  <a:pt x="35410" y="129918"/>
                  <a:pt x="79081" y="129918"/>
                </a:cubicBezTo>
                <a:cubicBezTo>
                  <a:pt x="122752" y="129918"/>
                  <a:pt x="158162" y="117280"/>
                  <a:pt x="158162" y="101675"/>
                </a:cubicBezTo>
                <a:lnTo>
                  <a:pt x="158162" y="72655"/>
                </a:lnTo>
                <a:close/>
                <a:moveTo>
                  <a:pt x="158162" y="45189"/>
                </a:moveTo>
                <a:lnTo>
                  <a:pt x="158162" y="28243"/>
                </a:lnTo>
                <a:cubicBezTo>
                  <a:pt x="158162" y="12639"/>
                  <a:pt x="122752" y="0"/>
                  <a:pt x="79081" y="0"/>
                </a:cubicBezTo>
                <a:cubicBezTo>
                  <a:pt x="35410" y="0"/>
                  <a:pt x="0" y="12639"/>
                  <a:pt x="0" y="28243"/>
                </a:cubicBezTo>
                <a:lnTo>
                  <a:pt x="0" y="45189"/>
                </a:lnTo>
                <a:cubicBezTo>
                  <a:pt x="0" y="60793"/>
                  <a:pt x="35410" y="73432"/>
                  <a:pt x="79081" y="73432"/>
                </a:cubicBezTo>
                <a:cubicBezTo>
                  <a:pt x="122752" y="73432"/>
                  <a:pt x="158162" y="60793"/>
                  <a:pt x="158162" y="45189"/>
                </a:cubicBezTo>
                <a:close/>
                <a:moveTo>
                  <a:pt x="140686" y="137615"/>
                </a:moveTo>
                <a:cubicBezTo>
                  <a:pt x="124129" y="143510"/>
                  <a:pt x="102346" y="146864"/>
                  <a:pt x="79081" y="146864"/>
                </a:cubicBezTo>
                <a:cubicBezTo>
                  <a:pt x="55816" y="146864"/>
                  <a:pt x="34033" y="143510"/>
                  <a:pt x="17475" y="137615"/>
                </a:cubicBezTo>
                <a:cubicBezTo>
                  <a:pt x="11262" y="135391"/>
                  <a:pt x="5225" y="132602"/>
                  <a:pt x="0" y="129142"/>
                </a:cubicBezTo>
                <a:lnTo>
                  <a:pt x="0" y="152513"/>
                </a:lnTo>
                <a:cubicBezTo>
                  <a:pt x="0" y="168117"/>
                  <a:pt x="35410" y="180756"/>
                  <a:pt x="79081" y="180756"/>
                </a:cubicBezTo>
                <a:cubicBezTo>
                  <a:pt x="122752" y="180756"/>
                  <a:pt x="158162" y="168117"/>
                  <a:pt x="158162" y="152513"/>
                </a:cubicBezTo>
                <a:lnTo>
                  <a:pt x="158162" y="129142"/>
                </a:lnTo>
                <a:cubicBezTo>
                  <a:pt x="152937" y="132602"/>
                  <a:pt x="146935" y="135391"/>
                  <a:pt x="140686" y="137615"/>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582938" y="6326464"/>
            <a:ext cx="2449245" cy="18075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996">
                <a:solidFill>
                  <a:srgbClr val="F8FAFC"/>
                </a:solidFill>
                <a:latin typeface="Arial"/>
                <a:ea typeface="Arial"/>
                <a:cs typeface="Arial"/>
                <a:sym typeface="Arial"/>
              </a:rPr>
              <a:t>TMDB API</a:t>
            </a:r>
            <a:endParaRPr sz="1600">
              <a:solidFill>
                <a:schemeClr val="dk1"/>
              </a:solidFill>
              <a:latin typeface="Calibri"/>
              <a:ea typeface="Calibri"/>
              <a:cs typeface="Calibri"/>
              <a:sym typeface="Calibri"/>
            </a:endParaRPr>
          </a:p>
        </p:txBody>
      </p:sp>
      <p:sp>
        <p:nvSpPr>
          <p:cNvPr id="232" name="Google Shape;232;p5"/>
          <p:cNvSpPr/>
          <p:nvPr/>
        </p:nvSpPr>
        <p:spPr>
          <a:xfrm>
            <a:off x="587457" y="6507220"/>
            <a:ext cx="2440208" cy="135567"/>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lang="en-US" sz="854">
                <a:solidFill>
                  <a:srgbClr val="94A3B8"/>
                </a:solidFill>
                <a:latin typeface="Arial"/>
                <a:ea typeface="Arial"/>
                <a:cs typeface="Arial"/>
                <a:sym typeface="Arial"/>
              </a:rPr>
              <a:t>Dữ liệu phim</a:t>
            </a:r>
            <a:endParaRPr sz="1600">
              <a:solidFill>
                <a:schemeClr val="dk1"/>
              </a:solidFill>
              <a:latin typeface="Calibri"/>
              <a:ea typeface="Calibri"/>
              <a:cs typeface="Calibri"/>
              <a:sym typeface="Calibri"/>
            </a:endParaRPr>
          </a:p>
        </p:txBody>
      </p:sp>
      <p:sp>
        <p:nvSpPr>
          <p:cNvPr id="233" name="Google Shape;233;p5"/>
          <p:cNvSpPr/>
          <p:nvPr/>
        </p:nvSpPr>
        <p:spPr>
          <a:xfrm>
            <a:off x="3212940" y="5946876"/>
            <a:ext cx="2602888" cy="804365"/>
          </a:xfrm>
          <a:custGeom>
            <a:rect b="b" l="l" r="r" t="t"/>
            <a:pathLst>
              <a:path extrusionOk="0" h="804365" w="2602888">
                <a:moveTo>
                  <a:pt x="72304" y="0"/>
                </a:moveTo>
                <a:lnTo>
                  <a:pt x="2530584" y="0"/>
                </a:lnTo>
                <a:cubicBezTo>
                  <a:pt x="2570490" y="0"/>
                  <a:pt x="2602888" y="32398"/>
                  <a:pt x="2602888" y="72304"/>
                </a:cubicBezTo>
                <a:lnTo>
                  <a:pt x="2602888" y="732060"/>
                </a:lnTo>
                <a:cubicBezTo>
                  <a:pt x="2602888" y="771993"/>
                  <a:pt x="2570516" y="804365"/>
                  <a:pt x="2530584" y="804365"/>
                </a:cubicBezTo>
                <a:lnTo>
                  <a:pt x="72304" y="804365"/>
                </a:lnTo>
                <a:cubicBezTo>
                  <a:pt x="32398" y="804365"/>
                  <a:pt x="0" y="771966"/>
                  <a:pt x="0" y="732060"/>
                </a:cubicBezTo>
                <a:lnTo>
                  <a:pt x="0" y="72304"/>
                </a:lnTo>
                <a:cubicBezTo>
                  <a:pt x="0" y="32398"/>
                  <a:pt x="32398" y="0"/>
                  <a:pt x="72304"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4399152" y="6073405"/>
            <a:ext cx="225945" cy="180756"/>
          </a:xfrm>
          <a:custGeom>
            <a:rect b="b" l="l" r="r" t="t"/>
            <a:pathLst>
              <a:path extrusionOk="0" h="180756" w="225945">
                <a:moveTo>
                  <a:pt x="203351" y="16946"/>
                </a:moveTo>
                <a:cubicBezTo>
                  <a:pt x="203351" y="13027"/>
                  <a:pt x="201338" y="9391"/>
                  <a:pt x="197984" y="7343"/>
                </a:cubicBezTo>
                <a:cubicBezTo>
                  <a:pt x="194631" y="5296"/>
                  <a:pt x="190500" y="5084"/>
                  <a:pt x="187005" y="6849"/>
                </a:cubicBezTo>
                <a:lnTo>
                  <a:pt x="145982" y="27361"/>
                </a:lnTo>
                <a:lnTo>
                  <a:pt x="82646" y="6213"/>
                </a:lnTo>
                <a:cubicBezTo>
                  <a:pt x="79787" y="5260"/>
                  <a:pt x="76715" y="5472"/>
                  <a:pt x="74032" y="6814"/>
                </a:cubicBezTo>
                <a:lnTo>
                  <a:pt x="28843" y="29408"/>
                </a:lnTo>
                <a:cubicBezTo>
                  <a:pt x="24995" y="31350"/>
                  <a:pt x="22595" y="35269"/>
                  <a:pt x="22595" y="39540"/>
                </a:cubicBezTo>
                <a:lnTo>
                  <a:pt x="22595" y="163810"/>
                </a:lnTo>
                <a:cubicBezTo>
                  <a:pt x="22595" y="167729"/>
                  <a:pt x="24607" y="171365"/>
                  <a:pt x="27961" y="173413"/>
                </a:cubicBezTo>
                <a:cubicBezTo>
                  <a:pt x="31315" y="175461"/>
                  <a:pt x="35445" y="175672"/>
                  <a:pt x="38940" y="173907"/>
                </a:cubicBezTo>
                <a:lnTo>
                  <a:pt x="79928" y="153396"/>
                </a:lnTo>
                <a:lnTo>
                  <a:pt x="141110" y="173801"/>
                </a:lnTo>
                <a:cubicBezTo>
                  <a:pt x="139592" y="171542"/>
                  <a:pt x="138109" y="169176"/>
                  <a:pt x="136662" y="166776"/>
                </a:cubicBezTo>
                <a:cubicBezTo>
                  <a:pt x="132778" y="160315"/>
                  <a:pt x="128930" y="152901"/>
                  <a:pt x="126070" y="144958"/>
                </a:cubicBezTo>
                <a:lnTo>
                  <a:pt x="90343" y="133061"/>
                </a:lnTo>
                <a:lnTo>
                  <a:pt x="90343" y="32621"/>
                </a:lnTo>
                <a:lnTo>
                  <a:pt x="135532" y="47696"/>
                </a:lnTo>
                <a:lnTo>
                  <a:pt x="135532" y="82752"/>
                </a:lnTo>
                <a:cubicBezTo>
                  <a:pt x="146476" y="70114"/>
                  <a:pt x="162716" y="62135"/>
                  <a:pt x="180721" y="62135"/>
                </a:cubicBezTo>
                <a:cubicBezTo>
                  <a:pt x="188699" y="62135"/>
                  <a:pt x="196325" y="63688"/>
                  <a:pt x="203315" y="66548"/>
                </a:cubicBezTo>
                <a:lnTo>
                  <a:pt x="203351" y="16946"/>
                </a:lnTo>
                <a:close/>
                <a:moveTo>
                  <a:pt x="180756" y="79081"/>
                </a:moveTo>
                <a:cubicBezTo>
                  <a:pt x="157350" y="79081"/>
                  <a:pt x="138391" y="97721"/>
                  <a:pt x="138391" y="120704"/>
                </a:cubicBezTo>
                <a:cubicBezTo>
                  <a:pt x="138391" y="145029"/>
                  <a:pt x="161021" y="173801"/>
                  <a:pt x="173201" y="187534"/>
                </a:cubicBezTo>
                <a:cubicBezTo>
                  <a:pt x="177296" y="192124"/>
                  <a:pt x="184251" y="192124"/>
                  <a:pt x="188346" y="187534"/>
                </a:cubicBezTo>
                <a:cubicBezTo>
                  <a:pt x="200526" y="173801"/>
                  <a:pt x="223156" y="145029"/>
                  <a:pt x="223156" y="120704"/>
                </a:cubicBezTo>
                <a:cubicBezTo>
                  <a:pt x="223156" y="97721"/>
                  <a:pt x="204198" y="79081"/>
                  <a:pt x="180791" y="79081"/>
                </a:cubicBezTo>
                <a:close/>
                <a:moveTo>
                  <a:pt x="166635" y="121446"/>
                </a:moveTo>
                <a:cubicBezTo>
                  <a:pt x="166635" y="113652"/>
                  <a:pt x="172962" y="107324"/>
                  <a:pt x="180756" y="107324"/>
                </a:cubicBezTo>
                <a:cubicBezTo>
                  <a:pt x="188550" y="107324"/>
                  <a:pt x="194878" y="113652"/>
                  <a:pt x="194878" y="121446"/>
                </a:cubicBezTo>
                <a:cubicBezTo>
                  <a:pt x="194878" y="129239"/>
                  <a:pt x="188550" y="135567"/>
                  <a:pt x="180756" y="135567"/>
                </a:cubicBezTo>
                <a:cubicBezTo>
                  <a:pt x="172962" y="135567"/>
                  <a:pt x="166635" y="129239"/>
                  <a:pt x="166635" y="121446"/>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3289761" y="6326464"/>
            <a:ext cx="2449245" cy="18075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996">
                <a:solidFill>
                  <a:srgbClr val="F8FAFC"/>
                </a:solidFill>
                <a:latin typeface="Arial"/>
                <a:ea typeface="Arial"/>
                <a:cs typeface="Arial"/>
                <a:sym typeface="Arial"/>
              </a:rPr>
              <a:t>Google Places</a:t>
            </a:r>
            <a:endParaRPr sz="1600">
              <a:solidFill>
                <a:schemeClr val="dk1"/>
              </a:solidFill>
              <a:latin typeface="Calibri"/>
              <a:ea typeface="Calibri"/>
              <a:cs typeface="Calibri"/>
              <a:sym typeface="Calibri"/>
            </a:endParaRPr>
          </a:p>
        </p:txBody>
      </p:sp>
      <p:sp>
        <p:nvSpPr>
          <p:cNvPr id="236" name="Google Shape;236;p5"/>
          <p:cNvSpPr/>
          <p:nvPr/>
        </p:nvSpPr>
        <p:spPr>
          <a:xfrm>
            <a:off x="3294280" y="6507220"/>
            <a:ext cx="2440208" cy="135567"/>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lang="en-US" sz="854">
                <a:solidFill>
                  <a:srgbClr val="94A3B8"/>
                </a:solidFill>
                <a:latin typeface="Arial"/>
                <a:ea typeface="Arial"/>
                <a:cs typeface="Arial"/>
                <a:sym typeface="Arial"/>
              </a:rPr>
              <a:t>Tìm rạp chiếu</a:t>
            </a:r>
            <a:endParaRPr sz="1600">
              <a:solidFill>
                <a:schemeClr val="dk1"/>
              </a:solidFill>
              <a:latin typeface="Calibri"/>
              <a:ea typeface="Calibri"/>
              <a:cs typeface="Calibri"/>
              <a:sym typeface="Calibri"/>
            </a:endParaRPr>
          </a:p>
        </p:txBody>
      </p:sp>
      <p:sp>
        <p:nvSpPr>
          <p:cNvPr id="237" name="Google Shape;237;p5"/>
          <p:cNvSpPr/>
          <p:nvPr/>
        </p:nvSpPr>
        <p:spPr>
          <a:xfrm>
            <a:off x="5919763" y="5946876"/>
            <a:ext cx="2602888" cy="804365"/>
          </a:xfrm>
          <a:custGeom>
            <a:rect b="b" l="l" r="r" t="t"/>
            <a:pathLst>
              <a:path extrusionOk="0" h="804365" w="2602888">
                <a:moveTo>
                  <a:pt x="72304" y="0"/>
                </a:moveTo>
                <a:lnTo>
                  <a:pt x="2530584" y="0"/>
                </a:lnTo>
                <a:cubicBezTo>
                  <a:pt x="2570490" y="0"/>
                  <a:pt x="2602888" y="32398"/>
                  <a:pt x="2602888" y="72304"/>
                </a:cubicBezTo>
                <a:lnTo>
                  <a:pt x="2602888" y="732060"/>
                </a:lnTo>
                <a:cubicBezTo>
                  <a:pt x="2602888" y="771993"/>
                  <a:pt x="2570516" y="804365"/>
                  <a:pt x="2530584" y="804365"/>
                </a:cubicBezTo>
                <a:lnTo>
                  <a:pt x="72304" y="804365"/>
                </a:lnTo>
                <a:cubicBezTo>
                  <a:pt x="32398" y="804365"/>
                  <a:pt x="0" y="771966"/>
                  <a:pt x="0" y="732060"/>
                </a:cubicBezTo>
                <a:lnTo>
                  <a:pt x="0" y="72304"/>
                </a:lnTo>
                <a:cubicBezTo>
                  <a:pt x="0" y="32398"/>
                  <a:pt x="32398" y="0"/>
                  <a:pt x="72304"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a:off x="7128569" y="6073405"/>
            <a:ext cx="180756" cy="180756"/>
          </a:xfrm>
          <a:custGeom>
            <a:rect b="b" l="l" r="r" t="t"/>
            <a:pathLst>
              <a:path extrusionOk="0" h="180756" w="180756">
                <a:moveTo>
                  <a:pt x="42365" y="19770"/>
                </a:moveTo>
                <a:cubicBezTo>
                  <a:pt x="42365" y="8861"/>
                  <a:pt x="51226" y="0"/>
                  <a:pt x="62135" y="0"/>
                </a:cubicBezTo>
                <a:lnTo>
                  <a:pt x="70608" y="0"/>
                </a:lnTo>
                <a:cubicBezTo>
                  <a:pt x="76857" y="0"/>
                  <a:pt x="81905" y="5048"/>
                  <a:pt x="81905" y="11297"/>
                </a:cubicBezTo>
                <a:lnTo>
                  <a:pt x="81905" y="169459"/>
                </a:lnTo>
                <a:cubicBezTo>
                  <a:pt x="81905" y="175708"/>
                  <a:pt x="76857" y="180756"/>
                  <a:pt x="70608" y="180756"/>
                </a:cubicBezTo>
                <a:lnTo>
                  <a:pt x="59311" y="180756"/>
                </a:lnTo>
                <a:cubicBezTo>
                  <a:pt x="48790" y="180756"/>
                  <a:pt x="39929" y="173554"/>
                  <a:pt x="37422" y="163810"/>
                </a:cubicBezTo>
                <a:cubicBezTo>
                  <a:pt x="37175" y="163810"/>
                  <a:pt x="36963" y="163810"/>
                  <a:pt x="36716" y="163810"/>
                </a:cubicBezTo>
                <a:cubicBezTo>
                  <a:pt x="21112" y="163810"/>
                  <a:pt x="8473" y="151171"/>
                  <a:pt x="8473" y="135567"/>
                </a:cubicBezTo>
                <a:cubicBezTo>
                  <a:pt x="8473" y="129212"/>
                  <a:pt x="10591" y="123352"/>
                  <a:pt x="14122" y="118621"/>
                </a:cubicBezTo>
                <a:cubicBezTo>
                  <a:pt x="7273" y="113467"/>
                  <a:pt x="2824" y="105276"/>
                  <a:pt x="2824" y="96027"/>
                </a:cubicBezTo>
                <a:cubicBezTo>
                  <a:pt x="2824" y="85118"/>
                  <a:pt x="9038" y="75621"/>
                  <a:pt x="18076" y="70926"/>
                </a:cubicBezTo>
                <a:cubicBezTo>
                  <a:pt x="15569" y="66689"/>
                  <a:pt x="14122" y="61747"/>
                  <a:pt x="14122" y="56486"/>
                </a:cubicBezTo>
                <a:cubicBezTo>
                  <a:pt x="14122" y="40882"/>
                  <a:pt x="26760" y="28243"/>
                  <a:pt x="42365" y="28243"/>
                </a:cubicBezTo>
                <a:lnTo>
                  <a:pt x="42365" y="19770"/>
                </a:lnTo>
                <a:close/>
                <a:moveTo>
                  <a:pt x="138391" y="19770"/>
                </a:moveTo>
                <a:lnTo>
                  <a:pt x="138391" y="28243"/>
                </a:lnTo>
                <a:cubicBezTo>
                  <a:pt x="153996" y="28243"/>
                  <a:pt x="166635" y="40882"/>
                  <a:pt x="166635" y="56486"/>
                </a:cubicBezTo>
                <a:cubicBezTo>
                  <a:pt x="166635" y="61782"/>
                  <a:pt x="165187" y="66724"/>
                  <a:pt x="162681" y="70926"/>
                </a:cubicBezTo>
                <a:cubicBezTo>
                  <a:pt x="171754" y="75621"/>
                  <a:pt x="177932" y="85082"/>
                  <a:pt x="177932" y="96027"/>
                </a:cubicBezTo>
                <a:cubicBezTo>
                  <a:pt x="177932" y="105276"/>
                  <a:pt x="173484" y="113467"/>
                  <a:pt x="166635" y="118621"/>
                </a:cubicBezTo>
                <a:cubicBezTo>
                  <a:pt x="170165" y="123352"/>
                  <a:pt x="172283" y="129212"/>
                  <a:pt x="172283" y="135567"/>
                </a:cubicBezTo>
                <a:cubicBezTo>
                  <a:pt x="172283" y="151171"/>
                  <a:pt x="159644" y="163810"/>
                  <a:pt x="144040" y="163810"/>
                </a:cubicBezTo>
                <a:cubicBezTo>
                  <a:pt x="143793" y="163810"/>
                  <a:pt x="143581" y="163810"/>
                  <a:pt x="143334" y="163810"/>
                </a:cubicBezTo>
                <a:cubicBezTo>
                  <a:pt x="140827" y="173554"/>
                  <a:pt x="131966" y="180756"/>
                  <a:pt x="121446" y="180756"/>
                </a:cubicBezTo>
                <a:lnTo>
                  <a:pt x="110148" y="180756"/>
                </a:lnTo>
                <a:cubicBezTo>
                  <a:pt x="103899" y="180756"/>
                  <a:pt x="98851" y="175708"/>
                  <a:pt x="98851" y="169459"/>
                </a:cubicBezTo>
                <a:lnTo>
                  <a:pt x="98851" y="11297"/>
                </a:lnTo>
                <a:cubicBezTo>
                  <a:pt x="98851" y="5048"/>
                  <a:pt x="103899" y="0"/>
                  <a:pt x="110148" y="0"/>
                </a:cubicBezTo>
                <a:lnTo>
                  <a:pt x="118621" y="0"/>
                </a:lnTo>
                <a:cubicBezTo>
                  <a:pt x="129530" y="0"/>
                  <a:pt x="138391" y="8861"/>
                  <a:pt x="138391" y="1977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5996584" y="6326464"/>
            <a:ext cx="2449245" cy="18075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996">
                <a:solidFill>
                  <a:srgbClr val="F8FAFC"/>
                </a:solidFill>
                <a:latin typeface="Arial"/>
                <a:ea typeface="Arial"/>
                <a:cs typeface="Arial"/>
                <a:sym typeface="Arial"/>
              </a:rPr>
              <a:t>Gemini API</a:t>
            </a:r>
            <a:endParaRPr sz="1600">
              <a:solidFill>
                <a:schemeClr val="dk1"/>
              </a:solidFill>
              <a:latin typeface="Calibri"/>
              <a:ea typeface="Calibri"/>
              <a:cs typeface="Calibri"/>
              <a:sym typeface="Calibri"/>
            </a:endParaRPr>
          </a:p>
        </p:txBody>
      </p:sp>
      <p:sp>
        <p:nvSpPr>
          <p:cNvPr id="240" name="Google Shape;240;p5"/>
          <p:cNvSpPr/>
          <p:nvPr/>
        </p:nvSpPr>
        <p:spPr>
          <a:xfrm>
            <a:off x="6001103" y="6507220"/>
            <a:ext cx="2440208" cy="135567"/>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lang="en-US" sz="854">
                <a:solidFill>
                  <a:srgbClr val="94A3B8"/>
                </a:solidFill>
                <a:latin typeface="Arial"/>
                <a:ea typeface="Arial"/>
                <a:cs typeface="Arial"/>
                <a:sym typeface="Arial"/>
              </a:rPr>
              <a:t>AI xử lý</a:t>
            </a:r>
            <a:endParaRPr sz="1600">
              <a:solidFill>
                <a:schemeClr val="dk1"/>
              </a:solidFill>
              <a:latin typeface="Calibri"/>
              <a:ea typeface="Calibri"/>
              <a:cs typeface="Calibri"/>
              <a:sym typeface="Calibri"/>
            </a:endParaRPr>
          </a:p>
        </p:txBody>
      </p:sp>
      <p:sp>
        <p:nvSpPr>
          <p:cNvPr id="241" name="Google Shape;241;p5"/>
          <p:cNvSpPr/>
          <p:nvPr/>
        </p:nvSpPr>
        <p:spPr>
          <a:xfrm>
            <a:off x="8775709" y="1269812"/>
            <a:ext cx="3054778" cy="5585364"/>
          </a:xfrm>
          <a:custGeom>
            <a:rect b="b" l="l" r="r" t="t"/>
            <a:pathLst>
              <a:path extrusionOk="0" h="5585364" w="3054778">
                <a:moveTo>
                  <a:pt x="108445" y="0"/>
                </a:moveTo>
                <a:lnTo>
                  <a:pt x="2946334" y="0"/>
                </a:lnTo>
                <a:cubicBezTo>
                  <a:pt x="3006226" y="0"/>
                  <a:pt x="3054778" y="48552"/>
                  <a:pt x="3054778" y="108445"/>
                </a:cubicBezTo>
                <a:lnTo>
                  <a:pt x="3054778" y="5476919"/>
                </a:lnTo>
                <a:cubicBezTo>
                  <a:pt x="3054778" y="5536812"/>
                  <a:pt x="3006226" y="5585364"/>
                  <a:pt x="2946334" y="5585364"/>
                </a:cubicBezTo>
                <a:lnTo>
                  <a:pt x="108445" y="5585364"/>
                </a:lnTo>
                <a:cubicBezTo>
                  <a:pt x="48552" y="5585364"/>
                  <a:pt x="0" y="5536812"/>
                  <a:pt x="0" y="5476919"/>
                </a:cubicBezTo>
                <a:lnTo>
                  <a:pt x="0" y="108445"/>
                </a:lnTo>
                <a:cubicBezTo>
                  <a:pt x="0" y="48592"/>
                  <a:pt x="48592" y="0"/>
                  <a:pt x="108445" y="0"/>
                </a:cubicBezTo>
                <a:close/>
              </a:path>
            </a:pathLst>
          </a:custGeom>
          <a:gradFill>
            <a:gsLst>
              <a:gs pos="0">
                <a:srgbClr val="1E293B"/>
              </a:gs>
              <a:gs pos="100000">
                <a:srgbClr val="0F172A"/>
              </a:gs>
            </a:gsLst>
            <a:lin ang="2700000" scaled="0"/>
          </a:gradFill>
          <a:ln cap="flat" cmpd="sng" w="12700">
            <a:solidFill>
              <a:srgbClr val="F59E0B">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8957595" y="1464125"/>
            <a:ext cx="142345" cy="162681"/>
          </a:xfrm>
          <a:custGeom>
            <a:rect b="b" l="l" r="r" t="t"/>
            <a:pathLst>
              <a:path extrusionOk="0" h="162681" w="142345">
                <a:moveTo>
                  <a:pt x="20335" y="10168"/>
                </a:moveTo>
                <a:cubicBezTo>
                  <a:pt x="9119" y="10168"/>
                  <a:pt x="0" y="19287"/>
                  <a:pt x="0" y="30503"/>
                </a:cubicBezTo>
                <a:lnTo>
                  <a:pt x="0" y="50838"/>
                </a:lnTo>
                <a:cubicBezTo>
                  <a:pt x="0" y="62054"/>
                  <a:pt x="9119" y="71173"/>
                  <a:pt x="20335" y="71173"/>
                </a:cubicBezTo>
                <a:lnTo>
                  <a:pt x="122010" y="71173"/>
                </a:lnTo>
                <a:cubicBezTo>
                  <a:pt x="133226" y="71173"/>
                  <a:pt x="142345" y="62054"/>
                  <a:pt x="142345" y="50838"/>
                </a:cubicBezTo>
                <a:lnTo>
                  <a:pt x="142345" y="30503"/>
                </a:lnTo>
                <a:cubicBezTo>
                  <a:pt x="142345" y="19287"/>
                  <a:pt x="133226" y="10168"/>
                  <a:pt x="122010" y="10168"/>
                </a:cubicBezTo>
                <a:lnTo>
                  <a:pt x="20335" y="10168"/>
                </a:lnTo>
                <a:close/>
                <a:moveTo>
                  <a:pt x="88966" y="33044"/>
                </a:moveTo>
                <a:cubicBezTo>
                  <a:pt x="93175" y="33044"/>
                  <a:pt x="96592" y="36461"/>
                  <a:pt x="96592" y="40670"/>
                </a:cubicBezTo>
                <a:cubicBezTo>
                  <a:pt x="96592" y="44879"/>
                  <a:pt x="93175" y="48296"/>
                  <a:pt x="88966" y="48296"/>
                </a:cubicBezTo>
                <a:cubicBezTo>
                  <a:pt x="84757" y="48296"/>
                  <a:pt x="81340" y="44879"/>
                  <a:pt x="81340" y="40670"/>
                </a:cubicBezTo>
                <a:cubicBezTo>
                  <a:pt x="81340" y="36461"/>
                  <a:pt x="84757" y="33044"/>
                  <a:pt x="88966" y="33044"/>
                </a:cubicBezTo>
                <a:close/>
                <a:moveTo>
                  <a:pt x="106759" y="40670"/>
                </a:moveTo>
                <a:cubicBezTo>
                  <a:pt x="106759" y="36461"/>
                  <a:pt x="110176" y="33044"/>
                  <a:pt x="114385" y="33044"/>
                </a:cubicBezTo>
                <a:cubicBezTo>
                  <a:pt x="118593" y="33044"/>
                  <a:pt x="122010" y="36461"/>
                  <a:pt x="122010" y="40670"/>
                </a:cubicBezTo>
                <a:cubicBezTo>
                  <a:pt x="122010" y="44879"/>
                  <a:pt x="118593" y="48296"/>
                  <a:pt x="114385" y="48296"/>
                </a:cubicBezTo>
                <a:cubicBezTo>
                  <a:pt x="110176" y="48296"/>
                  <a:pt x="106759" y="44879"/>
                  <a:pt x="106759" y="40670"/>
                </a:cubicBezTo>
                <a:close/>
                <a:moveTo>
                  <a:pt x="20335" y="91508"/>
                </a:moveTo>
                <a:cubicBezTo>
                  <a:pt x="9119" y="91508"/>
                  <a:pt x="0" y="100627"/>
                  <a:pt x="0" y="111843"/>
                </a:cubicBezTo>
                <a:lnTo>
                  <a:pt x="0" y="132178"/>
                </a:lnTo>
                <a:cubicBezTo>
                  <a:pt x="0" y="143394"/>
                  <a:pt x="9119" y="152513"/>
                  <a:pt x="20335" y="152513"/>
                </a:cubicBezTo>
                <a:lnTo>
                  <a:pt x="122010" y="152513"/>
                </a:lnTo>
                <a:cubicBezTo>
                  <a:pt x="133226" y="152513"/>
                  <a:pt x="142345" y="143394"/>
                  <a:pt x="142345" y="132178"/>
                </a:cubicBezTo>
                <a:lnTo>
                  <a:pt x="142345" y="111843"/>
                </a:lnTo>
                <a:cubicBezTo>
                  <a:pt x="142345" y="100627"/>
                  <a:pt x="133226" y="91508"/>
                  <a:pt x="122010" y="91508"/>
                </a:cubicBezTo>
                <a:lnTo>
                  <a:pt x="20335" y="91508"/>
                </a:lnTo>
                <a:close/>
                <a:moveTo>
                  <a:pt x="88966" y="114385"/>
                </a:moveTo>
                <a:cubicBezTo>
                  <a:pt x="93175" y="114385"/>
                  <a:pt x="96592" y="117802"/>
                  <a:pt x="96592" y="122010"/>
                </a:cubicBezTo>
                <a:cubicBezTo>
                  <a:pt x="96592" y="126219"/>
                  <a:pt x="93175" y="129636"/>
                  <a:pt x="88966" y="129636"/>
                </a:cubicBezTo>
                <a:cubicBezTo>
                  <a:pt x="84757" y="129636"/>
                  <a:pt x="81340" y="126219"/>
                  <a:pt x="81340" y="122010"/>
                </a:cubicBezTo>
                <a:cubicBezTo>
                  <a:pt x="81340" y="117802"/>
                  <a:pt x="84757" y="114385"/>
                  <a:pt x="88966" y="114385"/>
                </a:cubicBezTo>
                <a:close/>
                <a:moveTo>
                  <a:pt x="106759" y="122010"/>
                </a:moveTo>
                <a:cubicBezTo>
                  <a:pt x="106759" y="117802"/>
                  <a:pt x="110176" y="114385"/>
                  <a:pt x="114385" y="114385"/>
                </a:cubicBezTo>
                <a:cubicBezTo>
                  <a:pt x="118593" y="114385"/>
                  <a:pt x="122010" y="117802"/>
                  <a:pt x="122010" y="122010"/>
                </a:cubicBezTo>
                <a:cubicBezTo>
                  <a:pt x="122010" y="126219"/>
                  <a:pt x="118593" y="129636"/>
                  <a:pt x="114385" y="129636"/>
                </a:cubicBezTo>
                <a:cubicBezTo>
                  <a:pt x="110176" y="129636"/>
                  <a:pt x="106759" y="126219"/>
                  <a:pt x="106759" y="12201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9132703" y="1418936"/>
            <a:ext cx="2630001" cy="253059"/>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81">
                <a:solidFill>
                  <a:srgbClr val="F8FAFC"/>
                </a:solidFill>
                <a:latin typeface="Arial"/>
                <a:ea typeface="Arial"/>
                <a:cs typeface="Arial"/>
                <a:sym typeface="Arial"/>
              </a:rPr>
              <a:t>Triển khai</a:t>
            </a:r>
            <a:endParaRPr sz="1600">
              <a:solidFill>
                <a:schemeClr val="dk1"/>
              </a:solidFill>
              <a:latin typeface="Calibri"/>
              <a:ea typeface="Calibri"/>
              <a:cs typeface="Calibri"/>
              <a:sym typeface="Calibri"/>
            </a:endParaRPr>
          </a:p>
        </p:txBody>
      </p:sp>
      <p:sp>
        <p:nvSpPr>
          <p:cNvPr id="244" name="Google Shape;244;p5"/>
          <p:cNvSpPr/>
          <p:nvPr/>
        </p:nvSpPr>
        <p:spPr>
          <a:xfrm>
            <a:off x="8924833" y="1816599"/>
            <a:ext cx="2756531" cy="759176"/>
          </a:xfrm>
          <a:custGeom>
            <a:rect b="b" l="l" r="r" t="t"/>
            <a:pathLst>
              <a:path extrusionOk="0" h="759176" w="2756531">
                <a:moveTo>
                  <a:pt x="72304" y="0"/>
                </a:moveTo>
                <a:lnTo>
                  <a:pt x="2684227" y="0"/>
                </a:lnTo>
                <a:cubicBezTo>
                  <a:pt x="2724159" y="0"/>
                  <a:pt x="2756531" y="32372"/>
                  <a:pt x="2756531" y="72304"/>
                </a:cubicBezTo>
                <a:lnTo>
                  <a:pt x="2756531" y="686872"/>
                </a:lnTo>
                <a:cubicBezTo>
                  <a:pt x="2756531" y="726804"/>
                  <a:pt x="2724159" y="759176"/>
                  <a:pt x="2684227" y="759176"/>
                </a:cubicBezTo>
                <a:lnTo>
                  <a:pt x="72304" y="759176"/>
                </a:lnTo>
                <a:cubicBezTo>
                  <a:pt x="32398" y="759176"/>
                  <a:pt x="0" y="726777"/>
                  <a:pt x="0" y="686872"/>
                </a:cubicBezTo>
                <a:lnTo>
                  <a:pt x="0" y="72304"/>
                </a:lnTo>
                <a:cubicBezTo>
                  <a:pt x="0" y="32398"/>
                  <a:pt x="32398" y="0"/>
                  <a:pt x="72304"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9069438" y="1961204"/>
            <a:ext cx="271134" cy="216907"/>
          </a:xfrm>
          <a:custGeom>
            <a:rect b="b" l="l" r="r" t="t"/>
            <a:pathLst>
              <a:path extrusionOk="0" h="216907" w="271134">
                <a:moveTo>
                  <a:pt x="148234" y="100108"/>
                </a:moveTo>
                <a:lnTo>
                  <a:pt x="120231" y="100108"/>
                </a:lnTo>
                <a:lnTo>
                  <a:pt x="120231" y="74943"/>
                </a:lnTo>
                <a:lnTo>
                  <a:pt x="148234" y="74943"/>
                </a:lnTo>
                <a:lnTo>
                  <a:pt x="148234" y="100108"/>
                </a:lnTo>
                <a:close/>
                <a:moveTo>
                  <a:pt x="148234" y="13557"/>
                </a:moveTo>
                <a:lnTo>
                  <a:pt x="120231" y="13557"/>
                </a:lnTo>
                <a:lnTo>
                  <a:pt x="120231" y="39272"/>
                </a:lnTo>
                <a:lnTo>
                  <a:pt x="148234" y="39272"/>
                </a:lnTo>
                <a:lnTo>
                  <a:pt x="148234" y="13557"/>
                </a:lnTo>
                <a:close/>
                <a:moveTo>
                  <a:pt x="181363" y="74901"/>
                </a:moveTo>
                <a:lnTo>
                  <a:pt x="153360" y="74901"/>
                </a:lnTo>
                <a:lnTo>
                  <a:pt x="153360" y="100065"/>
                </a:lnTo>
                <a:lnTo>
                  <a:pt x="181363" y="100065"/>
                </a:lnTo>
                <a:lnTo>
                  <a:pt x="181363" y="74901"/>
                </a:lnTo>
                <a:close/>
                <a:moveTo>
                  <a:pt x="115147" y="44356"/>
                </a:moveTo>
                <a:lnTo>
                  <a:pt x="87144" y="44356"/>
                </a:lnTo>
                <a:lnTo>
                  <a:pt x="87144" y="69817"/>
                </a:lnTo>
                <a:lnTo>
                  <a:pt x="115147" y="69817"/>
                </a:lnTo>
                <a:lnTo>
                  <a:pt x="115147" y="44356"/>
                </a:lnTo>
                <a:close/>
                <a:moveTo>
                  <a:pt x="148234" y="44356"/>
                </a:moveTo>
                <a:lnTo>
                  <a:pt x="120231" y="44356"/>
                </a:lnTo>
                <a:lnTo>
                  <a:pt x="120231" y="69817"/>
                </a:lnTo>
                <a:lnTo>
                  <a:pt x="148234" y="69817"/>
                </a:lnTo>
                <a:lnTo>
                  <a:pt x="148234" y="44356"/>
                </a:lnTo>
                <a:close/>
                <a:moveTo>
                  <a:pt x="265500" y="86721"/>
                </a:moveTo>
                <a:cubicBezTo>
                  <a:pt x="259399" y="82611"/>
                  <a:pt x="245334" y="81128"/>
                  <a:pt x="234531" y="83162"/>
                </a:cubicBezTo>
                <a:cubicBezTo>
                  <a:pt x="233133" y="72994"/>
                  <a:pt x="227456" y="64140"/>
                  <a:pt x="217119" y="56176"/>
                </a:cubicBezTo>
                <a:lnTo>
                  <a:pt x="211188" y="52236"/>
                </a:lnTo>
                <a:lnTo>
                  <a:pt x="207248" y="58167"/>
                </a:lnTo>
                <a:cubicBezTo>
                  <a:pt x="199453" y="69944"/>
                  <a:pt x="197335" y="89347"/>
                  <a:pt x="205681" y="102141"/>
                </a:cubicBezTo>
                <a:cubicBezTo>
                  <a:pt x="201995" y="104132"/>
                  <a:pt x="194751" y="106844"/>
                  <a:pt x="185176" y="106674"/>
                </a:cubicBezTo>
                <a:lnTo>
                  <a:pt x="1017" y="106674"/>
                </a:lnTo>
                <a:cubicBezTo>
                  <a:pt x="-2669" y="128196"/>
                  <a:pt x="3474" y="156156"/>
                  <a:pt x="19657" y="175348"/>
                </a:cubicBezTo>
                <a:cubicBezTo>
                  <a:pt x="35375" y="193946"/>
                  <a:pt x="58929" y="203393"/>
                  <a:pt x="89728" y="203393"/>
                </a:cubicBezTo>
                <a:cubicBezTo>
                  <a:pt x="156411" y="203393"/>
                  <a:pt x="205765" y="172679"/>
                  <a:pt x="228854" y="116884"/>
                </a:cubicBezTo>
                <a:cubicBezTo>
                  <a:pt x="237920" y="117054"/>
                  <a:pt x="257493" y="116927"/>
                  <a:pt x="267533" y="97735"/>
                </a:cubicBezTo>
                <a:cubicBezTo>
                  <a:pt x="268169" y="96676"/>
                  <a:pt x="270329" y="92143"/>
                  <a:pt x="271134" y="90491"/>
                </a:cubicBezTo>
                <a:lnTo>
                  <a:pt x="265500" y="86721"/>
                </a:lnTo>
                <a:close/>
                <a:moveTo>
                  <a:pt x="48974" y="74901"/>
                </a:moveTo>
                <a:lnTo>
                  <a:pt x="21013" y="74901"/>
                </a:lnTo>
                <a:lnTo>
                  <a:pt x="21013" y="100065"/>
                </a:lnTo>
                <a:lnTo>
                  <a:pt x="49016" y="100065"/>
                </a:lnTo>
                <a:lnTo>
                  <a:pt x="49016" y="74901"/>
                </a:lnTo>
                <a:lnTo>
                  <a:pt x="48974" y="74901"/>
                </a:lnTo>
                <a:close/>
                <a:moveTo>
                  <a:pt x="82060" y="74901"/>
                </a:moveTo>
                <a:lnTo>
                  <a:pt x="54057" y="74901"/>
                </a:lnTo>
                <a:lnTo>
                  <a:pt x="54057" y="100065"/>
                </a:lnTo>
                <a:lnTo>
                  <a:pt x="82060" y="100065"/>
                </a:lnTo>
                <a:lnTo>
                  <a:pt x="82060" y="74901"/>
                </a:lnTo>
                <a:close/>
                <a:moveTo>
                  <a:pt x="115147" y="74901"/>
                </a:moveTo>
                <a:lnTo>
                  <a:pt x="87144" y="74901"/>
                </a:lnTo>
                <a:lnTo>
                  <a:pt x="87144" y="100065"/>
                </a:lnTo>
                <a:lnTo>
                  <a:pt x="115147" y="100065"/>
                </a:lnTo>
                <a:lnTo>
                  <a:pt x="115147" y="74901"/>
                </a:lnTo>
                <a:close/>
                <a:moveTo>
                  <a:pt x="82060" y="44356"/>
                </a:moveTo>
                <a:lnTo>
                  <a:pt x="54057" y="44356"/>
                </a:lnTo>
                <a:lnTo>
                  <a:pt x="54057" y="69817"/>
                </a:lnTo>
                <a:lnTo>
                  <a:pt x="82060" y="69817"/>
                </a:lnTo>
                <a:lnTo>
                  <a:pt x="82060" y="44356"/>
                </a:ln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9449026" y="1961204"/>
            <a:ext cx="1292406"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39">
                <a:solidFill>
                  <a:srgbClr val="F8FAFC"/>
                </a:solidFill>
                <a:latin typeface="Arial"/>
                <a:ea typeface="Arial"/>
                <a:cs typeface="Arial"/>
                <a:sym typeface="Arial"/>
              </a:rPr>
              <a:t>Docker Container</a:t>
            </a:r>
            <a:endParaRPr sz="1600">
              <a:solidFill>
                <a:schemeClr val="dk1"/>
              </a:solidFill>
              <a:latin typeface="Calibri"/>
              <a:ea typeface="Calibri"/>
              <a:cs typeface="Calibri"/>
              <a:sym typeface="Calibri"/>
            </a:endParaRPr>
          </a:p>
        </p:txBody>
      </p:sp>
      <p:sp>
        <p:nvSpPr>
          <p:cNvPr id="247" name="Google Shape;247;p5"/>
          <p:cNvSpPr/>
          <p:nvPr/>
        </p:nvSpPr>
        <p:spPr>
          <a:xfrm>
            <a:off x="9069438" y="2250414"/>
            <a:ext cx="2530586" cy="1807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96">
                <a:solidFill>
                  <a:srgbClr val="94A3B8"/>
                </a:solidFill>
                <a:latin typeface="Arial"/>
                <a:ea typeface="Arial"/>
                <a:cs typeface="Arial"/>
                <a:sym typeface="Arial"/>
              </a:rPr>
              <a:t>Container hóa toàn bộ hệ thống n8n</a:t>
            </a:r>
            <a:endParaRPr sz="1600">
              <a:solidFill>
                <a:schemeClr val="dk1"/>
              </a:solidFill>
              <a:latin typeface="Calibri"/>
              <a:ea typeface="Calibri"/>
              <a:cs typeface="Calibri"/>
              <a:sym typeface="Calibri"/>
            </a:endParaRPr>
          </a:p>
        </p:txBody>
      </p:sp>
      <p:sp>
        <p:nvSpPr>
          <p:cNvPr id="248" name="Google Shape;248;p5"/>
          <p:cNvSpPr/>
          <p:nvPr/>
        </p:nvSpPr>
        <p:spPr>
          <a:xfrm>
            <a:off x="8924833" y="2684228"/>
            <a:ext cx="2756531" cy="759176"/>
          </a:xfrm>
          <a:custGeom>
            <a:rect b="b" l="l" r="r" t="t"/>
            <a:pathLst>
              <a:path extrusionOk="0" h="759176" w="2756531">
                <a:moveTo>
                  <a:pt x="72304" y="0"/>
                </a:moveTo>
                <a:lnTo>
                  <a:pt x="2684227" y="0"/>
                </a:lnTo>
                <a:cubicBezTo>
                  <a:pt x="2724159" y="0"/>
                  <a:pt x="2756531" y="32372"/>
                  <a:pt x="2756531" y="72304"/>
                </a:cubicBezTo>
                <a:lnTo>
                  <a:pt x="2756531" y="686872"/>
                </a:lnTo>
                <a:cubicBezTo>
                  <a:pt x="2756531" y="726804"/>
                  <a:pt x="2724159" y="759176"/>
                  <a:pt x="2684227" y="759176"/>
                </a:cubicBezTo>
                <a:lnTo>
                  <a:pt x="72304" y="759176"/>
                </a:lnTo>
                <a:cubicBezTo>
                  <a:pt x="32398" y="759176"/>
                  <a:pt x="0" y="726777"/>
                  <a:pt x="0" y="686872"/>
                </a:cubicBezTo>
                <a:lnTo>
                  <a:pt x="0" y="72304"/>
                </a:lnTo>
                <a:cubicBezTo>
                  <a:pt x="0" y="32398"/>
                  <a:pt x="32398" y="0"/>
                  <a:pt x="72304"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9096552" y="2828833"/>
            <a:ext cx="216907" cy="216907"/>
          </a:xfrm>
          <a:custGeom>
            <a:rect b="b" l="l" r="r" t="t"/>
            <a:pathLst>
              <a:path extrusionOk="0" h="216907" w="216907">
                <a:moveTo>
                  <a:pt x="27113" y="13557"/>
                </a:moveTo>
                <a:cubicBezTo>
                  <a:pt x="12159" y="13557"/>
                  <a:pt x="0" y="25715"/>
                  <a:pt x="0" y="40670"/>
                </a:cubicBezTo>
                <a:lnTo>
                  <a:pt x="0" y="149124"/>
                </a:lnTo>
                <a:cubicBezTo>
                  <a:pt x="0" y="164079"/>
                  <a:pt x="12159" y="176237"/>
                  <a:pt x="27113" y="176237"/>
                </a:cubicBezTo>
                <a:lnTo>
                  <a:pt x="88119" y="176237"/>
                </a:lnTo>
                <a:lnTo>
                  <a:pt x="81340" y="196572"/>
                </a:lnTo>
                <a:lnTo>
                  <a:pt x="50838" y="196572"/>
                </a:lnTo>
                <a:cubicBezTo>
                  <a:pt x="45203" y="196572"/>
                  <a:pt x="40670" y="201105"/>
                  <a:pt x="40670" y="206740"/>
                </a:cubicBezTo>
                <a:cubicBezTo>
                  <a:pt x="40670" y="212374"/>
                  <a:pt x="45203" y="216907"/>
                  <a:pt x="50838" y="216907"/>
                </a:cubicBezTo>
                <a:lnTo>
                  <a:pt x="166070" y="216907"/>
                </a:lnTo>
                <a:cubicBezTo>
                  <a:pt x="171704" y="216907"/>
                  <a:pt x="176237" y="212374"/>
                  <a:pt x="176237" y="206740"/>
                </a:cubicBezTo>
                <a:cubicBezTo>
                  <a:pt x="176237" y="201105"/>
                  <a:pt x="171704" y="196572"/>
                  <a:pt x="166070" y="196572"/>
                </a:cubicBezTo>
                <a:lnTo>
                  <a:pt x="135567" y="196572"/>
                </a:lnTo>
                <a:lnTo>
                  <a:pt x="128789" y="176237"/>
                </a:lnTo>
                <a:lnTo>
                  <a:pt x="189794" y="176237"/>
                </a:lnTo>
                <a:cubicBezTo>
                  <a:pt x="204749" y="176237"/>
                  <a:pt x="216907" y="164079"/>
                  <a:pt x="216907" y="149124"/>
                </a:cubicBezTo>
                <a:lnTo>
                  <a:pt x="216907" y="40670"/>
                </a:lnTo>
                <a:cubicBezTo>
                  <a:pt x="216907" y="25715"/>
                  <a:pt x="204749" y="13557"/>
                  <a:pt x="189794" y="13557"/>
                </a:cubicBezTo>
                <a:lnTo>
                  <a:pt x="27113" y="13557"/>
                </a:lnTo>
                <a:close/>
                <a:moveTo>
                  <a:pt x="40670" y="40670"/>
                </a:moveTo>
                <a:lnTo>
                  <a:pt x="176237" y="40670"/>
                </a:lnTo>
                <a:cubicBezTo>
                  <a:pt x="183736" y="40670"/>
                  <a:pt x="189794" y="46728"/>
                  <a:pt x="189794" y="54227"/>
                </a:cubicBezTo>
                <a:lnTo>
                  <a:pt x="189794" y="122010"/>
                </a:lnTo>
                <a:cubicBezTo>
                  <a:pt x="189794" y="129509"/>
                  <a:pt x="183736" y="135567"/>
                  <a:pt x="176237" y="135567"/>
                </a:cubicBezTo>
                <a:lnTo>
                  <a:pt x="40670" y="135567"/>
                </a:lnTo>
                <a:cubicBezTo>
                  <a:pt x="33172" y="135567"/>
                  <a:pt x="27113" y="129509"/>
                  <a:pt x="27113" y="122010"/>
                </a:cubicBezTo>
                <a:lnTo>
                  <a:pt x="27113" y="54227"/>
                </a:lnTo>
                <a:cubicBezTo>
                  <a:pt x="27113" y="46728"/>
                  <a:pt x="33172" y="40670"/>
                  <a:pt x="40670" y="4067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
          <p:cNvSpPr/>
          <p:nvPr/>
        </p:nvSpPr>
        <p:spPr>
          <a:xfrm>
            <a:off x="9449026" y="2828833"/>
            <a:ext cx="958007"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39">
                <a:solidFill>
                  <a:srgbClr val="F8FAFC"/>
                </a:solidFill>
                <a:latin typeface="Arial"/>
                <a:ea typeface="Arial"/>
                <a:cs typeface="Arial"/>
                <a:sym typeface="Arial"/>
              </a:rPr>
              <a:t>Local/Server</a:t>
            </a:r>
            <a:endParaRPr sz="1600">
              <a:solidFill>
                <a:schemeClr val="dk1"/>
              </a:solidFill>
              <a:latin typeface="Calibri"/>
              <a:ea typeface="Calibri"/>
              <a:cs typeface="Calibri"/>
              <a:sym typeface="Calibri"/>
            </a:endParaRPr>
          </a:p>
        </p:txBody>
      </p:sp>
      <p:sp>
        <p:nvSpPr>
          <p:cNvPr id="251" name="Google Shape;251;p5"/>
          <p:cNvSpPr/>
          <p:nvPr/>
        </p:nvSpPr>
        <p:spPr>
          <a:xfrm>
            <a:off x="9069438" y="3118043"/>
            <a:ext cx="2530586" cy="1807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96">
                <a:solidFill>
                  <a:srgbClr val="94A3B8"/>
                </a:solidFill>
                <a:latin typeface="Arial"/>
                <a:ea typeface="Arial"/>
                <a:cs typeface="Arial"/>
                <a:sym typeface="Arial"/>
              </a:rPr>
              <a:t>Chạy local hoặc server cá nhân</a:t>
            </a:r>
            <a:endParaRPr sz="1600">
              <a:solidFill>
                <a:schemeClr val="dk1"/>
              </a:solidFill>
              <a:latin typeface="Calibri"/>
              <a:ea typeface="Calibri"/>
              <a:cs typeface="Calibri"/>
              <a:sym typeface="Calibri"/>
            </a:endParaRPr>
          </a:p>
        </p:txBody>
      </p:sp>
      <p:sp>
        <p:nvSpPr>
          <p:cNvPr id="252" name="Google Shape;252;p5"/>
          <p:cNvSpPr/>
          <p:nvPr/>
        </p:nvSpPr>
        <p:spPr>
          <a:xfrm>
            <a:off x="8924833" y="3551858"/>
            <a:ext cx="2756531" cy="759176"/>
          </a:xfrm>
          <a:custGeom>
            <a:rect b="b" l="l" r="r" t="t"/>
            <a:pathLst>
              <a:path extrusionOk="0" h="759176" w="2756531">
                <a:moveTo>
                  <a:pt x="72304" y="0"/>
                </a:moveTo>
                <a:lnTo>
                  <a:pt x="2684227" y="0"/>
                </a:lnTo>
                <a:cubicBezTo>
                  <a:pt x="2724159" y="0"/>
                  <a:pt x="2756531" y="32372"/>
                  <a:pt x="2756531" y="72304"/>
                </a:cubicBezTo>
                <a:lnTo>
                  <a:pt x="2756531" y="686872"/>
                </a:lnTo>
                <a:cubicBezTo>
                  <a:pt x="2756531" y="726804"/>
                  <a:pt x="2724159" y="759176"/>
                  <a:pt x="2684227" y="759176"/>
                </a:cubicBezTo>
                <a:lnTo>
                  <a:pt x="72304" y="759176"/>
                </a:lnTo>
                <a:cubicBezTo>
                  <a:pt x="32398" y="759176"/>
                  <a:pt x="0" y="726777"/>
                  <a:pt x="0" y="686872"/>
                </a:cubicBezTo>
                <a:lnTo>
                  <a:pt x="0" y="72304"/>
                </a:lnTo>
                <a:cubicBezTo>
                  <a:pt x="0" y="32398"/>
                  <a:pt x="32398" y="0"/>
                  <a:pt x="72304"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
          <p:cNvSpPr/>
          <p:nvPr/>
        </p:nvSpPr>
        <p:spPr>
          <a:xfrm>
            <a:off x="9096552" y="3696463"/>
            <a:ext cx="216907" cy="216907"/>
          </a:xfrm>
          <a:custGeom>
            <a:rect b="b" l="l" r="r" t="t"/>
            <a:pathLst>
              <a:path extrusionOk="0" h="216907" w="216907">
                <a:moveTo>
                  <a:pt x="27918" y="96803"/>
                </a:moveTo>
                <a:cubicBezTo>
                  <a:pt x="33553" y="57404"/>
                  <a:pt x="67487" y="27113"/>
                  <a:pt x="108454" y="27113"/>
                </a:cubicBezTo>
                <a:cubicBezTo>
                  <a:pt x="130907" y="27113"/>
                  <a:pt x="151242" y="36222"/>
                  <a:pt x="165985" y="50922"/>
                </a:cubicBezTo>
                <a:cubicBezTo>
                  <a:pt x="166070" y="51007"/>
                  <a:pt x="166154" y="51092"/>
                  <a:pt x="166239" y="51177"/>
                </a:cubicBezTo>
                <a:lnTo>
                  <a:pt x="169459" y="54227"/>
                </a:lnTo>
                <a:lnTo>
                  <a:pt x="149166" y="54227"/>
                </a:lnTo>
                <a:cubicBezTo>
                  <a:pt x="141668" y="54227"/>
                  <a:pt x="135609" y="60285"/>
                  <a:pt x="135609" y="67784"/>
                </a:cubicBezTo>
                <a:cubicBezTo>
                  <a:pt x="135609" y="75282"/>
                  <a:pt x="141668" y="81340"/>
                  <a:pt x="149166" y="81340"/>
                </a:cubicBezTo>
                <a:lnTo>
                  <a:pt x="203393" y="81340"/>
                </a:lnTo>
                <a:cubicBezTo>
                  <a:pt x="210892" y="81340"/>
                  <a:pt x="216950" y="75282"/>
                  <a:pt x="216950" y="67784"/>
                </a:cubicBezTo>
                <a:lnTo>
                  <a:pt x="216950" y="13557"/>
                </a:lnTo>
                <a:cubicBezTo>
                  <a:pt x="216950" y="6058"/>
                  <a:pt x="210892" y="0"/>
                  <a:pt x="203393" y="0"/>
                </a:cubicBezTo>
                <a:cubicBezTo>
                  <a:pt x="195894" y="0"/>
                  <a:pt x="189836" y="6058"/>
                  <a:pt x="189836" y="13557"/>
                </a:cubicBezTo>
                <a:lnTo>
                  <a:pt x="189836" y="36179"/>
                </a:lnTo>
                <a:lnTo>
                  <a:pt x="185049" y="31646"/>
                </a:lnTo>
                <a:cubicBezTo>
                  <a:pt x="165434" y="12116"/>
                  <a:pt x="138321" y="0"/>
                  <a:pt x="108454" y="0"/>
                </a:cubicBezTo>
                <a:cubicBezTo>
                  <a:pt x="53803" y="0"/>
                  <a:pt x="8600" y="40416"/>
                  <a:pt x="1101" y="92991"/>
                </a:cubicBezTo>
                <a:cubicBezTo>
                  <a:pt x="42" y="100404"/>
                  <a:pt x="5168" y="107267"/>
                  <a:pt x="12582" y="108327"/>
                </a:cubicBezTo>
                <a:cubicBezTo>
                  <a:pt x="19996" y="109386"/>
                  <a:pt x="26859" y="104217"/>
                  <a:pt x="27918" y="96846"/>
                </a:cubicBezTo>
                <a:close/>
                <a:moveTo>
                  <a:pt x="215806" y="123917"/>
                </a:moveTo>
                <a:cubicBezTo>
                  <a:pt x="216865" y="116503"/>
                  <a:pt x="211696" y="109640"/>
                  <a:pt x="204325" y="108581"/>
                </a:cubicBezTo>
                <a:cubicBezTo>
                  <a:pt x="196954" y="107522"/>
                  <a:pt x="190048" y="112690"/>
                  <a:pt x="188989" y="120062"/>
                </a:cubicBezTo>
                <a:cubicBezTo>
                  <a:pt x="183354" y="159461"/>
                  <a:pt x="149420" y="189752"/>
                  <a:pt x="108454" y="189752"/>
                </a:cubicBezTo>
                <a:cubicBezTo>
                  <a:pt x="86000" y="189752"/>
                  <a:pt x="65665" y="180643"/>
                  <a:pt x="50922" y="165943"/>
                </a:cubicBezTo>
                <a:cubicBezTo>
                  <a:pt x="50838" y="165858"/>
                  <a:pt x="50753" y="165773"/>
                  <a:pt x="50668" y="165688"/>
                </a:cubicBezTo>
                <a:lnTo>
                  <a:pt x="47448" y="162638"/>
                </a:lnTo>
                <a:lnTo>
                  <a:pt x="67741" y="162638"/>
                </a:lnTo>
                <a:cubicBezTo>
                  <a:pt x="75240" y="162638"/>
                  <a:pt x="81298" y="156580"/>
                  <a:pt x="81298" y="149081"/>
                </a:cubicBezTo>
                <a:cubicBezTo>
                  <a:pt x="81298" y="141583"/>
                  <a:pt x="75240" y="135525"/>
                  <a:pt x="67741" y="135525"/>
                </a:cubicBezTo>
                <a:lnTo>
                  <a:pt x="13557" y="135567"/>
                </a:lnTo>
                <a:cubicBezTo>
                  <a:pt x="9956" y="135567"/>
                  <a:pt x="6482" y="137007"/>
                  <a:pt x="3940" y="139592"/>
                </a:cubicBezTo>
                <a:cubicBezTo>
                  <a:pt x="1398" y="142176"/>
                  <a:pt x="-42" y="145608"/>
                  <a:pt x="0" y="149251"/>
                </a:cubicBezTo>
                <a:lnTo>
                  <a:pt x="424" y="203054"/>
                </a:lnTo>
                <a:cubicBezTo>
                  <a:pt x="466" y="210553"/>
                  <a:pt x="6609" y="216568"/>
                  <a:pt x="14107" y="216484"/>
                </a:cubicBezTo>
                <a:cubicBezTo>
                  <a:pt x="21606" y="216399"/>
                  <a:pt x="27622" y="210298"/>
                  <a:pt x="27537" y="202800"/>
                </a:cubicBezTo>
                <a:lnTo>
                  <a:pt x="27368" y="180982"/>
                </a:lnTo>
                <a:lnTo>
                  <a:pt x="31901" y="185261"/>
                </a:lnTo>
                <a:cubicBezTo>
                  <a:pt x="51515" y="204791"/>
                  <a:pt x="78587" y="216907"/>
                  <a:pt x="108454" y="216907"/>
                </a:cubicBezTo>
                <a:cubicBezTo>
                  <a:pt x="163104" y="216907"/>
                  <a:pt x="208307" y="176491"/>
                  <a:pt x="215806" y="123917"/>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9449026" y="3696463"/>
            <a:ext cx="958007" cy="216907"/>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39">
                <a:solidFill>
                  <a:srgbClr val="F8FAFC"/>
                </a:solidFill>
                <a:latin typeface="Arial"/>
                <a:ea typeface="Arial"/>
                <a:cs typeface="Arial"/>
                <a:sym typeface="Arial"/>
              </a:rPr>
              <a:t>Auto-scaling</a:t>
            </a:r>
            <a:endParaRPr sz="1600">
              <a:solidFill>
                <a:schemeClr val="dk1"/>
              </a:solidFill>
              <a:latin typeface="Calibri"/>
              <a:ea typeface="Calibri"/>
              <a:cs typeface="Calibri"/>
              <a:sym typeface="Calibri"/>
            </a:endParaRPr>
          </a:p>
        </p:txBody>
      </p:sp>
      <p:sp>
        <p:nvSpPr>
          <p:cNvPr id="255" name="Google Shape;255;p5"/>
          <p:cNvSpPr/>
          <p:nvPr/>
        </p:nvSpPr>
        <p:spPr>
          <a:xfrm>
            <a:off x="9069438" y="3985672"/>
            <a:ext cx="2530586" cy="18075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96">
                <a:solidFill>
                  <a:srgbClr val="94A3B8"/>
                </a:solidFill>
                <a:latin typeface="Arial"/>
                <a:ea typeface="Arial"/>
                <a:cs typeface="Arial"/>
                <a:sym typeface="Arial"/>
              </a:rPr>
              <a:t>Dễ dàng mở rộng khi cần</a:t>
            </a:r>
            <a:endParaRPr sz="1600">
              <a:solidFill>
                <a:schemeClr val="dk1"/>
              </a:solidFill>
              <a:latin typeface="Calibri"/>
              <a:ea typeface="Calibri"/>
              <a:cs typeface="Calibri"/>
              <a:sym typeface="Calibri"/>
            </a:endParaRPr>
          </a:p>
        </p:txBody>
      </p:sp>
      <p:sp>
        <p:nvSpPr>
          <p:cNvPr id="256" name="Google Shape;256;p5"/>
          <p:cNvSpPr/>
          <p:nvPr/>
        </p:nvSpPr>
        <p:spPr>
          <a:xfrm>
            <a:off x="8929352" y="6294832"/>
            <a:ext cx="2747493" cy="406701"/>
          </a:xfrm>
          <a:custGeom>
            <a:rect b="b" l="l" r="r" t="t"/>
            <a:pathLst>
              <a:path extrusionOk="0" h="406701" w="2747493">
                <a:moveTo>
                  <a:pt x="72303" y="0"/>
                </a:moveTo>
                <a:lnTo>
                  <a:pt x="2675190" y="0"/>
                </a:lnTo>
                <a:cubicBezTo>
                  <a:pt x="2715122" y="0"/>
                  <a:pt x="2747493" y="32371"/>
                  <a:pt x="2747493" y="72303"/>
                </a:cubicBezTo>
                <a:lnTo>
                  <a:pt x="2747493" y="334398"/>
                </a:lnTo>
                <a:cubicBezTo>
                  <a:pt x="2747493" y="374330"/>
                  <a:pt x="2715122" y="406701"/>
                  <a:pt x="2675190" y="406701"/>
                </a:cubicBezTo>
                <a:lnTo>
                  <a:pt x="72303" y="406701"/>
                </a:lnTo>
                <a:cubicBezTo>
                  <a:pt x="32398" y="406701"/>
                  <a:pt x="0" y="374303"/>
                  <a:pt x="0" y="334398"/>
                </a:cubicBezTo>
                <a:lnTo>
                  <a:pt x="0" y="72303"/>
                </a:lnTo>
                <a:cubicBezTo>
                  <a:pt x="0" y="32398"/>
                  <a:pt x="32398" y="0"/>
                  <a:pt x="72303" y="0"/>
                </a:cubicBezTo>
                <a:close/>
              </a:path>
            </a:pathLst>
          </a:custGeom>
          <a:solidFill>
            <a:srgbClr val="F59E0B">
              <a:alpha val="9803"/>
            </a:srgbClr>
          </a:solidFill>
          <a:ln cap="flat" cmpd="sng" w="12700">
            <a:solidFill>
              <a:srgbClr val="F59E0B">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p:nvPr/>
        </p:nvSpPr>
        <p:spPr>
          <a:xfrm>
            <a:off x="9445213" y="6443956"/>
            <a:ext cx="126529" cy="126529"/>
          </a:xfrm>
          <a:custGeom>
            <a:rect b="b" l="l" r="r" t="t"/>
            <a:pathLst>
              <a:path extrusionOk="0" h="126529" w="126529">
                <a:moveTo>
                  <a:pt x="63265" y="126529"/>
                </a:moveTo>
                <a:cubicBezTo>
                  <a:pt x="98181" y="126529"/>
                  <a:pt x="126529" y="98181"/>
                  <a:pt x="126529" y="63265"/>
                </a:cubicBezTo>
                <a:cubicBezTo>
                  <a:pt x="126529" y="28348"/>
                  <a:pt x="98181" y="0"/>
                  <a:pt x="63265" y="0"/>
                </a:cubicBezTo>
                <a:cubicBezTo>
                  <a:pt x="28348" y="0"/>
                  <a:pt x="0" y="28348"/>
                  <a:pt x="0" y="63265"/>
                </a:cubicBezTo>
                <a:cubicBezTo>
                  <a:pt x="0" y="98181"/>
                  <a:pt x="28348" y="126529"/>
                  <a:pt x="63265" y="126529"/>
                </a:cubicBezTo>
                <a:close/>
                <a:moveTo>
                  <a:pt x="84122" y="52564"/>
                </a:moveTo>
                <a:lnTo>
                  <a:pt x="64352" y="84196"/>
                </a:lnTo>
                <a:cubicBezTo>
                  <a:pt x="63314" y="85852"/>
                  <a:pt x="61535" y="86890"/>
                  <a:pt x="59582" y="86989"/>
                </a:cubicBezTo>
                <a:cubicBezTo>
                  <a:pt x="57630" y="87088"/>
                  <a:pt x="55752" y="86198"/>
                  <a:pt x="54590" y="84616"/>
                </a:cubicBezTo>
                <a:lnTo>
                  <a:pt x="42728" y="68800"/>
                </a:lnTo>
                <a:cubicBezTo>
                  <a:pt x="40751" y="66181"/>
                  <a:pt x="41295" y="62474"/>
                  <a:pt x="43915" y="60497"/>
                </a:cubicBezTo>
                <a:cubicBezTo>
                  <a:pt x="46534" y="58520"/>
                  <a:pt x="50241" y="59063"/>
                  <a:pt x="52218" y="61683"/>
                </a:cubicBezTo>
                <a:lnTo>
                  <a:pt x="58890" y="70580"/>
                </a:lnTo>
                <a:lnTo>
                  <a:pt x="74064" y="46287"/>
                </a:lnTo>
                <a:cubicBezTo>
                  <a:pt x="75794" y="43519"/>
                  <a:pt x="79451" y="42654"/>
                  <a:pt x="82244" y="44409"/>
                </a:cubicBezTo>
                <a:cubicBezTo>
                  <a:pt x="85037" y="46163"/>
                  <a:pt x="85877" y="49796"/>
                  <a:pt x="84122" y="52589"/>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9224826" y="6407804"/>
            <a:ext cx="2370679" cy="180756"/>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996">
                <a:solidFill>
                  <a:srgbClr val="F59E0B"/>
                </a:solidFill>
                <a:latin typeface="Arial"/>
                <a:ea typeface="Arial"/>
                <a:cs typeface="Arial"/>
                <a:sym typeface="Arial"/>
              </a:rPr>
              <a:t>Đảm bảo tính nhất quán</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3" name="Shape 263"/>
        <p:cNvGrpSpPr/>
        <p:nvPr/>
      </p:nvGrpSpPr>
      <p:grpSpPr>
        <a:xfrm>
          <a:off x="0" y="0"/>
          <a:ext cx="0" cy="0"/>
          <a:chOff x="0" y="0"/>
          <a:chExt cx="0" cy="0"/>
        </a:xfrm>
      </p:grpSpPr>
      <p:sp>
        <p:nvSpPr>
          <p:cNvPr id="264" name="Google Shape;264;p6"/>
          <p:cNvSpPr/>
          <p:nvPr/>
        </p:nvSpPr>
        <p:spPr>
          <a:xfrm>
            <a:off x="381000" y="381000"/>
            <a:ext cx="115062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10B981"/>
                </a:solidFill>
                <a:latin typeface="Arial"/>
                <a:ea typeface="Arial"/>
                <a:cs typeface="Arial"/>
                <a:sym typeface="Arial"/>
              </a:rPr>
              <a:t>04 / PHƯƠNG PHÁP THỰC HIỆN</a:t>
            </a:r>
            <a:endParaRPr sz="1600">
              <a:solidFill>
                <a:schemeClr val="dk1"/>
              </a:solidFill>
              <a:latin typeface="Calibri"/>
              <a:ea typeface="Calibri"/>
              <a:cs typeface="Calibri"/>
              <a:sym typeface="Calibri"/>
            </a:endParaRPr>
          </a:p>
        </p:txBody>
      </p:sp>
      <p:sp>
        <p:nvSpPr>
          <p:cNvPr id="265" name="Google Shape;265;p6"/>
          <p:cNvSpPr/>
          <p:nvPr/>
        </p:nvSpPr>
        <p:spPr>
          <a:xfrm>
            <a:off x="381000" y="685800"/>
            <a:ext cx="11601450"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700">
                <a:solidFill>
                  <a:srgbClr val="F8FAFC"/>
                </a:solidFill>
                <a:latin typeface="Arial"/>
                <a:ea typeface="Arial"/>
                <a:cs typeface="Arial"/>
                <a:sym typeface="Arial"/>
              </a:rPr>
              <a:t>5 bước phát triển hệ thống</a:t>
            </a:r>
            <a:endParaRPr sz="1600">
              <a:solidFill>
                <a:schemeClr val="dk1"/>
              </a:solidFill>
              <a:latin typeface="Calibri"/>
              <a:ea typeface="Calibri"/>
              <a:cs typeface="Calibri"/>
              <a:sym typeface="Calibri"/>
            </a:endParaRPr>
          </a:p>
        </p:txBody>
      </p:sp>
      <p:sp>
        <p:nvSpPr>
          <p:cNvPr id="266" name="Google Shape;266;p6"/>
          <p:cNvSpPr/>
          <p:nvPr/>
        </p:nvSpPr>
        <p:spPr>
          <a:xfrm>
            <a:off x="381000" y="1181100"/>
            <a:ext cx="914400" cy="38100"/>
          </a:xfrm>
          <a:custGeom>
            <a:rect b="b" l="l" r="r" t="t"/>
            <a:pathLst>
              <a:path extrusionOk="0" h="38100" w="914400">
                <a:moveTo>
                  <a:pt x="0" y="0"/>
                </a:moveTo>
                <a:lnTo>
                  <a:pt x="914400" y="0"/>
                </a:lnTo>
                <a:lnTo>
                  <a:pt x="914400" y="38100"/>
                </a:lnTo>
                <a:lnTo>
                  <a:pt x="0" y="38100"/>
                </a:lnTo>
                <a:lnTo>
                  <a:pt x="0" y="0"/>
                </a:lnTo>
                <a:close/>
              </a:path>
            </a:pathLst>
          </a:custGeom>
          <a:gradFill>
            <a:gsLst>
              <a:gs pos="0">
                <a:srgbClr val="10B981"/>
              </a:gs>
              <a:gs pos="100000">
                <a:srgbClr val="06B6D4"/>
              </a:gs>
            </a:gsLst>
            <a:lin ang="0" scaled="0"/>
          </a:gradFill>
          <a:ln>
            <a:noFill/>
          </a:ln>
        </p:spPr>
      </p:sp>
      <p:sp>
        <p:nvSpPr>
          <p:cNvPr id="267" name="Google Shape;267;p6"/>
          <p:cNvSpPr/>
          <p:nvPr/>
        </p:nvSpPr>
        <p:spPr>
          <a:xfrm>
            <a:off x="400050" y="1295400"/>
            <a:ext cx="8201025" cy="1028700"/>
          </a:xfrm>
          <a:custGeom>
            <a:rect b="b" l="l" r="r" t="t"/>
            <a:pathLst>
              <a:path extrusionOk="0" h="1028700" w="8201025">
                <a:moveTo>
                  <a:pt x="38100" y="0"/>
                </a:moveTo>
                <a:lnTo>
                  <a:pt x="8086726" y="0"/>
                </a:lnTo>
                <a:cubicBezTo>
                  <a:pt x="8149852" y="0"/>
                  <a:pt x="8201025" y="51173"/>
                  <a:pt x="8201025" y="114299"/>
                </a:cubicBezTo>
                <a:lnTo>
                  <a:pt x="8201025" y="914401"/>
                </a:lnTo>
                <a:cubicBezTo>
                  <a:pt x="8201025" y="977527"/>
                  <a:pt x="8149852" y="1028700"/>
                  <a:pt x="8086726" y="1028700"/>
                </a:cubicBezTo>
                <a:lnTo>
                  <a:pt x="38100" y="1028700"/>
                </a:lnTo>
                <a:cubicBezTo>
                  <a:pt x="17072" y="1028700"/>
                  <a:pt x="0" y="1011628"/>
                  <a:pt x="0" y="990600"/>
                </a:cubicBezTo>
                <a:lnTo>
                  <a:pt x="0" y="38100"/>
                </a:lnTo>
                <a:cubicBezTo>
                  <a:pt x="0" y="17072"/>
                  <a:pt x="17072" y="0"/>
                  <a:pt x="38100" y="0"/>
                </a:cubicBezTo>
                <a:close/>
              </a:path>
            </a:pathLst>
          </a:custGeom>
          <a:gradFill>
            <a:gsLst>
              <a:gs pos="0">
                <a:srgbClr val="3B82F6">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400050" y="1295400"/>
            <a:ext cx="38100" cy="1028700"/>
          </a:xfrm>
          <a:custGeom>
            <a:rect b="b" l="l" r="r" t="t"/>
            <a:pathLst>
              <a:path extrusionOk="0" h="1028700" w="381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6"/>
          <p:cNvSpPr/>
          <p:nvPr/>
        </p:nvSpPr>
        <p:spPr>
          <a:xfrm>
            <a:off x="533400" y="154305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6"/>
          <p:cNvSpPr/>
          <p:nvPr/>
        </p:nvSpPr>
        <p:spPr>
          <a:xfrm>
            <a:off x="751880" y="1662113"/>
            <a:ext cx="209550"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FFFFFF"/>
                </a:solidFill>
                <a:latin typeface="Arial"/>
                <a:ea typeface="Arial"/>
                <a:cs typeface="Arial"/>
                <a:sym typeface="Arial"/>
              </a:rPr>
              <a:t>1</a:t>
            </a:r>
            <a:endParaRPr sz="1600">
              <a:solidFill>
                <a:schemeClr val="dk1"/>
              </a:solidFill>
              <a:latin typeface="Calibri"/>
              <a:ea typeface="Calibri"/>
              <a:cs typeface="Calibri"/>
              <a:sym typeface="Calibri"/>
            </a:endParaRPr>
          </a:p>
        </p:txBody>
      </p:sp>
      <p:sp>
        <p:nvSpPr>
          <p:cNvPr id="271" name="Google Shape;271;p6"/>
          <p:cNvSpPr/>
          <p:nvPr/>
        </p:nvSpPr>
        <p:spPr>
          <a:xfrm>
            <a:off x="1219200" y="1409700"/>
            <a:ext cx="5381625"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50">
                <a:solidFill>
                  <a:srgbClr val="F8FAFC"/>
                </a:solidFill>
                <a:latin typeface="Arial"/>
                <a:ea typeface="Arial"/>
                <a:cs typeface="Arial"/>
                <a:sym typeface="Arial"/>
              </a:rPr>
              <a:t>Phân tích yêu cầu</a:t>
            </a:r>
            <a:endParaRPr sz="1600">
              <a:solidFill>
                <a:schemeClr val="dk1"/>
              </a:solidFill>
              <a:latin typeface="Calibri"/>
              <a:ea typeface="Calibri"/>
              <a:cs typeface="Calibri"/>
              <a:sym typeface="Calibri"/>
            </a:endParaRPr>
          </a:p>
        </p:txBody>
      </p:sp>
      <p:sp>
        <p:nvSpPr>
          <p:cNvPr id="272" name="Google Shape;272;p6"/>
          <p:cNvSpPr/>
          <p:nvPr/>
        </p:nvSpPr>
        <p:spPr>
          <a:xfrm>
            <a:off x="1219200" y="1714500"/>
            <a:ext cx="537210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Xác định </a:t>
            </a:r>
            <a:r>
              <a:rPr b="1" lang="en-US" sz="1200">
                <a:solidFill>
                  <a:srgbClr val="3B82F6"/>
                </a:solidFill>
                <a:latin typeface="Arial"/>
                <a:ea typeface="Arial"/>
                <a:cs typeface="Arial"/>
                <a:sym typeface="Arial"/>
              </a:rPr>
              <a:t>use case</a:t>
            </a:r>
            <a:r>
              <a:rPr lang="en-US" sz="1200">
                <a:solidFill>
                  <a:srgbClr val="94A3B8"/>
                </a:solidFill>
                <a:latin typeface="Arial"/>
                <a:ea typeface="Arial"/>
                <a:cs typeface="Arial"/>
                <a:sym typeface="Arial"/>
              </a:rPr>
              <a:t>, </a:t>
            </a:r>
            <a:r>
              <a:rPr b="1" lang="en-US" sz="1200">
                <a:solidFill>
                  <a:srgbClr val="3B82F6"/>
                </a:solidFill>
                <a:latin typeface="Arial"/>
                <a:ea typeface="Arial"/>
                <a:cs typeface="Arial"/>
                <a:sym typeface="Arial"/>
              </a:rPr>
              <a:t>user story</a:t>
            </a:r>
            <a:r>
              <a:rPr lang="en-US" sz="1200">
                <a:solidFill>
                  <a:srgbClr val="94A3B8"/>
                </a:solidFill>
                <a:latin typeface="Arial"/>
                <a:ea typeface="Arial"/>
                <a:cs typeface="Arial"/>
                <a:sym typeface="Arial"/>
              </a:rPr>
              <a:t>, quy trình nghiệp vụ tra cứu phim và rạp chiếu. Phỏng vấn người dùng tiềm năng để hiểu nhu cầu thực tế.</a:t>
            </a:r>
            <a:endParaRPr sz="1600">
              <a:solidFill>
                <a:schemeClr val="dk1"/>
              </a:solidFill>
              <a:latin typeface="Calibri"/>
              <a:ea typeface="Calibri"/>
              <a:cs typeface="Calibri"/>
              <a:sym typeface="Calibri"/>
            </a:endParaRPr>
          </a:p>
        </p:txBody>
      </p:sp>
      <p:sp>
        <p:nvSpPr>
          <p:cNvPr id="273" name="Google Shape;273;p6"/>
          <p:cNvSpPr/>
          <p:nvPr/>
        </p:nvSpPr>
        <p:spPr>
          <a:xfrm>
            <a:off x="6671816" y="1676400"/>
            <a:ext cx="904875" cy="266700"/>
          </a:xfrm>
          <a:custGeom>
            <a:rect b="b" l="l" r="r" t="t"/>
            <a:pathLst>
              <a:path extrusionOk="0" h="266700" w="904875">
                <a:moveTo>
                  <a:pt x="133350" y="0"/>
                </a:moveTo>
                <a:lnTo>
                  <a:pt x="771525" y="0"/>
                </a:lnTo>
                <a:cubicBezTo>
                  <a:pt x="845123" y="0"/>
                  <a:pt x="904875" y="59752"/>
                  <a:pt x="904875" y="133350"/>
                </a:cubicBezTo>
                <a:lnTo>
                  <a:pt x="904875" y="133350"/>
                </a:lnTo>
                <a:cubicBezTo>
                  <a:pt x="904875" y="206948"/>
                  <a:pt x="845123" y="266700"/>
                  <a:pt x="771525" y="266700"/>
                </a:cubicBezTo>
                <a:lnTo>
                  <a:pt x="133350" y="266700"/>
                </a:lnTo>
                <a:cubicBezTo>
                  <a:pt x="59752" y="266700"/>
                  <a:pt x="0" y="206948"/>
                  <a:pt x="0" y="133350"/>
                </a:cubicBezTo>
                <a:lnTo>
                  <a:pt x="0" y="133350"/>
                </a:lnTo>
                <a:cubicBezTo>
                  <a:pt x="0" y="59752"/>
                  <a:pt x="59752" y="0"/>
                  <a:pt x="133350"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a:off x="6671816" y="1676400"/>
            <a:ext cx="9715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3B82F6"/>
                </a:solidFill>
                <a:latin typeface="Arial"/>
                <a:ea typeface="Arial"/>
                <a:cs typeface="Arial"/>
                <a:sym typeface="Arial"/>
              </a:rPr>
              <a:t>User Story</a:t>
            </a:r>
            <a:endParaRPr sz="1600">
              <a:solidFill>
                <a:schemeClr val="dk1"/>
              </a:solidFill>
              <a:latin typeface="Calibri"/>
              <a:ea typeface="Calibri"/>
              <a:cs typeface="Calibri"/>
              <a:sym typeface="Calibri"/>
            </a:endParaRPr>
          </a:p>
        </p:txBody>
      </p:sp>
      <p:sp>
        <p:nvSpPr>
          <p:cNvPr id="275" name="Google Shape;275;p6"/>
          <p:cNvSpPr/>
          <p:nvPr/>
        </p:nvSpPr>
        <p:spPr>
          <a:xfrm>
            <a:off x="7653337" y="1676400"/>
            <a:ext cx="828675" cy="266700"/>
          </a:xfrm>
          <a:custGeom>
            <a:rect b="b" l="l" r="r" t="t"/>
            <a:pathLst>
              <a:path extrusionOk="0" h="266700" w="828675">
                <a:moveTo>
                  <a:pt x="133350" y="0"/>
                </a:moveTo>
                <a:lnTo>
                  <a:pt x="695325" y="0"/>
                </a:lnTo>
                <a:cubicBezTo>
                  <a:pt x="768923" y="0"/>
                  <a:pt x="828675" y="59752"/>
                  <a:pt x="828675" y="133350"/>
                </a:cubicBezTo>
                <a:lnTo>
                  <a:pt x="828675" y="133350"/>
                </a:lnTo>
                <a:cubicBezTo>
                  <a:pt x="828675" y="206948"/>
                  <a:pt x="768923" y="266700"/>
                  <a:pt x="695325" y="266700"/>
                </a:cubicBezTo>
                <a:lnTo>
                  <a:pt x="133350" y="266700"/>
                </a:lnTo>
                <a:cubicBezTo>
                  <a:pt x="59752" y="266700"/>
                  <a:pt x="0" y="206948"/>
                  <a:pt x="0" y="133350"/>
                </a:cubicBezTo>
                <a:lnTo>
                  <a:pt x="0" y="133350"/>
                </a:lnTo>
                <a:cubicBezTo>
                  <a:pt x="0" y="59752"/>
                  <a:pt x="59752" y="0"/>
                  <a:pt x="133350"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6"/>
          <p:cNvSpPr/>
          <p:nvPr/>
        </p:nvSpPr>
        <p:spPr>
          <a:xfrm>
            <a:off x="7653337" y="1676400"/>
            <a:ext cx="8953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3B82F6"/>
                </a:solidFill>
                <a:latin typeface="Arial"/>
                <a:ea typeface="Arial"/>
                <a:cs typeface="Arial"/>
                <a:sym typeface="Arial"/>
              </a:rPr>
              <a:t>Use Case</a:t>
            </a:r>
            <a:endParaRPr sz="1600">
              <a:solidFill>
                <a:schemeClr val="dk1"/>
              </a:solidFill>
              <a:latin typeface="Calibri"/>
              <a:ea typeface="Calibri"/>
              <a:cs typeface="Calibri"/>
              <a:sym typeface="Calibri"/>
            </a:endParaRPr>
          </a:p>
        </p:txBody>
      </p:sp>
      <p:sp>
        <p:nvSpPr>
          <p:cNvPr id="277" name="Google Shape;277;p6"/>
          <p:cNvSpPr/>
          <p:nvPr/>
        </p:nvSpPr>
        <p:spPr>
          <a:xfrm>
            <a:off x="400050" y="2400300"/>
            <a:ext cx="8201025" cy="1028700"/>
          </a:xfrm>
          <a:custGeom>
            <a:rect b="b" l="l" r="r" t="t"/>
            <a:pathLst>
              <a:path extrusionOk="0" h="1028700" w="8201025">
                <a:moveTo>
                  <a:pt x="38100" y="0"/>
                </a:moveTo>
                <a:lnTo>
                  <a:pt x="8086726" y="0"/>
                </a:lnTo>
                <a:cubicBezTo>
                  <a:pt x="8149852" y="0"/>
                  <a:pt x="8201025" y="51173"/>
                  <a:pt x="8201025" y="114299"/>
                </a:cubicBezTo>
                <a:lnTo>
                  <a:pt x="8201025" y="914401"/>
                </a:lnTo>
                <a:cubicBezTo>
                  <a:pt x="8201025" y="977527"/>
                  <a:pt x="8149852" y="1028700"/>
                  <a:pt x="8086726" y="1028700"/>
                </a:cubicBezTo>
                <a:lnTo>
                  <a:pt x="38100" y="1028700"/>
                </a:lnTo>
                <a:cubicBezTo>
                  <a:pt x="17072" y="1028700"/>
                  <a:pt x="0" y="1011628"/>
                  <a:pt x="0" y="990600"/>
                </a:cubicBezTo>
                <a:lnTo>
                  <a:pt x="0" y="38100"/>
                </a:lnTo>
                <a:cubicBezTo>
                  <a:pt x="0" y="17072"/>
                  <a:pt x="17072" y="0"/>
                  <a:pt x="38100" y="0"/>
                </a:cubicBezTo>
                <a:close/>
              </a:path>
            </a:pathLst>
          </a:custGeom>
          <a:gradFill>
            <a:gsLst>
              <a:gs pos="0">
                <a:srgbClr val="8B5CF6">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a:off x="400050" y="2400300"/>
            <a:ext cx="38100" cy="1028700"/>
          </a:xfrm>
          <a:custGeom>
            <a:rect b="b" l="l" r="r" t="t"/>
            <a:pathLst>
              <a:path extrusionOk="0" h="1028700" w="381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6"/>
          <p:cNvSpPr/>
          <p:nvPr/>
        </p:nvSpPr>
        <p:spPr>
          <a:xfrm>
            <a:off x="533400" y="264795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a:off x="732681" y="2767013"/>
            <a:ext cx="247650"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FFFFFF"/>
                </a:solidFill>
                <a:latin typeface="Arial"/>
                <a:ea typeface="Arial"/>
                <a:cs typeface="Arial"/>
                <a:sym typeface="Arial"/>
              </a:rPr>
              <a:t>2</a:t>
            </a:r>
            <a:endParaRPr sz="1600">
              <a:solidFill>
                <a:schemeClr val="dk1"/>
              </a:solidFill>
              <a:latin typeface="Calibri"/>
              <a:ea typeface="Calibri"/>
              <a:cs typeface="Calibri"/>
              <a:sym typeface="Calibri"/>
            </a:endParaRPr>
          </a:p>
        </p:txBody>
      </p:sp>
      <p:sp>
        <p:nvSpPr>
          <p:cNvPr id="281" name="Google Shape;281;p6"/>
          <p:cNvSpPr/>
          <p:nvPr/>
        </p:nvSpPr>
        <p:spPr>
          <a:xfrm>
            <a:off x="1219200" y="2514600"/>
            <a:ext cx="541020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50">
                <a:solidFill>
                  <a:srgbClr val="F8FAFC"/>
                </a:solidFill>
                <a:latin typeface="Arial"/>
                <a:ea typeface="Arial"/>
                <a:cs typeface="Arial"/>
                <a:sym typeface="Arial"/>
              </a:rPr>
              <a:t>Thiết kế hệ thống</a:t>
            </a:r>
            <a:endParaRPr sz="1600">
              <a:solidFill>
                <a:schemeClr val="dk1"/>
              </a:solidFill>
              <a:latin typeface="Calibri"/>
              <a:ea typeface="Calibri"/>
              <a:cs typeface="Calibri"/>
              <a:sym typeface="Calibri"/>
            </a:endParaRPr>
          </a:p>
        </p:txBody>
      </p:sp>
      <p:sp>
        <p:nvSpPr>
          <p:cNvPr id="282" name="Google Shape;282;p6"/>
          <p:cNvSpPr/>
          <p:nvPr/>
        </p:nvSpPr>
        <p:spPr>
          <a:xfrm>
            <a:off x="1219200" y="2819400"/>
            <a:ext cx="5400675"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Xây dựng </a:t>
            </a:r>
            <a:r>
              <a:rPr b="1" lang="en-US" sz="1200">
                <a:solidFill>
                  <a:srgbClr val="8B5CF6"/>
                </a:solidFill>
                <a:latin typeface="Arial"/>
                <a:ea typeface="Arial"/>
                <a:cs typeface="Arial"/>
                <a:sym typeface="Arial"/>
              </a:rPr>
              <a:t>sequence diagram</a:t>
            </a:r>
            <a:r>
              <a:rPr lang="en-US" sz="1200">
                <a:solidFill>
                  <a:srgbClr val="94A3B8"/>
                </a:solidFill>
                <a:latin typeface="Arial"/>
                <a:ea typeface="Arial"/>
                <a:cs typeface="Arial"/>
                <a:sym typeface="Arial"/>
              </a:rPr>
              <a:t> mô tả luồng dữ liệu giữa các thành phần. Thiết kế database schema và API contracts.</a:t>
            </a:r>
            <a:endParaRPr sz="1600">
              <a:solidFill>
                <a:schemeClr val="dk1"/>
              </a:solidFill>
              <a:latin typeface="Calibri"/>
              <a:ea typeface="Calibri"/>
              <a:cs typeface="Calibri"/>
              <a:sym typeface="Calibri"/>
            </a:endParaRPr>
          </a:p>
        </p:txBody>
      </p:sp>
      <p:sp>
        <p:nvSpPr>
          <p:cNvPr id="283" name="Google Shape;283;p6"/>
          <p:cNvSpPr/>
          <p:nvPr/>
        </p:nvSpPr>
        <p:spPr>
          <a:xfrm>
            <a:off x="6692354" y="2781300"/>
            <a:ext cx="91440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t/>
            </a:r>
            <a:endParaRPr sz="1600">
              <a:solidFill>
                <a:schemeClr val="dk1"/>
              </a:solidFill>
              <a:latin typeface="Calibri"/>
              <a:ea typeface="Calibri"/>
              <a:cs typeface="Calibri"/>
              <a:sym typeface="Calibri"/>
            </a:endParaRPr>
          </a:p>
        </p:txBody>
      </p:sp>
      <p:sp>
        <p:nvSpPr>
          <p:cNvPr id="284" name="Google Shape;284;p6"/>
          <p:cNvSpPr/>
          <p:nvPr/>
        </p:nvSpPr>
        <p:spPr>
          <a:xfrm>
            <a:off x="7615833" y="2781300"/>
            <a:ext cx="866775" cy="266700"/>
          </a:xfrm>
          <a:custGeom>
            <a:rect b="b" l="l" r="r" t="t"/>
            <a:pathLst>
              <a:path extrusionOk="0" h="266700" w="866775">
                <a:moveTo>
                  <a:pt x="133350" y="0"/>
                </a:moveTo>
                <a:lnTo>
                  <a:pt x="733425" y="0"/>
                </a:lnTo>
                <a:cubicBezTo>
                  <a:pt x="807023" y="0"/>
                  <a:pt x="866775" y="59752"/>
                  <a:pt x="866775" y="133350"/>
                </a:cubicBezTo>
                <a:lnTo>
                  <a:pt x="866775" y="133350"/>
                </a:lnTo>
                <a:cubicBezTo>
                  <a:pt x="866775" y="206948"/>
                  <a:pt x="807023" y="266700"/>
                  <a:pt x="733425" y="266700"/>
                </a:cubicBezTo>
                <a:lnTo>
                  <a:pt x="133350" y="266700"/>
                </a:lnTo>
                <a:cubicBezTo>
                  <a:pt x="59752" y="266700"/>
                  <a:pt x="0" y="206948"/>
                  <a:pt x="0" y="133350"/>
                </a:cubicBezTo>
                <a:lnTo>
                  <a:pt x="0" y="133350"/>
                </a:lnTo>
                <a:cubicBezTo>
                  <a:pt x="0" y="59752"/>
                  <a:pt x="59752" y="0"/>
                  <a:pt x="133350"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6"/>
          <p:cNvSpPr/>
          <p:nvPr/>
        </p:nvSpPr>
        <p:spPr>
          <a:xfrm>
            <a:off x="7615833" y="2781300"/>
            <a:ext cx="9334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8B5CF6"/>
                </a:solidFill>
                <a:latin typeface="Arial"/>
                <a:ea typeface="Arial"/>
                <a:cs typeface="Arial"/>
                <a:sym typeface="Arial"/>
              </a:rPr>
              <a:t>Sequence</a:t>
            </a:r>
            <a:endParaRPr sz="1600">
              <a:solidFill>
                <a:schemeClr val="dk1"/>
              </a:solidFill>
              <a:latin typeface="Calibri"/>
              <a:ea typeface="Calibri"/>
              <a:cs typeface="Calibri"/>
              <a:sym typeface="Calibri"/>
            </a:endParaRPr>
          </a:p>
        </p:txBody>
      </p:sp>
      <p:sp>
        <p:nvSpPr>
          <p:cNvPr id="286" name="Google Shape;286;p6"/>
          <p:cNvSpPr/>
          <p:nvPr/>
        </p:nvSpPr>
        <p:spPr>
          <a:xfrm>
            <a:off x="400050" y="3505200"/>
            <a:ext cx="8201025" cy="1028700"/>
          </a:xfrm>
          <a:custGeom>
            <a:rect b="b" l="l" r="r" t="t"/>
            <a:pathLst>
              <a:path extrusionOk="0" h="1028700" w="8201025">
                <a:moveTo>
                  <a:pt x="38100" y="0"/>
                </a:moveTo>
                <a:lnTo>
                  <a:pt x="8086726" y="0"/>
                </a:lnTo>
                <a:cubicBezTo>
                  <a:pt x="8149852" y="0"/>
                  <a:pt x="8201025" y="51173"/>
                  <a:pt x="8201025" y="114299"/>
                </a:cubicBezTo>
                <a:lnTo>
                  <a:pt x="8201025" y="914401"/>
                </a:lnTo>
                <a:cubicBezTo>
                  <a:pt x="8201025" y="977527"/>
                  <a:pt x="8149852" y="1028700"/>
                  <a:pt x="8086726" y="1028700"/>
                </a:cubicBezTo>
                <a:lnTo>
                  <a:pt x="38100" y="1028700"/>
                </a:lnTo>
                <a:cubicBezTo>
                  <a:pt x="17072" y="1028700"/>
                  <a:pt x="0" y="1011628"/>
                  <a:pt x="0" y="990600"/>
                </a:cubicBezTo>
                <a:lnTo>
                  <a:pt x="0" y="38100"/>
                </a:lnTo>
                <a:cubicBezTo>
                  <a:pt x="0" y="17072"/>
                  <a:pt x="17072" y="0"/>
                  <a:pt x="38100" y="0"/>
                </a:cubicBezTo>
                <a:close/>
              </a:path>
            </a:pathLst>
          </a:custGeom>
          <a:gradFill>
            <a:gsLst>
              <a:gs pos="0">
                <a:srgbClr val="06B6D4">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6"/>
          <p:cNvSpPr/>
          <p:nvPr/>
        </p:nvSpPr>
        <p:spPr>
          <a:xfrm>
            <a:off x="400050" y="3505200"/>
            <a:ext cx="38100" cy="1028700"/>
          </a:xfrm>
          <a:custGeom>
            <a:rect b="b" l="l" r="r" t="t"/>
            <a:pathLst>
              <a:path extrusionOk="0" h="1028700" w="381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a:off x="533400" y="375285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6"/>
          <p:cNvSpPr/>
          <p:nvPr/>
        </p:nvSpPr>
        <p:spPr>
          <a:xfrm>
            <a:off x="729704" y="3871913"/>
            <a:ext cx="257175"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FFFFFF"/>
                </a:solidFill>
                <a:latin typeface="Arial"/>
                <a:ea typeface="Arial"/>
                <a:cs typeface="Arial"/>
                <a:sym typeface="Arial"/>
              </a:rPr>
              <a:t>3</a:t>
            </a:r>
            <a:endParaRPr sz="1600">
              <a:solidFill>
                <a:schemeClr val="dk1"/>
              </a:solidFill>
              <a:latin typeface="Calibri"/>
              <a:ea typeface="Calibri"/>
              <a:cs typeface="Calibri"/>
              <a:sym typeface="Calibri"/>
            </a:endParaRPr>
          </a:p>
        </p:txBody>
      </p:sp>
      <p:sp>
        <p:nvSpPr>
          <p:cNvPr id="290" name="Google Shape;290;p6"/>
          <p:cNvSpPr/>
          <p:nvPr/>
        </p:nvSpPr>
        <p:spPr>
          <a:xfrm>
            <a:off x="1219200" y="3619500"/>
            <a:ext cx="5743575"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50">
                <a:solidFill>
                  <a:srgbClr val="F8FAFC"/>
                </a:solidFill>
                <a:latin typeface="Arial"/>
                <a:ea typeface="Arial"/>
                <a:cs typeface="Arial"/>
                <a:sym typeface="Arial"/>
              </a:rPr>
              <a:t>Phát triển Agile</a:t>
            </a:r>
            <a:endParaRPr sz="1600">
              <a:solidFill>
                <a:schemeClr val="dk1"/>
              </a:solidFill>
              <a:latin typeface="Calibri"/>
              <a:ea typeface="Calibri"/>
              <a:cs typeface="Calibri"/>
              <a:sym typeface="Calibri"/>
            </a:endParaRPr>
          </a:p>
        </p:txBody>
      </p:sp>
      <p:sp>
        <p:nvSpPr>
          <p:cNvPr id="291" name="Google Shape;291;p6"/>
          <p:cNvSpPr/>
          <p:nvPr/>
        </p:nvSpPr>
        <p:spPr>
          <a:xfrm>
            <a:off x="1219200" y="3924300"/>
            <a:ext cx="573405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Triển khai theo </a:t>
            </a:r>
            <a:r>
              <a:rPr b="1" lang="en-US" sz="1200">
                <a:solidFill>
                  <a:srgbClr val="06B6D4"/>
                </a:solidFill>
                <a:latin typeface="Arial"/>
                <a:ea typeface="Arial"/>
                <a:cs typeface="Arial"/>
                <a:sym typeface="Arial"/>
              </a:rPr>
              <a:t>chu kỳ ngắn</a:t>
            </a:r>
            <a:r>
              <a:rPr lang="en-US" sz="1200">
                <a:solidFill>
                  <a:srgbClr val="94A3B8"/>
                </a:solidFill>
                <a:latin typeface="Arial"/>
                <a:ea typeface="Arial"/>
                <a:cs typeface="Arial"/>
                <a:sym typeface="Arial"/>
              </a:rPr>
              <a:t>, linh hoạt điều chỉnh dựa trên feedback. Mỗi sprint tập trung 1-2 tính năng chính.</a:t>
            </a:r>
            <a:endParaRPr sz="1600">
              <a:solidFill>
                <a:schemeClr val="dk1"/>
              </a:solidFill>
              <a:latin typeface="Calibri"/>
              <a:ea typeface="Calibri"/>
              <a:cs typeface="Calibri"/>
              <a:sym typeface="Calibri"/>
            </a:endParaRPr>
          </a:p>
        </p:txBody>
      </p:sp>
      <p:sp>
        <p:nvSpPr>
          <p:cNvPr id="292" name="Google Shape;292;p6"/>
          <p:cNvSpPr/>
          <p:nvPr/>
        </p:nvSpPr>
        <p:spPr>
          <a:xfrm>
            <a:off x="7033617" y="3886200"/>
            <a:ext cx="619125" cy="266700"/>
          </a:xfrm>
          <a:custGeom>
            <a:rect b="b" l="l" r="r" t="t"/>
            <a:pathLst>
              <a:path extrusionOk="0" h="266700" w="619125">
                <a:moveTo>
                  <a:pt x="133350" y="0"/>
                </a:moveTo>
                <a:lnTo>
                  <a:pt x="485775" y="0"/>
                </a:lnTo>
                <a:cubicBezTo>
                  <a:pt x="559373" y="0"/>
                  <a:pt x="619125" y="59752"/>
                  <a:pt x="619125" y="133350"/>
                </a:cubicBezTo>
                <a:lnTo>
                  <a:pt x="619125" y="133350"/>
                </a:lnTo>
                <a:cubicBezTo>
                  <a:pt x="619125" y="206948"/>
                  <a:pt x="559373" y="266700"/>
                  <a:pt x="485775" y="266700"/>
                </a:cubicBezTo>
                <a:lnTo>
                  <a:pt x="133350" y="266700"/>
                </a:lnTo>
                <a:cubicBezTo>
                  <a:pt x="59752" y="266700"/>
                  <a:pt x="0" y="206948"/>
                  <a:pt x="0" y="133350"/>
                </a:cubicBezTo>
                <a:lnTo>
                  <a:pt x="0" y="133350"/>
                </a:lnTo>
                <a:cubicBezTo>
                  <a:pt x="0" y="59752"/>
                  <a:pt x="59752" y="0"/>
                  <a:pt x="133350"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7033617" y="3886200"/>
            <a:ext cx="68580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06B6D4"/>
                </a:solidFill>
                <a:latin typeface="Arial"/>
                <a:ea typeface="Arial"/>
                <a:cs typeface="Arial"/>
                <a:sym typeface="Arial"/>
              </a:rPr>
              <a:t>Sprint</a:t>
            </a:r>
            <a:endParaRPr sz="1600">
              <a:solidFill>
                <a:schemeClr val="dk1"/>
              </a:solidFill>
              <a:latin typeface="Calibri"/>
              <a:ea typeface="Calibri"/>
              <a:cs typeface="Calibri"/>
              <a:sym typeface="Calibri"/>
            </a:endParaRPr>
          </a:p>
        </p:txBody>
      </p:sp>
      <p:sp>
        <p:nvSpPr>
          <p:cNvPr id="294" name="Google Shape;294;p6"/>
          <p:cNvSpPr/>
          <p:nvPr/>
        </p:nvSpPr>
        <p:spPr>
          <a:xfrm>
            <a:off x="7726114" y="3886200"/>
            <a:ext cx="752475" cy="266700"/>
          </a:xfrm>
          <a:custGeom>
            <a:rect b="b" l="l" r="r" t="t"/>
            <a:pathLst>
              <a:path extrusionOk="0" h="266700" w="752475">
                <a:moveTo>
                  <a:pt x="133350" y="0"/>
                </a:moveTo>
                <a:lnTo>
                  <a:pt x="619125" y="0"/>
                </a:lnTo>
                <a:cubicBezTo>
                  <a:pt x="692723" y="0"/>
                  <a:pt x="752475" y="59752"/>
                  <a:pt x="752475" y="133350"/>
                </a:cubicBezTo>
                <a:lnTo>
                  <a:pt x="752475" y="133350"/>
                </a:lnTo>
                <a:cubicBezTo>
                  <a:pt x="752475" y="206948"/>
                  <a:pt x="692723" y="266700"/>
                  <a:pt x="619125" y="266700"/>
                </a:cubicBezTo>
                <a:lnTo>
                  <a:pt x="133350" y="266700"/>
                </a:lnTo>
                <a:cubicBezTo>
                  <a:pt x="59752" y="266700"/>
                  <a:pt x="0" y="206948"/>
                  <a:pt x="0" y="133350"/>
                </a:cubicBezTo>
                <a:lnTo>
                  <a:pt x="0" y="133350"/>
                </a:lnTo>
                <a:cubicBezTo>
                  <a:pt x="0" y="59752"/>
                  <a:pt x="59752" y="0"/>
                  <a:pt x="133350"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
          <p:cNvSpPr/>
          <p:nvPr/>
        </p:nvSpPr>
        <p:spPr>
          <a:xfrm>
            <a:off x="7726114" y="3886200"/>
            <a:ext cx="8191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06B6D4"/>
                </a:solidFill>
                <a:latin typeface="Arial"/>
                <a:ea typeface="Arial"/>
                <a:cs typeface="Arial"/>
                <a:sym typeface="Arial"/>
              </a:rPr>
              <a:t>Iterative</a:t>
            </a:r>
            <a:endParaRPr sz="1600">
              <a:solidFill>
                <a:schemeClr val="dk1"/>
              </a:solidFill>
              <a:latin typeface="Calibri"/>
              <a:ea typeface="Calibri"/>
              <a:cs typeface="Calibri"/>
              <a:sym typeface="Calibri"/>
            </a:endParaRPr>
          </a:p>
        </p:txBody>
      </p:sp>
      <p:sp>
        <p:nvSpPr>
          <p:cNvPr id="296" name="Google Shape;296;p6"/>
          <p:cNvSpPr/>
          <p:nvPr/>
        </p:nvSpPr>
        <p:spPr>
          <a:xfrm>
            <a:off x="400050" y="4610100"/>
            <a:ext cx="8201025" cy="1028700"/>
          </a:xfrm>
          <a:custGeom>
            <a:rect b="b" l="l" r="r" t="t"/>
            <a:pathLst>
              <a:path extrusionOk="0" h="1028700" w="8201025">
                <a:moveTo>
                  <a:pt x="38100" y="0"/>
                </a:moveTo>
                <a:lnTo>
                  <a:pt x="8086726" y="0"/>
                </a:lnTo>
                <a:cubicBezTo>
                  <a:pt x="8149852" y="0"/>
                  <a:pt x="8201025" y="51173"/>
                  <a:pt x="8201025" y="114299"/>
                </a:cubicBezTo>
                <a:lnTo>
                  <a:pt x="8201025" y="914401"/>
                </a:lnTo>
                <a:cubicBezTo>
                  <a:pt x="8201025" y="977527"/>
                  <a:pt x="8149852" y="1028700"/>
                  <a:pt x="8086726" y="1028700"/>
                </a:cubicBezTo>
                <a:lnTo>
                  <a:pt x="38100" y="1028700"/>
                </a:lnTo>
                <a:cubicBezTo>
                  <a:pt x="17072" y="1028700"/>
                  <a:pt x="0" y="1011628"/>
                  <a:pt x="0" y="990600"/>
                </a:cubicBezTo>
                <a:lnTo>
                  <a:pt x="0" y="38100"/>
                </a:lnTo>
                <a:cubicBezTo>
                  <a:pt x="0" y="17072"/>
                  <a:pt x="17072" y="0"/>
                  <a:pt x="38100" y="0"/>
                </a:cubicBezTo>
                <a:close/>
              </a:path>
            </a:pathLst>
          </a:custGeom>
          <a:gradFill>
            <a:gsLst>
              <a:gs pos="0">
                <a:srgbClr val="10B981">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
          <p:cNvSpPr/>
          <p:nvPr/>
        </p:nvSpPr>
        <p:spPr>
          <a:xfrm>
            <a:off x="400050" y="4610100"/>
            <a:ext cx="38100" cy="1028700"/>
          </a:xfrm>
          <a:custGeom>
            <a:rect b="b" l="l" r="r" t="t"/>
            <a:pathLst>
              <a:path extrusionOk="0" h="1028700" w="381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a:off x="533400" y="485775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6"/>
          <p:cNvSpPr/>
          <p:nvPr/>
        </p:nvSpPr>
        <p:spPr>
          <a:xfrm>
            <a:off x="729853" y="4976813"/>
            <a:ext cx="257175"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FFFFFF"/>
                </a:solidFill>
                <a:latin typeface="Arial"/>
                <a:ea typeface="Arial"/>
                <a:cs typeface="Arial"/>
                <a:sym typeface="Arial"/>
              </a:rPr>
              <a:t>4</a:t>
            </a:r>
            <a:endParaRPr sz="1600">
              <a:solidFill>
                <a:schemeClr val="dk1"/>
              </a:solidFill>
              <a:latin typeface="Calibri"/>
              <a:ea typeface="Calibri"/>
              <a:cs typeface="Calibri"/>
              <a:sym typeface="Calibri"/>
            </a:endParaRPr>
          </a:p>
        </p:txBody>
      </p:sp>
      <p:sp>
        <p:nvSpPr>
          <p:cNvPr id="300" name="Google Shape;300;p6"/>
          <p:cNvSpPr/>
          <p:nvPr/>
        </p:nvSpPr>
        <p:spPr>
          <a:xfrm>
            <a:off x="1219200" y="4724400"/>
            <a:ext cx="546735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50">
                <a:solidFill>
                  <a:srgbClr val="F8FAFC"/>
                </a:solidFill>
                <a:latin typeface="Arial"/>
                <a:ea typeface="Arial"/>
                <a:cs typeface="Arial"/>
                <a:sym typeface="Arial"/>
              </a:rPr>
              <a:t>Tích hợp API</a:t>
            </a:r>
            <a:endParaRPr sz="1600">
              <a:solidFill>
                <a:schemeClr val="dk1"/>
              </a:solidFill>
              <a:latin typeface="Calibri"/>
              <a:ea typeface="Calibri"/>
              <a:cs typeface="Calibri"/>
              <a:sym typeface="Calibri"/>
            </a:endParaRPr>
          </a:p>
        </p:txBody>
      </p:sp>
      <p:sp>
        <p:nvSpPr>
          <p:cNvPr id="301" name="Google Shape;301;p6"/>
          <p:cNvSpPr/>
          <p:nvPr/>
        </p:nvSpPr>
        <p:spPr>
          <a:xfrm>
            <a:off x="1219200" y="5029200"/>
            <a:ext cx="5457825"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94A3B8"/>
                </a:solidFill>
                <a:latin typeface="Arial"/>
                <a:ea typeface="Arial"/>
                <a:cs typeface="Arial"/>
                <a:sym typeface="Arial"/>
              </a:rPr>
              <a:t>Kết nối </a:t>
            </a:r>
            <a:r>
              <a:rPr b="1" lang="en-US" sz="1200">
                <a:solidFill>
                  <a:srgbClr val="10B981"/>
                </a:solidFill>
                <a:latin typeface="Arial"/>
                <a:ea typeface="Arial"/>
                <a:cs typeface="Arial"/>
                <a:sym typeface="Arial"/>
              </a:rPr>
              <a:t>Telegram Webhook</a:t>
            </a:r>
            <a:r>
              <a:rPr lang="en-US" sz="1200">
                <a:solidFill>
                  <a:srgbClr val="94A3B8"/>
                </a:solidFill>
                <a:latin typeface="Arial"/>
                <a:ea typeface="Arial"/>
                <a:cs typeface="Arial"/>
                <a:sym typeface="Arial"/>
              </a:rPr>
              <a:t>, </a:t>
            </a:r>
            <a:r>
              <a:rPr b="1" lang="en-US" sz="1200">
                <a:solidFill>
                  <a:srgbClr val="10B981"/>
                </a:solidFill>
                <a:latin typeface="Arial"/>
                <a:ea typeface="Arial"/>
                <a:cs typeface="Arial"/>
                <a:sym typeface="Arial"/>
              </a:rPr>
              <a:t>TMDB</a:t>
            </a:r>
            <a:r>
              <a:rPr lang="en-US" sz="1200">
                <a:solidFill>
                  <a:srgbClr val="94A3B8"/>
                </a:solidFill>
                <a:latin typeface="Arial"/>
                <a:ea typeface="Arial"/>
                <a:cs typeface="Arial"/>
                <a:sym typeface="Arial"/>
              </a:rPr>
              <a:t>, </a:t>
            </a:r>
            <a:r>
              <a:rPr b="1" lang="en-US" sz="1200">
                <a:solidFill>
                  <a:srgbClr val="10B981"/>
                </a:solidFill>
                <a:latin typeface="Arial"/>
                <a:ea typeface="Arial"/>
                <a:cs typeface="Arial"/>
                <a:sym typeface="Arial"/>
              </a:rPr>
              <a:t>Google Maps</a:t>
            </a:r>
            <a:r>
              <a:rPr lang="en-US" sz="1200">
                <a:solidFill>
                  <a:srgbClr val="94A3B8"/>
                </a:solidFill>
                <a:latin typeface="Arial"/>
                <a:ea typeface="Arial"/>
                <a:cs typeface="Arial"/>
                <a:sym typeface="Arial"/>
              </a:rPr>
              <a:t>, </a:t>
            </a:r>
            <a:r>
              <a:rPr b="1" lang="en-US" sz="1200">
                <a:solidFill>
                  <a:srgbClr val="10B981"/>
                </a:solidFill>
                <a:latin typeface="Arial"/>
                <a:ea typeface="Arial"/>
                <a:cs typeface="Arial"/>
                <a:sym typeface="Arial"/>
              </a:rPr>
              <a:t>Gemini</a:t>
            </a:r>
            <a:r>
              <a:rPr lang="en-US" sz="1200">
                <a:solidFill>
                  <a:srgbClr val="94A3B8"/>
                </a:solidFill>
                <a:latin typeface="Arial"/>
                <a:ea typeface="Arial"/>
                <a:cs typeface="Arial"/>
                <a:sym typeface="Arial"/>
              </a:rPr>
              <a:t> qua HTTP Request Node trong n8n. Cấu hình authentication và error handling.</a:t>
            </a:r>
            <a:endParaRPr sz="1600">
              <a:solidFill>
                <a:schemeClr val="dk1"/>
              </a:solidFill>
              <a:latin typeface="Calibri"/>
              <a:ea typeface="Calibri"/>
              <a:cs typeface="Calibri"/>
              <a:sym typeface="Calibri"/>
            </a:endParaRPr>
          </a:p>
        </p:txBody>
      </p:sp>
      <p:sp>
        <p:nvSpPr>
          <p:cNvPr id="302" name="Google Shape;302;p6"/>
          <p:cNvSpPr/>
          <p:nvPr/>
        </p:nvSpPr>
        <p:spPr>
          <a:xfrm>
            <a:off x="6752183" y="4991100"/>
            <a:ext cx="828675" cy="266700"/>
          </a:xfrm>
          <a:custGeom>
            <a:rect b="b" l="l" r="r" t="t"/>
            <a:pathLst>
              <a:path extrusionOk="0" h="266700" w="828675">
                <a:moveTo>
                  <a:pt x="133350" y="0"/>
                </a:moveTo>
                <a:lnTo>
                  <a:pt x="695325" y="0"/>
                </a:lnTo>
                <a:cubicBezTo>
                  <a:pt x="768923" y="0"/>
                  <a:pt x="828675" y="59752"/>
                  <a:pt x="828675" y="133350"/>
                </a:cubicBezTo>
                <a:lnTo>
                  <a:pt x="828675" y="133350"/>
                </a:lnTo>
                <a:cubicBezTo>
                  <a:pt x="828675" y="206948"/>
                  <a:pt x="768923" y="266700"/>
                  <a:pt x="695325" y="266700"/>
                </a:cubicBezTo>
                <a:lnTo>
                  <a:pt x="133350" y="266700"/>
                </a:lnTo>
                <a:cubicBezTo>
                  <a:pt x="59752" y="266700"/>
                  <a:pt x="0" y="206948"/>
                  <a:pt x="0" y="133350"/>
                </a:cubicBezTo>
                <a:lnTo>
                  <a:pt x="0" y="133350"/>
                </a:lnTo>
                <a:cubicBezTo>
                  <a:pt x="0" y="59752"/>
                  <a:pt x="59752" y="0"/>
                  <a:pt x="133350"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6"/>
          <p:cNvSpPr/>
          <p:nvPr/>
        </p:nvSpPr>
        <p:spPr>
          <a:xfrm>
            <a:off x="6752183" y="4991100"/>
            <a:ext cx="8953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10B981"/>
                </a:solidFill>
                <a:latin typeface="Arial"/>
                <a:ea typeface="Arial"/>
                <a:cs typeface="Arial"/>
                <a:sym typeface="Arial"/>
              </a:rPr>
              <a:t>Webhook</a:t>
            </a:r>
            <a:endParaRPr sz="1600">
              <a:solidFill>
                <a:schemeClr val="dk1"/>
              </a:solidFill>
              <a:latin typeface="Calibri"/>
              <a:ea typeface="Calibri"/>
              <a:cs typeface="Calibri"/>
              <a:sym typeface="Calibri"/>
            </a:endParaRPr>
          </a:p>
        </p:txBody>
      </p:sp>
      <p:sp>
        <p:nvSpPr>
          <p:cNvPr id="304" name="Google Shape;304;p6"/>
          <p:cNvSpPr/>
          <p:nvPr/>
        </p:nvSpPr>
        <p:spPr>
          <a:xfrm>
            <a:off x="7660332" y="4991100"/>
            <a:ext cx="819150" cy="266700"/>
          </a:xfrm>
          <a:custGeom>
            <a:rect b="b" l="l" r="r" t="t"/>
            <a:pathLst>
              <a:path extrusionOk="0" h="266700" w="819150">
                <a:moveTo>
                  <a:pt x="133350" y="0"/>
                </a:moveTo>
                <a:lnTo>
                  <a:pt x="685800" y="0"/>
                </a:lnTo>
                <a:cubicBezTo>
                  <a:pt x="759398" y="0"/>
                  <a:pt x="819150" y="59752"/>
                  <a:pt x="819150" y="133350"/>
                </a:cubicBezTo>
                <a:lnTo>
                  <a:pt x="819150" y="133350"/>
                </a:lnTo>
                <a:cubicBezTo>
                  <a:pt x="819150" y="206948"/>
                  <a:pt x="759398" y="266700"/>
                  <a:pt x="685800" y="266700"/>
                </a:cubicBezTo>
                <a:lnTo>
                  <a:pt x="133350" y="266700"/>
                </a:lnTo>
                <a:cubicBezTo>
                  <a:pt x="59752" y="266700"/>
                  <a:pt x="0" y="206948"/>
                  <a:pt x="0" y="133350"/>
                </a:cubicBezTo>
                <a:lnTo>
                  <a:pt x="0" y="133350"/>
                </a:lnTo>
                <a:cubicBezTo>
                  <a:pt x="0" y="59752"/>
                  <a:pt x="59752" y="0"/>
                  <a:pt x="133350"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7660332" y="4991100"/>
            <a:ext cx="885825"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10B981"/>
                </a:solidFill>
                <a:latin typeface="Arial"/>
                <a:ea typeface="Arial"/>
                <a:cs typeface="Arial"/>
                <a:sym typeface="Arial"/>
              </a:rPr>
              <a:t>REST API</a:t>
            </a:r>
            <a:endParaRPr sz="1600">
              <a:solidFill>
                <a:schemeClr val="dk1"/>
              </a:solidFill>
              <a:latin typeface="Calibri"/>
              <a:ea typeface="Calibri"/>
              <a:cs typeface="Calibri"/>
              <a:sym typeface="Calibri"/>
            </a:endParaRPr>
          </a:p>
        </p:txBody>
      </p:sp>
      <p:sp>
        <p:nvSpPr>
          <p:cNvPr id="306" name="Google Shape;306;p6"/>
          <p:cNvSpPr/>
          <p:nvPr/>
        </p:nvSpPr>
        <p:spPr>
          <a:xfrm>
            <a:off x="400050" y="5715000"/>
            <a:ext cx="8201025" cy="1028700"/>
          </a:xfrm>
          <a:custGeom>
            <a:rect b="b" l="l" r="r" t="t"/>
            <a:pathLst>
              <a:path extrusionOk="0" h="1028700" w="8201025">
                <a:moveTo>
                  <a:pt x="38100" y="0"/>
                </a:moveTo>
                <a:lnTo>
                  <a:pt x="8086726" y="0"/>
                </a:lnTo>
                <a:cubicBezTo>
                  <a:pt x="8149852" y="0"/>
                  <a:pt x="8201025" y="51173"/>
                  <a:pt x="8201025" y="114299"/>
                </a:cubicBezTo>
                <a:lnTo>
                  <a:pt x="8201025" y="914401"/>
                </a:lnTo>
                <a:cubicBezTo>
                  <a:pt x="8201025" y="977527"/>
                  <a:pt x="8149852" y="1028700"/>
                  <a:pt x="8086726" y="1028700"/>
                </a:cubicBezTo>
                <a:lnTo>
                  <a:pt x="38100" y="1028700"/>
                </a:lnTo>
                <a:cubicBezTo>
                  <a:pt x="17072" y="1028700"/>
                  <a:pt x="0" y="1011628"/>
                  <a:pt x="0" y="990600"/>
                </a:cubicBezTo>
                <a:lnTo>
                  <a:pt x="0" y="38100"/>
                </a:lnTo>
                <a:cubicBezTo>
                  <a:pt x="0" y="17072"/>
                  <a:pt x="17072" y="0"/>
                  <a:pt x="38100" y="0"/>
                </a:cubicBezTo>
                <a:close/>
              </a:path>
            </a:pathLst>
          </a:custGeom>
          <a:gradFill>
            <a:gsLst>
              <a:gs pos="0">
                <a:srgbClr val="F59E0B">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400050" y="5715000"/>
            <a:ext cx="38100" cy="1028700"/>
          </a:xfrm>
          <a:custGeom>
            <a:rect b="b" l="l" r="r" t="t"/>
            <a:pathLst>
              <a:path extrusionOk="0" h="1028700" w="381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
          <p:cNvSpPr/>
          <p:nvPr/>
        </p:nvSpPr>
        <p:spPr>
          <a:xfrm>
            <a:off x="533400" y="5962650"/>
            <a:ext cx="533400" cy="533400"/>
          </a:xfrm>
          <a:custGeom>
            <a:rect b="b" l="l" r="r" t="t"/>
            <a:pathLst>
              <a:path extrusionOk="0" h="533400" w="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
          <p:cNvSpPr/>
          <p:nvPr/>
        </p:nvSpPr>
        <p:spPr>
          <a:xfrm>
            <a:off x="728663" y="6081713"/>
            <a:ext cx="257175" cy="2952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FFFFFF"/>
                </a:solidFill>
                <a:latin typeface="Arial"/>
                <a:ea typeface="Arial"/>
                <a:cs typeface="Arial"/>
                <a:sym typeface="Arial"/>
              </a:rPr>
              <a:t>5</a:t>
            </a:r>
            <a:endParaRPr sz="1600">
              <a:solidFill>
                <a:schemeClr val="dk1"/>
              </a:solidFill>
              <a:latin typeface="Calibri"/>
              <a:ea typeface="Calibri"/>
              <a:cs typeface="Calibri"/>
              <a:sym typeface="Calibri"/>
            </a:endParaRPr>
          </a:p>
        </p:txBody>
      </p:sp>
      <p:sp>
        <p:nvSpPr>
          <p:cNvPr id="310" name="Google Shape;310;p6"/>
          <p:cNvSpPr/>
          <p:nvPr/>
        </p:nvSpPr>
        <p:spPr>
          <a:xfrm>
            <a:off x="1219200" y="5829300"/>
            <a:ext cx="531495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50">
                <a:solidFill>
                  <a:srgbClr val="F8FAFC"/>
                </a:solidFill>
                <a:latin typeface="Arial"/>
                <a:ea typeface="Arial"/>
                <a:cs typeface="Arial"/>
                <a:sym typeface="Arial"/>
              </a:rPr>
              <a:t>Kiểm thử</a:t>
            </a:r>
            <a:endParaRPr sz="1600">
              <a:solidFill>
                <a:schemeClr val="dk1"/>
              </a:solidFill>
              <a:latin typeface="Calibri"/>
              <a:ea typeface="Calibri"/>
              <a:cs typeface="Calibri"/>
              <a:sym typeface="Calibri"/>
            </a:endParaRPr>
          </a:p>
        </p:txBody>
      </p:sp>
      <p:sp>
        <p:nvSpPr>
          <p:cNvPr id="311" name="Google Shape;311;p6"/>
          <p:cNvSpPr/>
          <p:nvPr/>
        </p:nvSpPr>
        <p:spPr>
          <a:xfrm>
            <a:off x="1219200" y="6134100"/>
            <a:ext cx="5305425"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US" sz="1200">
                <a:solidFill>
                  <a:srgbClr val="F59E0B"/>
                </a:solidFill>
                <a:latin typeface="Arial"/>
                <a:ea typeface="Arial"/>
                <a:cs typeface="Arial"/>
                <a:sym typeface="Arial"/>
              </a:rPr>
              <a:t>Black-box testing</a:t>
            </a:r>
            <a:r>
              <a:rPr lang="en-US" sz="1200">
                <a:solidFill>
                  <a:srgbClr val="94A3B8"/>
                </a:solidFill>
                <a:latin typeface="Arial"/>
                <a:ea typeface="Arial"/>
                <a:cs typeface="Arial"/>
                <a:sym typeface="Arial"/>
              </a:rPr>
              <a:t> trên giao diện Telegram, kiểm tra lệnh, luồng xử lý, định dạng phản hồi. Test case bao phủ các kịch bản thành công và lỗi.</a:t>
            </a:r>
            <a:endParaRPr sz="1600">
              <a:solidFill>
                <a:schemeClr val="dk1"/>
              </a:solidFill>
              <a:latin typeface="Calibri"/>
              <a:ea typeface="Calibri"/>
              <a:cs typeface="Calibri"/>
              <a:sym typeface="Calibri"/>
            </a:endParaRPr>
          </a:p>
        </p:txBody>
      </p:sp>
      <p:sp>
        <p:nvSpPr>
          <p:cNvPr id="312" name="Google Shape;312;p6"/>
          <p:cNvSpPr/>
          <p:nvPr/>
        </p:nvSpPr>
        <p:spPr>
          <a:xfrm>
            <a:off x="6604992" y="6096000"/>
            <a:ext cx="866775" cy="266700"/>
          </a:xfrm>
          <a:custGeom>
            <a:rect b="b" l="l" r="r" t="t"/>
            <a:pathLst>
              <a:path extrusionOk="0" h="266700" w="866775">
                <a:moveTo>
                  <a:pt x="133350" y="0"/>
                </a:moveTo>
                <a:lnTo>
                  <a:pt x="733425" y="0"/>
                </a:lnTo>
                <a:cubicBezTo>
                  <a:pt x="807023" y="0"/>
                  <a:pt x="866775" y="59752"/>
                  <a:pt x="866775" y="133350"/>
                </a:cubicBezTo>
                <a:lnTo>
                  <a:pt x="866775" y="133350"/>
                </a:lnTo>
                <a:cubicBezTo>
                  <a:pt x="866775" y="206948"/>
                  <a:pt x="807023" y="266700"/>
                  <a:pt x="733425" y="266700"/>
                </a:cubicBezTo>
                <a:lnTo>
                  <a:pt x="133350" y="266700"/>
                </a:lnTo>
                <a:cubicBezTo>
                  <a:pt x="59752" y="266700"/>
                  <a:pt x="0" y="206948"/>
                  <a:pt x="0" y="133350"/>
                </a:cubicBezTo>
                <a:lnTo>
                  <a:pt x="0" y="133350"/>
                </a:lnTo>
                <a:cubicBezTo>
                  <a:pt x="0" y="59752"/>
                  <a:pt x="59752" y="0"/>
                  <a:pt x="133350"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a:off x="6604992" y="6096000"/>
            <a:ext cx="933450"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F59E0B"/>
                </a:solidFill>
                <a:latin typeface="Arial"/>
                <a:ea typeface="Arial"/>
                <a:cs typeface="Arial"/>
                <a:sym typeface="Arial"/>
              </a:rPr>
              <a:t>Black-box</a:t>
            </a:r>
            <a:endParaRPr sz="1600">
              <a:solidFill>
                <a:schemeClr val="dk1"/>
              </a:solidFill>
              <a:latin typeface="Calibri"/>
              <a:ea typeface="Calibri"/>
              <a:cs typeface="Calibri"/>
              <a:sym typeface="Calibri"/>
            </a:endParaRPr>
          </a:p>
        </p:txBody>
      </p:sp>
      <p:sp>
        <p:nvSpPr>
          <p:cNvPr id="314" name="Google Shape;314;p6"/>
          <p:cNvSpPr/>
          <p:nvPr/>
        </p:nvSpPr>
        <p:spPr>
          <a:xfrm>
            <a:off x="7550051" y="6096000"/>
            <a:ext cx="933450" cy="266700"/>
          </a:xfrm>
          <a:custGeom>
            <a:rect b="b" l="l" r="r" t="t"/>
            <a:pathLst>
              <a:path extrusionOk="0" h="266700" w="933450">
                <a:moveTo>
                  <a:pt x="133350" y="0"/>
                </a:moveTo>
                <a:lnTo>
                  <a:pt x="800100" y="0"/>
                </a:lnTo>
                <a:cubicBezTo>
                  <a:pt x="873698" y="0"/>
                  <a:pt x="933450" y="59752"/>
                  <a:pt x="933450" y="133350"/>
                </a:cubicBezTo>
                <a:lnTo>
                  <a:pt x="933450" y="133350"/>
                </a:lnTo>
                <a:cubicBezTo>
                  <a:pt x="933450" y="206948"/>
                  <a:pt x="873698" y="266700"/>
                  <a:pt x="800100" y="266700"/>
                </a:cubicBezTo>
                <a:lnTo>
                  <a:pt x="133350" y="266700"/>
                </a:lnTo>
                <a:cubicBezTo>
                  <a:pt x="59752" y="266700"/>
                  <a:pt x="0" y="206948"/>
                  <a:pt x="0" y="133350"/>
                </a:cubicBezTo>
                <a:lnTo>
                  <a:pt x="0" y="133350"/>
                </a:lnTo>
                <a:cubicBezTo>
                  <a:pt x="0" y="59752"/>
                  <a:pt x="59752" y="0"/>
                  <a:pt x="133350"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6"/>
          <p:cNvSpPr/>
          <p:nvPr/>
        </p:nvSpPr>
        <p:spPr>
          <a:xfrm>
            <a:off x="7550051" y="6096000"/>
            <a:ext cx="1000125" cy="266700"/>
          </a:xfrm>
          <a:prstGeom prst="rect">
            <a:avLst/>
          </a:prstGeom>
          <a:noFill/>
          <a:ln>
            <a:noFill/>
          </a:ln>
        </p:spPr>
        <p:txBody>
          <a:bodyPr anchorCtr="0" anchor="ctr" bIns="38100" lIns="114300" spcFirstLastPara="1" rIns="114300" wrap="square" tIns="38100">
            <a:noAutofit/>
          </a:bodyPr>
          <a:lstStyle/>
          <a:p>
            <a:pPr indent="0" lvl="0" marL="0" marR="0" rtl="0" algn="l">
              <a:lnSpc>
                <a:spcPct val="120000"/>
              </a:lnSpc>
              <a:spcBef>
                <a:spcPts val="0"/>
              </a:spcBef>
              <a:spcAft>
                <a:spcPts val="0"/>
              </a:spcAft>
              <a:buNone/>
            </a:pPr>
            <a:r>
              <a:rPr b="1" lang="en-US" sz="1050">
                <a:solidFill>
                  <a:srgbClr val="F59E0B"/>
                </a:solidFill>
                <a:latin typeface="Arial"/>
                <a:ea typeface="Arial"/>
                <a:cs typeface="Arial"/>
                <a:sym typeface="Arial"/>
              </a:rPr>
              <a:t>Test Cases</a:t>
            </a:r>
            <a:endParaRPr sz="1600">
              <a:solidFill>
                <a:schemeClr val="dk1"/>
              </a:solidFill>
              <a:latin typeface="Calibri"/>
              <a:ea typeface="Calibri"/>
              <a:cs typeface="Calibri"/>
              <a:sym typeface="Calibri"/>
            </a:endParaRPr>
          </a:p>
        </p:txBody>
      </p:sp>
      <p:sp>
        <p:nvSpPr>
          <p:cNvPr id="316" name="Google Shape;316;p6"/>
          <p:cNvSpPr/>
          <p:nvPr/>
        </p:nvSpPr>
        <p:spPr>
          <a:xfrm>
            <a:off x="8753475" y="1300163"/>
            <a:ext cx="3057525" cy="5438775"/>
          </a:xfrm>
          <a:custGeom>
            <a:rect b="b" l="l" r="r" t="t"/>
            <a:pathLst>
              <a:path extrusionOk="0" h="5438775" w="3057525">
                <a:moveTo>
                  <a:pt x="114290" y="0"/>
                </a:moveTo>
                <a:lnTo>
                  <a:pt x="2943235" y="0"/>
                </a:lnTo>
                <a:cubicBezTo>
                  <a:pt x="3006355" y="0"/>
                  <a:pt x="3057525" y="51170"/>
                  <a:pt x="3057525" y="114290"/>
                </a:cubicBezTo>
                <a:lnTo>
                  <a:pt x="3057525" y="5324485"/>
                </a:lnTo>
                <a:cubicBezTo>
                  <a:pt x="3057525" y="5387605"/>
                  <a:pt x="3006355" y="5438775"/>
                  <a:pt x="2943235" y="5438775"/>
                </a:cubicBezTo>
                <a:lnTo>
                  <a:pt x="114290" y="5438775"/>
                </a:lnTo>
                <a:cubicBezTo>
                  <a:pt x="51170" y="5438775"/>
                  <a:pt x="0" y="5387605"/>
                  <a:pt x="0" y="5324485"/>
                </a:cubicBezTo>
                <a:lnTo>
                  <a:pt x="0" y="114290"/>
                </a:lnTo>
                <a:cubicBezTo>
                  <a:pt x="0" y="51212"/>
                  <a:pt x="51212" y="0"/>
                  <a:pt x="114290" y="0"/>
                </a:cubicBezTo>
                <a:close/>
              </a:path>
            </a:pathLst>
          </a:custGeom>
          <a:gradFill>
            <a:gsLst>
              <a:gs pos="0">
                <a:srgbClr val="1E293B"/>
              </a:gs>
              <a:gs pos="100000">
                <a:srgbClr val="0F172A"/>
              </a:gs>
            </a:gsLst>
            <a:lin ang="2700000" scaled="0"/>
          </a:gradFill>
          <a:ln cap="flat" cmpd="sng" w="12700">
            <a:solidFill>
              <a:srgbClr val="3B82F6">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6"/>
          <p:cNvSpPr/>
          <p:nvPr/>
        </p:nvSpPr>
        <p:spPr>
          <a:xfrm>
            <a:off x="8923734" y="1504950"/>
            <a:ext cx="192881" cy="171450"/>
          </a:xfrm>
          <a:custGeom>
            <a:rect b="b" l="l" r="r" t="t"/>
            <a:pathLst>
              <a:path extrusionOk="0" h="171450" w="192881">
                <a:moveTo>
                  <a:pt x="75043" y="32515"/>
                </a:moveTo>
                <a:lnTo>
                  <a:pt x="75043" y="49124"/>
                </a:lnTo>
                <a:lnTo>
                  <a:pt x="75210" y="49292"/>
                </a:lnTo>
                <a:cubicBezTo>
                  <a:pt x="77387" y="21699"/>
                  <a:pt x="100459" y="0"/>
                  <a:pt x="128621" y="0"/>
                </a:cubicBezTo>
                <a:cubicBezTo>
                  <a:pt x="135352" y="0"/>
                  <a:pt x="141815" y="1239"/>
                  <a:pt x="147742" y="3516"/>
                </a:cubicBezTo>
                <a:cubicBezTo>
                  <a:pt x="151090" y="4789"/>
                  <a:pt x="151693" y="9041"/>
                  <a:pt x="149182" y="11586"/>
                </a:cubicBezTo>
                <a:lnTo>
                  <a:pt x="119479" y="41289"/>
                </a:lnTo>
                <a:cubicBezTo>
                  <a:pt x="118475" y="42293"/>
                  <a:pt x="117905" y="43666"/>
                  <a:pt x="117905" y="45073"/>
                </a:cubicBezTo>
                <a:lnTo>
                  <a:pt x="117905" y="58936"/>
                </a:lnTo>
                <a:cubicBezTo>
                  <a:pt x="117905" y="61883"/>
                  <a:pt x="120316" y="64294"/>
                  <a:pt x="123263" y="64294"/>
                </a:cubicBezTo>
                <a:lnTo>
                  <a:pt x="137127" y="64294"/>
                </a:lnTo>
                <a:cubicBezTo>
                  <a:pt x="138533" y="64294"/>
                  <a:pt x="139906" y="63724"/>
                  <a:pt x="140910" y="62720"/>
                </a:cubicBezTo>
                <a:lnTo>
                  <a:pt x="170613" y="33018"/>
                </a:lnTo>
                <a:cubicBezTo>
                  <a:pt x="173158" y="30473"/>
                  <a:pt x="177411" y="31109"/>
                  <a:pt x="178683" y="34457"/>
                </a:cubicBezTo>
                <a:cubicBezTo>
                  <a:pt x="180960" y="40385"/>
                  <a:pt x="182199" y="46847"/>
                  <a:pt x="182199" y="53578"/>
                </a:cubicBezTo>
                <a:cubicBezTo>
                  <a:pt x="182199" y="73871"/>
                  <a:pt x="170914" y="91552"/>
                  <a:pt x="154238" y="100626"/>
                </a:cubicBezTo>
                <a:lnTo>
                  <a:pt x="181529" y="127918"/>
                </a:lnTo>
                <a:cubicBezTo>
                  <a:pt x="187791" y="134180"/>
                  <a:pt x="187791" y="144360"/>
                  <a:pt x="181529" y="150655"/>
                </a:cubicBezTo>
                <a:lnTo>
                  <a:pt x="161404" y="170780"/>
                </a:lnTo>
                <a:cubicBezTo>
                  <a:pt x="155142" y="177042"/>
                  <a:pt x="144962" y="177042"/>
                  <a:pt x="138667" y="170780"/>
                </a:cubicBezTo>
                <a:lnTo>
                  <a:pt x="96474" y="128588"/>
                </a:lnTo>
                <a:cubicBezTo>
                  <a:pt x="87299" y="119412"/>
                  <a:pt x="85223" y="105850"/>
                  <a:pt x="90279" y="94666"/>
                </a:cubicBezTo>
                <a:lnTo>
                  <a:pt x="59907" y="64294"/>
                </a:lnTo>
                <a:lnTo>
                  <a:pt x="43298" y="64294"/>
                </a:lnTo>
                <a:cubicBezTo>
                  <a:pt x="39715" y="64294"/>
                  <a:pt x="36366" y="62519"/>
                  <a:pt x="34390" y="59539"/>
                </a:cubicBezTo>
                <a:lnTo>
                  <a:pt x="7836" y="19723"/>
                </a:lnTo>
                <a:cubicBezTo>
                  <a:pt x="6429" y="17614"/>
                  <a:pt x="6697" y="14767"/>
                  <a:pt x="8506" y="12959"/>
                </a:cubicBezTo>
                <a:lnTo>
                  <a:pt x="23708" y="-2244"/>
                </a:lnTo>
                <a:cubicBezTo>
                  <a:pt x="25517" y="-4052"/>
                  <a:pt x="28329" y="-4320"/>
                  <a:pt x="30473" y="-2913"/>
                </a:cubicBezTo>
                <a:lnTo>
                  <a:pt x="70288" y="23608"/>
                </a:lnTo>
                <a:cubicBezTo>
                  <a:pt x="73268" y="25584"/>
                  <a:pt x="75043" y="28932"/>
                  <a:pt x="75043" y="32515"/>
                </a:cubicBezTo>
                <a:close/>
                <a:moveTo>
                  <a:pt x="72197" y="99320"/>
                </a:moveTo>
                <a:cubicBezTo>
                  <a:pt x="70087" y="111710"/>
                  <a:pt x="73000" y="124804"/>
                  <a:pt x="81037" y="135285"/>
                </a:cubicBezTo>
                <a:lnTo>
                  <a:pt x="49225" y="167063"/>
                </a:lnTo>
                <a:cubicBezTo>
                  <a:pt x="39815" y="176473"/>
                  <a:pt x="24545" y="176473"/>
                  <a:pt x="15136" y="167063"/>
                </a:cubicBezTo>
                <a:cubicBezTo>
                  <a:pt x="5726" y="157654"/>
                  <a:pt x="5726" y="142384"/>
                  <a:pt x="15136" y="132974"/>
                </a:cubicBezTo>
                <a:lnTo>
                  <a:pt x="60476" y="87634"/>
                </a:lnTo>
                <a:lnTo>
                  <a:pt x="72197" y="99354"/>
                </a:ln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6"/>
          <p:cNvSpPr/>
          <p:nvPr/>
        </p:nvSpPr>
        <p:spPr>
          <a:xfrm>
            <a:off x="9129713" y="1457325"/>
            <a:ext cx="260985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50">
                <a:solidFill>
                  <a:srgbClr val="F8FAFC"/>
                </a:solidFill>
                <a:latin typeface="Arial"/>
                <a:ea typeface="Arial"/>
                <a:cs typeface="Arial"/>
                <a:sym typeface="Arial"/>
              </a:rPr>
              <a:t>Công cụ sử dụng</a:t>
            </a:r>
            <a:endParaRPr sz="1600">
              <a:solidFill>
                <a:schemeClr val="dk1"/>
              </a:solidFill>
              <a:latin typeface="Calibri"/>
              <a:ea typeface="Calibri"/>
              <a:cs typeface="Calibri"/>
              <a:sym typeface="Calibri"/>
            </a:endParaRPr>
          </a:p>
        </p:txBody>
      </p:sp>
      <p:sp>
        <p:nvSpPr>
          <p:cNvPr id="319" name="Google Shape;319;p6"/>
          <p:cNvSpPr/>
          <p:nvPr/>
        </p:nvSpPr>
        <p:spPr>
          <a:xfrm>
            <a:off x="8910638" y="1876425"/>
            <a:ext cx="2743200" cy="561975"/>
          </a:xfrm>
          <a:custGeom>
            <a:rect b="b" l="l" r="r" t="t"/>
            <a:pathLst>
              <a:path extrusionOk="0" h="561975" w="2743200">
                <a:moveTo>
                  <a:pt x="76198" y="0"/>
                </a:moveTo>
                <a:lnTo>
                  <a:pt x="2667002" y="0"/>
                </a:lnTo>
                <a:cubicBezTo>
                  <a:pt x="2709085" y="0"/>
                  <a:pt x="2743200" y="34115"/>
                  <a:pt x="2743200" y="76198"/>
                </a:cubicBezTo>
                <a:lnTo>
                  <a:pt x="2743200" y="485777"/>
                </a:lnTo>
                <a:cubicBezTo>
                  <a:pt x="2743200" y="527860"/>
                  <a:pt x="2709085" y="561975"/>
                  <a:pt x="2667002" y="561975"/>
                </a:cubicBezTo>
                <a:lnTo>
                  <a:pt x="76198" y="561975"/>
                </a:lnTo>
                <a:cubicBezTo>
                  <a:pt x="34143" y="561975"/>
                  <a:pt x="0" y="527832"/>
                  <a:pt x="0" y="485777"/>
                </a:cubicBezTo>
                <a:lnTo>
                  <a:pt x="0" y="76198"/>
                </a:lnTo>
                <a:cubicBezTo>
                  <a:pt x="0" y="34143"/>
                  <a:pt x="34143" y="0"/>
                  <a:pt x="76198"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
          <p:cNvSpPr/>
          <p:nvPr/>
        </p:nvSpPr>
        <p:spPr>
          <a:xfrm>
            <a:off x="9043988" y="2081212"/>
            <a:ext cx="152400" cy="152400"/>
          </a:xfrm>
          <a:custGeom>
            <a:rect b="b" l="l" r="r" t="t"/>
            <a:pathLst>
              <a:path extrusionOk="0" h="152400" w="152400">
                <a:moveTo>
                  <a:pt x="0" y="23813"/>
                </a:moveTo>
                <a:cubicBezTo>
                  <a:pt x="0" y="15925"/>
                  <a:pt x="6400" y="9525"/>
                  <a:pt x="14288" y="9525"/>
                </a:cubicBezTo>
                <a:lnTo>
                  <a:pt x="42863" y="9525"/>
                </a:lnTo>
                <a:cubicBezTo>
                  <a:pt x="50750" y="9525"/>
                  <a:pt x="57150" y="15925"/>
                  <a:pt x="57150" y="23813"/>
                </a:cubicBezTo>
                <a:lnTo>
                  <a:pt x="57150" y="28575"/>
                </a:lnTo>
                <a:lnTo>
                  <a:pt x="95250" y="28575"/>
                </a:lnTo>
                <a:lnTo>
                  <a:pt x="95250" y="23813"/>
                </a:lnTo>
                <a:cubicBezTo>
                  <a:pt x="95250" y="15925"/>
                  <a:pt x="101650" y="9525"/>
                  <a:pt x="109537" y="9525"/>
                </a:cubicBezTo>
                <a:lnTo>
                  <a:pt x="138113" y="9525"/>
                </a:lnTo>
                <a:cubicBezTo>
                  <a:pt x="146000" y="9525"/>
                  <a:pt x="152400" y="15925"/>
                  <a:pt x="152400" y="23813"/>
                </a:cubicBezTo>
                <a:lnTo>
                  <a:pt x="152400" y="52388"/>
                </a:lnTo>
                <a:cubicBezTo>
                  <a:pt x="152400" y="60275"/>
                  <a:pt x="146000" y="66675"/>
                  <a:pt x="138113" y="66675"/>
                </a:cubicBezTo>
                <a:lnTo>
                  <a:pt x="109537" y="66675"/>
                </a:lnTo>
                <a:cubicBezTo>
                  <a:pt x="101650" y="66675"/>
                  <a:pt x="95250" y="60275"/>
                  <a:pt x="95250" y="52388"/>
                </a:cubicBezTo>
                <a:lnTo>
                  <a:pt x="95250" y="47625"/>
                </a:lnTo>
                <a:lnTo>
                  <a:pt x="57150" y="47625"/>
                </a:lnTo>
                <a:lnTo>
                  <a:pt x="57150" y="52388"/>
                </a:lnTo>
                <a:cubicBezTo>
                  <a:pt x="57150" y="54560"/>
                  <a:pt x="56644" y="56644"/>
                  <a:pt x="55781" y="58489"/>
                </a:cubicBezTo>
                <a:lnTo>
                  <a:pt x="76200" y="85725"/>
                </a:lnTo>
                <a:lnTo>
                  <a:pt x="100013" y="85725"/>
                </a:lnTo>
                <a:cubicBezTo>
                  <a:pt x="107900" y="85725"/>
                  <a:pt x="114300" y="92125"/>
                  <a:pt x="114300" y="100013"/>
                </a:cubicBezTo>
                <a:lnTo>
                  <a:pt x="114300" y="128588"/>
                </a:lnTo>
                <a:cubicBezTo>
                  <a:pt x="114300" y="136475"/>
                  <a:pt x="107900" y="142875"/>
                  <a:pt x="100013" y="142875"/>
                </a:cubicBezTo>
                <a:lnTo>
                  <a:pt x="71438" y="142875"/>
                </a:lnTo>
                <a:cubicBezTo>
                  <a:pt x="63550" y="142875"/>
                  <a:pt x="57150" y="136475"/>
                  <a:pt x="57150" y="128588"/>
                </a:cubicBezTo>
                <a:lnTo>
                  <a:pt x="57150" y="100013"/>
                </a:lnTo>
                <a:cubicBezTo>
                  <a:pt x="57150" y="97840"/>
                  <a:pt x="57656" y="95756"/>
                  <a:pt x="58519" y="93911"/>
                </a:cubicBezTo>
                <a:lnTo>
                  <a:pt x="38100" y="66675"/>
                </a:lnTo>
                <a:lnTo>
                  <a:pt x="14288" y="66675"/>
                </a:lnTo>
                <a:cubicBezTo>
                  <a:pt x="6400" y="66675"/>
                  <a:pt x="0" y="60275"/>
                  <a:pt x="0" y="52388"/>
                </a:cubicBezTo>
                <a:lnTo>
                  <a:pt x="0" y="23813"/>
                </a:ln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6"/>
          <p:cNvSpPr/>
          <p:nvPr/>
        </p:nvSpPr>
        <p:spPr>
          <a:xfrm>
            <a:off x="9329738" y="1990725"/>
            <a:ext cx="1190625"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50">
                <a:solidFill>
                  <a:srgbClr val="F8FAFC"/>
                </a:solidFill>
                <a:latin typeface="Arial"/>
                <a:ea typeface="Arial"/>
                <a:cs typeface="Arial"/>
                <a:sym typeface="Arial"/>
              </a:rPr>
              <a:t>n8n</a:t>
            </a:r>
            <a:endParaRPr sz="1600">
              <a:solidFill>
                <a:schemeClr val="dk1"/>
              </a:solidFill>
              <a:latin typeface="Calibri"/>
              <a:ea typeface="Calibri"/>
              <a:cs typeface="Calibri"/>
              <a:sym typeface="Calibri"/>
            </a:endParaRPr>
          </a:p>
        </p:txBody>
      </p:sp>
      <p:sp>
        <p:nvSpPr>
          <p:cNvPr id="322" name="Google Shape;322;p6"/>
          <p:cNvSpPr/>
          <p:nvPr/>
        </p:nvSpPr>
        <p:spPr>
          <a:xfrm>
            <a:off x="9329738" y="2181225"/>
            <a:ext cx="1181100" cy="1428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900">
                <a:solidFill>
                  <a:srgbClr val="94A3B8"/>
                </a:solidFill>
                <a:latin typeface="Arial"/>
                <a:ea typeface="Arial"/>
                <a:cs typeface="Arial"/>
                <a:sym typeface="Arial"/>
              </a:rPr>
              <a:t>Workflow Automation</a:t>
            </a:r>
            <a:endParaRPr sz="1600">
              <a:solidFill>
                <a:schemeClr val="dk1"/>
              </a:solidFill>
              <a:latin typeface="Calibri"/>
              <a:ea typeface="Calibri"/>
              <a:cs typeface="Calibri"/>
              <a:sym typeface="Calibri"/>
            </a:endParaRPr>
          </a:p>
        </p:txBody>
      </p:sp>
      <p:sp>
        <p:nvSpPr>
          <p:cNvPr id="323" name="Google Shape;323;p6"/>
          <p:cNvSpPr/>
          <p:nvPr/>
        </p:nvSpPr>
        <p:spPr>
          <a:xfrm>
            <a:off x="8910638" y="2514600"/>
            <a:ext cx="2743200" cy="561975"/>
          </a:xfrm>
          <a:custGeom>
            <a:rect b="b" l="l" r="r" t="t"/>
            <a:pathLst>
              <a:path extrusionOk="0" h="561975" w="2743200">
                <a:moveTo>
                  <a:pt x="76198" y="0"/>
                </a:moveTo>
                <a:lnTo>
                  <a:pt x="2667002" y="0"/>
                </a:lnTo>
                <a:cubicBezTo>
                  <a:pt x="2709085" y="0"/>
                  <a:pt x="2743200" y="34115"/>
                  <a:pt x="2743200" y="76198"/>
                </a:cubicBezTo>
                <a:lnTo>
                  <a:pt x="2743200" y="485777"/>
                </a:lnTo>
                <a:cubicBezTo>
                  <a:pt x="2743200" y="527860"/>
                  <a:pt x="2709085" y="561975"/>
                  <a:pt x="2667002" y="561975"/>
                </a:cubicBezTo>
                <a:lnTo>
                  <a:pt x="76198" y="561975"/>
                </a:lnTo>
                <a:cubicBezTo>
                  <a:pt x="34143" y="561975"/>
                  <a:pt x="0" y="527832"/>
                  <a:pt x="0" y="485777"/>
                </a:cubicBezTo>
                <a:lnTo>
                  <a:pt x="0" y="76198"/>
                </a:lnTo>
                <a:cubicBezTo>
                  <a:pt x="0" y="34143"/>
                  <a:pt x="34143" y="0"/>
                  <a:pt x="76198"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6"/>
          <p:cNvSpPr/>
          <p:nvPr/>
        </p:nvSpPr>
        <p:spPr>
          <a:xfrm>
            <a:off x="9043988" y="2719388"/>
            <a:ext cx="152400" cy="152400"/>
          </a:xfrm>
          <a:custGeom>
            <a:rect b="b" l="l" r="r" t="t"/>
            <a:pathLst>
              <a:path extrusionOk="0" h="152400" w="152400">
                <a:moveTo>
                  <a:pt x="76200" y="2381"/>
                </a:moveTo>
                <a:cubicBezTo>
                  <a:pt x="35458" y="2381"/>
                  <a:pt x="2381" y="35458"/>
                  <a:pt x="2381" y="76200"/>
                </a:cubicBezTo>
                <a:cubicBezTo>
                  <a:pt x="2381" y="116942"/>
                  <a:pt x="35458" y="150019"/>
                  <a:pt x="76200" y="150019"/>
                </a:cubicBezTo>
                <a:cubicBezTo>
                  <a:pt x="116942" y="150019"/>
                  <a:pt x="150019" y="116942"/>
                  <a:pt x="150019" y="76200"/>
                </a:cubicBezTo>
                <a:cubicBezTo>
                  <a:pt x="150019" y="35458"/>
                  <a:pt x="116942" y="2381"/>
                  <a:pt x="76200" y="2381"/>
                </a:cubicBezTo>
                <a:close/>
                <a:moveTo>
                  <a:pt x="110430" y="52596"/>
                </a:moveTo>
                <a:cubicBezTo>
                  <a:pt x="109329" y="64264"/>
                  <a:pt x="104507" y="92601"/>
                  <a:pt x="102066" y="105668"/>
                </a:cubicBezTo>
                <a:cubicBezTo>
                  <a:pt x="101025" y="111204"/>
                  <a:pt x="99000" y="113050"/>
                  <a:pt x="97036" y="113228"/>
                </a:cubicBezTo>
                <a:cubicBezTo>
                  <a:pt x="92750" y="113615"/>
                  <a:pt x="89505" y="110401"/>
                  <a:pt x="85338" y="107662"/>
                </a:cubicBezTo>
                <a:cubicBezTo>
                  <a:pt x="78849" y="103406"/>
                  <a:pt x="75158" y="100757"/>
                  <a:pt x="68878" y="96589"/>
                </a:cubicBezTo>
                <a:cubicBezTo>
                  <a:pt x="61585" y="91797"/>
                  <a:pt x="66318" y="89148"/>
                  <a:pt x="70455" y="84832"/>
                </a:cubicBezTo>
                <a:cubicBezTo>
                  <a:pt x="71557" y="83701"/>
                  <a:pt x="90428" y="66526"/>
                  <a:pt x="90785" y="64978"/>
                </a:cubicBezTo>
                <a:cubicBezTo>
                  <a:pt x="90845" y="64770"/>
                  <a:pt x="90874" y="64056"/>
                  <a:pt x="90428" y="63669"/>
                </a:cubicBezTo>
                <a:cubicBezTo>
                  <a:pt x="89981" y="63282"/>
                  <a:pt x="89356" y="63431"/>
                  <a:pt x="88910" y="63520"/>
                </a:cubicBezTo>
                <a:cubicBezTo>
                  <a:pt x="88255" y="63669"/>
                  <a:pt x="77867" y="70515"/>
                  <a:pt x="57775" y="84088"/>
                </a:cubicBezTo>
                <a:cubicBezTo>
                  <a:pt x="54828" y="86112"/>
                  <a:pt x="52149" y="87094"/>
                  <a:pt x="49768" y="87035"/>
                </a:cubicBezTo>
                <a:cubicBezTo>
                  <a:pt x="47119" y="86975"/>
                  <a:pt x="42059" y="85546"/>
                  <a:pt x="38279" y="84326"/>
                </a:cubicBezTo>
                <a:cubicBezTo>
                  <a:pt x="33665" y="82838"/>
                  <a:pt x="29974" y="82034"/>
                  <a:pt x="30301" y="79474"/>
                </a:cubicBezTo>
                <a:cubicBezTo>
                  <a:pt x="30480" y="78135"/>
                  <a:pt x="32296" y="76795"/>
                  <a:pt x="35778" y="75396"/>
                </a:cubicBezTo>
                <a:cubicBezTo>
                  <a:pt x="57299" y="66020"/>
                  <a:pt x="71646" y="59829"/>
                  <a:pt x="78819" y="56852"/>
                </a:cubicBezTo>
                <a:cubicBezTo>
                  <a:pt x="99328" y="48339"/>
                  <a:pt x="103584" y="46851"/>
                  <a:pt x="106353" y="46792"/>
                </a:cubicBezTo>
                <a:cubicBezTo>
                  <a:pt x="106978" y="46792"/>
                  <a:pt x="108317" y="46940"/>
                  <a:pt x="109210" y="47655"/>
                </a:cubicBezTo>
                <a:cubicBezTo>
                  <a:pt x="109805" y="48161"/>
                  <a:pt x="110163" y="48875"/>
                  <a:pt x="110252" y="49649"/>
                </a:cubicBezTo>
                <a:cubicBezTo>
                  <a:pt x="110401" y="50602"/>
                  <a:pt x="110430" y="51584"/>
                  <a:pt x="110371" y="52566"/>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6"/>
          <p:cNvSpPr/>
          <p:nvPr/>
        </p:nvSpPr>
        <p:spPr>
          <a:xfrm>
            <a:off x="9329738" y="2628900"/>
            <a:ext cx="942975"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50">
                <a:solidFill>
                  <a:srgbClr val="F8FAFC"/>
                </a:solidFill>
                <a:latin typeface="Arial"/>
                <a:ea typeface="Arial"/>
                <a:cs typeface="Arial"/>
                <a:sym typeface="Arial"/>
              </a:rPr>
              <a:t>Telegram Bot</a:t>
            </a:r>
            <a:endParaRPr sz="1600">
              <a:solidFill>
                <a:schemeClr val="dk1"/>
              </a:solidFill>
              <a:latin typeface="Calibri"/>
              <a:ea typeface="Calibri"/>
              <a:cs typeface="Calibri"/>
              <a:sym typeface="Calibri"/>
            </a:endParaRPr>
          </a:p>
        </p:txBody>
      </p:sp>
      <p:sp>
        <p:nvSpPr>
          <p:cNvPr id="326" name="Google Shape;326;p6"/>
          <p:cNvSpPr/>
          <p:nvPr/>
        </p:nvSpPr>
        <p:spPr>
          <a:xfrm>
            <a:off x="9329738" y="2819400"/>
            <a:ext cx="933450" cy="1428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900">
                <a:solidFill>
                  <a:srgbClr val="94A3B8"/>
                </a:solidFill>
                <a:latin typeface="Arial"/>
                <a:ea typeface="Arial"/>
                <a:cs typeface="Arial"/>
                <a:sym typeface="Arial"/>
              </a:rPr>
              <a:t>User Interface</a:t>
            </a:r>
            <a:endParaRPr sz="1600">
              <a:solidFill>
                <a:schemeClr val="dk1"/>
              </a:solidFill>
              <a:latin typeface="Calibri"/>
              <a:ea typeface="Calibri"/>
              <a:cs typeface="Calibri"/>
              <a:sym typeface="Calibri"/>
            </a:endParaRPr>
          </a:p>
        </p:txBody>
      </p:sp>
      <p:sp>
        <p:nvSpPr>
          <p:cNvPr id="327" name="Google Shape;327;p6"/>
          <p:cNvSpPr/>
          <p:nvPr/>
        </p:nvSpPr>
        <p:spPr>
          <a:xfrm>
            <a:off x="8910638" y="3152775"/>
            <a:ext cx="2743200" cy="561975"/>
          </a:xfrm>
          <a:custGeom>
            <a:rect b="b" l="l" r="r" t="t"/>
            <a:pathLst>
              <a:path extrusionOk="0" h="561975" w="2743200">
                <a:moveTo>
                  <a:pt x="76198" y="0"/>
                </a:moveTo>
                <a:lnTo>
                  <a:pt x="2667002" y="0"/>
                </a:lnTo>
                <a:cubicBezTo>
                  <a:pt x="2709085" y="0"/>
                  <a:pt x="2743200" y="34115"/>
                  <a:pt x="2743200" y="76198"/>
                </a:cubicBezTo>
                <a:lnTo>
                  <a:pt x="2743200" y="485777"/>
                </a:lnTo>
                <a:cubicBezTo>
                  <a:pt x="2743200" y="527860"/>
                  <a:pt x="2709085" y="561975"/>
                  <a:pt x="2667002" y="561975"/>
                </a:cubicBezTo>
                <a:lnTo>
                  <a:pt x="76198" y="561975"/>
                </a:lnTo>
                <a:cubicBezTo>
                  <a:pt x="34143" y="561975"/>
                  <a:pt x="0" y="527832"/>
                  <a:pt x="0" y="485777"/>
                </a:cubicBezTo>
                <a:lnTo>
                  <a:pt x="0" y="76198"/>
                </a:lnTo>
                <a:cubicBezTo>
                  <a:pt x="0" y="34143"/>
                  <a:pt x="34143" y="0"/>
                  <a:pt x="76198"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6"/>
          <p:cNvSpPr/>
          <p:nvPr/>
        </p:nvSpPr>
        <p:spPr>
          <a:xfrm>
            <a:off x="9043988" y="3357563"/>
            <a:ext cx="152400" cy="152400"/>
          </a:xfrm>
          <a:custGeom>
            <a:rect b="b" l="l" r="r" t="t"/>
            <a:pathLst>
              <a:path extrusionOk="0" h="152400" w="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6"/>
          <p:cNvSpPr/>
          <p:nvPr/>
        </p:nvSpPr>
        <p:spPr>
          <a:xfrm>
            <a:off x="9329738" y="3267075"/>
            <a:ext cx="771525"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50">
                <a:solidFill>
                  <a:srgbClr val="F8FAFC"/>
                </a:solidFill>
                <a:latin typeface="Arial"/>
                <a:ea typeface="Arial"/>
                <a:cs typeface="Arial"/>
                <a:sym typeface="Arial"/>
              </a:rPr>
              <a:t>Gemini API</a:t>
            </a:r>
            <a:endParaRPr sz="1600">
              <a:solidFill>
                <a:schemeClr val="dk1"/>
              </a:solidFill>
              <a:latin typeface="Calibri"/>
              <a:ea typeface="Calibri"/>
              <a:cs typeface="Calibri"/>
              <a:sym typeface="Calibri"/>
            </a:endParaRPr>
          </a:p>
        </p:txBody>
      </p:sp>
      <p:sp>
        <p:nvSpPr>
          <p:cNvPr id="330" name="Google Shape;330;p6"/>
          <p:cNvSpPr/>
          <p:nvPr/>
        </p:nvSpPr>
        <p:spPr>
          <a:xfrm>
            <a:off x="9329738" y="3457575"/>
            <a:ext cx="762000" cy="1428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900">
                <a:solidFill>
                  <a:srgbClr val="94A3B8"/>
                </a:solidFill>
                <a:latin typeface="Arial"/>
                <a:ea typeface="Arial"/>
                <a:cs typeface="Arial"/>
                <a:sym typeface="Arial"/>
              </a:rPr>
              <a:t>AI Processing</a:t>
            </a:r>
            <a:endParaRPr sz="1600">
              <a:solidFill>
                <a:schemeClr val="dk1"/>
              </a:solidFill>
              <a:latin typeface="Calibri"/>
              <a:ea typeface="Calibri"/>
              <a:cs typeface="Calibri"/>
              <a:sym typeface="Calibri"/>
            </a:endParaRPr>
          </a:p>
        </p:txBody>
      </p:sp>
      <p:sp>
        <p:nvSpPr>
          <p:cNvPr id="331" name="Google Shape;331;p6"/>
          <p:cNvSpPr/>
          <p:nvPr/>
        </p:nvSpPr>
        <p:spPr>
          <a:xfrm>
            <a:off x="8910638" y="3790950"/>
            <a:ext cx="2743200" cy="561975"/>
          </a:xfrm>
          <a:custGeom>
            <a:rect b="b" l="l" r="r" t="t"/>
            <a:pathLst>
              <a:path extrusionOk="0" h="561975" w="2743200">
                <a:moveTo>
                  <a:pt x="76198" y="0"/>
                </a:moveTo>
                <a:lnTo>
                  <a:pt x="2667002" y="0"/>
                </a:lnTo>
                <a:cubicBezTo>
                  <a:pt x="2709085" y="0"/>
                  <a:pt x="2743200" y="34115"/>
                  <a:pt x="2743200" y="76198"/>
                </a:cubicBezTo>
                <a:lnTo>
                  <a:pt x="2743200" y="485777"/>
                </a:lnTo>
                <a:cubicBezTo>
                  <a:pt x="2743200" y="527860"/>
                  <a:pt x="2709085" y="561975"/>
                  <a:pt x="2667002" y="561975"/>
                </a:cubicBezTo>
                <a:lnTo>
                  <a:pt x="76198" y="561975"/>
                </a:lnTo>
                <a:cubicBezTo>
                  <a:pt x="34143" y="561975"/>
                  <a:pt x="0" y="527832"/>
                  <a:pt x="0" y="485777"/>
                </a:cubicBezTo>
                <a:lnTo>
                  <a:pt x="0" y="76198"/>
                </a:lnTo>
                <a:cubicBezTo>
                  <a:pt x="0" y="34143"/>
                  <a:pt x="34143" y="0"/>
                  <a:pt x="76198"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p:nvPr/>
        </p:nvSpPr>
        <p:spPr>
          <a:xfrm>
            <a:off x="9053513" y="3995738"/>
            <a:ext cx="133350" cy="152400"/>
          </a:xfrm>
          <a:custGeom>
            <a:rect b="b" l="l" r="r" t="t"/>
            <a:pathLst>
              <a:path extrusionOk="0" h="152400" w="133350">
                <a:moveTo>
                  <a:pt x="0" y="28575"/>
                </a:moveTo>
                <a:cubicBezTo>
                  <a:pt x="0" y="18068"/>
                  <a:pt x="8543" y="9525"/>
                  <a:pt x="19050" y="9525"/>
                </a:cubicBezTo>
                <a:lnTo>
                  <a:pt x="114300" y="9525"/>
                </a:lnTo>
                <a:cubicBezTo>
                  <a:pt x="124807" y="9525"/>
                  <a:pt x="133350" y="18068"/>
                  <a:pt x="133350" y="28575"/>
                </a:cubicBezTo>
                <a:lnTo>
                  <a:pt x="133350" y="123825"/>
                </a:lnTo>
                <a:cubicBezTo>
                  <a:pt x="133350" y="134332"/>
                  <a:pt x="124807" y="142875"/>
                  <a:pt x="114300" y="142875"/>
                </a:cubicBezTo>
                <a:lnTo>
                  <a:pt x="19050" y="142875"/>
                </a:lnTo>
                <a:cubicBezTo>
                  <a:pt x="8543" y="142875"/>
                  <a:pt x="0" y="134332"/>
                  <a:pt x="0" y="123825"/>
                </a:cubicBezTo>
                <a:lnTo>
                  <a:pt x="0" y="28575"/>
                </a:lnTo>
                <a:close/>
                <a:moveTo>
                  <a:pt x="14288" y="109537"/>
                </a:moveTo>
                <a:lnTo>
                  <a:pt x="14288" y="119062"/>
                </a:lnTo>
                <a:cubicBezTo>
                  <a:pt x="14288" y="121682"/>
                  <a:pt x="16431" y="123825"/>
                  <a:pt x="19050" y="123825"/>
                </a:cubicBezTo>
                <a:lnTo>
                  <a:pt x="28575" y="123825"/>
                </a:lnTo>
                <a:cubicBezTo>
                  <a:pt x="31194" y="123825"/>
                  <a:pt x="33338" y="121682"/>
                  <a:pt x="33338" y="119062"/>
                </a:cubicBezTo>
                <a:lnTo>
                  <a:pt x="33338" y="109537"/>
                </a:lnTo>
                <a:cubicBezTo>
                  <a:pt x="33338" y="106918"/>
                  <a:pt x="31194" y="104775"/>
                  <a:pt x="28575" y="104775"/>
                </a:cubicBezTo>
                <a:lnTo>
                  <a:pt x="19050" y="104775"/>
                </a:lnTo>
                <a:cubicBezTo>
                  <a:pt x="16431" y="104775"/>
                  <a:pt x="14288" y="106918"/>
                  <a:pt x="14288" y="109537"/>
                </a:cubicBezTo>
                <a:close/>
                <a:moveTo>
                  <a:pt x="104775" y="104775"/>
                </a:moveTo>
                <a:cubicBezTo>
                  <a:pt x="102156" y="104775"/>
                  <a:pt x="100013" y="106918"/>
                  <a:pt x="100013" y="109537"/>
                </a:cubicBezTo>
                <a:lnTo>
                  <a:pt x="100013" y="119062"/>
                </a:lnTo>
                <a:cubicBezTo>
                  <a:pt x="100013" y="121682"/>
                  <a:pt x="102156" y="123825"/>
                  <a:pt x="104775" y="123825"/>
                </a:cubicBezTo>
                <a:lnTo>
                  <a:pt x="114300" y="123825"/>
                </a:lnTo>
                <a:cubicBezTo>
                  <a:pt x="116919" y="123825"/>
                  <a:pt x="119062" y="121682"/>
                  <a:pt x="119062" y="119062"/>
                </a:cubicBezTo>
                <a:lnTo>
                  <a:pt x="119062" y="109537"/>
                </a:lnTo>
                <a:cubicBezTo>
                  <a:pt x="119062" y="106918"/>
                  <a:pt x="116919" y="104775"/>
                  <a:pt x="114300" y="104775"/>
                </a:cubicBezTo>
                <a:lnTo>
                  <a:pt x="104775" y="104775"/>
                </a:lnTo>
                <a:close/>
                <a:moveTo>
                  <a:pt x="14288" y="71438"/>
                </a:moveTo>
                <a:lnTo>
                  <a:pt x="14288" y="80962"/>
                </a:lnTo>
                <a:cubicBezTo>
                  <a:pt x="14288" y="83582"/>
                  <a:pt x="16431" y="85725"/>
                  <a:pt x="19050" y="85725"/>
                </a:cubicBezTo>
                <a:lnTo>
                  <a:pt x="28575" y="85725"/>
                </a:lnTo>
                <a:cubicBezTo>
                  <a:pt x="31194" y="85725"/>
                  <a:pt x="33338" y="83582"/>
                  <a:pt x="33338" y="80962"/>
                </a:cubicBezTo>
                <a:lnTo>
                  <a:pt x="33338" y="71438"/>
                </a:lnTo>
                <a:cubicBezTo>
                  <a:pt x="33338" y="68818"/>
                  <a:pt x="31194" y="66675"/>
                  <a:pt x="28575" y="66675"/>
                </a:cubicBezTo>
                <a:lnTo>
                  <a:pt x="19050" y="66675"/>
                </a:lnTo>
                <a:cubicBezTo>
                  <a:pt x="16431" y="66675"/>
                  <a:pt x="14288" y="68818"/>
                  <a:pt x="14288" y="71438"/>
                </a:cubicBezTo>
                <a:close/>
                <a:moveTo>
                  <a:pt x="104775" y="66675"/>
                </a:moveTo>
                <a:cubicBezTo>
                  <a:pt x="102156" y="66675"/>
                  <a:pt x="100013" y="68818"/>
                  <a:pt x="100013" y="71438"/>
                </a:cubicBezTo>
                <a:lnTo>
                  <a:pt x="100013" y="80962"/>
                </a:lnTo>
                <a:cubicBezTo>
                  <a:pt x="100013" y="83582"/>
                  <a:pt x="102156" y="85725"/>
                  <a:pt x="104775" y="85725"/>
                </a:cubicBezTo>
                <a:lnTo>
                  <a:pt x="114300" y="85725"/>
                </a:lnTo>
                <a:cubicBezTo>
                  <a:pt x="116919" y="85725"/>
                  <a:pt x="119062" y="83582"/>
                  <a:pt x="119062" y="80962"/>
                </a:cubicBezTo>
                <a:lnTo>
                  <a:pt x="119062" y="71438"/>
                </a:lnTo>
                <a:cubicBezTo>
                  <a:pt x="119062" y="68818"/>
                  <a:pt x="116919" y="66675"/>
                  <a:pt x="114300" y="66675"/>
                </a:cubicBezTo>
                <a:lnTo>
                  <a:pt x="104775" y="66675"/>
                </a:lnTo>
                <a:close/>
                <a:moveTo>
                  <a:pt x="14288" y="33338"/>
                </a:moveTo>
                <a:lnTo>
                  <a:pt x="14288" y="42863"/>
                </a:lnTo>
                <a:cubicBezTo>
                  <a:pt x="14288" y="45482"/>
                  <a:pt x="16431" y="47625"/>
                  <a:pt x="19050" y="47625"/>
                </a:cubicBezTo>
                <a:lnTo>
                  <a:pt x="28575" y="47625"/>
                </a:lnTo>
                <a:cubicBezTo>
                  <a:pt x="31194" y="47625"/>
                  <a:pt x="33338" y="45482"/>
                  <a:pt x="33338" y="42863"/>
                </a:cubicBezTo>
                <a:lnTo>
                  <a:pt x="33338" y="33338"/>
                </a:lnTo>
                <a:cubicBezTo>
                  <a:pt x="33338" y="30718"/>
                  <a:pt x="31194" y="28575"/>
                  <a:pt x="28575" y="28575"/>
                </a:cubicBezTo>
                <a:lnTo>
                  <a:pt x="19050" y="28575"/>
                </a:lnTo>
                <a:cubicBezTo>
                  <a:pt x="16431" y="28575"/>
                  <a:pt x="14288" y="30718"/>
                  <a:pt x="14288" y="33338"/>
                </a:cubicBezTo>
                <a:close/>
                <a:moveTo>
                  <a:pt x="104775" y="28575"/>
                </a:moveTo>
                <a:cubicBezTo>
                  <a:pt x="102156" y="28575"/>
                  <a:pt x="100013" y="30718"/>
                  <a:pt x="100013" y="33338"/>
                </a:cubicBezTo>
                <a:lnTo>
                  <a:pt x="100013" y="42863"/>
                </a:lnTo>
                <a:cubicBezTo>
                  <a:pt x="100013" y="45482"/>
                  <a:pt x="102156" y="47625"/>
                  <a:pt x="104775" y="47625"/>
                </a:cubicBezTo>
                <a:lnTo>
                  <a:pt x="114300" y="47625"/>
                </a:lnTo>
                <a:cubicBezTo>
                  <a:pt x="116919" y="47625"/>
                  <a:pt x="119062" y="45482"/>
                  <a:pt x="119062" y="42863"/>
                </a:cubicBezTo>
                <a:lnTo>
                  <a:pt x="119062" y="33338"/>
                </a:lnTo>
                <a:cubicBezTo>
                  <a:pt x="119062" y="30718"/>
                  <a:pt x="116919" y="28575"/>
                  <a:pt x="114300" y="28575"/>
                </a:cubicBezTo>
                <a:lnTo>
                  <a:pt x="104775" y="28575"/>
                </a:ln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6"/>
          <p:cNvSpPr/>
          <p:nvPr/>
        </p:nvSpPr>
        <p:spPr>
          <a:xfrm>
            <a:off x="9329738" y="3905250"/>
            <a:ext cx="904875"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50">
                <a:solidFill>
                  <a:srgbClr val="F8FAFC"/>
                </a:solidFill>
                <a:latin typeface="Arial"/>
                <a:ea typeface="Arial"/>
                <a:cs typeface="Arial"/>
                <a:sym typeface="Arial"/>
              </a:rPr>
              <a:t>TMDB API</a:t>
            </a:r>
            <a:endParaRPr sz="1600">
              <a:solidFill>
                <a:schemeClr val="dk1"/>
              </a:solidFill>
              <a:latin typeface="Calibri"/>
              <a:ea typeface="Calibri"/>
              <a:cs typeface="Calibri"/>
              <a:sym typeface="Calibri"/>
            </a:endParaRPr>
          </a:p>
        </p:txBody>
      </p:sp>
      <p:sp>
        <p:nvSpPr>
          <p:cNvPr id="334" name="Google Shape;334;p6"/>
          <p:cNvSpPr/>
          <p:nvPr/>
        </p:nvSpPr>
        <p:spPr>
          <a:xfrm>
            <a:off x="9329738" y="4095750"/>
            <a:ext cx="895350" cy="1428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900">
                <a:solidFill>
                  <a:srgbClr val="94A3B8"/>
                </a:solidFill>
                <a:latin typeface="Arial"/>
                <a:ea typeface="Arial"/>
                <a:cs typeface="Arial"/>
                <a:sym typeface="Arial"/>
              </a:rPr>
              <a:t>Movie Database</a:t>
            </a:r>
            <a:endParaRPr sz="1600">
              <a:solidFill>
                <a:schemeClr val="dk1"/>
              </a:solidFill>
              <a:latin typeface="Calibri"/>
              <a:ea typeface="Calibri"/>
              <a:cs typeface="Calibri"/>
              <a:sym typeface="Calibri"/>
            </a:endParaRPr>
          </a:p>
        </p:txBody>
      </p:sp>
      <p:sp>
        <p:nvSpPr>
          <p:cNvPr id="335" name="Google Shape;335;p6"/>
          <p:cNvSpPr/>
          <p:nvPr/>
        </p:nvSpPr>
        <p:spPr>
          <a:xfrm>
            <a:off x="8910638" y="4429125"/>
            <a:ext cx="2743200" cy="561975"/>
          </a:xfrm>
          <a:custGeom>
            <a:rect b="b" l="l" r="r" t="t"/>
            <a:pathLst>
              <a:path extrusionOk="0" h="561975" w="2743200">
                <a:moveTo>
                  <a:pt x="76198" y="0"/>
                </a:moveTo>
                <a:lnTo>
                  <a:pt x="2667002" y="0"/>
                </a:lnTo>
                <a:cubicBezTo>
                  <a:pt x="2709085" y="0"/>
                  <a:pt x="2743200" y="34115"/>
                  <a:pt x="2743200" y="76198"/>
                </a:cubicBezTo>
                <a:lnTo>
                  <a:pt x="2743200" y="485777"/>
                </a:lnTo>
                <a:cubicBezTo>
                  <a:pt x="2743200" y="527860"/>
                  <a:pt x="2709085" y="561975"/>
                  <a:pt x="2667002" y="561975"/>
                </a:cubicBezTo>
                <a:lnTo>
                  <a:pt x="76198" y="561975"/>
                </a:lnTo>
                <a:cubicBezTo>
                  <a:pt x="34143" y="561975"/>
                  <a:pt x="0" y="527832"/>
                  <a:pt x="0" y="485777"/>
                </a:cubicBezTo>
                <a:lnTo>
                  <a:pt x="0" y="76198"/>
                </a:lnTo>
                <a:cubicBezTo>
                  <a:pt x="0" y="34143"/>
                  <a:pt x="34143" y="0"/>
                  <a:pt x="76198"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6"/>
          <p:cNvSpPr/>
          <p:nvPr/>
        </p:nvSpPr>
        <p:spPr>
          <a:xfrm>
            <a:off x="9063038" y="4633913"/>
            <a:ext cx="114300" cy="152400"/>
          </a:xfrm>
          <a:custGeom>
            <a:rect b="b" l="l" r="r" t="t"/>
            <a:pathLst>
              <a:path extrusionOk="0" h="152400" w="114300">
                <a:moveTo>
                  <a:pt x="0" y="56138"/>
                </a:moveTo>
                <a:cubicBezTo>
                  <a:pt x="0" y="25122"/>
                  <a:pt x="25598" y="0"/>
                  <a:pt x="57150" y="0"/>
                </a:cubicBezTo>
                <a:cubicBezTo>
                  <a:pt x="88702" y="0"/>
                  <a:pt x="114300" y="25122"/>
                  <a:pt x="114300" y="56138"/>
                </a:cubicBezTo>
                <a:cubicBezTo>
                  <a:pt x="114300" y="91648"/>
                  <a:pt x="78522" y="134213"/>
                  <a:pt x="63579" y="150435"/>
                </a:cubicBezTo>
                <a:cubicBezTo>
                  <a:pt x="60067" y="154245"/>
                  <a:pt x="54203" y="154245"/>
                  <a:pt x="50691" y="150435"/>
                </a:cubicBezTo>
                <a:cubicBezTo>
                  <a:pt x="35749" y="134213"/>
                  <a:pt x="-30" y="91648"/>
                  <a:pt x="-30" y="56138"/>
                </a:cubicBezTo>
                <a:close/>
                <a:moveTo>
                  <a:pt x="57150" y="76200"/>
                </a:moveTo>
                <a:cubicBezTo>
                  <a:pt x="67664" y="76200"/>
                  <a:pt x="76200" y="67664"/>
                  <a:pt x="76200" y="57150"/>
                </a:cubicBezTo>
                <a:cubicBezTo>
                  <a:pt x="76200" y="46636"/>
                  <a:pt x="67664" y="38100"/>
                  <a:pt x="57150" y="38100"/>
                </a:cubicBezTo>
                <a:cubicBezTo>
                  <a:pt x="46636" y="38100"/>
                  <a:pt x="38100" y="46636"/>
                  <a:pt x="38100" y="57150"/>
                </a:cubicBezTo>
                <a:cubicBezTo>
                  <a:pt x="38100" y="67664"/>
                  <a:pt x="46636" y="76200"/>
                  <a:pt x="57150" y="7620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6"/>
          <p:cNvSpPr/>
          <p:nvPr/>
        </p:nvSpPr>
        <p:spPr>
          <a:xfrm>
            <a:off x="9329738" y="4543425"/>
            <a:ext cx="981075"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50">
                <a:solidFill>
                  <a:srgbClr val="F8FAFC"/>
                </a:solidFill>
                <a:latin typeface="Arial"/>
                <a:ea typeface="Arial"/>
                <a:cs typeface="Arial"/>
                <a:sym typeface="Arial"/>
              </a:rPr>
              <a:t>Google Places</a:t>
            </a:r>
            <a:endParaRPr sz="1600">
              <a:solidFill>
                <a:schemeClr val="dk1"/>
              </a:solidFill>
              <a:latin typeface="Calibri"/>
              <a:ea typeface="Calibri"/>
              <a:cs typeface="Calibri"/>
              <a:sym typeface="Calibri"/>
            </a:endParaRPr>
          </a:p>
        </p:txBody>
      </p:sp>
      <p:sp>
        <p:nvSpPr>
          <p:cNvPr id="338" name="Google Shape;338;p6"/>
          <p:cNvSpPr/>
          <p:nvPr/>
        </p:nvSpPr>
        <p:spPr>
          <a:xfrm>
            <a:off x="9329738" y="4733925"/>
            <a:ext cx="971550" cy="1428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900">
                <a:solidFill>
                  <a:srgbClr val="94A3B8"/>
                </a:solidFill>
                <a:latin typeface="Arial"/>
                <a:ea typeface="Arial"/>
                <a:cs typeface="Arial"/>
                <a:sym typeface="Arial"/>
              </a:rPr>
              <a:t>Location Search</a:t>
            </a:r>
            <a:endParaRPr sz="1600">
              <a:solidFill>
                <a:schemeClr val="dk1"/>
              </a:solidFill>
              <a:latin typeface="Calibri"/>
              <a:ea typeface="Calibri"/>
              <a:cs typeface="Calibri"/>
              <a:sym typeface="Calibri"/>
            </a:endParaRPr>
          </a:p>
        </p:txBody>
      </p:sp>
      <p:sp>
        <p:nvSpPr>
          <p:cNvPr id="339" name="Google Shape;339;p6"/>
          <p:cNvSpPr/>
          <p:nvPr/>
        </p:nvSpPr>
        <p:spPr>
          <a:xfrm>
            <a:off x="8910638" y="5067300"/>
            <a:ext cx="2743200" cy="561975"/>
          </a:xfrm>
          <a:custGeom>
            <a:rect b="b" l="l" r="r" t="t"/>
            <a:pathLst>
              <a:path extrusionOk="0" h="561975" w="2743200">
                <a:moveTo>
                  <a:pt x="76198" y="0"/>
                </a:moveTo>
                <a:lnTo>
                  <a:pt x="2667002" y="0"/>
                </a:lnTo>
                <a:cubicBezTo>
                  <a:pt x="2709085" y="0"/>
                  <a:pt x="2743200" y="34115"/>
                  <a:pt x="2743200" y="76198"/>
                </a:cubicBezTo>
                <a:lnTo>
                  <a:pt x="2743200" y="485777"/>
                </a:lnTo>
                <a:cubicBezTo>
                  <a:pt x="2743200" y="527860"/>
                  <a:pt x="2709085" y="561975"/>
                  <a:pt x="2667002" y="561975"/>
                </a:cubicBezTo>
                <a:lnTo>
                  <a:pt x="76198" y="561975"/>
                </a:lnTo>
                <a:cubicBezTo>
                  <a:pt x="34143" y="561975"/>
                  <a:pt x="0" y="527832"/>
                  <a:pt x="0" y="485777"/>
                </a:cubicBezTo>
                <a:lnTo>
                  <a:pt x="0" y="76198"/>
                </a:lnTo>
                <a:cubicBezTo>
                  <a:pt x="0" y="34143"/>
                  <a:pt x="34143" y="0"/>
                  <a:pt x="76198"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6"/>
          <p:cNvSpPr/>
          <p:nvPr/>
        </p:nvSpPr>
        <p:spPr>
          <a:xfrm>
            <a:off x="9024938" y="5272088"/>
            <a:ext cx="190500" cy="152400"/>
          </a:xfrm>
          <a:custGeom>
            <a:rect b="b" l="l" r="r" t="t"/>
            <a:pathLst>
              <a:path extrusionOk="0" h="152400" w="190500">
                <a:moveTo>
                  <a:pt x="104150" y="70336"/>
                </a:moveTo>
                <a:lnTo>
                  <a:pt x="84475" y="70336"/>
                </a:lnTo>
                <a:lnTo>
                  <a:pt x="84475" y="52655"/>
                </a:lnTo>
                <a:lnTo>
                  <a:pt x="104150" y="52655"/>
                </a:lnTo>
                <a:lnTo>
                  <a:pt x="104150" y="70336"/>
                </a:lnTo>
                <a:close/>
                <a:moveTo>
                  <a:pt x="104150" y="9525"/>
                </a:moveTo>
                <a:lnTo>
                  <a:pt x="84475" y="9525"/>
                </a:lnTo>
                <a:lnTo>
                  <a:pt x="84475" y="27593"/>
                </a:lnTo>
                <a:lnTo>
                  <a:pt x="104150" y="27593"/>
                </a:lnTo>
                <a:lnTo>
                  <a:pt x="104150" y="9525"/>
                </a:lnTo>
                <a:close/>
                <a:moveTo>
                  <a:pt x="127427" y="52626"/>
                </a:moveTo>
                <a:lnTo>
                  <a:pt x="107752" y="52626"/>
                </a:lnTo>
                <a:lnTo>
                  <a:pt x="107752" y="70306"/>
                </a:lnTo>
                <a:lnTo>
                  <a:pt x="127427" y="70306"/>
                </a:lnTo>
                <a:lnTo>
                  <a:pt x="127427" y="52626"/>
                </a:lnTo>
                <a:close/>
                <a:moveTo>
                  <a:pt x="80903" y="31165"/>
                </a:moveTo>
                <a:lnTo>
                  <a:pt x="61228" y="31165"/>
                </a:lnTo>
                <a:lnTo>
                  <a:pt x="61228" y="49054"/>
                </a:lnTo>
                <a:lnTo>
                  <a:pt x="80903" y="49054"/>
                </a:lnTo>
                <a:lnTo>
                  <a:pt x="80903" y="31165"/>
                </a:lnTo>
                <a:close/>
                <a:moveTo>
                  <a:pt x="104150" y="31165"/>
                </a:moveTo>
                <a:lnTo>
                  <a:pt x="84475" y="31165"/>
                </a:lnTo>
                <a:lnTo>
                  <a:pt x="84475" y="49054"/>
                </a:lnTo>
                <a:lnTo>
                  <a:pt x="104150" y="49054"/>
                </a:lnTo>
                <a:lnTo>
                  <a:pt x="104150" y="31165"/>
                </a:lnTo>
                <a:close/>
                <a:moveTo>
                  <a:pt x="186541" y="60930"/>
                </a:moveTo>
                <a:cubicBezTo>
                  <a:pt x="182255" y="58043"/>
                  <a:pt x="172373" y="57001"/>
                  <a:pt x="164783" y="58430"/>
                </a:cubicBezTo>
                <a:cubicBezTo>
                  <a:pt x="163800" y="51286"/>
                  <a:pt x="159812" y="45065"/>
                  <a:pt x="152549" y="39469"/>
                </a:cubicBezTo>
                <a:lnTo>
                  <a:pt x="148382" y="36701"/>
                </a:lnTo>
                <a:lnTo>
                  <a:pt x="145613" y="40868"/>
                </a:lnTo>
                <a:cubicBezTo>
                  <a:pt x="140137" y="49143"/>
                  <a:pt x="138648" y="62776"/>
                  <a:pt x="144512" y="71765"/>
                </a:cubicBezTo>
                <a:cubicBezTo>
                  <a:pt x="141923" y="73164"/>
                  <a:pt x="136833" y="75069"/>
                  <a:pt x="130106" y="74950"/>
                </a:cubicBezTo>
                <a:lnTo>
                  <a:pt x="714" y="74950"/>
                </a:lnTo>
                <a:cubicBezTo>
                  <a:pt x="-1875" y="90071"/>
                  <a:pt x="2441" y="109716"/>
                  <a:pt x="13811" y="123200"/>
                </a:cubicBezTo>
                <a:cubicBezTo>
                  <a:pt x="24854" y="136267"/>
                  <a:pt x="41404" y="142905"/>
                  <a:pt x="63044" y="142905"/>
                </a:cubicBezTo>
                <a:cubicBezTo>
                  <a:pt x="109895" y="142905"/>
                  <a:pt x="144572" y="121325"/>
                  <a:pt x="160794" y="82123"/>
                </a:cubicBezTo>
                <a:cubicBezTo>
                  <a:pt x="167164" y="82242"/>
                  <a:pt x="180915" y="82153"/>
                  <a:pt x="187970" y="68669"/>
                </a:cubicBezTo>
                <a:cubicBezTo>
                  <a:pt x="188416" y="67925"/>
                  <a:pt x="189934" y="64740"/>
                  <a:pt x="190500" y="63579"/>
                </a:cubicBezTo>
                <a:lnTo>
                  <a:pt x="186541" y="60930"/>
                </a:lnTo>
                <a:close/>
                <a:moveTo>
                  <a:pt x="34409" y="52626"/>
                </a:moveTo>
                <a:lnTo>
                  <a:pt x="14764" y="52626"/>
                </a:lnTo>
                <a:lnTo>
                  <a:pt x="14764" y="70306"/>
                </a:lnTo>
                <a:lnTo>
                  <a:pt x="34439" y="70306"/>
                </a:lnTo>
                <a:lnTo>
                  <a:pt x="34439" y="52626"/>
                </a:lnTo>
                <a:lnTo>
                  <a:pt x="34409" y="52626"/>
                </a:lnTo>
                <a:close/>
                <a:moveTo>
                  <a:pt x="57656" y="52626"/>
                </a:moveTo>
                <a:lnTo>
                  <a:pt x="37981" y="52626"/>
                </a:lnTo>
                <a:lnTo>
                  <a:pt x="37981" y="70306"/>
                </a:lnTo>
                <a:lnTo>
                  <a:pt x="57656" y="70306"/>
                </a:lnTo>
                <a:lnTo>
                  <a:pt x="57656" y="52626"/>
                </a:lnTo>
                <a:close/>
                <a:moveTo>
                  <a:pt x="80903" y="52626"/>
                </a:moveTo>
                <a:lnTo>
                  <a:pt x="61228" y="52626"/>
                </a:lnTo>
                <a:lnTo>
                  <a:pt x="61228" y="70306"/>
                </a:lnTo>
                <a:lnTo>
                  <a:pt x="80903" y="70306"/>
                </a:lnTo>
                <a:lnTo>
                  <a:pt x="80903" y="52626"/>
                </a:lnTo>
                <a:close/>
                <a:moveTo>
                  <a:pt x="57656" y="31165"/>
                </a:moveTo>
                <a:lnTo>
                  <a:pt x="37981" y="31165"/>
                </a:lnTo>
                <a:lnTo>
                  <a:pt x="37981" y="49054"/>
                </a:lnTo>
                <a:lnTo>
                  <a:pt x="57656" y="49054"/>
                </a:lnTo>
                <a:lnTo>
                  <a:pt x="57656" y="31165"/>
                </a:ln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6"/>
          <p:cNvSpPr/>
          <p:nvPr/>
        </p:nvSpPr>
        <p:spPr>
          <a:xfrm>
            <a:off x="9329738" y="5181600"/>
            <a:ext cx="704850"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50">
                <a:solidFill>
                  <a:srgbClr val="F8FAFC"/>
                </a:solidFill>
                <a:latin typeface="Arial"/>
                <a:ea typeface="Arial"/>
                <a:cs typeface="Arial"/>
                <a:sym typeface="Arial"/>
              </a:rPr>
              <a:t>Docker</a:t>
            </a:r>
            <a:endParaRPr sz="1600">
              <a:solidFill>
                <a:schemeClr val="dk1"/>
              </a:solidFill>
              <a:latin typeface="Calibri"/>
              <a:ea typeface="Calibri"/>
              <a:cs typeface="Calibri"/>
              <a:sym typeface="Calibri"/>
            </a:endParaRPr>
          </a:p>
        </p:txBody>
      </p:sp>
      <p:sp>
        <p:nvSpPr>
          <p:cNvPr id="342" name="Google Shape;342;p6"/>
          <p:cNvSpPr/>
          <p:nvPr/>
        </p:nvSpPr>
        <p:spPr>
          <a:xfrm>
            <a:off x="9329738" y="5372100"/>
            <a:ext cx="695325" cy="142875"/>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900">
                <a:solidFill>
                  <a:srgbClr val="94A3B8"/>
                </a:solidFill>
                <a:latin typeface="Arial"/>
                <a:ea typeface="Arial"/>
                <a:cs typeface="Arial"/>
                <a:sym typeface="Arial"/>
              </a:rPr>
              <a:t>Deployment</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47" name="Shape 347"/>
        <p:cNvGrpSpPr/>
        <p:nvPr/>
      </p:nvGrpSpPr>
      <p:grpSpPr>
        <a:xfrm>
          <a:off x="0" y="0"/>
          <a:ext cx="0" cy="0"/>
          <a:chOff x="0" y="0"/>
          <a:chExt cx="0" cy="0"/>
        </a:xfrm>
      </p:grpSpPr>
      <p:sp>
        <p:nvSpPr>
          <p:cNvPr id="348" name="Google Shape;348;p7"/>
          <p:cNvSpPr/>
          <p:nvPr/>
        </p:nvSpPr>
        <p:spPr>
          <a:xfrm>
            <a:off x="332434" y="332434"/>
            <a:ext cx="11593620" cy="1994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47">
                <a:solidFill>
                  <a:srgbClr val="F59E0B"/>
                </a:solidFill>
                <a:latin typeface="Arial"/>
                <a:ea typeface="Arial"/>
                <a:cs typeface="Arial"/>
                <a:sym typeface="Arial"/>
              </a:rPr>
              <a:t>05 / KỊCH BẢN CHỨC NĂNG</a:t>
            </a:r>
            <a:endParaRPr sz="1600">
              <a:solidFill>
                <a:schemeClr val="dk1"/>
              </a:solidFill>
              <a:latin typeface="Calibri"/>
              <a:ea typeface="Calibri"/>
              <a:cs typeface="Calibri"/>
              <a:sym typeface="Calibri"/>
            </a:endParaRPr>
          </a:p>
        </p:txBody>
      </p:sp>
      <p:sp>
        <p:nvSpPr>
          <p:cNvPr id="349" name="Google Shape;349;p7"/>
          <p:cNvSpPr/>
          <p:nvPr/>
        </p:nvSpPr>
        <p:spPr>
          <a:xfrm>
            <a:off x="332434" y="598380"/>
            <a:ext cx="11676728" cy="332434"/>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356">
                <a:solidFill>
                  <a:srgbClr val="F8FAFC"/>
                </a:solidFill>
                <a:latin typeface="Arial"/>
                <a:ea typeface="Arial"/>
                <a:cs typeface="Arial"/>
                <a:sym typeface="Arial"/>
              </a:rPr>
              <a:t>5 kịch bản sử dụng chính</a:t>
            </a:r>
            <a:endParaRPr sz="1600">
              <a:solidFill>
                <a:schemeClr val="dk1"/>
              </a:solidFill>
              <a:latin typeface="Calibri"/>
              <a:ea typeface="Calibri"/>
              <a:cs typeface="Calibri"/>
              <a:sym typeface="Calibri"/>
            </a:endParaRPr>
          </a:p>
        </p:txBody>
      </p:sp>
      <p:sp>
        <p:nvSpPr>
          <p:cNvPr id="350" name="Google Shape;350;p7"/>
          <p:cNvSpPr/>
          <p:nvPr/>
        </p:nvSpPr>
        <p:spPr>
          <a:xfrm>
            <a:off x="332434" y="1030544"/>
            <a:ext cx="797840" cy="33243"/>
          </a:xfrm>
          <a:custGeom>
            <a:rect b="b" l="l" r="r" t="t"/>
            <a:pathLst>
              <a:path extrusionOk="0" h="33243" w="797840">
                <a:moveTo>
                  <a:pt x="0" y="0"/>
                </a:moveTo>
                <a:lnTo>
                  <a:pt x="797840" y="0"/>
                </a:lnTo>
                <a:lnTo>
                  <a:pt x="797840" y="33243"/>
                </a:lnTo>
                <a:lnTo>
                  <a:pt x="0" y="33243"/>
                </a:lnTo>
                <a:lnTo>
                  <a:pt x="0" y="0"/>
                </a:lnTo>
                <a:close/>
              </a:path>
            </a:pathLst>
          </a:custGeom>
          <a:gradFill>
            <a:gsLst>
              <a:gs pos="0">
                <a:srgbClr val="F59E0B"/>
              </a:gs>
              <a:gs pos="100000">
                <a:srgbClr val="EC4899"/>
              </a:gs>
            </a:gsLst>
            <a:lin ang="0" scaled="0"/>
          </a:gradFill>
          <a:ln>
            <a:noFill/>
          </a:ln>
        </p:spPr>
      </p:sp>
      <p:sp>
        <p:nvSpPr>
          <p:cNvPr id="351" name="Google Shape;351;p7"/>
          <p:cNvSpPr/>
          <p:nvPr/>
        </p:nvSpPr>
        <p:spPr>
          <a:xfrm>
            <a:off x="349055" y="1130274"/>
            <a:ext cx="5709546" cy="1446086"/>
          </a:xfrm>
          <a:custGeom>
            <a:rect b="b" l="l" r="r" t="t"/>
            <a:pathLst>
              <a:path extrusionOk="0" h="1446086" w="5709546">
                <a:moveTo>
                  <a:pt x="33243" y="0"/>
                </a:moveTo>
                <a:lnTo>
                  <a:pt x="5609809" y="0"/>
                </a:lnTo>
                <a:cubicBezTo>
                  <a:pt x="5664892" y="0"/>
                  <a:pt x="5709546" y="44654"/>
                  <a:pt x="5709546" y="99737"/>
                </a:cubicBezTo>
                <a:lnTo>
                  <a:pt x="5709546" y="1346349"/>
                </a:lnTo>
                <a:cubicBezTo>
                  <a:pt x="5709546" y="1401432"/>
                  <a:pt x="5664892" y="1446086"/>
                  <a:pt x="5609809" y="1446086"/>
                </a:cubicBezTo>
                <a:lnTo>
                  <a:pt x="33243" y="1446086"/>
                </a:lnTo>
                <a:cubicBezTo>
                  <a:pt x="14884" y="1446086"/>
                  <a:pt x="0" y="1431202"/>
                  <a:pt x="0" y="1412843"/>
                </a:cubicBezTo>
                <a:lnTo>
                  <a:pt x="0" y="33243"/>
                </a:lnTo>
                <a:cubicBezTo>
                  <a:pt x="0" y="14896"/>
                  <a:pt x="14896" y="0"/>
                  <a:pt x="33243"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7"/>
          <p:cNvSpPr/>
          <p:nvPr/>
        </p:nvSpPr>
        <p:spPr>
          <a:xfrm>
            <a:off x="349055" y="1130274"/>
            <a:ext cx="33243" cy="1446086"/>
          </a:xfrm>
          <a:custGeom>
            <a:rect b="b" l="l" r="r" t="t"/>
            <a:pathLst>
              <a:path extrusionOk="0" h="1446086" w="33243">
                <a:moveTo>
                  <a:pt x="33243" y="0"/>
                </a:moveTo>
                <a:lnTo>
                  <a:pt x="33243" y="0"/>
                </a:lnTo>
                <a:lnTo>
                  <a:pt x="33243" y="1446086"/>
                </a:lnTo>
                <a:lnTo>
                  <a:pt x="33243" y="1446086"/>
                </a:lnTo>
                <a:cubicBezTo>
                  <a:pt x="14884" y="1446086"/>
                  <a:pt x="0" y="1431202"/>
                  <a:pt x="0" y="1412843"/>
                </a:cubicBezTo>
                <a:lnTo>
                  <a:pt x="0" y="33243"/>
                </a:lnTo>
                <a:cubicBezTo>
                  <a:pt x="0" y="14896"/>
                  <a:pt x="14896" y="0"/>
                  <a:pt x="33243"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7"/>
          <p:cNvSpPr/>
          <p:nvPr/>
        </p:nvSpPr>
        <p:spPr>
          <a:xfrm>
            <a:off x="465407" y="1230004"/>
            <a:ext cx="398920" cy="398920"/>
          </a:xfrm>
          <a:custGeom>
            <a:rect b="b" l="l" r="r" t="t"/>
            <a:pathLst>
              <a:path extrusionOk="0" h="398920" w="398920">
                <a:moveTo>
                  <a:pt x="99730" y="0"/>
                </a:moveTo>
                <a:lnTo>
                  <a:pt x="299190" y="0"/>
                </a:lnTo>
                <a:cubicBezTo>
                  <a:pt x="354233" y="0"/>
                  <a:pt x="398920" y="44688"/>
                  <a:pt x="398920" y="99730"/>
                </a:cubicBezTo>
                <a:lnTo>
                  <a:pt x="398920" y="299190"/>
                </a:lnTo>
                <a:cubicBezTo>
                  <a:pt x="398920" y="354270"/>
                  <a:pt x="354270" y="398920"/>
                  <a:pt x="299190" y="398920"/>
                </a:cubicBezTo>
                <a:lnTo>
                  <a:pt x="99730" y="398920"/>
                </a:lnTo>
                <a:cubicBezTo>
                  <a:pt x="44688" y="398920"/>
                  <a:pt x="0" y="354233"/>
                  <a:pt x="0" y="299190"/>
                </a:cubicBezTo>
                <a:lnTo>
                  <a:pt x="0" y="99730"/>
                </a:lnTo>
                <a:cubicBezTo>
                  <a:pt x="0" y="44688"/>
                  <a:pt x="44688" y="0"/>
                  <a:pt x="99730"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7"/>
          <p:cNvSpPr/>
          <p:nvPr/>
        </p:nvSpPr>
        <p:spPr>
          <a:xfrm>
            <a:off x="516960" y="1313112"/>
            <a:ext cx="382299" cy="23270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309">
                <a:solidFill>
                  <a:srgbClr val="8B5CF6"/>
                </a:solidFill>
                <a:latin typeface="Arial"/>
                <a:ea typeface="Arial"/>
                <a:cs typeface="Arial"/>
                <a:sym typeface="Arial"/>
              </a:rPr>
              <a:t>KB1</a:t>
            </a:r>
            <a:endParaRPr sz="1600">
              <a:solidFill>
                <a:schemeClr val="dk1"/>
              </a:solidFill>
              <a:latin typeface="Calibri"/>
              <a:ea typeface="Calibri"/>
              <a:cs typeface="Calibri"/>
              <a:sym typeface="Calibri"/>
            </a:endParaRPr>
          </a:p>
        </p:txBody>
      </p:sp>
      <p:sp>
        <p:nvSpPr>
          <p:cNvPr id="355" name="Google Shape;355;p7"/>
          <p:cNvSpPr/>
          <p:nvPr/>
        </p:nvSpPr>
        <p:spPr>
          <a:xfrm>
            <a:off x="964057" y="1313112"/>
            <a:ext cx="847706" cy="232703"/>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78">
                <a:solidFill>
                  <a:srgbClr val="F8FAFC"/>
                </a:solidFill>
                <a:latin typeface="Arial"/>
                <a:ea typeface="Arial"/>
                <a:cs typeface="Arial"/>
                <a:sym typeface="Arial"/>
              </a:rPr>
              <a:t>Chat tự do</a:t>
            </a:r>
            <a:endParaRPr sz="1600">
              <a:solidFill>
                <a:schemeClr val="dk1"/>
              </a:solidFill>
              <a:latin typeface="Calibri"/>
              <a:ea typeface="Calibri"/>
              <a:cs typeface="Calibri"/>
              <a:sym typeface="Calibri"/>
            </a:endParaRPr>
          </a:p>
        </p:txBody>
      </p:sp>
      <p:sp>
        <p:nvSpPr>
          <p:cNvPr id="356" name="Google Shape;356;p7"/>
          <p:cNvSpPr/>
          <p:nvPr/>
        </p:nvSpPr>
        <p:spPr>
          <a:xfrm>
            <a:off x="465407" y="1695411"/>
            <a:ext cx="5559951" cy="216082"/>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47">
                <a:solidFill>
                  <a:srgbClr val="94A3B8"/>
                </a:solidFill>
                <a:latin typeface="Arial"/>
                <a:ea typeface="Arial"/>
                <a:cs typeface="Arial"/>
                <a:sym typeface="Arial"/>
              </a:rPr>
              <a:t>Người dùng đặt câu hỏi tự nhiên → Bot </a:t>
            </a:r>
            <a:r>
              <a:rPr b="1" lang="en-US" sz="1047">
                <a:solidFill>
                  <a:srgbClr val="8B5CF6"/>
                </a:solidFill>
                <a:latin typeface="Arial"/>
                <a:ea typeface="Arial"/>
                <a:cs typeface="Arial"/>
                <a:sym typeface="Arial"/>
              </a:rPr>
              <a:t>phân tích intent</a:t>
            </a:r>
            <a:r>
              <a:rPr lang="en-US" sz="1047">
                <a:solidFill>
                  <a:srgbClr val="94A3B8"/>
                </a:solidFill>
                <a:latin typeface="Arial"/>
                <a:ea typeface="Arial"/>
                <a:cs typeface="Arial"/>
                <a:sym typeface="Arial"/>
              </a:rPr>
              <a:t> → Phản hồi bằng </a:t>
            </a:r>
            <a:r>
              <a:rPr b="1" lang="en-US" sz="1047">
                <a:solidFill>
                  <a:srgbClr val="8B5CF6"/>
                </a:solidFill>
                <a:latin typeface="Arial"/>
                <a:ea typeface="Arial"/>
                <a:cs typeface="Arial"/>
                <a:sym typeface="Arial"/>
              </a:rPr>
              <a:t>Gemini AI</a:t>
            </a:r>
            <a:endParaRPr sz="1600">
              <a:solidFill>
                <a:schemeClr val="dk1"/>
              </a:solidFill>
              <a:latin typeface="Calibri"/>
              <a:ea typeface="Calibri"/>
              <a:cs typeface="Calibri"/>
              <a:sym typeface="Calibri"/>
            </a:endParaRPr>
          </a:p>
        </p:txBody>
      </p:sp>
      <p:sp>
        <p:nvSpPr>
          <p:cNvPr id="357" name="Google Shape;357;p7"/>
          <p:cNvSpPr/>
          <p:nvPr/>
        </p:nvSpPr>
        <p:spPr>
          <a:xfrm>
            <a:off x="465407" y="1977980"/>
            <a:ext cx="5493464" cy="498650"/>
          </a:xfrm>
          <a:custGeom>
            <a:rect b="b" l="l" r="r" t="t"/>
            <a:pathLst>
              <a:path extrusionOk="0" h="498650" w="5493464">
                <a:moveTo>
                  <a:pt x="66485" y="0"/>
                </a:moveTo>
                <a:lnTo>
                  <a:pt x="5426979" y="0"/>
                </a:lnTo>
                <a:cubicBezTo>
                  <a:pt x="5463698" y="0"/>
                  <a:pt x="5493464" y="29766"/>
                  <a:pt x="5493464" y="66485"/>
                </a:cubicBezTo>
                <a:lnTo>
                  <a:pt x="5493464" y="432165"/>
                </a:lnTo>
                <a:cubicBezTo>
                  <a:pt x="5493464" y="468884"/>
                  <a:pt x="5463698" y="498650"/>
                  <a:pt x="5426979" y="498650"/>
                </a:cubicBezTo>
                <a:lnTo>
                  <a:pt x="66485" y="498650"/>
                </a:lnTo>
                <a:cubicBezTo>
                  <a:pt x="29766" y="498650"/>
                  <a:pt x="0" y="468884"/>
                  <a:pt x="0" y="432165"/>
                </a:cubicBezTo>
                <a:lnTo>
                  <a:pt x="0" y="66485"/>
                </a:lnTo>
                <a:cubicBezTo>
                  <a:pt x="0" y="29791"/>
                  <a:pt x="29791" y="0"/>
                  <a:pt x="66485"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7"/>
          <p:cNvSpPr/>
          <p:nvPr/>
        </p:nvSpPr>
        <p:spPr>
          <a:xfrm>
            <a:off x="548515" y="2077710"/>
            <a:ext cx="116352" cy="116352"/>
          </a:xfrm>
          <a:custGeom>
            <a:rect b="b" l="l" r="r" t="t"/>
            <a:pathLst>
              <a:path extrusionOk="0" h="116352" w="116352">
                <a:moveTo>
                  <a:pt x="58176" y="109080"/>
                </a:moveTo>
                <a:cubicBezTo>
                  <a:pt x="90309" y="109080"/>
                  <a:pt x="116352" y="84650"/>
                  <a:pt x="116352" y="54540"/>
                </a:cubicBezTo>
                <a:cubicBezTo>
                  <a:pt x="116352" y="24429"/>
                  <a:pt x="90309" y="0"/>
                  <a:pt x="58176" y="0"/>
                </a:cubicBezTo>
                <a:cubicBezTo>
                  <a:pt x="26043" y="0"/>
                  <a:pt x="0" y="24429"/>
                  <a:pt x="0" y="54540"/>
                </a:cubicBezTo>
                <a:cubicBezTo>
                  <a:pt x="0" y="66880"/>
                  <a:pt x="4363" y="78242"/>
                  <a:pt x="11726" y="87377"/>
                </a:cubicBezTo>
                <a:lnTo>
                  <a:pt x="636" y="108353"/>
                </a:lnTo>
                <a:cubicBezTo>
                  <a:pt x="-454" y="110398"/>
                  <a:pt x="-114" y="112898"/>
                  <a:pt x="1454" y="114602"/>
                </a:cubicBezTo>
                <a:cubicBezTo>
                  <a:pt x="3022" y="116306"/>
                  <a:pt x="5499" y="116829"/>
                  <a:pt x="7613" y="115920"/>
                </a:cubicBezTo>
                <a:lnTo>
                  <a:pt x="34519" y="104398"/>
                </a:lnTo>
                <a:cubicBezTo>
                  <a:pt x="41746" y="107398"/>
                  <a:pt x="49745" y="109080"/>
                  <a:pt x="58176" y="109080"/>
                </a:cubicBezTo>
                <a:close/>
                <a:moveTo>
                  <a:pt x="29088" y="47268"/>
                </a:moveTo>
                <a:cubicBezTo>
                  <a:pt x="33101" y="47268"/>
                  <a:pt x="36360" y="50526"/>
                  <a:pt x="36360" y="54540"/>
                </a:cubicBezTo>
                <a:cubicBezTo>
                  <a:pt x="36360" y="58553"/>
                  <a:pt x="33101" y="61812"/>
                  <a:pt x="29088" y="61812"/>
                </a:cubicBezTo>
                <a:cubicBezTo>
                  <a:pt x="25074" y="61812"/>
                  <a:pt x="21816" y="58553"/>
                  <a:pt x="21816" y="54540"/>
                </a:cubicBezTo>
                <a:cubicBezTo>
                  <a:pt x="21816" y="50526"/>
                  <a:pt x="25074" y="47268"/>
                  <a:pt x="29088" y="47268"/>
                </a:cubicBezTo>
                <a:close/>
                <a:moveTo>
                  <a:pt x="58176" y="47268"/>
                </a:moveTo>
                <a:cubicBezTo>
                  <a:pt x="62189" y="47268"/>
                  <a:pt x="65448" y="50526"/>
                  <a:pt x="65448" y="54540"/>
                </a:cubicBezTo>
                <a:cubicBezTo>
                  <a:pt x="65448" y="58553"/>
                  <a:pt x="62189" y="61812"/>
                  <a:pt x="58176" y="61812"/>
                </a:cubicBezTo>
                <a:cubicBezTo>
                  <a:pt x="54162" y="61812"/>
                  <a:pt x="50904" y="58553"/>
                  <a:pt x="50904" y="54540"/>
                </a:cubicBezTo>
                <a:cubicBezTo>
                  <a:pt x="50904" y="50526"/>
                  <a:pt x="54162" y="47268"/>
                  <a:pt x="58176" y="47268"/>
                </a:cubicBezTo>
                <a:close/>
                <a:moveTo>
                  <a:pt x="79992" y="54540"/>
                </a:moveTo>
                <a:cubicBezTo>
                  <a:pt x="79992" y="50526"/>
                  <a:pt x="83250" y="47268"/>
                  <a:pt x="87264" y="47268"/>
                </a:cubicBezTo>
                <a:cubicBezTo>
                  <a:pt x="91277" y="47268"/>
                  <a:pt x="94536" y="50526"/>
                  <a:pt x="94536" y="54540"/>
                </a:cubicBezTo>
                <a:cubicBezTo>
                  <a:pt x="94536" y="58553"/>
                  <a:pt x="91277" y="61812"/>
                  <a:pt x="87264" y="61812"/>
                </a:cubicBezTo>
                <a:cubicBezTo>
                  <a:pt x="83250" y="61812"/>
                  <a:pt x="79992" y="58553"/>
                  <a:pt x="79992" y="5454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7"/>
          <p:cNvSpPr/>
          <p:nvPr/>
        </p:nvSpPr>
        <p:spPr>
          <a:xfrm>
            <a:off x="724997" y="2044466"/>
            <a:ext cx="5225563"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Ví dụ:</a:t>
            </a:r>
            <a:endParaRPr sz="1600">
              <a:solidFill>
                <a:schemeClr val="dk1"/>
              </a:solidFill>
              <a:latin typeface="Calibri"/>
              <a:ea typeface="Calibri"/>
              <a:cs typeface="Calibri"/>
              <a:sym typeface="Calibri"/>
            </a:endParaRPr>
          </a:p>
        </p:txBody>
      </p:sp>
      <p:sp>
        <p:nvSpPr>
          <p:cNvPr id="360" name="Google Shape;360;p7"/>
          <p:cNvSpPr/>
          <p:nvPr/>
        </p:nvSpPr>
        <p:spPr>
          <a:xfrm>
            <a:off x="531894" y="2243926"/>
            <a:ext cx="5418667"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F8FAFC"/>
                </a:solidFill>
                <a:latin typeface="Arial"/>
                <a:ea typeface="Arial"/>
                <a:cs typeface="Arial"/>
                <a:sym typeface="Arial"/>
              </a:rPr>
              <a:t>"Gợi ý phim hành động hay tuần này"</a:t>
            </a:r>
            <a:endParaRPr sz="1600">
              <a:solidFill>
                <a:schemeClr val="dk1"/>
              </a:solidFill>
              <a:latin typeface="Calibri"/>
              <a:ea typeface="Calibri"/>
              <a:cs typeface="Calibri"/>
              <a:sym typeface="Calibri"/>
            </a:endParaRPr>
          </a:p>
        </p:txBody>
      </p:sp>
      <p:sp>
        <p:nvSpPr>
          <p:cNvPr id="361" name="Google Shape;361;p7"/>
          <p:cNvSpPr/>
          <p:nvPr/>
        </p:nvSpPr>
        <p:spPr>
          <a:xfrm>
            <a:off x="349055" y="2642847"/>
            <a:ext cx="5709546" cy="1728654"/>
          </a:xfrm>
          <a:custGeom>
            <a:rect b="b" l="l" r="r" t="t"/>
            <a:pathLst>
              <a:path extrusionOk="0" h="1728654" w="5709546">
                <a:moveTo>
                  <a:pt x="33243" y="0"/>
                </a:moveTo>
                <a:lnTo>
                  <a:pt x="5609820" y="0"/>
                </a:lnTo>
                <a:cubicBezTo>
                  <a:pt x="5664897" y="0"/>
                  <a:pt x="5709546" y="44649"/>
                  <a:pt x="5709546" y="99726"/>
                </a:cubicBezTo>
                <a:lnTo>
                  <a:pt x="5709546" y="1628928"/>
                </a:lnTo>
                <a:cubicBezTo>
                  <a:pt x="5709546" y="1684006"/>
                  <a:pt x="5664897" y="1728654"/>
                  <a:pt x="5609820" y="1728654"/>
                </a:cubicBezTo>
                <a:lnTo>
                  <a:pt x="33243" y="1728654"/>
                </a:lnTo>
                <a:cubicBezTo>
                  <a:pt x="14884" y="1728654"/>
                  <a:pt x="0" y="1713771"/>
                  <a:pt x="0" y="1695411"/>
                </a:cubicBezTo>
                <a:lnTo>
                  <a:pt x="0" y="33243"/>
                </a:lnTo>
                <a:cubicBezTo>
                  <a:pt x="0" y="14896"/>
                  <a:pt x="14896" y="0"/>
                  <a:pt x="33243"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7"/>
          <p:cNvSpPr/>
          <p:nvPr/>
        </p:nvSpPr>
        <p:spPr>
          <a:xfrm>
            <a:off x="349055" y="2642847"/>
            <a:ext cx="33243" cy="1728654"/>
          </a:xfrm>
          <a:custGeom>
            <a:rect b="b" l="l" r="r" t="t"/>
            <a:pathLst>
              <a:path extrusionOk="0" h="1728654" w="33243">
                <a:moveTo>
                  <a:pt x="33243" y="0"/>
                </a:moveTo>
                <a:lnTo>
                  <a:pt x="33243" y="0"/>
                </a:lnTo>
                <a:lnTo>
                  <a:pt x="33243" y="1728654"/>
                </a:lnTo>
                <a:lnTo>
                  <a:pt x="33243" y="1728654"/>
                </a:lnTo>
                <a:cubicBezTo>
                  <a:pt x="14884" y="1728654"/>
                  <a:pt x="0" y="1713771"/>
                  <a:pt x="0" y="1695411"/>
                </a:cubicBezTo>
                <a:lnTo>
                  <a:pt x="0" y="33243"/>
                </a:lnTo>
                <a:cubicBezTo>
                  <a:pt x="0" y="14896"/>
                  <a:pt x="14896" y="0"/>
                  <a:pt x="33243"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7"/>
          <p:cNvSpPr/>
          <p:nvPr/>
        </p:nvSpPr>
        <p:spPr>
          <a:xfrm>
            <a:off x="465407" y="2742577"/>
            <a:ext cx="398920" cy="398920"/>
          </a:xfrm>
          <a:custGeom>
            <a:rect b="b" l="l" r="r" t="t"/>
            <a:pathLst>
              <a:path extrusionOk="0" h="398920" w="398920">
                <a:moveTo>
                  <a:pt x="99730" y="0"/>
                </a:moveTo>
                <a:lnTo>
                  <a:pt x="299190" y="0"/>
                </a:lnTo>
                <a:cubicBezTo>
                  <a:pt x="354233" y="0"/>
                  <a:pt x="398920" y="44688"/>
                  <a:pt x="398920" y="99730"/>
                </a:cubicBezTo>
                <a:lnTo>
                  <a:pt x="398920" y="299190"/>
                </a:lnTo>
                <a:cubicBezTo>
                  <a:pt x="398920" y="354270"/>
                  <a:pt x="354270" y="398920"/>
                  <a:pt x="299190" y="398920"/>
                </a:cubicBezTo>
                <a:lnTo>
                  <a:pt x="99730" y="398920"/>
                </a:lnTo>
                <a:cubicBezTo>
                  <a:pt x="44688" y="398920"/>
                  <a:pt x="0" y="354233"/>
                  <a:pt x="0" y="299190"/>
                </a:cubicBezTo>
                <a:lnTo>
                  <a:pt x="0" y="99730"/>
                </a:lnTo>
                <a:cubicBezTo>
                  <a:pt x="0" y="44688"/>
                  <a:pt x="44688" y="0"/>
                  <a:pt x="99730"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7"/>
          <p:cNvSpPr/>
          <p:nvPr/>
        </p:nvSpPr>
        <p:spPr>
          <a:xfrm>
            <a:off x="502936" y="2825685"/>
            <a:ext cx="407231" cy="23270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309">
                <a:solidFill>
                  <a:srgbClr val="3B82F6"/>
                </a:solidFill>
                <a:latin typeface="Arial"/>
                <a:ea typeface="Arial"/>
                <a:cs typeface="Arial"/>
                <a:sym typeface="Arial"/>
              </a:rPr>
              <a:t>KB2</a:t>
            </a:r>
            <a:endParaRPr sz="1600">
              <a:solidFill>
                <a:schemeClr val="dk1"/>
              </a:solidFill>
              <a:latin typeface="Calibri"/>
              <a:ea typeface="Calibri"/>
              <a:cs typeface="Calibri"/>
              <a:sym typeface="Calibri"/>
            </a:endParaRPr>
          </a:p>
        </p:txBody>
      </p:sp>
      <p:sp>
        <p:nvSpPr>
          <p:cNvPr id="365" name="Google Shape;365;p7"/>
          <p:cNvSpPr/>
          <p:nvPr/>
        </p:nvSpPr>
        <p:spPr>
          <a:xfrm>
            <a:off x="964057" y="2825685"/>
            <a:ext cx="1022233" cy="232703"/>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78">
                <a:solidFill>
                  <a:srgbClr val="F8FAFC"/>
                </a:solidFill>
                <a:latin typeface="Arial"/>
                <a:ea typeface="Arial"/>
                <a:cs typeface="Arial"/>
                <a:sym typeface="Arial"/>
              </a:rPr>
              <a:t>Tra cứu phim</a:t>
            </a:r>
            <a:endParaRPr sz="1600">
              <a:solidFill>
                <a:schemeClr val="dk1"/>
              </a:solidFill>
              <a:latin typeface="Calibri"/>
              <a:ea typeface="Calibri"/>
              <a:cs typeface="Calibri"/>
              <a:sym typeface="Calibri"/>
            </a:endParaRPr>
          </a:p>
        </p:txBody>
      </p:sp>
      <p:sp>
        <p:nvSpPr>
          <p:cNvPr id="366" name="Google Shape;366;p7"/>
          <p:cNvSpPr/>
          <p:nvPr/>
        </p:nvSpPr>
        <p:spPr>
          <a:xfrm>
            <a:off x="465407" y="3207984"/>
            <a:ext cx="5559951" cy="43216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47">
                <a:solidFill>
                  <a:srgbClr val="94A3B8"/>
                </a:solidFill>
                <a:latin typeface="Arial"/>
                <a:ea typeface="Arial"/>
                <a:cs typeface="Arial"/>
                <a:sym typeface="Arial"/>
              </a:rPr>
              <a:t>Lệnh </a:t>
            </a:r>
            <a:r>
              <a:rPr b="1" lang="en-US" sz="1047">
                <a:solidFill>
                  <a:srgbClr val="3B82F6"/>
                </a:solidFill>
                <a:latin typeface="Arial"/>
                <a:ea typeface="Arial"/>
                <a:cs typeface="Arial"/>
                <a:sym typeface="Arial"/>
              </a:rPr>
              <a:t>/phim</a:t>
            </a:r>
            <a:r>
              <a:rPr lang="en-US" sz="1047">
                <a:solidFill>
                  <a:srgbClr val="94A3B8"/>
                </a:solidFill>
                <a:latin typeface="Arial"/>
                <a:ea typeface="Arial"/>
                <a:cs typeface="Arial"/>
                <a:sym typeface="Arial"/>
              </a:rPr>
              <a:t> → Truy vấn TMDB → Trả danh sách </a:t>
            </a:r>
            <a:r>
              <a:rPr b="1" lang="en-US" sz="1047">
                <a:solidFill>
                  <a:srgbClr val="3B82F6"/>
                </a:solidFill>
                <a:latin typeface="Arial"/>
                <a:ea typeface="Arial"/>
                <a:cs typeface="Arial"/>
                <a:sym typeface="Arial"/>
              </a:rPr>
              <a:t>5 phim hot</a:t>
            </a:r>
            <a:r>
              <a:rPr lang="en-US" sz="1047">
                <a:solidFill>
                  <a:srgbClr val="94A3B8"/>
                </a:solidFill>
                <a:latin typeface="Arial"/>
                <a:ea typeface="Arial"/>
                <a:cs typeface="Arial"/>
                <a:sym typeface="Arial"/>
              </a:rPr>
              <a:t> trong tuần (poster, đánh giá, tóm tắt)</a:t>
            </a:r>
            <a:endParaRPr sz="1600">
              <a:solidFill>
                <a:schemeClr val="dk1"/>
              </a:solidFill>
              <a:latin typeface="Calibri"/>
              <a:ea typeface="Calibri"/>
              <a:cs typeface="Calibri"/>
              <a:sym typeface="Calibri"/>
            </a:endParaRPr>
          </a:p>
        </p:txBody>
      </p:sp>
      <p:sp>
        <p:nvSpPr>
          <p:cNvPr id="367" name="Google Shape;367;p7"/>
          <p:cNvSpPr/>
          <p:nvPr/>
        </p:nvSpPr>
        <p:spPr>
          <a:xfrm>
            <a:off x="465407" y="3706634"/>
            <a:ext cx="5493464" cy="565137"/>
          </a:xfrm>
          <a:custGeom>
            <a:rect b="b" l="l" r="r" t="t"/>
            <a:pathLst>
              <a:path extrusionOk="0" h="565137" w="5493464">
                <a:moveTo>
                  <a:pt x="66488" y="0"/>
                </a:moveTo>
                <a:lnTo>
                  <a:pt x="5426976" y="0"/>
                </a:lnTo>
                <a:cubicBezTo>
                  <a:pt x="5463696" y="0"/>
                  <a:pt x="5493464" y="29768"/>
                  <a:pt x="5493464" y="66488"/>
                </a:cubicBezTo>
                <a:lnTo>
                  <a:pt x="5493464" y="498649"/>
                </a:lnTo>
                <a:cubicBezTo>
                  <a:pt x="5493464" y="535369"/>
                  <a:pt x="5463696" y="565137"/>
                  <a:pt x="5426976" y="565137"/>
                </a:cubicBezTo>
                <a:lnTo>
                  <a:pt x="66488" y="565137"/>
                </a:lnTo>
                <a:cubicBezTo>
                  <a:pt x="29792" y="565137"/>
                  <a:pt x="0" y="535345"/>
                  <a:pt x="0" y="498649"/>
                </a:cubicBezTo>
                <a:lnTo>
                  <a:pt x="0" y="66488"/>
                </a:lnTo>
                <a:cubicBezTo>
                  <a:pt x="0" y="29792"/>
                  <a:pt x="29792" y="0"/>
                  <a:pt x="66488"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7"/>
          <p:cNvSpPr/>
          <p:nvPr/>
        </p:nvSpPr>
        <p:spPr>
          <a:xfrm>
            <a:off x="548515" y="3806364"/>
            <a:ext cx="116352" cy="116352"/>
          </a:xfrm>
          <a:custGeom>
            <a:rect b="b" l="l" r="r" t="t"/>
            <a:pathLst>
              <a:path extrusionOk="0" h="116352" w="116352">
                <a:moveTo>
                  <a:pt x="2136" y="26952"/>
                </a:moveTo>
                <a:cubicBezTo>
                  <a:pt x="-704" y="24111"/>
                  <a:pt x="-704" y="19498"/>
                  <a:pt x="2136" y="16657"/>
                </a:cubicBezTo>
                <a:cubicBezTo>
                  <a:pt x="4977" y="13817"/>
                  <a:pt x="9590" y="13817"/>
                  <a:pt x="12431" y="16657"/>
                </a:cubicBezTo>
                <a:lnTo>
                  <a:pt x="48790" y="53017"/>
                </a:lnTo>
                <a:cubicBezTo>
                  <a:pt x="51631" y="55858"/>
                  <a:pt x="51631" y="60471"/>
                  <a:pt x="48790" y="63312"/>
                </a:cubicBezTo>
                <a:lnTo>
                  <a:pt x="12431" y="99672"/>
                </a:lnTo>
                <a:cubicBezTo>
                  <a:pt x="9590" y="102512"/>
                  <a:pt x="4977" y="102512"/>
                  <a:pt x="2136" y="99672"/>
                </a:cubicBezTo>
                <a:cubicBezTo>
                  <a:pt x="-704" y="96831"/>
                  <a:pt x="-704" y="92218"/>
                  <a:pt x="2136" y="89377"/>
                </a:cubicBezTo>
                <a:lnTo>
                  <a:pt x="33337" y="58176"/>
                </a:lnTo>
                <a:lnTo>
                  <a:pt x="2136" y="26952"/>
                </a:lnTo>
                <a:close/>
                <a:moveTo>
                  <a:pt x="50904" y="87264"/>
                </a:moveTo>
                <a:lnTo>
                  <a:pt x="109080" y="87264"/>
                </a:lnTo>
                <a:cubicBezTo>
                  <a:pt x="113102" y="87264"/>
                  <a:pt x="116352" y="90513"/>
                  <a:pt x="116352" y="94536"/>
                </a:cubicBezTo>
                <a:cubicBezTo>
                  <a:pt x="116352" y="98558"/>
                  <a:pt x="113102" y="101808"/>
                  <a:pt x="109080" y="101808"/>
                </a:cubicBezTo>
                <a:lnTo>
                  <a:pt x="50904" y="101808"/>
                </a:lnTo>
                <a:cubicBezTo>
                  <a:pt x="46882" y="101808"/>
                  <a:pt x="43632" y="98558"/>
                  <a:pt x="43632" y="94536"/>
                </a:cubicBezTo>
                <a:cubicBezTo>
                  <a:pt x="43632" y="90513"/>
                  <a:pt x="46882" y="87264"/>
                  <a:pt x="50904" y="87264"/>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7"/>
          <p:cNvSpPr/>
          <p:nvPr/>
        </p:nvSpPr>
        <p:spPr>
          <a:xfrm>
            <a:off x="724997" y="3773121"/>
            <a:ext cx="5225563"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Command:</a:t>
            </a:r>
            <a:endParaRPr sz="1600">
              <a:solidFill>
                <a:schemeClr val="dk1"/>
              </a:solidFill>
              <a:latin typeface="Calibri"/>
              <a:ea typeface="Calibri"/>
              <a:cs typeface="Calibri"/>
              <a:sym typeface="Calibri"/>
            </a:endParaRPr>
          </a:p>
        </p:txBody>
      </p:sp>
      <p:sp>
        <p:nvSpPr>
          <p:cNvPr id="370" name="Google Shape;370;p7"/>
          <p:cNvSpPr/>
          <p:nvPr/>
        </p:nvSpPr>
        <p:spPr>
          <a:xfrm>
            <a:off x="531894" y="3972581"/>
            <a:ext cx="5360491" cy="232703"/>
          </a:xfrm>
          <a:custGeom>
            <a:rect b="b" l="l" r="r" t="t"/>
            <a:pathLst>
              <a:path extrusionOk="0" h="232703" w="5360491">
                <a:moveTo>
                  <a:pt x="33244" y="0"/>
                </a:moveTo>
                <a:lnTo>
                  <a:pt x="5327247" y="0"/>
                </a:lnTo>
                <a:cubicBezTo>
                  <a:pt x="5345607" y="0"/>
                  <a:pt x="5360491" y="14884"/>
                  <a:pt x="5360491" y="33244"/>
                </a:cubicBezTo>
                <a:lnTo>
                  <a:pt x="5360491" y="199459"/>
                </a:lnTo>
                <a:cubicBezTo>
                  <a:pt x="5360491" y="217820"/>
                  <a:pt x="5345607" y="232703"/>
                  <a:pt x="5327247" y="232703"/>
                </a:cubicBezTo>
                <a:lnTo>
                  <a:pt x="33244" y="232703"/>
                </a:lnTo>
                <a:cubicBezTo>
                  <a:pt x="14896" y="232703"/>
                  <a:pt x="0" y="217807"/>
                  <a:pt x="0" y="199459"/>
                </a:cubicBezTo>
                <a:lnTo>
                  <a:pt x="0" y="33244"/>
                </a:lnTo>
                <a:cubicBezTo>
                  <a:pt x="0" y="14896"/>
                  <a:pt x="14896" y="0"/>
                  <a:pt x="33244"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7"/>
          <p:cNvSpPr/>
          <p:nvPr/>
        </p:nvSpPr>
        <p:spPr>
          <a:xfrm>
            <a:off x="531894" y="3972581"/>
            <a:ext cx="5418667" cy="232703"/>
          </a:xfrm>
          <a:prstGeom prst="rect">
            <a:avLst/>
          </a:prstGeom>
          <a:noFill/>
          <a:ln>
            <a:noFill/>
          </a:ln>
        </p:spPr>
        <p:txBody>
          <a:bodyPr anchorCtr="0" anchor="ctr" bIns="33225" lIns="66475" spcFirstLastPara="1" rIns="66475" wrap="square" tIns="33225">
            <a:noAutofit/>
          </a:bodyPr>
          <a:lstStyle/>
          <a:p>
            <a:pPr indent="0" lvl="0" marL="0" marR="0" rtl="0" algn="l">
              <a:lnSpc>
                <a:spcPct val="120000"/>
              </a:lnSpc>
              <a:spcBef>
                <a:spcPts val="0"/>
              </a:spcBef>
              <a:spcAft>
                <a:spcPts val="0"/>
              </a:spcAft>
              <a:buNone/>
            </a:pPr>
            <a:r>
              <a:rPr lang="en-US" sz="916">
                <a:solidFill>
                  <a:srgbClr val="F8FAFC"/>
                </a:solidFill>
                <a:latin typeface="Arial"/>
                <a:ea typeface="Arial"/>
                <a:cs typeface="Arial"/>
                <a:sym typeface="Arial"/>
              </a:rPr>
              <a:t>/phim</a:t>
            </a:r>
            <a:endParaRPr sz="1600">
              <a:solidFill>
                <a:schemeClr val="dk1"/>
              </a:solidFill>
              <a:latin typeface="Calibri"/>
              <a:ea typeface="Calibri"/>
              <a:cs typeface="Calibri"/>
              <a:sym typeface="Calibri"/>
            </a:endParaRPr>
          </a:p>
        </p:txBody>
      </p:sp>
      <p:sp>
        <p:nvSpPr>
          <p:cNvPr id="372" name="Google Shape;372;p7"/>
          <p:cNvSpPr/>
          <p:nvPr/>
        </p:nvSpPr>
        <p:spPr>
          <a:xfrm>
            <a:off x="349055" y="4437988"/>
            <a:ext cx="5709546" cy="1728654"/>
          </a:xfrm>
          <a:custGeom>
            <a:rect b="b" l="l" r="r" t="t"/>
            <a:pathLst>
              <a:path extrusionOk="0" h="1728654" w="5709546">
                <a:moveTo>
                  <a:pt x="33243" y="0"/>
                </a:moveTo>
                <a:lnTo>
                  <a:pt x="5609820" y="0"/>
                </a:lnTo>
                <a:cubicBezTo>
                  <a:pt x="5664897" y="0"/>
                  <a:pt x="5709546" y="44649"/>
                  <a:pt x="5709546" y="99726"/>
                </a:cubicBezTo>
                <a:lnTo>
                  <a:pt x="5709546" y="1628928"/>
                </a:lnTo>
                <a:cubicBezTo>
                  <a:pt x="5709546" y="1684006"/>
                  <a:pt x="5664897" y="1728654"/>
                  <a:pt x="5609820" y="1728654"/>
                </a:cubicBezTo>
                <a:lnTo>
                  <a:pt x="33243" y="1728654"/>
                </a:lnTo>
                <a:cubicBezTo>
                  <a:pt x="14884" y="1728654"/>
                  <a:pt x="0" y="1713771"/>
                  <a:pt x="0" y="1695411"/>
                </a:cubicBezTo>
                <a:lnTo>
                  <a:pt x="0" y="33243"/>
                </a:lnTo>
                <a:cubicBezTo>
                  <a:pt x="0" y="14896"/>
                  <a:pt x="14896" y="0"/>
                  <a:pt x="33243" y="0"/>
                </a:cubicBezTo>
                <a:close/>
              </a:path>
            </a:pathLst>
          </a:custGeom>
          <a:gradFill>
            <a:gsLst>
              <a:gs pos="0">
                <a:srgbClr val="1E293B"/>
              </a:gs>
              <a:gs pos="100000">
                <a:srgbClr val="0F172A"/>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7"/>
          <p:cNvSpPr/>
          <p:nvPr/>
        </p:nvSpPr>
        <p:spPr>
          <a:xfrm>
            <a:off x="349055" y="4437988"/>
            <a:ext cx="33243" cy="1728654"/>
          </a:xfrm>
          <a:custGeom>
            <a:rect b="b" l="l" r="r" t="t"/>
            <a:pathLst>
              <a:path extrusionOk="0" h="1728654" w="33243">
                <a:moveTo>
                  <a:pt x="33243" y="0"/>
                </a:moveTo>
                <a:lnTo>
                  <a:pt x="33243" y="0"/>
                </a:lnTo>
                <a:lnTo>
                  <a:pt x="33243" y="1728654"/>
                </a:lnTo>
                <a:lnTo>
                  <a:pt x="33243" y="1728654"/>
                </a:lnTo>
                <a:cubicBezTo>
                  <a:pt x="14884" y="1728654"/>
                  <a:pt x="0" y="1713771"/>
                  <a:pt x="0" y="1695411"/>
                </a:cubicBezTo>
                <a:lnTo>
                  <a:pt x="0" y="33243"/>
                </a:lnTo>
                <a:cubicBezTo>
                  <a:pt x="0" y="14896"/>
                  <a:pt x="14896" y="0"/>
                  <a:pt x="33243"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7"/>
          <p:cNvSpPr/>
          <p:nvPr/>
        </p:nvSpPr>
        <p:spPr>
          <a:xfrm>
            <a:off x="465407" y="4537718"/>
            <a:ext cx="398920" cy="398920"/>
          </a:xfrm>
          <a:custGeom>
            <a:rect b="b" l="l" r="r" t="t"/>
            <a:pathLst>
              <a:path extrusionOk="0" h="398920" w="398920">
                <a:moveTo>
                  <a:pt x="99730" y="0"/>
                </a:moveTo>
                <a:lnTo>
                  <a:pt x="299190" y="0"/>
                </a:lnTo>
                <a:cubicBezTo>
                  <a:pt x="354233" y="0"/>
                  <a:pt x="398920" y="44688"/>
                  <a:pt x="398920" y="99730"/>
                </a:cubicBezTo>
                <a:lnTo>
                  <a:pt x="398920" y="299190"/>
                </a:lnTo>
                <a:cubicBezTo>
                  <a:pt x="398920" y="354270"/>
                  <a:pt x="354270" y="398920"/>
                  <a:pt x="299190" y="398920"/>
                </a:cubicBezTo>
                <a:lnTo>
                  <a:pt x="99730" y="398920"/>
                </a:lnTo>
                <a:cubicBezTo>
                  <a:pt x="44688" y="398920"/>
                  <a:pt x="0" y="354233"/>
                  <a:pt x="0" y="299190"/>
                </a:cubicBezTo>
                <a:lnTo>
                  <a:pt x="0" y="99730"/>
                </a:lnTo>
                <a:cubicBezTo>
                  <a:pt x="0" y="44688"/>
                  <a:pt x="44688" y="0"/>
                  <a:pt x="99730"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7"/>
          <p:cNvSpPr/>
          <p:nvPr/>
        </p:nvSpPr>
        <p:spPr>
          <a:xfrm>
            <a:off x="500728" y="4620826"/>
            <a:ext cx="415500" cy="232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309">
                <a:solidFill>
                  <a:srgbClr val="10B981"/>
                </a:solidFill>
                <a:latin typeface="Arial"/>
                <a:ea typeface="Arial"/>
                <a:cs typeface="Arial"/>
                <a:sym typeface="Arial"/>
              </a:rPr>
              <a:t>KB3</a:t>
            </a:r>
            <a:endParaRPr sz="1600">
              <a:solidFill>
                <a:schemeClr val="dk1"/>
              </a:solidFill>
              <a:latin typeface="Calibri"/>
              <a:ea typeface="Calibri"/>
              <a:cs typeface="Calibri"/>
              <a:sym typeface="Calibri"/>
            </a:endParaRPr>
          </a:p>
        </p:txBody>
      </p:sp>
      <p:sp>
        <p:nvSpPr>
          <p:cNvPr id="376" name="Google Shape;376;p7"/>
          <p:cNvSpPr/>
          <p:nvPr/>
        </p:nvSpPr>
        <p:spPr>
          <a:xfrm>
            <a:off x="964057" y="4620826"/>
            <a:ext cx="1063800" cy="232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78">
                <a:solidFill>
                  <a:srgbClr val="F8FAFC"/>
                </a:solidFill>
                <a:latin typeface="Arial"/>
                <a:ea typeface="Arial"/>
                <a:cs typeface="Arial"/>
                <a:sym typeface="Arial"/>
              </a:rPr>
              <a:t>Tìm rạp chiếu</a:t>
            </a:r>
            <a:endParaRPr sz="1600">
              <a:solidFill>
                <a:schemeClr val="dk1"/>
              </a:solidFill>
              <a:latin typeface="Calibri"/>
              <a:ea typeface="Calibri"/>
              <a:cs typeface="Calibri"/>
              <a:sym typeface="Calibri"/>
            </a:endParaRPr>
          </a:p>
        </p:txBody>
      </p:sp>
      <p:sp>
        <p:nvSpPr>
          <p:cNvPr id="377" name="Google Shape;377;p7"/>
          <p:cNvSpPr/>
          <p:nvPr/>
        </p:nvSpPr>
        <p:spPr>
          <a:xfrm>
            <a:off x="465407" y="5003125"/>
            <a:ext cx="5559900" cy="432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47">
                <a:solidFill>
                  <a:srgbClr val="94A3B8"/>
                </a:solidFill>
              </a:rPr>
              <a:t>Người dùng nhắn tìm rạp chiếu phim ở 1 khu vực </a:t>
            </a:r>
            <a:r>
              <a:rPr lang="en-US" sz="1047">
                <a:solidFill>
                  <a:srgbClr val="94A3B8"/>
                </a:solidFill>
              </a:rPr>
              <a:t>→ Bot </a:t>
            </a:r>
            <a:r>
              <a:rPr b="1" lang="en-US" sz="1047">
                <a:solidFill>
                  <a:srgbClr val="8B5CF6"/>
                </a:solidFill>
              </a:rPr>
              <a:t>phân tích intent</a:t>
            </a:r>
            <a:r>
              <a:rPr lang="en-US" sz="1047">
                <a:solidFill>
                  <a:srgbClr val="94A3B8"/>
                </a:solidFill>
              </a:rPr>
              <a:t> → Phản hồi bằng </a:t>
            </a:r>
            <a:r>
              <a:rPr b="1" lang="en-US" sz="1047">
                <a:solidFill>
                  <a:srgbClr val="8B5CF6"/>
                </a:solidFill>
              </a:rPr>
              <a:t>Gemini AI</a:t>
            </a:r>
            <a:endParaRPr sz="1600">
              <a:solidFill>
                <a:schemeClr val="dk1"/>
              </a:solidFill>
              <a:latin typeface="Calibri"/>
              <a:ea typeface="Calibri"/>
              <a:cs typeface="Calibri"/>
              <a:sym typeface="Calibri"/>
            </a:endParaRPr>
          </a:p>
        </p:txBody>
      </p:sp>
      <p:sp>
        <p:nvSpPr>
          <p:cNvPr id="378" name="Google Shape;378;p7"/>
          <p:cNvSpPr/>
          <p:nvPr/>
        </p:nvSpPr>
        <p:spPr>
          <a:xfrm>
            <a:off x="6144437" y="1130274"/>
            <a:ext cx="5709546" cy="1446086"/>
          </a:xfrm>
          <a:custGeom>
            <a:rect b="b" l="l" r="r" t="t"/>
            <a:pathLst>
              <a:path extrusionOk="0" h="1446086" w="5709546">
                <a:moveTo>
                  <a:pt x="33243" y="0"/>
                </a:moveTo>
                <a:lnTo>
                  <a:pt x="5609809" y="0"/>
                </a:lnTo>
                <a:cubicBezTo>
                  <a:pt x="5664892" y="0"/>
                  <a:pt x="5709546" y="44654"/>
                  <a:pt x="5709546" y="99737"/>
                </a:cubicBezTo>
                <a:lnTo>
                  <a:pt x="5709546" y="1346349"/>
                </a:lnTo>
                <a:cubicBezTo>
                  <a:pt x="5709546" y="1401432"/>
                  <a:pt x="5664892" y="1446086"/>
                  <a:pt x="5609809" y="1446086"/>
                </a:cubicBezTo>
                <a:lnTo>
                  <a:pt x="33243" y="1446086"/>
                </a:lnTo>
                <a:cubicBezTo>
                  <a:pt x="14884" y="1446086"/>
                  <a:pt x="0" y="1431202"/>
                  <a:pt x="0" y="1412843"/>
                </a:cubicBezTo>
                <a:lnTo>
                  <a:pt x="0" y="33243"/>
                </a:lnTo>
                <a:cubicBezTo>
                  <a:pt x="0" y="14896"/>
                  <a:pt x="14896" y="0"/>
                  <a:pt x="33243"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7"/>
          <p:cNvSpPr/>
          <p:nvPr/>
        </p:nvSpPr>
        <p:spPr>
          <a:xfrm>
            <a:off x="6144437" y="1130274"/>
            <a:ext cx="33243" cy="1446086"/>
          </a:xfrm>
          <a:custGeom>
            <a:rect b="b" l="l" r="r" t="t"/>
            <a:pathLst>
              <a:path extrusionOk="0" h="1446086" w="33243">
                <a:moveTo>
                  <a:pt x="33243" y="0"/>
                </a:moveTo>
                <a:lnTo>
                  <a:pt x="33243" y="0"/>
                </a:lnTo>
                <a:lnTo>
                  <a:pt x="33243" y="1446086"/>
                </a:lnTo>
                <a:lnTo>
                  <a:pt x="33243" y="1446086"/>
                </a:lnTo>
                <a:cubicBezTo>
                  <a:pt x="14884" y="1446086"/>
                  <a:pt x="0" y="1431202"/>
                  <a:pt x="0" y="1412843"/>
                </a:cubicBezTo>
                <a:lnTo>
                  <a:pt x="0" y="33243"/>
                </a:lnTo>
                <a:cubicBezTo>
                  <a:pt x="0" y="14896"/>
                  <a:pt x="14896" y="0"/>
                  <a:pt x="33243" y="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7"/>
          <p:cNvSpPr/>
          <p:nvPr/>
        </p:nvSpPr>
        <p:spPr>
          <a:xfrm>
            <a:off x="6260788" y="1230004"/>
            <a:ext cx="398920" cy="398920"/>
          </a:xfrm>
          <a:custGeom>
            <a:rect b="b" l="l" r="r" t="t"/>
            <a:pathLst>
              <a:path extrusionOk="0" h="398920" w="398920">
                <a:moveTo>
                  <a:pt x="99730" y="0"/>
                </a:moveTo>
                <a:lnTo>
                  <a:pt x="299190" y="0"/>
                </a:lnTo>
                <a:cubicBezTo>
                  <a:pt x="354233" y="0"/>
                  <a:pt x="398920" y="44688"/>
                  <a:pt x="398920" y="99730"/>
                </a:cubicBezTo>
                <a:lnTo>
                  <a:pt x="398920" y="299190"/>
                </a:lnTo>
                <a:cubicBezTo>
                  <a:pt x="398920" y="354270"/>
                  <a:pt x="354270" y="398920"/>
                  <a:pt x="299190" y="398920"/>
                </a:cubicBezTo>
                <a:lnTo>
                  <a:pt x="99730" y="398920"/>
                </a:lnTo>
                <a:cubicBezTo>
                  <a:pt x="44688" y="398920"/>
                  <a:pt x="0" y="354233"/>
                  <a:pt x="0" y="299190"/>
                </a:cubicBezTo>
                <a:lnTo>
                  <a:pt x="0" y="99730"/>
                </a:lnTo>
                <a:cubicBezTo>
                  <a:pt x="0" y="44688"/>
                  <a:pt x="44688" y="0"/>
                  <a:pt x="99730"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7"/>
          <p:cNvSpPr/>
          <p:nvPr/>
        </p:nvSpPr>
        <p:spPr>
          <a:xfrm>
            <a:off x="6296239" y="1313112"/>
            <a:ext cx="407231" cy="23270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309">
                <a:solidFill>
                  <a:srgbClr val="F59E0B"/>
                </a:solidFill>
                <a:latin typeface="Arial"/>
                <a:ea typeface="Arial"/>
                <a:cs typeface="Arial"/>
                <a:sym typeface="Arial"/>
              </a:rPr>
              <a:t>KB4</a:t>
            </a:r>
            <a:endParaRPr sz="1600">
              <a:solidFill>
                <a:schemeClr val="dk1"/>
              </a:solidFill>
              <a:latin typeface="Calibri"/>
              <a:ea typeface="Calibri"/>
              <a:cs typeface="Calibri"/>
              <a:sym typeface="Calibri"/>
            </a:endParaRPr>
          </a:p>
        </p:txBody>
      </p:sp>
      <p:sp>
        <p:nvSpPr>
          <p:cNvPr id="382" name="Google Shape;382;p7"/>
          <p:cNvSpPr/>
          <p:nvPr/>
        </p:nvSpPr>
        <p:spPr>
          <a:xfrm>
            <a:off x="6759439" y="1313112"/>
            <a:ext cx="648245" cy="232703"/>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78">
                <a:solidFill>
                  <a:srgbClr val="F8FAFC"/>
                </a:solidFill>
                <a:latin typeface="Arial"/>
                <a:ea typeface="Arial"/>
                <a:cs typeface="Arial"/>
                <a:sym typeface="Arial"/>
              </a:rPr>
              <a:t>Xử lý lỗi</a:t>
            </a:r>
            <a:endParaRPr sz="1600">
              <a:solidFill>
                <a:schemeClr val="dk1"/>
              </a:solidFill>
              <a:latin typeface="Calibri"/>
              <a:ea typeface="Calibri"/>
              <a:cs typeface="Calibri"/>
              <a:sym typeface="Calibri"/>
            </a:endParaRPr>
          </a:p>
        </p:txBody>
      </p:sp>
      <p:sp>
        <p:nvSpPr>
          <p:cNvPr id="383" name="Google Shape;383;p7"/>
          <p:cNvSpPr/>
          <p:nvPr/>
        </p:nvSpPr>
        <p:spPr>
          <a:xfrm>
            <a:off x="6260788" y="1695411"/>
            <a:ext cx="5559951" cy="216082"/>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47">
                <a:solidFill>
                  <a:srgbClr val="94A3B8"/>
                </a:solidFill>
                <a:latin typeface="Arial"/>
                <a:ea typeface="Arial"/>
                <a:cs typeface="Arial"/>
                <a:sym typeface="Arial"/>
              </a:rPr>
              <a:t>Input sai cú pháp/không tồn tại → Bot </a:t>
            </a:r>
            <a:r>
              <a:rPr b="1" lang="en-US" sz="1047">
                <a:solidFill>
                  <a:srgbClr val="F59E0B"/>
                </a:solidFill>
                <a:latin typeface="Arial"/>
                <a:ea typeface="Arial"/>
                <a:cs typeface="Arial"/>
                <a:sym typeface="Arial"/>
              </a:rPr>
              <a:t>thông báo lỗi thân thiện</a:t>
            </a:r>
            <a:r>
              <a:rPr lang="en-US" sz="1047">
                <a:solidFill>
                  <a:srgbClr val="94A3B8"/>
                </a:solidFill>
                <a:latin typeface="Arial"/>
                <a:ea typeface="Arial"/>
                <a:cs typeface="Arial"/>
                <a:sym typeface="Arial"/>
              </a:rPr>
              <a:t> + </a:t>
            </a:r>
            <a:r>
              <a:rPr b="1" lang="en-US" sz="1047">
                <a:solidFill>
                  <a:srgbClr val="F59E0B"/>
                </a:solidFill>
                <a:latin typeface="Arial"/>
                <a:ea typeface="Arial"/>
                <a:cs typeface="Arial"/>
                <a:sym typeface="Arial"/>
              </a:rPr>
              <a:t>Gợi ý nhập lại</a:t>
            </a:r>
            <a:endParaRPr sz="1600">
              <a:solidFill>
                <a:schemeClr val="dk1"/>
              </a:solidFill>
              <a:latin typeface="Calibri"/>
              <a:ea typeface="Calibri"/>
              <a:cs typeface="Calibri"/>
              <a:sym typeface="Calibri"/>
            </a:endParaRPr>
          </a:p>
        </p:txBody>
      </p:sp>
      <p:sp>
        <p:nvSpPr>
          <p:cNvPr id="384" name="Google Shape;384;p7"/>
          <p:cNvSpPr/>
          <p:nvPr/>
        </p:nvSpPr>
        <p:spPr>
          <a:xfrm>
            <a:off x="6260788" y="1977980"/>
            <a:ext cx="5493464" cy="498650"/>
          </a:xfrm>
          <a:custGeom>
            <a:rect b="b" l="l" r="r" t="t"/>
            <a:pathLst>
              <a:path extrusionOk="0" h="498650" w="5493464">
                <a:moveTo>
                  <a:pt x="66485" y="0"/>
                </a:moveTo>
                <a:lnTo>
                  <a:pt x="5426979" y="0"/>
                </a:lnTo>
                <a:cubicBezTo>
                  <a:pt x="5463698" y="0"/>
                  <a:pt x="5493464" y="29766"/>
                  <a:pt x="5493464" y="66485"/>
                </a:cubicBezTo>
                <a:lnTo>
                  <a:pt x="5493464" y="432165"/>
                </a:lnTo>
                <a:cubicBezTo>
                  <a:pt x="5493464" y="468884"/>
                  <a:pt x="5463698" y="498650"/>
                  <a:pt x="5426979" y="498650"/>
                </a:cubicBezTo>
                <a:lnTo>
                  <a:pt x="66485" y="498650"/>
                </a:lnTo>
                <a:cubicBezTo>
                  <a:pt x="29766" y="498650"/>
                  <a:pt x="0" y="468884"/>
                  <a:pt x="0" y="432165"/>
                </a:cubicBezTo>
                <a:lnTo>
                  <a:pt x="0" y="66485"/>
                </a:lnTo>
                <a:cubicBezTo>
                  <a:pt x="0" y="29791"/>
                  <a:pt x="29791" y="0"/>
                  <a:pt x="66485"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7"/>
          <p:cNvSpPr/>
          <p:nvPr/>
        </p:nvSpPr>
        <p:spPr>
          <a:xfrm>
            <a:off x="6343897" y="2077710"/>
            <a:ext cx="116352" cy="116352"/>
          </a:xfrm>
          <a:custGeom>
            <a:rect b="b" l="l" r="r" t="t"/>
            <a:pathLst>
              <a:path extrusionOk="0" h="116352" w="116352">
                <a:moveTo>
                  <a:pt x="58176" y="116352"/>
                </a:moveTo>
                <a:cubicBezTo>
                  <a:pt x="90284" y="116352"/>
                  <a:pt x="116352" y="90284"/>
                  <a:pt x="116352" y="58176"/>
                </a:cubicBezTo>
                <a:cubicBezTo>
                  <a:pt x="116352" y="26068"/>
                  <a:pt x="90284" y="0"/>
                  <a:pt x="58176" y="0"/>
                </a:cubicBezTo>
                <a:cubicBezTo>
                  <a:pt x="26068" y="0"/>
                  <a:pt x="0" y="26068"/>
                  <a:pt x="0" y="58176"/>
                </a:cubicBezTo>
                <a:cubicBezTo>
                  <a:pt x="0" y="90284"/>
                  <a:pt x="26068" y="116352"/>
                  <a:pt x="58176" y="116352"/>
                </a:cubicBezTo>
                <a:close/>
                <a:moveTo>
                  <a:pt x="58176" y="30906"/>
                </a:moveTo>
                <a:cubicBezTo>
                  <a:pt x="61198" y="30906"/>
                  <a:pt x="63630" y="33337"/>
                  <a:pt x="63630" y="36360"/>
                </a:cubicBezTo>
                <a:lnTo>
                  <a:pt x="63630" y="61812"/>
                </a:lnTo>
                <a:cubicBezTo>
                  <a:pt x="63630" y="64834"/>
                  <a:pt x="61198" y="67266"/>
                  <a:pt x="58176" y="67266"/>
                </a:cubicBezTo>
                <a:cubicBezTo>
                  <a:pt x="55153" y="67266"/>
                  <a:pt x="52722" y="64834"/>
                  <a:pt x="52722" y="61812"/>
                </a:cubicBezTo>
                <a:lnTo>
                  <a:pt x="52722" y="36360"/>
                </a:lnTo>
                <a:cubicBezTo>
                  <a:pt x="52722" y="33337"/>
                  <a:pt x="55153" y="30906"/>
                  <a:pt x="58176" y="30906"/>
                </a:cubicBezTo>
                <a:close/>
                <a:moveTo>
                  <a:pt x="52108" y="79992"/>
                </a:moveTo>
                <a:cubicBezTo>
                  <a:pt x="51970" y="77740"/>
                  <a:pt x="53093" y="75597"/>
                  <a:pt x="55024" y="74429"/>
                </a:cubicBezTo>
                <a:cubicBezTo>
                  <a:pt x="56955" y="73261"/>
                  <a:pt x="59374" y="73261"/>
                  <a:pt x="61305" y="74429"/>
                </a:cubicBezTo>
                <a:cubicBezTo>
                  <a:pt x="63236" y="75597"/>
                  <a:pt x="64359" y="77740"/>
                  <a:pt x="64221" y="79992"/>
                </a:cubicBezTo>
                <a:cubicBezTo>
                  <a:pt x="64359" y="82244"/>
                  <a:pt x="63236" y="84387"/>
                  <a:pt x="61305" y="85555"/>
                </a:cubicBezTo>
                <a:cubicBezTo>
                  <a:pt x="59374" y="86722"/>
                  <a:pt x="56955" y="86722"/>
                  <a:pt x="55024" y="85555"/>
                </a:cubicBezTo>
                <a:cubicBezTo>
                  <a:pt x="53093" y="84387"/>
                  <a:pt x="51970" y="82244"/>
                  <a:pt x="52108" y="79992"/>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7"/>
          <p:cNvSpPr/>
          <p:nvPr/>
        </p:nvSpPr>
        <p:spPr>
          <a:xfrm>
            <a:off x="6520379" y="2044466"/>
            <a:ext cx="5225563"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Response:</a:t>
            </a:r>
            <a:endParaRPr sz="1600">
              <a:solidFill>
                <a:schemeClr val="dk1"/>
              </a:solidFill>
              <a:latin typeface="Calibri"/>
              <a:ea typeface="Calibri"/>
              <a:cs typeface="Calibri"/>
              <a:sym typeface="Calibri"/>
            </a:endParaRPr>
          </a:p>
        </p:txBody>
      </p:sp>
      <p:sp>
        <p:nvSpPr>
          <p:cNvPr id="387" name="Google Shape;387;p7"/>
          <p:cNvSpPr/>
          <p:nvPr/>
        </p:nvSpPr>
        <p:spPr>
          <a:xfrm>
            <a:off x="6327275" y="2243926"/>
            <a:ext cx="5418667"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F8FAFC"/>
                </a:solidFill>
                <a:latin typeface="Arial"/>
                <a:ea typeface="Arial"/>
                <a:cs typeface="Arial"/>
                <a:sym typeface="Arial"/>
              </a:rPr>
              <a:t>"Xin lỗi, mình chưa hiểu. Bạn thử nhập lại nhé!"</a:t>
            </a:r>
            <a:endParaRPr sz="1600">
              <a:solidFill>
                <a:schemeClr val="dk1"/>
              </a:solidFill>
              <a:latin typeface="Calibri"/>
              <a:ea typeface="Calibri"/>
              <a:cs typeface="Calibri"/>
              <a:sym typeface="Calibri"/>
            </a:endParaRPr>
          </a:p>
        </p:txBody>
      </p:sp>
      <p:sp>
        <p:nvSpPr>
          <p:cNvPr id="388" name="Google Shape;388;p7"/>
          <p:cNvSpPr/>
          <p:nvPr/>
        </p:nvSpPr>
        <p:spPr>
          <a:xfrm>
            <a:off x="6144437" y="2642847"/>
            <a:ext cx="5709546" cy="1504262"/>
          </a:xfrm>
          <a:custGeom>
            <a:rect b="b" l="l" r="r" t="t"/>
            <a:pathLst>
              <a:path extrusionOk="0" h="1504262" w="5709546">
                <a:moveTo>
                  <a:pt x="33243" y="0"/>
                </a:moveTo>
                <a:lnTo>
                  <a:pt x="5609813" y="0"/>
                </a:lnTo>
                <a:cubicBezTo>
                  <a:pt x="5664894" y="0"/>
                  <a:pt x="5709546" y="44652"/>
                  <a:pt x="5709546" y="99733"/>
                </a:cubicBezTo>
                <a:lnTo>
                  <a:pt x="5709546" y="1404529"/>
                </a:lnTo>
                <a:cubicBezTo>
                  <a:pt x="5709546" y="1459610"/>
                  <a:pt x="5664894" y="1504262"/>
                  <a:pt x="5609813" y="1504262"/>
                </a:cubicBezTo>
                <a:lnTo>
                  <a:pt x="33243" y="1504262"/>
                </a:lnTo>
                <a:cubicBezTo>
                  <a:pt x="14884" y="1504262"/>
                  <a:pt x="0" y="1489378"/>
                  <a:pt x="0" y="1471018"/>
                </a:cubicBezTo>
                <a:lnTo>
                  <a:pt x="0" y="33243"/>
                </a:lnTo>
                <a:cubicBezTo>
                  <a:pt x="0" y="14896"/>
                  <a:pt x="14896" y="0"/>
                  <a:pt x="33243" y="0"/>
                </a:cubicBezTo>
                <a:close/>
              </a:path>
            </a:pathLst>
          </a:custGeom>
          <a:gradFill>
            <a:gsLst>
              <a:gs pos="0">
                <a:srgbClr val="1E293B"/>
              </a:gs>
              <a:gs pos="100000">
                <a:srgbClr val="0F172A"/>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7"/>
          <p:cNvSpPr/>
          <p:nvPr/>
        </p:nvSpPr>
        <p:spPr>
          <a:xfrm>
            <a:off x="6144437" y="2642847"/>
            <a:ext cx="33243" cy="1504262"/>
          </a:xfrm>
          <a:custGeom>
            <a:rect b="b" l="l" r="r" t="t"/>
            <a:pathLst>
              <a:path extrusionOk="0" h="1504262" w="33243">
                <a:moveTo>
                  <a:pt x="33243" y="0"/>
                </a:moveTo>
                <a:lnTo>
                  <a:pt x="33243" y="0"/>
                </a:lnTo>
                <a:lnTo>
                  <a:pt x="33243" y="1504262"/>
                </a:lnTo>
                <a:lnTo>
                  <a:pt x="33243" y="1504262"/>
                </a:lnTo>
                <a:cubicBezTo>
                  <a:pt x="14884" y="1504262"/>
                  <a:pt x="0" y="1489378"/>
                  <a:pt x="0" y="1471018"/>
                </a:cubicBezTo>
                <a:lnTo>
                  <a:pt x="0" y="33243"/>
                </a:lnTo>
                <a:cubicBezTo>
                  <a:pt x="0" y="14896"/>
                  <a:pt x="14896" y="0"/>
                  <a:pt x="33243" y="0"/>
                </a:cubicBezTo>
                <a:close/>
              </a:path>
            </a:pathLst>
          </a:custGeom>
          <a:solidFill>
            <a:srgbClr val="EC4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7"/>
          <p:cNvSpPr/>
          <p:nvPr/>
        </p:nvSpPr>
        <p:spPr>
          <a:xfrm>
            <a:off x="6260788" y="2742577"/>
            <a:ext cx="398920" cy="398920"/>
          </a:xfrm>
          <a:custGeom>
            <a:rect b="b" l="l" r="r" t="t"/>
            <a:pathLst>
              <a:path extrusionOk="0" h="398920" w="398920">
                <a:moveTo>
                  <a:pt x="99730" y="0"/>
                </a:moveTo>
                <a:lnTo>
                  <a:pt x="299190" y="0"/>
                </a:lnTo>
                <a:cubicBezTo>
                  <a:pt x="354233" y="0"/>
                  <a:pt x="398920" y="44688"/>
                  <a:pt x="398920" y="99730"/>
                </a:cubicBezTo>
                <a:lnTo>
                  <a:pt x="398920" y="299190"/>
                </a:lnTo>
                <a:cubicBezTo>
                  <a:pt x="398920" y="354270"/>
                  <a:pt x="354270" y="398920"/>
                  <a:pt x="299190" y="398920"/>
                </a:cubicBezTo>
                <a:lnTo>
                  <a:pt x="99730" y="398920"/>
                </a:lnTo>
                <a:cubicBezTo>
                  <a:pt x="44688" y="398920"/>
                  <a:pt x="0" y="354233"/>
                  <a:pt x="0" y="299190"/>
                </a:cubicBezTo>
                <a:lnTo>
                  <a:pt x="0" y="99730"/>
                </a:lnTo>
                <a:cubicBezTo>
                  <a:pt x="0" y="44688"/>
                  <a:pt x="44688" y="0"/>
                  <a:pt x="99730" y="0"/>
                </a:cubicBezTo>
                <a:close/>
              </a:path>
            </a:pathLst>
          </a:custGeom>
          <a:solidFill>
            <a:srgbClr val="EC48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7"/>
          <p:cNvSpPr/>
          <p:nvPr/>
        </p:nvSpPr>
        <p:spPr>
          <a:xfrm>
            <a:off x="6295330" y="2825685"/>
            <a:ext cx="415542" cy="232703"/>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309">
                <a:solidFill>
                  <a:srgbClr val="EC4899"/>
                </a:solidFill>
                <a:latin typeface="Arial"/>
                <a:ea typeface="Arial"/>
                <a:cs typeface="Arial"/>
                <a:sym typeface="Arial"/>
              </a:rPr>
              <a:t>KB5</a:t>
            </a:r>
            <a:endParaRPr sz="1600">
              <a:solidFill>
                <a:schemeClr val="dk1"/>
              </a:solidFill>
              <a:latin typeface="Calibri"/>
              <a:ea typeface="Calibri"/>
              <a:cs typeface="Calibri"/>
              <a:sym typeface="Calibri"/>
            </a:endParaRPr>
          </a:p>
        </p:txBody>
      </p:sp>
      <p:sp>
        <p:nvSpPr>
          <p:cNvPr id="392" name="Google Shape;392;p7"/>
          <p:cNvSpPr/>
          <p:nvPr/>
        </p:nvSpPr>
        <p:spPr>
          <a:xfrm>
            <a:off x="6759439" y="2825685"/>
            <a:ext cx="1196761" cy="232703"/>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78">
                <a:solidFill>
                  <a:srgbClr val="F8FAFC"/>
                </a:solidFill>
                <a:latin typeface="Arial"/>
                <a:ea typeface="Arial"/>
                <a:cs typeface="Arial"/>
                <a:sym typeface="Arial"/>
              </a:rPr>
              <a:t>Đa phương tiện</a:t>
            </a:r>
            <a:endParaRPr sz="1600">
              <a:solidFill>
                <a:schemeClr val="dk1"/>
              </a:solidFill>
              <a:latin typeface="Calibri"/>
              <a:ea typeface="Calibri"/>
              <a:cs typeface="Calibri"/>
              <a:sym typeface="Calibri"/>
            </a:endParaRPr>
          </a:p>
        </p:txBody>
      </p:sp>
      <p:sp>
        <p:nvSpPr>
          <p:cNvPr id="393" name="Google Shape;393;p7"/>
          <p:cNvSpPr/>
          <p:nvPr/>
        </p:nvSpPr>
        <p:spPr>
          <a:xfrm>
            <a:off x="6260788" y="3207984"/>
            <a:ext cx="5559951" cy="216082"/>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47">
                <a:solidFill>
                  <a:srgbClr val="94A3B8"/>
                </a:solidFill>
                <a:latin typeface="Arial"/>
                <a:ea typeface="Arial"/>
                <a:cs typeface="Arial"/>
                <a:sym typeface="Arial"/>
              </a:rPr>
              <a:t>Hiển thị kết quả kèm </a:t>
            </a:r>
            <a:r>
              <a:rPr b="1" lang="en-US" sz="1047">
                <a:solidFill>
                  <a:srgbClr val="EC4899"/>
                </a:solidFill>
                <a:latin typeface="Arial"/>
                <a:ea typeface="Arial"/>
                <a:cs typeface="Arial"/>
                <a:sym typeface="Arial"/>
              </a:rPr>
              <a:t>hình ảnh poster</a:t>
            </a:r>
            <a:r>
              <a:rPr lang="en-US" sz="1047">
                <a:solidFill>
                  <a:srgbClr val="94A3B8"/>
                </a:solidFill>
                <a:latin typeface="Arial"/>
                <a:ea typeface="Arial"/>
                <a:cs typeface="Arial"/>
                <a:sym typeface="Arial"/>
              </a:rPr>
              <a:t>, định dạng </a:t>
            </a:r>
            <a:r>
              <a:rPr b="1" lang="en-US" sz="1047">
                <a:solidFill>
                  <a:srgbClr val="EC4899"/>
                </a:solidFill>
                <a:latin typeface="Arial"/>
                <a:ea typeface="Arial"/>
                <a:cs typeface="Arial"/>
                <a:sym typeface="Arial"/>
              </a:rPr>
              <a:t>card rõ ràng</a:t>
            </a:r>
            <a:r>
              <a:rPr lang="en-US" sz="1047">
                <a:solidFill>
                  <a:srgbClr val="94A3B8"/>
                </a:solidFill>
                <a:latin typeface="Arial"/>
                <a:ea typeface="Arial"/>
                <a:cs typeface="Arial"/>
                <a:sym typeface="Arial"/>
              </a:rPr>
              <a:t> với thông tin đầy đủ</a:t>
            </a:r>
            <a:endParaRPr sz="1600">
              <a:solidFill>
                <a:schemeClr val="dk1"/>
              </a:solidFill>
              <a:latin typeface="Calibri"/>
              <a:ea typeface="Calibri"/>
              <a:cs typeface="Calibri"/>
              <a:sym typeface="Calibri"/>
            </a:endParaRPr>
          </a:p>
        </p:txBody>
      </p:sp>
      <p:sp>
        <p:nvSpPr>
          <p:cNvPr id="394" name="Google Shape;394;p7"/>
          <p:cNvSpPr/>
          <p:nvPr/>
        </p:nvSpPr>
        <p:spPr>
          <a:xfrm>
            <a:off x="6260788" y="3490552"/>
            <a:ext cx="5493464" cy="556826"/>
          </a:xfrm>
          <a:custGeom>
            <a:rect b="b" l="l" r="r" t="t"/>
            <a:pathLst>
              <a:path extrusionOk="0" h="556826" w="5493464">
                <a:moveTo>
                  <a:pt x="66485" y="0"/>
                </a:moveTo>
                <a:lnTo>
                  <a:pt x="5426979" y="0"/>
                </a:lnTo>
                <a:cubicBezTo>
                  <a:pt x="5463698" y="0"/>
                  <a:pt x="5493464" y="29766"/>
                  <a:pt x="5493464" y="66485"/>
                </a:cubicBezTo>
                <a:lnTo>
                  <a:pt x="5493464" y="490341"/>
                </a:lnTo>
                <a:cubicBezTo>
                  <a:pt x="5493464" y="527060"/>
                  <a:pt x="5463698" y="556826"/>
                  <a:pt x="5426979" y="556826"/>
                </a:cubicBezTo>
                <a:lnTo>
                  <a:pt x="66485" y="556826"/>
                </a:lnTo>
                <a:cubicBezTo>
                  <a:pt x="29766" y="556826"/>
                  <a:pt x="0" y="527060"/>
                  <a:pt x="0" y="490341"/>
                </a:cubicBezTo>
                <a:lnTo>
                  <a:pt x="0" y="66485"/>
                </a:lnTo>
                <a:cubicBezTo>
                  <a:pt x="0" y="29791"/>
                  <a:pt x="29791" y="0"/>
                  <a:pt x="66485"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7"/>
          <p:cNvSpPr/>
          <p:nvPr/>
        </p:nvSpPr>
        <p:spPr>
          <a:xfrm>
            <a:off x="6336625" y="3590282"/>
            <a:ext cx="130896" cy="116352"/>
          </a:xfrm>
          <a:custGeom>
            <a:rect b="b" l="l" r="r" t="t"/>
            <a:pathLst>
              <a:path extrusionOk="0" h="116352" w="130896">
                <a:moveTo>
                  <a:pt x="21816" y="21816"/>
                </a:moveTo>
                <a:cubicBezTo>
                  <a:pt x="21816" y="13794"/>
                  <a:pt x="28338" y="7272"/>
                  <a:pt x="36360" y="7272"/>
                </a:cubicBezTo>
                <a:lnTo>
                  <a:pt x="109080" y="7272"/>
                </a:lnTo>
                <a:cubicBezTo>
                  <a:pt x="117102" y="7272"/>
                  <a:pt x="123624" y="13794"/>
                  <a:pt x="123624" y="21816"/>
                </a:cubicBezTo>
                <a:lnTo>
                  <a:pt x="123624" y="79992"/>
                </a:lnTo>
                <a:cubicBezTo>
                  <a:pt x="123624" y="88014"/>
                  <a:pt x="117102" y="94536"/>
                  <a:pt x="109080" y="94536"/>
                </a:cubicBezTo>
                <a:lnTo>
                  <a:pt x="36360" y="94536"/>
                </a:lnTo>
                <a:cubicBezTo>
                  <a:pt x="28338" y="94536"/>
                  <a:pt x="21816" y="88014"/>
                  <a:pt x="21816" y="79992"/>
                </a:cubicBezTo>
                <a:lnTo>
                  <a:pt x="21816" y="21816"/>
                </a:lnTo>
                <a:close/>
                <a:moveTo>
                  <a:pt x="5454" y="29088"/>
                </a:moveTo>
                <a:cubicBezTo>
                  <a:pt x="8476" y="29088"/>
                  <a:pt x="10908" y="31520"/>
                  <a:pt x="10908" y="34542"/>
                </a:cubicBezTo>
                <a:lnTo>
                  <a:pt x="10908" y="101808"/>
                </a:lnTo>
                <a:cubicBezTo>
                  <a:pt x="10908" y="103808"/>
                  <a:pt x="12544" y="105444"/>
                  <a:pt x="14544" y="105444"/>
                </a:cubicBezTo>
                <a:lnTo>
                  <a:pt x="96354" y="105444"/>
                </a:lnTo>
                <a:cubicBezTo>
                  <a:pt x="99376" y="105444"/>
                  <a:pt x="101808" y="107875"/>
                  <a:pt x="101808" y="110898"/>
                </a:cubicBezTo>
                <a:cubicBezTo>
                  <a:pt x="101808" y="113920"/>
                  <a:pt x="99376" y="116352"/>
                  <a:pt x="96354" y="116352"/>
                </a:cubicBezTo>
                <a:lnTo>
                  <a:pt x="14544" y="116352"/>
                </a:lnTo>
                <a:cubicBezTo>
                  <a:pt x="6522" y="116352"/>
                  <a:pt x="0" y="109830"/>
                  <a:pt x="0" y="101808"/>
                </a:cubicBezTo>
                <a:lnTo>
                  <a:pt x="0" y="34542"/>
                </a:lnTo>
                <a:cubicBezTo>
                  <a:pt x="0" y="31520"/>
                  <a:pt x="2432" y="29088"/>
                  <a:pt x="5454" y="29088"/>
                </a:cubicBezTo>
                <a:close/>
                <a:moveTo>
                  <a:pt x="43632" y="36360"/>
                </a:moveTo>
                <a:cubicBezTo>
                  <a:pt x="47645" y="36360"/>
                  <a:pt x="50904" y="33101"/>
                  <a:pt x="50904" y="29088"/>
                </a:cubicBezTo>
                <a:cubicBezTo>
                  <a:pt x="50904" y="25074"/>
                  <a:pt x="47645" y="21816"/>
                  <a:pt x="43632" y="21816"/>
                </a:cubicBezTo>
                <a:cubicBezTo>
                  <a:pt x="39618" y="21816"/>
                  <a:pt x="36360" y="25074"/>
                  <a:pt x="36360" y="29088"/>
                </a:cubicBezTo>
                <a:cubicBezTo>
                  <a:pt x="36360" y="33101"/>
                  <a:pt x="39618" y="36360"/>
                  <a:pt x="43632" y="36360"/>
                </a:cubicBezTo>
                <a:close/>
                <a:moveTo>
                  <a:pt x="88286" y="38973"/>
                </a:moveTo>
                <a:cubicBezTo>
                  <a:pt x="87287" y="37360"/>
                  <a:pt x="85537" y="36360"/>
                  <a:pt x="83628" y="36360"/>
                </a:cubicBezTo>
                <a:cubicBezTo>
                  <a:pt x="81719" y="36360"/>
                  <a:pt x="79969" y="37360"/>
                  <a:pt x="78969" y="38973"/>
                </a:cubicBezTo>
                <a:lnTo>
                  <a:pt x="66175" y="59903"/>
                </a:lnTo>
                <a:lnTo>
                  <a:pt x="60607" y="52949"/>
                </a:lnTo>
                <a:cubicBezTo>
                  <a:pt x="59562" y="51654"/>
                  <a:pt x="58017" y="50904"/>
                  <a:pt x="56358" y="50904"/>
                </a:cubicBezTo>
                <a:cubicBezTo>
                  <a:pt x="54699" y="50904"/>
                  <a:pt x="53131" y="51654"/>
                  <a:pt x="52108" y="52949"/>
                </a:cubicBezTo>
                <a:lnTo>
                  <a:pt x="37564" y="71129"/>
                </a:lnTo>
                <a:cubicBezTo>
                  <a:pt x="36246" y="72765"/>
                  <a:pt x="35996" y="75015"/>
                  <a:pt x="36905" y="76901"/>
                </a:cubicBezTo>
                <a:cubicBezTo>
                  <a:pt x="37814" y="78787"/>
                  <a:pt x="39723" y="79992"/>
                  <a:pt x="41814" y="79992"/>
                </a:cubicBezTo>
                <a:lnTo>
                  <a:pt x="103626" y="79992"/>
                </a:lnTo>
                <a:cubicBezTo>
                  <a:pt x="105603" y="79992"/>
                  <a:pt x="107421" y="78924"/>
                  <a:pt x="108375" y="77197"/>
                </a:cubicBezTo>
                <a:cubicBezTo>
                  <a:pt x="109330" y="75470"/>
                  <a:pt x="109307" y="73379"/>
                  <a:pt x="108262" y="71674"/>
                </a:cubicBezTo>
                <a:lnTo>
                  <a:pt x="88264" y="38951"/>
                </a:lnTo>
                <a:close/>
              </a:path>
            </a:pathLst>
          </a:custGeom>
          <a:solidFill>
            <a:srgbClr val="EC48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7"/>
          <p:cNvSpPr/>
          <p:nvPr/>
        </p:nvSpPr>
        <p:spPr>
          <a:xfrm>
            <a:off x="6520379" y="3557039"/>
            <a:ext cx="5225563"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Media Types:</a:t>
            </a:r>
            <a:endParaRPr sz="1600">
              <a:solidFill>
                <a:schemeClr val="dk1"/>
              </a:solidFill>
              <a:latin typeface="Calibri"/>
              <a:ea typeface="Calibri"/>
              <a:cs typeface="Calibri"/>
              <a:sym typeface="Calibri"/>
            </a:endParaRPr>
          </a:p>
        </p:txBody>
      </p:sp>
      <p:sp>
        <p:nvSpPr>
          <p:cNvPr id="397" name="Google Shape;397;p7"/>
          <p:cNvSpPr/>
          <p:nvPr/>
        </p:nvSpPr>
        <p:spPr>
          <a:xfrm>
            <a:off x="6327275" y="3789742"/>
            <a:ext cx="423853" cy="191149"/>
          </a:xfrm>
          <a:custGeom>
            <a:rect b="b" l="l" r="r" t="t"/>
            <a:pathLst>
              <a:path extrusionOk="0" h="191149" w="423853">
                <a:moveTo>
                  <a:pt x="33243" y="0"/>
                </a:moveTo>
                <a:lnTo>
                  <a:pt x="390610" y="0"/>
                </a:lnTo>
                <a:cubicBezTo>
                  <a:pt x="408957" y="0"/>
                  <a:pt x="423853" y="14896"/>
                  <a:pt x="423853" y="33243"/>
                </a:cubicBezTo>
                <a:lnTo>
                  <a:pt x="423853" y="157907"/>
                </a:lnTo>
                <a:cubicBezTo>
                  <a:pt x="423853" y="176254"/>
                  <a:pt x="408957" y="191149"/>
                  <a:pt x="390610" y="191149"/>
                </a:cubicBezTo>
                <a:lnTo>
                  <a:pt x="33243" y="191149"/>
                </a:lnTo>
                <a:cubicBezTo>
                  <a:pt x="14896" y="191149"/>
                  <a:pt x="0" y="176254"/>
                  <a:pt x="0" y="157907"/>
                </a:cubicBezTo>
                <a:lnTo>
                  <a:pt x="0" y="33243"/>
                </a:lnTo>
                <a:cubicBezTo>
                  <a:pt x="0" y="14896"/>
                  <a:pt x="14896" y="0"/>
                  <a:pt x="33243" y="0"/>
                </a:cubicBezTo>
                <a:close/>
              </a:path>
            </a:pathLst>
          </a:custGeom>
          <a:solidFill>
            <a:srgbClr val="EC48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7"/>
          <p:cNvSpPr/>
          <p:nvPr/>
        </p:nvSpPr>
        <p:spPr>
          <a:xfrm>
            <a:off x="6327275" y="3789742"/>
            <a:ext cx="473718" cy="191149"/>
          </a:xfrm>
          <a:prstGeom prst="rect">
            <a:avLst/>
          </a:prstGeom>
          <a:noFill/>
          <a:ln>
            <a:noFill/>
          </a:ln>
        </p:spPr>
        <p:txBody>
          <a:bodyPr anchorCtr="0" anchor="ctr" bIns="33225" lIns="66475" spcFirstLastPara="1" rIns="66475" wrap="square" tIns="33225">
            <a:noAutofit/>
          </a:bodyPr>
          <a:lstStyle/>
          <a:p>
            <a:pPr indent="0" lvl="0" marL="0" marR="0" rtl="0" algn="l">
              <a:lnSpc>
                <a:spcPct val="110000"/>
              </a:lnSpc>
              <a:spcBef>
                <a:spcPts val="0"/>
              </a:spcBef>
              <a:spcAft>
                <a:spcPts val="0"/>
              </a:spcAft>
              <a:buNone/>
            </a:pPr>
            <a:r>
              <a:rPr lang="en-US" sz="785">
                <a:solidFill>
                  <a:srgbClr val="EC4899"/>
                </a:solidFill>
                <a:latin typeface="Arial"/>
                <a:ea typeface="Arial"/>
                <a:cs typeface="Arial"/>
                <a:sym typeface="Arial"/>
              </a:rPr>
              <a:t>Poster</a:t>
            </a:r>
            <a:endParaRPr sz="1600">
              <a:solidFill>
                <a:schemeClr val="dk1"/>
              </a:solidFill>
              <a:latin typeface="Calibri"/>
              <a:ea typeface="Calibri"/>
              <a:cs typeface="Calibri"/>
              <a:sym typeface="Calibri"/>
            </a:endParaRPr>
          </a:p>
        </p:txBody>
      </p:sp>
      <p:sp>
        <p:nvSpPr>
          <p:cNvPr id="399" name="Google Shape;399;p7"/>
          <p:cNvSpPr/>
          <p:nvPr/>
        </p:nvSpPr>
        <p:spPr>
          <a:xfrm>
            <a:off x="6820212" y="3789742"/>
            <a:ext cx="423853" cy="191149"/>
          </a:xfrm>
          <a:custGeom>
            <a:rect b="b" l="l" r="r" t="t"/>
            <a:pathLst>
              <a:path extrusionOk="0" h="191149" w="423853">
                <a:moveTo>
                  <a:pt x="33243" y="0"/>
                </a:moveTo>
                <a:lnTo>
                  <a:pt x="390610" y="0"/>
                </a:lnTo>
                <a:cubicBezTo>
                  <a:pt x="408957" y="0"/>
                  <a:pt x="423853" y="14896"/>
                  <a:pt x="423853" y="33243"/>
                </a:cubicBezTo>
                <a:lnTo>
                  <a:pt x="423853" y="157907"/>
                </a:lnTo>
                <a:cubicBezTo>
                  <a:pt x="423853" y="176254"/>
                  <a:pt x="408957" y="191149"/>
                  <a:pt x="390610" y="191149"/>
                </a:cubicBezTo>
                <a:lnTo>
                  <a:pt x="33243" y="191149"/>
                </a:lnTo>
                <a:cubicBezTo>
                  <a:pt x="14896" y="191149"/>
                  <a:pt x="0" y="176254"/>
                  <a:pt x="0" y="157907"/>
                </a:cubicBezTo>
                <a:lnTo>
                  <a:pt x="0" y="33243"/>
                </a:lnTo>
                <a:cubicBezTo>
                  <a:pt x="0" y="14896"/>
                  <a:pt x="14896" y="0"/>
                  <a:pt x="33243" y="0"/>
                </a:cubicBezTo>
                <a:close/>
              </a:path>
            </a:pathLst>
          </a:custGeom>
          <a:solidFill>
            <a:srgbClr val="EC48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7"/>
          <p:cNvSpPr/>
          <p:nvPr/>
        </p:nvSpPr>
        <p:spPr>
          <a:xfrm>
            <a:off x="6820212" y="3789742"/>
            <a:ext cx="473718" cy="191149"/>
          </a:xfrm>
          <a:prstGeom prst="rect">
            <a:avLst/>
          </a:prstGeom>
          <a:noFill/>
          <a:ln>
            <a:noFill/>
          </a:ln>
        </p:spPr>
        <p:txBody>
          <a:bodyPr anchorCtr="0" anchor="ctr" bIns="33225" lIns="66475" spcFirstLastPara="1" rIns="66475" wrap="square" tIns="33225">
            <a:noAutofit/>
          </a:bodyPr>
          <a:lstStyle/>
          <a:p>
            <a:pPr indent="0" lvl="0" marL="0" marR="0" rtl="0" algn="l">
              <a:lnSpc>
                <a:spcPct val="110000"/>
              </a:lnSpc>
              <a:spcBef>
                <a:spcPts val="0"/>
              </a:spcBef>
              <a:spcAft>
                <a:spcPts val="0"/>
              </a:spcAft>
              <a:buNone/>
            </a:pPr>
            <a:r>
              <a:rPr lang="en-US" sz="785">
                <a:solidFill>
                  <a:srgbClr val="EC4899"/>
                </a:solidFill>
                <a:latin typeface="Arial"/>
                <a:ea typeface="Arial"/>
                <a:cs typeface="Arial"/>
                <a:sym typeface="Arial"/>
              </a:rPr>
              <a:t>Rating</a:t>
            </a:r>
            <a:endParaRPr sz="1600">
              <a:solidFill>
                <a:schemeClr val="dk1"/>
              </a:solidFill>
              <a:latin typeface="Calibri"/>
              <a:ea typeface="Calibri"/>
              <a:cs typeface="Calibri"/>
              <a:sym typeface="Calibri"/>
            </a:endParaRPr>
          </a:p>
        </p:txBody>
      </p:sp>
      <p:sp>
        <p:nvSpPr>
          <p:cNvPr id="401" name="Google Shape;401;p7"/>
          <p:cNvSpPr/>
          <p:nvPr/>
        </p:nvSpPr>
        <p:spPr>
          <a:xfrm>
            <a:off x="7311980" y="3789742"/>
            <a:ext cx="573448" cy="191149"/>
          </a:xfrm>
          <a:custGeom>
            <a:rect b="b" l="l" r="r" t="t"/>
            <a:pathLst>
              <a:path extrusionOk="0" h="191149" w="573448">
                <a:moveTo>
                  <a:pt x="33243" y="0"/>
                </a:moveTo>
                <a:lnTo>
                  <a:pt x="540205" y="0"/>
                </a:lnTo>
                <a:cubicBezTo>
                  <a:pt x="558565" y="0"/>
                  <a:pt x="573448" y="14883"/>
                  <a:pt x="573448" y="33243"/>
                </a:cubicBezTo>
                <a:lnTo>
                  <a:pt x="573448" y="157907"/>
                </a:lnTo>
                <a:cubicBezTo>
                  <a:pt x="573448" y="176266"/>
                  <a:pt x="558565" y="191149"/>
                  <a:pt x="540205" y="191149"/>
                </a:cubicBezTo>
                <a:lnTo>
                  <a:pt x="33243" y="191149"/>
                </a:lnTo>
                <a:cubicBezTo>
                  <a:pt x="14896" y="191149"/>
                  <a:pt x="0" y="176254"/>
                  <a:pt x="0" y="157907"/>
                </a:cubicBezTo>
                <a:lnTo>
                  <a:pt x="0" y="33243"/>
                </a:lnTo>
                <a:cubicBezTo>
                  <a:pt x="0" y="14896"/>
                  <a:pt x="14896" y="0"/>
                  <a:pt x="33243" y="0"/>
                </a:cubicBezTo>
                <a:close/>
              </a:path>
            </a:pathLst>
          </a:custGeom>
          <a:solidFill>
            <a:srgbClr val="EC4899">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7"/>
          <p:cNvSpPr/>
          <p:nvPr/>
        </p:nvSpPr>
        <p:spPr>
          <a:xfrm>
            <a:off x="7311980" y="3789742"/>
            <a:ext cx="623313" cy="191149"/>
          </a:xfrm>
          <a:prstGeom prst="rect">
            <a:avLst/>
          </a:prstGeom>
          <a:noFill/>
          <a:ln>
            <a:noFill/>
          </a:ln>
        </p:spPr>
        <p:txBody>
          <a:bodyPr anchorCtr="0" anchor="ctr" bIns="33225" lIns="66475" spcFirstLastPara="1" rIns="66475" wrap="square" tIns="33225">
            <a:noAutofit/>
          </a:bodyPr>
          <a:lstStyle/>
          <a:p>
            <a:pPr indent="0" lvl="0" marL="0" marR="0" rtl="0" algn="l">
              <a:lnSpc>
                <a:spcPct val="110000"/>
              </a:lnSpc>
              <a:spcBef>
                <a:spcPts val="0"/>
              </a:spcBef>
              <a:spcAft>
                <a:spcPts val="0"/>
              </a:spcAft>
              <a:buNone/>
            </a:pPr>
            <a:r>
              <a:rPr lang="en-US" sz="785">
                <a:solidFill>
                  <a:srgbClr val="EC4899"/>
                </a:solidFill>
                <a:latin typeface="Arial"/>
                <a:ea typeface="Arial"/>
                <a:cs typeface="Arial"/>
                <a:sym typeface="Arial"/>
              </a:rPr>
              <a:t>Summary</a:t>
            </a:r>
            <a:endParaRPr sz="1600">
              <a:solidFill>
                <a:schemeClr val="dk1"/>
              </a:solidFill>
              <a:latin typeface="Calibri"/>
              <a:ea typeface="Calibri"/>
              <a:cs typeface="Calibri"/>
              <a:sym typeface="Calibri"/>
            </a:endParaRPr>
          </a:p>
        </p:txBody>
      </p:sp>
      <p:sp>
        <p:nvSpPr>
          <p:cNvPr id="403" name="Google Shape;403;p7"/>
          <p:cNvSpPr/>
          <p:nvPr/>
        </p:nvSpPr>
        <p:spPr>
          <a:xfrm>
            <a:off x="6131970" y="4217751"/>
            <a:ext cx="5717857" cy="2202372"/>
          </a:xfrm>
          <a:custGeom>
            <a:rect b="b" l="l" r="r" t="t"/>
            <a:pathLst>
              <a:path extrusionOk="0" h="2202372" w="5717857">
                <a:moveTo>
                  <a:pt x="99723" y="0"/>
                </a:moveTo>
                <a:lnTo>
                  <a:pt x="5618133" y="0"/>
                </a:lnTo>
                <a:cubicBezTo>
                  <a:pt x="5673209" y="0"/>
                  <a:pt x="5717857" y="44648"/>
                  <a:pt x="5717857" y="99723"/>
                </a:cubicBezTo>
                <a:lnTo>
                  <a:pt x="5717857" y="2102649"/>
                </a:lnTo>
                <a:cubicBezTo>
                  <a:pt x="5717857" y="2157724"/>
                  <a:pt x="5673209" y="2202372"/>
                  <a:pt x="5618133" y="2202372"/>
                </a:cubicBezTo>
                <a:lnTo>
                  <a:pt x="99723" y="2202372"/>
                </a:lnTo>
                <a:cubicBezTo>
                  <a:pt x="44648" y="2202372"/>
                  <a:pt x="0" y="2157724"/>
                  <a:pt x="0" y="2102649"/>
                </a:cubicBezTo>
                <a:lnTo>
                  <a:pt x="0" y="99723"/>
                </a:lnTo>
                <a:cubicBezTo>
                  <a:pt x="0" y="44685"/>
                  <a:pt x="44685" y="0"/>
                  <a:pt x="99723" y="0"/>
                </a:cubicBezTo>
                <a:close/>
              </a:path>
            </a:pathLst>
          </a:custGeom>
          <a:gradFill>
            <a:gsLst>
              <a:gs pos="0">
                <a:srgbClr val="3B82F6">
                  <a:alpha val="20000"/>
                </a:srgbClr>
              </a:gs>
              <a:gs pos="100000">
                <a:srgbClr val="8B5CF6">
                  <a:alpha val="20000"/>
                </a:srgbClr>
              </a:gs>
            </a:gsLst>
            <a:lin ang="2700000" scaled="0"/>
          </a:gradFill>
          <a:ln cap="flat" cmpd="sng" w="12700">
            <a:solidFill>
              <a:srgbClr val="3B82F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7"/>
          <p:cNvSpPr/>
          <p:nvPr/>
        </p:nvSpPr>
        <p:spPr>
          <a:xfrm>
            <a:off x="6289876" y="4396434"/>
            <a:ext cx="149595" cy="149595"/>
          </a:xfrm>
          <a:custGeom>
            <a:rect b="b" l="l" r="r" t="t"/>
            <a:pathLst>
              <a:path extrusionOk="0" h="149595" w="149595">
                <a:moveTo>
                  <a:pt x="56098" y="18699"/>
                </a:moveTo>
                <a:cubicBezTo>
                  <a:pt x="56098" y="13528"/>
                  <a:pt x="60276" y="9350"/>
                  <a:pt x="65448" y="9350"/>
                </a:cubicBezTo>
                <a:lnTo>
                  <a:pt x="84147" y="9350"/>
                </a:lnTo>
                <a:cubicBezTo>
                  <a:pt x="89319" y="9350"/>
                  <a:pt x="93497" y="13528"/>
                  <a:pt x="93497" y="18699"/>
                </a:cubicBezTo>
                <a:lnTo>
                  <a:pt x="93497" y="37399"/>
                </a:lnTo>
                <a:cubicBezTo>
                  <a:pt x="93497" y="42570"/>
                  <a:pt x="89319" y="46748"/>
                  <a:pt x="84147" y="46748"/>
                </a:cubicBezTo>
                <a:lnTo>
                  <a:pt x="81810" y="46748"/>
                </a:lnTo>
                <a:lnTo>
                  <a:pt x="81810" y="65448"/>
                </a:lnTo>
                <a:lnTo>
                  <a:pt x="116871" y="65448"/>
                </a:lnTo>
                <a:cubicBezTo>
                  <a:pt x="128500" y="65448"/>
                  <a:pt x="137908" y="74856"/>
                  <a:pt x="137908" y="86485"/>
                </a:cubicBezTo>
                <a:lnTo>
                  <a:pt x="137908" y="102847"/>
                </a:lnTo>
                <a:lnTo>
                  <a:pt x="140245" y="102847"/>
                </a:lnTo>
                <a:cubicBezTo>
                  <a:pt x="145417" y="102847"/>
                  <a:pt x="149595" y="107025"/>
                  <a:pt x="149595" y="112196"/>
                </a:cubicBezTo>
                <a:lnTo>
                  <a:pt x="149595" y="130896"/>
                </a:lnTo>
                <a:cubicBezTo>
                  <a:pt x="149595" y="136067"/>
                  <a:pt x="145417" y="140245"/>
                  <a:pt x="140245" y="140245"/>
                </a:cubicBezTo>
                <a:lnTo>
                  <a:pt x="121546" y="140245"/>
                </a:lnTo>
                <a:cubicBezTo>
                  <a:pt x="116374" y="140245"/>
                  <a:pt x="112196" y="136067"/>
                  <a:pt x="112196" y="130896"/>
                </a:cubicBezTo>
                <a:lnTo>
                  <a:pt x="112196" y="112196"/>
                </a:lnTo>
                <a:cubicBezTo>
                  <a:pt x="112196" y="107025"/>
                  <a:pt x="116374" y="102847"/>
                  <a:pt x="121546" y="102847"/>
                </a:cubicBezTo>
                <a:lnTo>
                  <a:pt x="123883" y="102847"/>
                </a:lnTo>
                <a:lnTo>
                  <a:pt x="123883" y="86485"/>
                </a:lnTo>
                <a:cubicBezTo>
                  <a:pt x="123883" y="82599"/>
                  <a:pt x="120757" y="79472"/>
                  <a:pt x="116871" y="79472"/>
                </a:cubicBezTo>
                <a:lnTo>
                  <a:pt x="81810" y="79472"/>
                </a:lnTo>
                <a:lnTo>
                  <a:pt x="81810" y="102847"/>
                </a:lnTo>
                <a:lnTo>
                  <a:pt x="84147" y="102847"/>
                </a:lnTo>
                <a:cubicBezTo>
                  <a:pt x="89319" y="102847"/>
                  <a:pt x="93497" y="107025"/>
                  <a:pt x="93497" y="112196"/>
                </a:cubicBezTo>
                <a:lnTo>
                  <a:pt x="93497" y="130896"/>
                </a:lnTo>
                <a:cubicBezTo>
                  <a:pt x="93497" y="136067"/>
                  <a:pt x="89319" y="140245"/>
                  <a:pt x="84147" y="140245"/>
                </a:cubicBezTo>
                <a:lnTo>
                  <a:pt x="65448" y="140245"/>
                </a:lnTo>
                <a:cubicBezTo>
                  <a:pt x="60276" y="140245"/>
                  <a:pt x="56098" y="136067"/>
                  <a:pt x="56098" y="130896"/>
                </a:cubicBezTo>
                <a:lnTo>
                  <a:pt x="56098" y="112196"/>
                </a:lnTo>
                <a:cubicBezTo>
                  <a:pt x="56098" y="107025"/>
                  <a:pt x="60276" y="102847"/>
                  <a:pt x="65448" y="102847"/>
                </a:cubicBezTo>
                <a:lnTo>
                  <a:pt x="67785" y="102847"/>
                </a:lnTo>
                <a:lnTo>
                  <a:pt x="67785" y="79472"/>
                </a:lnTo>
                <a:lnTo>
                  <a:pt x="32724" y="79472"/>
                </a:lnTo>
                <a:cubicBezTo>
                  <a:pt x="28838" y="79472"/>
                  <a:pt x="25712" y="82599"/>
                  <a:pt x="25712" y="86485"/>
                </a:cubicBezTo>
                <a:lnTo>
                  <a:pt x="25712" y="102847"/>
                </a:lnTo>
                <a:lnTo>
                  <a:pt x="28049" y="102847"/>
                </a:lnTo>
                <a:cubicBezTo>
                  <a:pt x="33221" y="102847"/>
                  <a:pt x="37399" y="107025"/>
                  <a:pt x="37399" y="112196"/>
                </a:cubicBezTo>
                <a:lnTo>
                  <a:pt x="37399" y="130896"/>
                </a:lnTo>
                <a:cubicBezTo>
                  <a:pt x="37399" y="136067"/>
                  <a:pt x="33221" y="140245"/>
                  <a:pt x="28049" y="140245"/>
                </a:cubicBezTo>
                <a:lnTo>
                  <a:pt x="9350" y="140245"/>
                </a:lnTo>
                <a:cubicBezTo>
                  <a:pt x="4178" y="140245"/>
                  <a:pt x="0" y="136067"/>
                  <a:pt x="0" y="130896"/>
                </a:cubicBezTo>
                <a:lnTo>
                  <a:pt x="0" y="112196"/>
                </a:lnTo>
                <a:cubicBezTo>
                  <a:pt x="0" y="107025"/>
                  <a:pt x="4178" y="102847"/>
                  <a:pt x="9350" y="102847"/>
                </a:cubicBezTo>
                <a:lnTo>
                  <a:pt x="11687" y="102847"/>
                </a:lnTo>
                <a:lnTo>
                  <a:pt x="11687" y="86485"/>
                </a:lnTo>
                <a:cubicBezTo>
                  <a:pt x="11687" y="74856"/>
                  <a:pt x="21095" y="65448"/>
                  <a:pt x="32724" y="65448"/>
                </a:cubicBezTo>
                <a:lnTo>
                  <a:pt x="67785" y="65448"/>
                </a:lnTo>
                <a:lnTo>
                  <a:pt x="67785" y="46748"/>
                </a:lnTo>
                <a:lnTo>
                  <a:pt x="65448" y="46748"/>
                </a:lnTo>
                <a:cubicBezTo>
                  <a:pt x="60276" y="46748"/>
                  <a:pt x="56098" y="42570"/>
                  <a:pt x="56098" y="37399"/>
                </a:cubicBezTo>
                <a:lnTo>
                  <a:pt x="56098" y="18699"/>
                </a:ln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7"/>
          <p:cNvSpPr/>
          <p:nvPr/>
        </p:nvSpPr>
        <p:spPr>
          <a:xfrm>
            <a:off x="6460248" y="4354879"/>
            <a:ext cx="5327247" cy="232703"/>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78">
                <a:solidFill>
                  <a:srgbClr val="F8FAFC"/>
                </a:solidFill>
                <a:latin typeface="Arial"/>
                <a:ea typeface="Arial"/>
                <a:cs typeface="Arial"/>
                <a:sym typeface="Arial"/>
              </a:rPr>
              <a:t>Luồng xử lý tổng quan</a:t>
            </a:r>
            <a:endParaRPr sz="1600">
              <a:solidFill>
                <a:schemeClr val="dk1"/>
              </a:solidFill>
              <a:latin typeface="Calibri"/>
              <a:ea typeface="Calibri"/>
              <a:cs typeface="Calibri"/>
              <a:sym typeface="Calibri"/>
            </a:endParaRPr>
          </a:p>
        </p:txBody>
      </p:sp>
      <p:sp>
        <p:nvSpPr>
          <p:cNvPr id="406" name="Google Shape;406;p7"/>
          <p:cNvSpPr/>
          <p:nvPr/>
        </p:nvSpPr>
        <p:spPr>
          <a:xfrm>
            <a:off x="6269099" y="4687313"/>
            <a:ext cx="265947" cy="265947"/>
          </a:xfrm>
          <a:custGeom>
            <a:rect b="b" l="l" r="r" t="t"/>
            <a:pathLst>
              <a:path extrusionOk="0" h="265947" w="265947">
                <a:moveTo>
                  <a:pt x="132973" y="0"/>
                </a:moveTo>
                <a:lnTo>
                  <a:pt x="132973" y="0"/>
                </a:lnTo>
                <a:cubicBezTo>
                  <a:pt x="206363" y="0"/>
                  <a:pt x="265947" y="59583"/>
                  <a:pt x="265947" y="132973"/>
                </a:cubicBezTo>
                <a:lnTo>
                  <a:pt x="265947" y="132973"/>
                </a:lnTo>
                <a:cubicBezTo>
                  <a:pt x="265947" y="206363"/>
                  <a:pt x="206363" y="265947"/>
                  <a:pt x="132973" y="265947"/>
                </a:cubicBezTo>
                <a:lnTo>
                  <a:pt x="132973" y="265947"/>
                </a:lnTo>
                <a:cubicBezTo>
                  <a:pt x="59583" y="265947"/>
                  <a:pt x="0" y="206363"/>
                  <a:pt x="0" y="132973"/>
                </a:cubicBezTo>
                <a:lnTo>
                  <a:pt x="0" y="132973"/>
                </a:lnTo>
                <a:cubicBezTo>
                  <a:pt x="0" y="59583"/>
                  <a:pt x="59583" y="0"/>
                  <a:pt x="132973"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7"/>
          <p:cNvSpPr/>
          <p:nvPr/>
        </p:nvSpPr>
        <p:spPr>
          <a:xfrm>
            <a:off x="6377530" y="4737178"/>
            <a:ext cx="108041"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916">
                <a:solidFill>
                  <a:srgbClr val="10B981"/>
                </a:solidFill>
                <a:latin typeface="Arial"/>
                <a:ea typeface="Arial"/>
                <a:cs typeface="Arial"/>
                <a:sym typeface="Arial"/>
              </a:rPr>
              <a:t>1</a:t>
            </a:r>
            <a:endParaRPr sz="1600">
              <a:solidFill>
                <a:schemeClr val="dk1"/>
              </a:solidFill>
              <a:latin typeface="Calibri"/>
              <a:ea typeface="Calibri"/>
              <a:cs typeface="Calibri"/>
              <a:sym typeface="Calibri"/>
            </a:endParaRPr>
          </a:p>
        </p:txBody>
      </p:sp>
      <p:sp>
        <p:nvSpPr>
          <p:cNvPr id="408" name="Google Shape;408;p7"/>
          <p:cNvSpPr/>
          <p:nvPr/>
        </p:nvSpPr>
        <p:spPr>
          <a:xfrm>
            <a:off x="6634776" y="4737178"/>
            <a:ext cx="5136098"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User gửi tin nhắn</a:t>
            </a:r>
            <a:endParaRPr sz="1600">
              <a:solidFill>
                <a:schemeClr val="dk1"/>
              </a:solidFill>
              <a:latin typeface="Calibri"/>
              <a:ea typeface="Calibri"/>
              <a:cs typeface="Calibri"/>
              <a:sym typeface="Calibri"/>
            </a:endParaRPr>
          </a:p>
        </p:txBody>
      </p:sp>
      <p:sp>
        <p:nvSpPr>
          <p:cNvPr id="409" name="Google Shape;409;p7"/>
          <p:cNvSpPr/>
          <p:nvPr/>
        </p:nvSpPr>
        <p:spPr>
          <a:xfrm>
            <a:off x="6269099" y="5019746"/>
            <a:ext cx="265947" cy="265947"/>
          </a:xfrm>
          <a:custGeom>
            <a:rect b="b" l="l" r="r" t="t"/>
            <a:pathLst>
              <a:path extrusionOk="0" h="265947" w="265947">
                <a:moveTo>
                  <a:pt x="132973" y="0"/>
                </a:moveTo>
                <a:lnTo>
                  <a:pt x="132973" y="0"/>
                </a:lnTo>
                <a:cubicBezTo>
                  <a:pt x="206363" y="0"/>
                  <a:pt x="265947" y="59583"/>
                  <a:pt x="265947" y="132973"/>
                </a:cubicBezTo>
                <a:lnTo>
                  <a:pt x="265947" y="132973"/>
                </a:lnTo>
                <a:cubicBezTo>
                  <a:pt x="265947" y="206363"/>
                  <a:pt x="206363" y="265947"/>
                  <a:pt x="132973" y="265947"/>
                </a:cubicBezTo>
                <a:lnTo>
                  <a:pt x="132973" y="265947"/>
                </a:lnTo>
                <a:cubicBezTo>
                  <a:pt x="59583" y="265947"/>
                  <a:pt x="0" y="206363"/>
                  <a:pt x="0" y="132973"/>
                </a:cubicBezTo>
                <a:lnTo>
                  <a:pt x="0" y="132973"/>
                </a:lnTo>
                <a:cubicBezTo>
                  <a:pt x="0" y="59583"/>
                  <a:pt x="59583" y="0"/>
                  <a:pt x="132973"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7"/>
          <p:cNvSpPr/>
          <p:nvPr/>
        </p:nvSpPr>
        <p:spPr>
          <a:xfrm>
            <a:off x="6367661" y="5069611"/>
            <a:ext cx="124663"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916">
                <a:solidFill>
                  <a:srgbClr val="3B82F6"/>
                </a:solidFill>
                <a:latin typeface="Arial"/>
                <a:ea typeface="Arial"/>
                <a:cs typeface="Arial"/>
                <a:sym typeface="Arial"/>
              </a:rPr>
              <a:t>2</a:t>
            </a:r>
            <a:endParaRPr sz="1600">
              <a:solidFill>
                <a:schemeClr val="dk1"/>
              </a:solidFill>
              <a:latin typeface="Calibri"/>
              <a:ea typeface="Calibri"/>
              <a:cs typeface="Calibri"/>
              <a:sym typeface="Calibri"/>
            </a:endParaRPr>
          </a:p>
        </p:txBody>
      </p:sp>
      <p:sp>
        <p:nvSpPr>
          <p:cNvPr id="411" name="Google Shape;411;p7"/>
          <p:cNvSpPr/>
          <p:nvPr/>
        </p:nvSpPr>
        <p:spPr>
          <a:xfrm>
            <a:off x="6634776" y="5069611"/>
            <a:ext cx="5136098"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Telegram Trigger nhận</a:t>
            </a:r>
            <a:endParaRPr sz="1600">
              <a:solidFill>
                <a:schemeClr val="dk1"/>
              </a:solidFill>
              <a:latin typeface="Calibri"/>
              <a:ea typeface="Calibri"/>
              <a:cs typeface="Calibri"/>
              <a:sym typeface="Calibri"/>
            </a:endParaRPr>
          </a:p>
        </p:txBody>
      </p:sp>
      <p:sp>
        <p:nvSpPr>
          <p:cNvPr id="412" name="Google Shape;412;p7"/>
          <p:cNvSpPr/>
          <p:nvPr/>
        </p:nvSpPr>
        <p:spPr>
          <a:xfrm>
            <a:off x="6269099" y="5352180"/>
            <a:ext cx="265947" cy="265947"/>
          </a:xfrm>
          <a:custGeom>
            <a:rect b="b" l="l" r="r" t="t"/>
            <a:pathLst>
              <a:path extrusionOk="0" h="265947" w="265947">
                <a:moveTo>
                  <a:pt x="132973" y="0"/>
                </a:moveTo>
                <a:lnTo>
                  <a:pt x="132973" y="0"/>
                </a:lnTo>
                <a:cubicBezTo>
                  <a:pt x="206363" y="0"/>
                  <a:pt x="265947" y="59583"/>
                  <a:pt x="265947" y="132973"/>
                </a:cubicBezTo>
                <a:lnTo>
                  <a:pt x="265947" y="132973"/>
                </a:lnTo>
                <a:cubicBezTo>
                  <a:pt x="265947" y="206363"/>
                  <a:pt x="206363" y="265947"/>
                  <a:pt x="132973" y="265947"/>
                </a:cubicBezTo>
                <a:lnTo>
                  <a:pt x="132973" y="265947"/>
                </a:lnTo>
                <a:cubicBezTo>
                  <a:pt x="59583" y="265947"/>
                  <a:pt x="0" y="206363"/>
                  <a:pt x="0" y="132973"/>
                </a:cubicBezTo>
                <a:lnTo>
                  <a:pt x="0" y="132973"/>
                </a:lnTo>
                <a:cubicBezTo>
                  <a:pt x="0" y="59583"/>
                  <a:pt x="59583" y="0"/>
                  <a:pt x="132973"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7"/>
          <p:cNvSpPr/>
          <p:nvPr/>
        </p:nvSpPr>
        <p:spPr>
          <a:xfrm>
            <a:off x="6366232" y="5402045"/>
            <a:ext cx="132973"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916">
                <a:solidFill>
                  <a:srgbClr val="8B5CF6"/>
                </a:solidFill>
                <a:latin typeface="Arial"/>
                <a:ea typeface="Arial"/>
                <a:cs typeface="Arial"/>
                <a:sym typeface="Arial"/>
              </a:rPr>
              <a:t>3</a:t>
            </a:r>
            <a:endParaRPr sz="1600">
              <a:solidFill>
                <a:schemeClr val="dk1"/>
              </a:solidFill>
              <a:latin typeface="Calibri"/>
              <a:ea typeface="Calibri"/>
              <a:cs typeface="Calibri"/>
              <a:sym typeface="Calibri"/>
            </a:endParaRPr>
          </a:p>
        </p:txBody>
      </p:sp>
      <p:sp>
        <p:nvSpPr>
          <p:cNvPr id="414" name="Google Shape;414;p7"/>
          <p:cNvSpPr/>
          <p:nvPr/>
        </p:nvSpPr>
        <p:spPr>
          <a:xfrm>
            <a:off x="6634776" y="5402045"/>
            <a:ext cx="5136098"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Switch Node định tuyến</a:t>
            </a:r>
            <a:endParaRPr sz="1600">
              <a:solidFill>
                <a:schemeClr val="dk1"/>
              </a:solidFill>
              <a:latin typeface="Calibri"/>
              <a:ea typeface="Calibri"/>
              <a:cs typeface="Calibri"/>
              <a:sym typeface="Calibri"/>
            </a:endParaRPr>
          </a:p>
        </p:txBody>
      </p:sp>
      <p:sp>
        <p:nvSpPr>
          <p:cNvPr id="415" name="Google Shape;415;p7"/>
          <p:cNvSpPr/>
          <p:nvPr/>
        </p:nvSpPr>
        <p:spPr>
          <a:xfrm>
            <a:off x="6269099" y="5684613"/>
            <a:ext cx="265947" cy="265947"/>
          </a:xfrm>
          <a:custGeom>
            <a:rect b="b" l="l" r="r" t="t"/>
            <a:pathLst>
              <a:path extrusionOk="0" h="265947" w="265947">
                <a:moveTo>
                  <a:pt x="132973" y="0"/>
                </a:moveTo>
                <a:lnTo>
                  <a:pt x="132973" y="0"/>
                </a:lnTo>
                <a:cubicBezTo>
                  <a:pt x="206363" y="0"/>
                  <a:pt x="265947" y="59583"/>
                  <a:pt x="265947" y="132973"/>
                </a:cubicBezTo>
                <a:lnTo>
                  <a:pt x="265947" y="132973"/>
                </a:lnTo>
                <a:cubicBezTo>
                  <a:pt x="265947" y="206363"/>
                  <a:pt x="206363" y="265947"/>
                  <a:pt x="132973" y="265947"/>
                </a:cubicBezTo>
                <a:lnTo>
                  <a:pt x="132973" y="265947"/>
                </a:lnTo>
                <a:cubicBezTo>
                  <a:pt x="59583" y="265947"/>
                  <a:pt x="0" y="206363"/>
                  <a:pt x="0" y="132973"/>
                </a:cubicBezTo>
                <a:lnTo>
                  <a:pt x="0" y="132973"/>
                </a:lnTo>
                <a:cubicBezTo>
                  <a:pt x="0" y="59583"/>
                  <a:pt x="59583" y="0"/>
                  <a:pt x="132973"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7"/>
          <p:cNvSpPr/>
          <p:nvPr/>
        </p:nvSpPr>
        <p:spPr>
          <a:xfrm>
            <a:off x="6366362" y="5734479"/>
            <a:ext cx="132973"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916">
                <a:solidFill>
                  <a:srgbClr val="06B6D4"/>
                </a:solidFill>
                <a:latin typeface="Arial"/>
                <a:ea typeface="Arial"/>
                <a:cs typeface="Arial"/>
                <a:sym typeface="Arial"/>
              </a:rPr>
              <a:t>4</a:t>
            </a:r>
            <a:endParaRPr sz="1600">
              <a:solidFill>
                <a:schemeClr val="dk1"/>
              </a:solidFill>
              <a:latin typeface="Calibri"/>
              <a:ea typeface="Calibri"/>
              <a:cs typeface="Calibri"/>
              <a:sym typeface="Calibri"/>
            </a:endParaRPr>
          </a:p>
        </p:txBody>
      </p:sp>
      <p:sp>
        <p:nvSpPr>
          <p:cNvPr id="417" name="Google Shape;417;p7"/>
          <p:cNvSpPr/>
          <p:nvPr/>
        </p:nvSpPr>
        <p:spPr>
          <a:xfrm>
            <a:off x="6634776" y="5734479"/>
            <a:ext cx="5136098"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Xử lý &amp; gọi API</a:t>
            </a:r>
            <a:endParaRPr sz="1600">
              <a:solidFill>
                <a:schemeClr val="dk1"/>
              </a:solidFill>
              <a:latin typeface="Calibri"/>
              <a:ea typeface="Calibri"/>
              <a:cs typeface="Calibri"/>
              <a:sym typeface="Calibri"/>
            </a:endParaRPr>
          </a:p>
        </p:txBody>
      </p:sp>
      <p:sp>
        <p:nvSpPr>
          <p:cNvPr id="418" name="Google Shape;418;p7"/>
          <p:cNvSpPr/>
          <p:nvPr/>
        </p:nvSpPr>
        <p:spPr>
          <a:xfrm>
            <a:off x="6269099" y="6017047"/>
            <a:ext cx="265947" cy="265947"/>
          </a:xfrm>
          <a:custGeom>
            <a:rect b="b" l="l" r="r" t="t"/>
            <a:pathLst>
              <a:path extrusionOk="0" h="265947" w="265947">
                <a:moveTo>
                  <a:pt x="132973" y="0"/>
                </a:moveTo>
                <a:lnTo>
                  <a:pt x="132973" y="0"/>
                </a:lnTo>
                <a:cubicBezTo>
                  <a:pt x="206363" y="0"/>
                  <a:pt x="265947" y="59583"/>
                  <a:pt x="265947" y="132973"/>
                </a:cubicBezTo>
                <a:lnTo>
                  <a:pt x="265947" y="132973"/>
                </a:lnTo>
                <a:cubicBezTo>
                  <a:pt x="265947" y="206363"/>
                  <a:pt x="206363" y="265947"/>
                  <a:pt x="132973" y="265947"/>
                </a:cubicBezTo>
                <a:lnTo>
                  <a:pt x="132973" y="265947"/>
                </a:lnTo>
                <a:cubicBezTo>
                  <a:pt x="59583" y="265947"/>
                  <a:pt x="0" y="206363"/>
                  <a:pt x="0" y="132973"/>
                </a:cubicBezTo>
                <a:lnTo>
                  <a:pt x="0" y="132973"/>
                </a:lnTo>
                <a:cubicBezTo>
                  <a:pt x="0" y="59583"/>
                  <a:pt x="59583" y="0"/>
                  <a:pt x="132973"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7"/>
          <p:cNvSpPr/>
          <p:nvPr/>
        </p:nvSpPr>
        <p:spPr>
          <a:xfrm>
            <a:off x="6365713" y="6066912"/>
            <a:ext cx="132973"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916">
                <a:solidFill>
                  <a:srgbClr val="F59E0B"/>
                </a:solidFill>
                <a:latin typeface="Arial"/>
                <a:ea typeface="Arial"/>
                <a:cs typeface="Arial"/>
                <a:sym typeface="Arial"/>
              </a:rPr>
              <a:t>5</a:t>
            </a:r>
            <a:endParaRPr sz="1600">
              <a:solidFill>
                <a:schemeClr val="dk1"/>
              </a:solidFill>
              <a:latin typeface="Calibri"/>
              <a:ea typeface="Calibri"/>
              <a:cs typeface="Calibri"/>
              <a:sym typeface="Calibri"/>
            </a:endParaRPr>
          </a:p>
        </p:txBody>
      </p:sp>
      <p:sp>
        <p:nvSpPr>
          <p:cNvPr id="420" name="Google Shape;420;p7"/>
          <p:cNvSpPr/>
          <p:nvPr/>
        </p:nvSpPr>
        <p:spPr>
          <a:xfrm>
            <a:off x="6634776" y="6066912"/>
            <a:ext cx="5136098" cy="16621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Trả kết quả về Telegram</a:t>
            </a:r>
            <a:endParaRPr sz="1600">
              <a:solidFill>
                <a:schemeClr val="dk1"/>
              </a:solidFill>
              <a:latin typeface="Calibri"/>
              <a:ea typeface="Calibri"/>
              <a:cs typeface="Calibri"/>
              <a:sym typeface="Calibri"/>
            </a:endParaRPr>
          </a:p>
        </p:txBody>
      </p:sp>
      <p:sp>
        <p:nvSpPr>
          <p:cNvPr id="421" name="Google Shape;421;p7"/>
          <p:cNvSpPr/>
          <p:nvPr/>
        </p:nvSpPr>
        <p:spPr>
          <a:xfrm>
            <a:off x="465407" y="5501905"/>
            <a:ext cx="5493464" cy="498650"/>
          </a:xfrm>
          <a:custGeom>
            <a:rect b="b" l="l" r="r" t="t"/>
            <a:pathLst>
              <a:path extrusionOk="0" h="498650" w="5493464">
                <a:moveTo>
                  <a:pt x="66485" y="0"/>
                </a:moveTo>
                <a:lnTo>
                  <a:pt x="5426979" y="0"/>
                </a:lnTo>
                <a:cubicBezTo>
                  <a:pt x="5463698" y="0"/>
                  <a:pt x="5493464" y="29766"/>
                  <a:pt x="5493464" y="66485"/>
                </a:cubicBezTo>
                <a:lnTo>
                  <a:pt x="5493464" y="432165"/>
                </a:lnTo>
                <a:cubicBezTo>
                  <a:pt x="5493464" y="468884"/>
                  <a:pt x="5463698" y="498650"/>
                  <a:pt x="5426979" y="498650"/>
                </a:cubicBezTo>
                <a:lnTo>
                  <a:pt x="66485" y="498650"/>
                </a:lnTo>
                <a:cubicBezTo>
                  <a:pt x="29766" y="498650"/>
                  <a:pt x="0" y="468884"/>
                  <a:pt x="0" y="432165"/>
                </a:cubicBezTo>
                <a:lnTo>
                  <a:pt x="0" y="66485"/>
                </a:lnTo>
                <a:cubicBezTo>
                  <a:pt x="0" y="29791"/>
                  <a:pt x="29791" y="0"/>
                  <a:pt x="66485"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7"/>
          <p:cNvSpPr/>
          <p:nvPr/>
        </p:nvSpPr>
        <p:spPr>
          <a:xfrm>
            <a:off x="548515" y="5601635"/>
            <a:ext cx="116352" cy="116352"/>
          </a:xfrm>
          <a:custGeom>
            <a:rect b="b" l="l" r="r" t="t"/>
            <a:pathLst>
              <a:path extrusionOk="0" h="116352" w="116352">
                <a:moveTo>
                  <a:pt x="58176" y="109080"/>
                </a:moveTo>
                <a:cubicBezTo>
                  <a:pt x="90309" y="109080"/>
                  <a:pt x="116352" y="84650"/>
                  <a:pt x="116352" y="54540"/>
                </a:cubicBezTo>
                <a:cubicBezTo>
                  <a:pt x="116352" y="24429"/>
                  <a:pt x="90309" y="0"/>
                  <a:pt x="58176" y="0"/>
                </a:cubicBezTo>
                <a:cubicBezTo>
                  <a:pt x="26043" y="0"/>
                  <a:pt x="0" y="24429"/>
                  <a:pt x="0" y="54540"/>
                </a:cubicBezTo>
                <a:cubicBezTo>
                  <a:pt x="0" y="66880"/>
                  <a:pt x="4363" y="78242"/>
                  <a:pt x="11726" y="87377"/>
                </a:cubicBezTo>
                <a:lnTo>
                  <a:pt x="636" y="108353"/>
                </a:lnTo>
                <a:cubicBezTo>
                  <a:pt x="-454" y="110398"/>
                  <a:pt x="-114" y="112898"/>
                  <a:pt x="1454" y="114602"/>
                </a:cubicBezTo>
                <a:cubicBezTo>
                  <a:pt x="3022" y="116306"/>
                  <a:pt x="5499" y="116829"/>
                  <a:pt x="7613" y="115920"/>
                </a:cubicBezTo>
                <a:lnTo>
                  <a:pt x="34519" y="104398"/>
                </a:lnTo>
                <a:cubicBezTo>
                  <a:pt x="41746" y="107398"/>
                  <a:pt x="49745" y="109080"/>
                  <a:pt x="58176" y="109080"/>
                </a:cubicBezTo>
                <a:close/>
                <a:moveTo>
                  <a:pt x="29088" y="47268"/>
                </a:moveTo>
                <a:cubicBezTo>
                  <a:pt x="33101" y="47268"/>
                  <a:pt x="36360" y="50526"/>
                  <a:pt x="36360" y="54540"/>
                </a:cubicBezTo>
                <a:cubicBezTo>
                  <a:pt x="36360" y="58553"/>
                  <a:pt x="33101" y="61812"/>
                  <a:pt x="29088" y="61812"/>
                </a:cubicBezTo>
                <a:cubicBezTo>
                  <a:pt x="25074" y="61812"/>
                  <a:pt x="21816" y="58553"/>
                  <a:pt x="21816" y="54540"/>
                </a:cubicBezTo>
                <a:cubicBezTo>
                  <a:pt x="21816" y="50526"/>
                  <a:pt x="25074" y="47268"/>
                  <a:pt x="29088" y="47268"/>
                </a:cubicBezTo>
                <a:close/>
                <a:moveTo>
                  <a:pt x="58176" y="47268"/>
                </a:moveTo>
                <a:cubicBezTo>
                  <a:pt x="62189" y="47268"/>
                  <a:pt x="65448" y="50526"/>
                  <a:pt x="65448" y="54540"/>
                </a:cubicBezTo>
                <a:cubicBezTo>
                  <a:pt x="65448" y="58553"/>
                  <a:pt x="62189" y="61812"/>
                  <a:pt x="58176" y="61812"/>
                </a:cubicBezTo>
                <a:cubicBezTo>
                  <a:pt x="54162" y="61812"/>
                  <a:pt x="50904" y="58553"/>
                  <a:pt x="50904" y="54540"/>
                </a:cubicBezTo>
                <a:cubicBezTo>
                  <a:pt x="50904" y="50526"/>
                  <a:pt x="54162" y="47268"/>
                  <a:pt x="58176" y="47268"/>
                </a:cubicBezTo>
                <a:close/>
                <a:moveTo>
                  <a:pt x="79992" y="54540"/>
                </a:moveTo>
                <a:cubicBezTo>
                  <a:pt x="79992" y="50526"/>
                  <a:pt x="83250" y="47268"/>
                  <a:pt x="87264" y="47268"/>
                </a:cubicBezTo>
                <a:cubicBezTo>
                  <a:pt x="91277" y="47268"/>
                  <a:pt x="94536" y="50526"/>
                  <a:pt x="94536" y="54540"/>
                </a:cubicBezTo>
                <a:cubicBezTo>
                  <a:pt x="94536" y="58553"/>
                  <a:pt x="91277" y="61812"/>
                  <a:pt x="87264" y="61812"/>
                </a:cubicBezTo>
                <a:cubicBezTo>
                  <a:pt x="83250" y="61812"/>
                  <a:pt x="79992" y="58553"/>
                  <a:pt x="79992" y="5454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7"/>
          <p:cNvSpPr/>
          <p:nvPr/>
        </p:nvSpPr>
        <p:spPr>
          <a:xfrm>
            <a:off x="724997" y="5568391"/>
            <a:ext cx="5225700" cy="166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94A3B8"/>
                </a:solidFill>
                <a:latin typeface="Arial"/>
                <a:ea typeface="Arial"/>
                <a:cs typeface="Arial"/>
                <a:sym typeface="Arial"/>
              </a:rPr>
              <a:t>Ví dụ:</a:t>
            </a:r>
            <a:endParaRPr sz="1600">
              <a:solidFill>
                <a:schemeClr val="dk1"/>
              </a:solidFill>
              <a:latin typeface="Calibri"/>
              <a:ea typeface="Calibri"/>
              <a:cs typeface="Calibri"/>
              <a:sym typeface="Calibri"/>
            </a:endParaRPr>
          </a:p>
        </p:txBody>
      </p:sp>
      <p:sp>
        <p:nvSpPr>
          <p:cNvPr id="424" name="Google Shape;424;p7"/>
          <p:cNvSpPr/>
          <p:nvPr/>
        </p:nvSpPr>
        <p:spPr>
          <a:xfrm>
            <a:off x="531894" y="5767851"/>
            <a:ext cx="5418600" cy="166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916">
                <a:solidFill>
                  <a:srgbClr val="F8FAFC"/>
                </a:solidFill>
                <a:latin typeface="Arial"/>
                <a:ea typeface="Arial"/>
                <a:cs typeface="Arial"/>
                <a:sym typeface="Arial"/>
              </a:rPr>
              <a:t>"Gợi</a:t>
            </a:r>
            <a:r>
              <a:rPr lang="en-US" sz="916">
                <a:solidFill>
                  <a:srgbClr val="F8FAFC"/>
                </a:solidFill>
              </a:rPr>
              <a:t> ý rạp chiếu phim ở quận 7</a:t>
            </a:r>
            <a:r>
              <a:rPr lang="en-US" sz="916">
                <a:solidFill>
                  <a:srgbClr val="F8FAFC"/>
                </a:solidFill>
                <a:latin typeface="Arial"/>
                <a:ea typeface="Arial"/>
                <a:cs typeface="Arial"/>
                <a:sym typeface="Arial"/>
              </a:rPr>
              <a:t>"</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29" name="Shape 429"/>
        <p:cNvGrpSpPr/>
        <p:nvPr/>
      </p:nvGrpSpPr>
      <p:grpSpPr>
        <a:xfrm>
          <a:off x="0" y="0"/>
          <a:ext cx="0" cy="0"/>
          <a:chOff x="0" y="0"/>
          <a:chExt cx="0" cy="0"/>
        </a:xfrm>
      </p:grpSpPr>
      <p:sp>
        <p:nvSpPr>
          <p:cNvPr id="430" name="Google Shape;430;p8"/>
          <p:cNvSpPr/>
          <p:nvPr/>
        </p:nvSpPr>
        <p:spPr>
          <a:xfrm>
            <a:off x="379813" y="379813"/>
            <a:ext cx="11508336" cy="22788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96">
                <a:solidFill>
                  <a:srgbClr val="EC4899"/>
                </a:solidFill>
                <a:latin typeface="Arial"/>
                <a:ea typeface="Arial"/>
                <a:cs typeface="Arial"/>
                <a:sym typeface="Arial"/>
              </a:rPr>
              <a:t>06 / KẾT QUẢ ĐẠT ĐƯỢC</a:t>
            </a:r>
            <a:endParaRPr sz="1600">
              <a:solidFill>
                <a:schemeClr val="dk1"/>
              </a:solidFill>
              <a:latin typeface="Calibri"/>
              <a:ea typeface="Calibri"/>
              <a:cs typeface="Calibri"/>
              <a:sym typeface="Calibri"/>
            </a:endParaRPr>
          </a:p>
        </p:txBody>
      </p:sp>
      <p:sp>
        <p:nvSpPr>
          <p:cNvPr id="431" name="Google Shape;431;p8"/>
          <p:cNvSpPr/>
          <p:nvPr/>
        </p:nvSpPr>
        <p:spPr>
          <a:xfrm>
            <a:off x="379813" y="683664"/>
            <a:ext cx="11603290" cy="379813"/>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692">
                <a:solidFill>
                  <a:srgbClr val="F8FAFC"/>
                </a:solidFill>
                <a:latin typeface="Arial"/>
                <a:ea typeface="Arial"/>
                <a:cs typeface="Arial"/>
                <a:sym typeface="Arial"/>
              </a:rPr>
              <a:t>Thành tựu dự án</a:t>
            </a:r>
            <a:endParaRPr sz="1600">
              <a:solidFill>
                <a:schemeClr val="dk1"/>
              </a:solidFill>
              <a:latin typeface="Calibri"/>
              <a:ea typeface="Calibri"/>
              <a:cs typeface="Calibri"/>
              <a:sym typeface="Calibri"/>
            </a:endParaRPr>
          </a:p>
        </p:txBody>
      </p:sp>
      <p:sp>
        <p:nvSpPr>
          <p:cNvPr id="432" name="Google Shape;432;p8"/>
          <p:cNvSpPr/>
          <p:nvPr/>
        </p:nvSpPr>
        <p:spPr>
          <a:xfrm>
            <a:off x="379813" y="1177421"/>
            <a:ext cx="911551" cy="37981"/>
          </a:xfrm>
          <a:custGeom>
            <a:rect b="b" l="l" r="r" t="t"/>
            <a:pathLst>
              <a:path extrusionOk="0" h="37981" w="911551">
                <a:moveTo>
                  <a:pt x="0" y="0"/>
                </a:moveTo>
                <a:lnTo>
                  <a:pt x="911551" y="0"/>
                </a:lnTo>
                <a:lnTo>
                  <a:pt x="911551" y="37981"/>
                </a:lnTo>
                <a:lnTo>
                  <a:pt x="0" y="37981"/>
                </a:lnTo>
                <a:lnTo>
                  <a:pt x="0" y="0"/>
                </a:lnTo>
                <a:close/>
              </a:path>
            </a:pathLst>
          </a:custGeom>
          <a:gradFill>
            <a:gsLst>
              <a:gs pos="0">
                <a:srgbClr val="EC4899"/>
              </a:gs>
              <a:gs pos="100000">
                <a:srgbClr val="8B5CF6"/>
              </a:gs>
            </a:gsLst>
            <a:lin ang="0" scaled="0"/>
          </a:gradFill>
          <a:ln>
            <a:noFill/>
          </a:ln>
        </p:spPr>
      </p:sp>
      <p:sp>
        <p:nvSpPr>
          <p:cNvPr id="433" name="Google Shape;433;p8"/>
          <p:cNvSpPr/>
          <p:nvPr/>
        </p:nvSpPr>
        <p:spPr>
          <a:xfrm>
            <a:off x="398804" y="1367327"/>
            <a:ext cx="7548785" cy="1756636"/>
          </a:xfrm>
          <a:custGeom>
            <a:rect b="b" l="l" r="r" t="t"/>
            <a:pathLst>
              <a:path extrusionOk="0" h="1756636" w="7548785">
                <a:moveTo>
                  <a:pt x="37981" y="0"/>
                </a:moveTo>
                <a:lnTo>
                  <a:pt x="7434850" y="0"/>
                </a:lnTo>
                <a:cubicBezTo>
                  <a:pt x="7497774" y="0"/>
                  <a:pt x="7548785" y="51011"/>
                  <a:pt x="7548785" y="113935"/>
                </a:cubicBezTo>
                <a:lnTo>
                  <a:pt x="7548785" y="1642700"/>
                </a:lnTo>
                <a:cubicBezTo>
                  <a:pt x="7548785" y="1705625"/>
                  <a:pt x="7497774" y="1756636"/>
                  <a:pt x="7434850" y="1756636"/>
                </a:cubicBezTo>
                <a:lnTo>
                  <a:pt x="37981" y="1756636"/>
                </a:lnTo>
                <a:cubicBezTo>
                  <a:pt x="17005" y="1756636"/>
                  <a:pt x="0" y="1739631"/>
                  <a:pt x="0" y="1718654"/>
                </a:cubicBezTo>
                <a:lnTo>
                  <a:pt x="0" y="37981"/>
                </a:lnTo>
                <a:cubicBezTo>
                  <a:pt x="0" y="17019"/>
                  <a:pt x="17019" y="0"/>
                  <a:pt x="37981" y="0"/>
                </a:cubicBezTo>
                <a:close/>
              </a:path>
            </a:pathLst>
          </a:custGeom>
          <a:gradFill>
            <a:gsLst>
              <a:gs pos="0">
                <a:srgbClr val="10B981">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8"/>
          <p:cNvSpPr/>
          <p:nvPr/>
        </p:nvSpPr>
        <p:spPr>
          <a:xfrm>
            <a:off x="398804" y="1367327"/>
            <a:ext cx="37981" cy="1756636"/>
          </a:xfrm>
          <a:custGeom>
            <a:rect b="b" l="l" r="r" t="t"/>
            <a:pathLst>
              <a:path extrusionOk="0" h="1756636" w="37981">
                <a:moveTo>
                  <a:pt x="37981" y="0"/>
                </a:moveTo>
                <a:lnTo>
                  <a:pt x="37981" y="0"/>
                </a:lnTo>
                <a:lnTo>
                  <a:pt x="37981" y="1756636"/>
                </a:lnTo>
                <a:lnTo>
                  <a:pt x="37981" y="1756636"/>
                </a:lnTo>
                <a:cubicBezTo>
                  <a:pt x="17005" y="1756636"/>
                  <a:pt x="0" y="1739631"/>
                  <a:pt x="0" y="1718654"/>
                </a:cubicBezTo>
                <a:lnTo>
                  <a:pt x="0" y="37981"/>
                </a:lnTo>
                <a:cubicBezTo>
                  <a:pt x="0" y="17019"/>
                  <a:pt x="17019" y="0"/>
                  <a:pt x="37981"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8"/>
          <p:cNvSpPr/>
          <p:nvPr/>
        </p:nvSpPr>
        <p:spPr>
          <a:xfrm>
            <a:off x="569720" y="1940162"/>
            <a:ext cx="607701" cy="607701"/>
          </a:xfrm>
          <a:custGeom>
            <a:rect b="b" l="l" r="r" t="t"/>
            <a:pathLst>
              <a:path extrusionOk="0" h="607701" w="607701">
                <a:moveTo>
                  <a:pt x="113944" y="0"/>
                </a:moveTo>
                <a:lnTo>
                  <a:pt x="493757" y="0"/>
                </a:lnTo>
                <a:cubicBezTo>
                  <a:pt x="556687" y="0"/>
                  <a:pt x="607701" y="51014"/>
                  <a:pt x="607701" y="113944"/>
                </a:cubicBezTo>
                <a:lnTo>
                  <a:pt x="607701" y="493757"/>
                </a:lnTo>
                <a:cubicBezTo>
                  <a:pt x="607701" y="556687"/>
                  <a:pt x="556687" y="607701"/>
                  <a:pt x="493757" y="607701"/>
                </a:cubicBezTo>
                <a:lnTo>
                  <a:pt x="113944" y="607701"/>
                </a:lnTo>
                <a:cubicBezTo>
                  <a:pt x="51014" y="607701"/>
                  <a:pt x="0" y="556687"/>
                  <a:pt x="0" y="493757"/>
                </a:cubicBezTo>
                <a:lnTo>
                  <a:pt x="0" y="113944"/>
                </a:lnTo>
                <a:cubicBezTo>
                  <a:pt x="0" y="51057"/>
                  <a:pt x="51057" y="0"/>
                  <a:pt x="113944"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8"/>
          <p:cNvSpPr/>
          <p:nvPr/>
        </p:nvSpPr>
        <p:spPr>
          <a:xfrm>
            <a:off x="788112" y="2130069"/>
            <a:ext cx="170916" cy="227888"/>
          </a:xfrm>
          <a:custGeom>
            <a:rect b="b" l="l" r="r" t="t"/>
            <a:pathLst>
              <a:path extrusionOk="0" h="227888" w="170916">
                <a:moveTo>
                  <a:pt x="111229" y="29732"/>
                </a:moveTo>
                <a:cubicBezTo>
                  <a:pt x="115858" y="23367"/>
                  <a:pt x="114434" y="14466"/>
                  <a:pt x="108069" y="9837"/>
                </a:cubicBezTo>
                <a:cubicBezTo>
                  <a:pt x="101704" y="5208"/>
                  <a:pt x="92802" y="6632"/>
                  <a:pt x="88173" y="12997"/>
                </a:cubicBezTo>
                <a:lnTo>
                  <a:pt x="40993" y="77847"/>
                </a:lnTo>
                <a:lnTo>
                  <a:pt x="24302" y="61156"/>
                </a:lnTo>
                <a:cubicBezTo>
                  <a:pt x="18738" y="55592"/>
                  <a:pt x="9703" y="55592"/>
                  <a:pt x="4139" y="61156"/>
                </a:cubicBezTo>
                <a:cubicBezTo>
                  <a:pt x="-1424" y="66720"/>
                  <a:pt x="-1424" y="75755"/>
                  <a:pt x="4139" y="81319"/>
                </a:cubicBezTo>
                <a:lnTo>
                  <a:pt x="32625" y="109805"/>
                </a:lnTo>
                <a:cubicBezTo>
                  <a:pt x="35563" y="112742"/>
                  <a:pt x="39658" y="114255"/>
                  <a:pt x="43797" y="113944"/>
                </a:cubicBezTo>
                <a:cubicBezTo>
                  <a:pt x="47937" y="113632"/>
                  <a:pt x="51764" y="111496"/>
                  <a:pt x="54212" y="108113"/>
                </a:cubicBezTo>
                <a:lnTo>
                  <a:pt x="111184" y="29777"/>
                </a:lnTo>
                <a:close/>
                <a:moveTo>
                  <a:pt x="168201" y="90265"/>
                </a:moveTo>
                <a:cubicBezTo>
                  <a:pt x="172830" y="83900"/>
                  <a:pt x="171405" y="74998"/>
                  <a:pt x="165041" y="70369"/>
                </a:cubicBezTo>
                <a:cubicBezTo>
                  <a:pt x="158676" y="65740"/>
                  <a:pt x="149774" y="67165"/>
                  <a:pt x="145145" y="73529"/>
                </a:cubicBezTo>
                <a:lnTo>
                  <a:pt x="69479" y="177548"/>
                </a:lnTo>
                <a:lnTo>
                  <a:pt x="38545" y="146614"/>
                </a:lnTo>
                <a:cubicBezTo>
                  <a:pt x="32981" y="141050"/>
                  <a:pt x="23946" y="141050"/>
                  <a:pt x="18382" y="146614"/>
                </a:cubicBezTo>
                <a:cubicBezTo>
                  <a:pt x="12819" y="152177"/>
                  <a:pt x="12819" y="161213"/>
                  <a:pt x="18382" y="166777"/>
                </a:cubicBezTo>
                <a:lnTo>
                  <a:pt x="61111" y="209505"/>
                </a:lnTo>
                <a:cubicBezTo>
                  <a:pt x="64049" y="212443"/>
                  <a:pt x="68144" y="213956"/>
                  <a:pt x="72283" y="213645"/>
                </a:cubicBezTo>
                <a:cubicBezTo>
                  <a:pt x="76423" y="213333"/>
                  <a:pt x="80250" y="211197"/>
                  <a:pt x="82698" y="207814"/>
                </a:cubicBezTo>
                <a:lnTo>
                  <a:pt x="168156" y="9030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8"/>
          <p:cNvSpPr/>
          <p:nvPr/>
        </p:nvSpPr>
        <p:spPr>
          <a:xfrm>
            <a:off x="1329346" y="1826218"/>
            <a:ext cx="5526280" cy="26586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495">
                <a:solidFill>
                  <a:srgbClr val="F8FAFC"/>
                </a:solidFill>
                <a:latin typeface="Arial"/>
                <a:ea typeface="Arial"/>
                <a:cs typeface="Arial"/>
                <a:sym typeface="Arial"/>
              </a:rPr>
              <a:t>Hoàn thiện 100% chức năng</a:t>
            </a:r>
            <a:endParaRPr sz="1600">
              <a:solidFill>
                <a:schemeClr val="dk1"/>
              </a:solidFill>
              <a:latin typeface="Calibri"/>
              <a:ea typeface="Calibri"/>
              <a:cs typeface="Calibri"/>
              <a:sym typeface="Calibri"/>
            </a:endParaRPr>
          </a:p>
        </p:txBody>
      </p:sp>
      <p:sp>
        <p:nvSpPr>
          <p:cNvPr id="438" name="Google Shape;438;p8"/>
          <p:cNvSpPr/>
          <p:nvPr/>
        </p:nvSpPr>
        <p:spPr>
          <a:xfrm>
            <a:off x="1329346" y="2168050"/>
            <a:ext cx="5507290" cy="493757"/>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96">
                <a:solidFill>
                  <a:srgbClr val="94A3B8"/>
                </a:solidFill>
                <a:latin typeface="Arial"/>
                <a:ea typeface="Arial"/>
                <a:cs typeface="Arial"/>
                <a:sym typeface="Arial"/>
              </a:rPr>
              <a:t>Tra cứu phim và rạp chiếu theo đúng yêu cầu đề tài. Tất cả các kịch bản sử dụng đều hoạt động ổn định, phản hồi chính xác.</a:t>
            </a:r>
            <a:endParaRPr sz="1600">
              <a:solidFill>
                <a:schemeClr val="dk1"/>
              </a:solidFill>
              <a:latin typeface="Calibri"/>
              <a:ea typeface="Calibri"/>
              <a:cs typeface="Calibri"/>
              <a:sym typeface="Calibri"/>
            </a:endParaRPr>
          </a:p>
        </p:txBody>
      </p:sp>
      <p:sp>
        <p:nvSpPr>
          <p:cNvPr id="439" name="Google Shape;439;p8"/>
          <p:cNvSpPr/>
          <p:nvPr/>
        </p:nvSpPr>
        <p:spPr>
          <a:xfrm>
            <a:off x="6743759" y="1959153"/>
            <a:ext cx="1053981" cy="379813"/>
          </a:xfrm>
          <a:prstGeom prst="rect">
            <a:avLst/>
          </a:prstGeom>
          <a:noFill/>
          <a:ln>
            <a:noFill/>
          </a:ln>
        </p:spPr>
        <p:txBody>
          <a:bodyPr anchorCtr="0" anchor="ctr" bIns="0" lIns="0" spcFirstLastPara="1" rIns="0" wrap="square" tIns="0">
            <a:noAutofit/>
          </a:bodyPr>
          <a:lstStyle/>
          <a:p>
            <a:pPr indent="0" lvl="0" marL="0" marR="0" rtl="0" algn="r">
              <a:lnSpc>
                <a:spcPct val="90000"/>
              </a:lnSpc>
              <a:spcBef>
                <a:spcPts val="0"/>
              </a:spcBef>
              <a:spcAft>
                <a:spcPts val="0"/>
              </a:spcAft>
              <a:buNone/>
            </a:pPr>
            <a:r>
              <a:rPr b="1" lang="en-US" sz="2692">
                <a:solidFill>
                  <a:srgbClr val="10B981"/>
                </a:solidFill>
                <a:latin typeface="Arial"/>
                <a:ea typeface="Arial"/>
                <a:cs typeface="Arial"/>
                <a:sym typeface="Arial"/>
              </a:rPr>
              <a:t>100%</a:t>
            </a:r>
            <a:endParaRPr sz="1600">
              <a:solidFill>
                <a:schemeClr val="dk1"/>
              </a:solidFill>
              <a:latin typeface="Calibri"/>
              <a:ea typeface="Calibri"/>
              <a:cs typeface="Calibri"/>
              <a:sym typeface="Calibri"/>
            </a:endParaRPr>
          </a:p>
        </p:txBody>
      </p:sp>
      <p:sp>
        <p:nvSpPr>
          <p:cNvPr id="440" name="Google Shape;440;p8"/>
          <p:cNvSpPr/>
          <p:nvPr/>
        </p:nvSpPr>
        <p:spPr>
          <a:xfrm>
            <a:off x="6848208" y="2338966"/>
            <a:ext cx="949533" cy="189907"/>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lang="en-US" sz="1047">
                <a:solidFill>
                  <a:srgbClr val="94A3B8"/>
                </a:solidFill>
                <a:latin typeface="Arial"/>
                <a:ea typeface="Arial"/>
                <a:cs typeface="Arial"/>
                <a:sym typeface="Arial"/>
              </a:rPr>
              <a:t>Complete</a:t>
            </a:r>
            <a:endParaRPr sz="1600">
              <a:solidFill>
                <a:schemeClr val="dk1"/>
              </a:solidFill>
              <a:latin typeface="Calibri"/>
              <a:ea typeface="Calibri"/>
              <a:cs typeface="Calibri"/>
              <a:sym typeface="Calibri"/>
            </a:endParaRPr>
          </a:p>
        </p:txBody>
      </p:sp>
      <p:sp>
        <p:nvSpPr>
          <p:cNvPr id="441" name="Google Shape;441;p8"/>
          <p:cNvSpPr/>
          <p:nvPr/>
        </p:nvSpPr>
        <p:spPr>
          <a:xfrm>
            <a:off x="398804" y="3234643"/>
            <a:ext cx="7548785" cy="1756636"/>
          </a:xfrm>
          <a:custGeom>
            <a:rect b="b" l="l" r="r" t="t"/>
            <a:pathLst>
              <a:path extrusionOk="0" h="1756636" w="7548785">
                <a:moveTo>
                  <a:pt x="37981" y="0"/>
                </a:moveTo>
                <a:lnTo>
                  <a:pt x="7434850" y="0"/>
                </a:lnTo>
                <a:cubicBezTo>
                  <a:pt x="7497774" y="0"/>
                  <a:pt x="7548785" y="51011"/>
                  <a:pt x="7548785" y="113935"/>
                </a:cubicBezTo>
                <a:lnTo>
                  <a:pt x="7548785" y="1642700"/>
                </a:lnTo>
                <a:cubicBezTo>
                  <a:pt x="7548785" y="1705625"/>
                  <a:pt x="7497774" y="1756636"/>
                  <a:pt x="7434850" y="1756636"/>
                </a:cubicBezTo>
                <a:lnTo>
                  <a:pt x="37981" y="1756636"/>
                </a:lnTo>
                <a:cubicBezTo>
                  <a:pt x="17005" y="1756636"/>
                  <a:pt x="0" y="1739631"/>
                  <a:pt x="0" y="1718654"/>
                </a:cubicBezTo>
                <a:lnTo>
                  <a:pt x="0" y="37981"/>
                </a:lnTo>
                <a:cubicBezTo>
                  <a:pt x="0" y="17019"/>
                  <a:pt x="17019" y="0"/>
                  <a:pt x="37981" y="0"/>
                </a:cubicBezTo>
                <a:close/>
              </a:path>
            </a:pathLst>
          </a:custGeom>
          <a:gradFill>
            <a:gsLst>
              <a:gs pos="0">
                <a:srgbClr val="3B82F6">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8"/>
          <p:cNvSpPr/>
          <p:nvPr/>
        </p:nvSpPr>
        <p:spPr>
          <a:xfrm>
            <a:off x="398804" y="3234643"/>
            <a:ext cx="37981" cy="1756636"/>
          </a:xfrm>
          <a:custGeom>
            <a:rect b="b" l="l" r="r" t="t"/>
            <a:pathLst>
              <a:path extrusionOk="0" h="1756636" w="37981">
                <a:moveTo>
                  <a:pt x="37981" y="0"/>
                </a:moveTo>
                <a:lnTo>
                  <a:pt x="37981" y="0"/>
                </a:lnTo>
                <a:lnTo>
                  <a:pt x="37981" y="1756636"/>
                </a:lnTo>
                <a:lnTo>
                  <a:pt x="37981" y="1756636"/>
                </a:lnTo>
                <a:cubicBezTo>
                  <a:pt x="17005" y="1756636"/>
                  <a:pt x="0" y="1739631"/>
                  <a:pt x="0" y="1718654"/>
                </a:cubicBezTo>
                <a:lnTo>
                  <a:pt x="0" y="37981"/>
                </a:lnTo>
                <a:cubicBezTo>
                  <a:pt x="0" y="17019"/>
                  <a:pt x="17019" y="0"/>
                  <a:pt x="37981"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8"/>
          <p:cNvSpPr/>
          <p:nvPr/>
        </p:nvSpPr>
        <p:spPr>
          <a:xfrm>
            <a:off x="569720" y="3807478"/>
            <a:ext cx="607701" cy="607701"/>
          </a:xfrm>
          <a:custGeom>
            <a:rect b="b" l="l" r="r" t="t"/>
            <a:pathLst>
              <a:path extrusionOk="0" h="607701" w="607701">
                <a:moveTo>
                  <a:pt x="113944" y="0"/>
                </a:moveTo>
                <a:lnTo>
                  <a:pt x="493757" y="0"/>
                </a:lnTo>
                <a:cubicBezTo>
                  <a:pt x="556687" y="0"/>
                  <a:pt x="607701" y="51014"/>
                  <a:pt x="607701" y="113944"/>
                </a:cubicBezTo>
                <a:lnTo>
                  <a:pt x="607701" y="493757"/>
                </a:lnTo>
                <a:cubicBezTo>
                  <a:pt x="607701" y="556687"/>
                  <a:pt x="556687" y="607701"/>
                  <a:pt x="493757" y="607701"/>
                </a:cubicBezTo>
                <a:lnTo>
                  <a:pt x="113944" y="607701"/>
                </a:lnTo>
                <a:cubicBezTo>
                  <a:pt x="51014" y="607701"/>
                  <a:pt x="0" y="556687"/>
                  <a:pt x="0" y="493757"/>
                </a:cubicBezTo>
                <a:lnTo>
                  <a:pt x="0" y="113944"/>
                </a:lnTo>
                <a:cubicBezTo>
                  <a:pt x="0" y="51057"/>
                  <a:pt x="51057" y="0"/>
                  <a:pt x="113944"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8"/>
          <p:cNvSpPr/>
          <p:nvPr/>
        </p:nvSpPr>
        <p:spPr>
          <a:xfrm>
            <a:off x="773869" y="3997384"/>
            <a:ext cx="199402" cy="227888"/>
          </a:xfrm>
          <a:custGeom>
            <a:rect b="b" l="l" r="r" t="t"/>
            <a:pathLst>
              <a:path extrusionOk="0" h="227888" w="199402">
                <a:moveTo>
                  <a:pt x="56972" y="-14243"/>
                </a:moveTo>
                <a:cubicBezTo>
                  <a:pt x="64850" y="-14243"/>
                  <a:pt x="71215" y="-7878"/>
                  <a:pt x="71215" y="0"/>
                </a:cubicBezTo>
                <a:lnTo>
                  <a:pt x="71215" y="42729"/>
                </a:lnTo>
                <a:lnTo>
                  <a:pt x="128187" y="42729"/>
                </a:lnTo>
                <a:lnTo>
                  <a:pt x="128187" y="0"/>
                </a:lnTo>
                <a:cubicBezTo>
                  <a:pt x="128187" y="-7878"/>
                  <a:pt x="134552" y="-14243"/>
                  <a:pt x="142430" y="-14243"/>
                </a:cubicBezTo>
                <a:cubicBezTo>
                  <a:pt x="150308" y="-14243"/>
                  <a:pt x="156673" y="-7878"/>
                  <a:pt x="156673" y="0"/>
                </a:cubicBezTo>
                <a:lnTo>
                  <a:pt x="156673" y="42729"/>
                </a:lnTo>
                <a:lnTo>
                  <a:pt x="185159" y="42729"/>
                </a:lnTo>
                <a:cubicBezTo>
                  <a:pt x="193037" y="42729"/>
                  <a:pt x="199402" y="49094"/>
                  <a:pt x="199402" y="56972"/>
                </a:cubicBezTo>
                <a:cubicBezTo>
                  <a:pt x="199402" y="64850"/>
                  <a:pt x="193037" y="71215"/>
                  <a:pt x="185159" y="71215"/>
                </a:cubicBezTo>
                <a:lnTo>
                  <a:pt x="185159" y="99701"/>
                </a:lnTo>
                <a:cubicBezTo>
                  <a:pt x="185159" y="142029"/>
                  <a:pt x="154358" y="177192"/>
                  <a:pt x="113944" y="183957"/>
                </a:cubicBezTo>
                <a:lnTo>
                  <a:pt x="113944" y="213645"/>
                </a:lnTo>
                <a:cubicBezTo>
                  <a:pt x="113944" y="221523"/>
                  <a:pt x="107579" y="227888"/>
                  <a:pt x="99701" y="227888"/>
                </a:cubicBezTo>
                <a:cubicBezTo>
                  <a:pt x="91823" y="227888"/>
                  <a:pt x="85458" y="221523"/>
                  <a:pt x="85458" y="213645"/>
                </a:cubicBezTo>
                <a:lnTo>
                  <a:pt x="85458" y="183957"/>
                </a:lnTo>
                <a:cubicBezTo>
                  <a:pt x="45043" y="177192"/>
                  <a:pt x="14243" y="142029"/>
                  <a:pt x="14243" y="99701"/>
                </a:cubicBezTo>
                <a:lnTo>
                  <a:pt x="14243" y="71215"/>
                </a:lnTo>
                <a:cubicBezTo>
                  <a:pt x="6365" y="71215"/>
                  <a:pt x="0" y="64850"/>
                  <a:pt x="0" y="56972"/>
                </a:cubicBezTo>
                <a:cubicBezTo>
                  <a:pt x="0" y="49094"/>
                  <a:pt x="6365" y="42729"/>
                  <a:pt x="14243" y="42729"/>
                </a:cubicBezTo>
                <a:lnTo>
                  <a:pt x="42729" y="42729"/>
                </a:lnTo>
                <a:lnTo>
                  <a:pt x="42729" y="0"/>
                </a:lnTo>
                <a:cubicBezTo>
                  <a:pt x="42729" y="-7878"/>
                  <a:pt x="49094" y="-14243"/>
                  <a:pt x="56972" y="-1424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8"/>
          <p:cNvSpPr/>
          <p:nvPr/>
        </p:nvSpPr>
        <p:spPr>
          <a:xfrm>
            <a:off x="1329346" y="3693534"/>
            <a:ext cx="6143477" cy="26586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495">
                <a:solidFill>
                  <a:srgbClr val="F8FAFC"/>
                </a:solidFill>
                <a:latin typeface="Arial"/>
                <a:ea typeface="Arial"/>
                <a:cs typeface="Arial"/>
                <a:sym typeface="Arial"/>
              </a:rPr>
              <a:t>Tích hợp thành công</a:t>
            </a:r>
            <a:endParaRPr sz="1600">
              <a:solidFill>
                <a:schemeClr val="dk1"/>
              </a:solidFill>
              <a:latin typeface="Calibri"/>
              <a:ea typeface="Calibri"/>
              <a:cs typeface="Calibri"/>
              <a:sym typeface="Calibri"/>
            </a:endParaRPr>
          </a:p>
        </p:txBody>
      </p:sp>
      <p:sp>
        <p:nvSpPr>
          <p:cNvPr id="446" name="Google Shape;446;p8"/>
          <p:cNvSpPr/>
          <p:nvPr/>
        </p:nvSpPr>
        <p:spPr>
          <a:xfrm>
            <a:off x="1329346" y="4035366"/>
            <a:ext cx="6124486" cy="493757"/>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96">
                <a:solidFill>
                  <a:srgbClr val="94A3B8"/>
                </a:solidFill>
                <a:latin typeface="Arial"/>
                <a:ea typeface="Arial"/>
                <a:cs typeface="Arial"/>
                <a:sym typeface="Arial"/>
              </a:rPr>
              <a:t>Webhook Telegram + API TMDB + Google Gemini trên n8n. Tất cả các kết nối đều hoạt động mượt mà, xử lý song song.</a:t>
            </a:r>
            <a:endParaRPr sz="1600">
              <a:solidFill>
                <a:schemeClr val="dk1"/>
              </a:solidFill>
              <a:latin typeface="Calibri"/>
              <a:ea typeface="Calibri"/>
              <a:cs typeface="Calibri"/>
              <a:sym typeface="Calibri"/>
            </a:endParaRPr>
          </a:p>
        </p:txBody>
      </p:sp>
      <p:sp>
        <p:nvSpPr>
          <p:cNvPr id="447" name="Google Shape;447;p8"/>
          <p:cNvSpPr/>
          <p:nvPr/>
        </p:nvSpPr>
        <p:spPr>
          <a:xfrm>
            <a:off x="7361401" y="3826468"/>
            <a:ext cx="436785" cy="379813"/>
          </a:xfrm>
          <a:prstGeom prst="rect">
            <a:avLst/>
          </a:prstGeom>
          <a:noFill/>
          <a:ln>
            <a:noFill/>
          </a:ln>
        </p:spPr>
        <p:txBody>
          <a:bodyPr anchorCtr="0" anchor="ctr" bIns="0" lIns="0" spcFirstLastPara="1" rIns="0" wrap="square" tIns="0">
            <a:noAutofit/>
          </a:bodyPr>
          <a:lstStyle/>
          <a:p>
            <a:pPr indent="0" lvl="0" marL="0" marR="0" rtl="0" algn="r">
              <a:lnSpc>
                <a:spcPct val="90000"/>
              </a:lnSpc>
              <a:spcBef>
                <a:spcPts val="0"/>
              </a:spcBef>
              <a:spcAft>
                <a:spcPts val="0"/>
              </a:spcAft>
              <a:buNone/>
            </a:pPr>
            <a:r>
              <a:rPr b="1" lang="en-US" sz="2692">
                <a:solidFill>
                  <a:srgbClr val="3B82F6"/>
                </a:solidFill>
                <a:latin typeface="Arial"/>
                <a:ea typeface="Arial"/>
                <a:cs typeface="Arial"/>
                <a:sym typeface="Arial"/>
              </a:rPr>
              <a:t>4</a:t>
            </a:r>
            <a:endParaRPr sz="1600">
              <a:solidFill>
                <a:schemeClr val="dk1"/>
              </a:solidFill>
              <a:latin typeface="Calibri"/>
              <a:ea typeface="Calibri"/>
              <a:cs typeface="Calibri"/>
              <a:sym typeface="Calibri"/>
            </a:endParaRPr>
          </a:p>
        </p:txBody>
      </p:sp>
      <p:sp>
        <p:nvSpPr>
          <p:cNvPr id="448" name="Google Shape;448;p8"/>
          <p:cNvSpPr/>
          <p:nvPr/>
        </p:nvSpPr>
        <p:spPr>
          <a:xfrm>
            <a:off x="7465849" y="4206282"/>
            <a:ext cx="332336" cy="189907"/>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lang="en-US" sz="1047">
                <a:solidFill>
                  <a:srgbClr val="94A3B8"/>
                </a:solidFill>
                <a:latin typeface="Arial"/>
                <a:ea typeface="Arial"/>
                <a:cs typeface="Arial"/>
                <a:sym typeface="Arial"/>
              </a:rPr>
              <a:t>APIs</a:t>
            </a:r>
            <a:endParaRPr sz="1600">
              <a:solidFill>
                <a:schemeClr val="dk1"/>
              </a:solidFill>
              <a:latin typeface="Calibri"/>
              <a:ea typeface="Calibri"/>
              <a:cs typeface="Calibri"/>
              <a:sym typeface="Calibri"/>
            </a:endParaRPr>
          </a:p>
        </p:txBody>
      </p:sp>
      <p:sp>
        <p:nvSpPr>
          <p:cNvPr id="449" name="Google Shape;449;p8"/>
          <p:cNvSpPr/>
          <p:nvPr/>
        </p:nvSpPr>
        <p:spPr>
          <a:xfrm>
            <a:off x="398804" y="5102106"/>
            <a:ext cx="7548785" cy="1756636"/>
          </a:xfrm>
          <a:custGeom>
            <a:rect b="b" l="l" r="r" t="t"/>
            <a:pathLst>
              <a:path extrusionOk="0" h="1756636" w="7548785">
                <a:moveTo>
                  <a:pt x="37981" y="0"/>
                </a:moveTo>
                <a:lnTo>
                  <a:pt x="7434850" y="0"/>
                </a:lnTo>
                <a:cubicBezTo>
                  <a:pt x="7497774" y="0"/>
                  <a:pt x="7548785" y="51011"/>
                  <a:pt x="7548785" y="113935"/>
                </a:cubicBezTo>
                <a:lnTo>
                  <a:pt x="7548785" y="1642700"/>
                </a:lnTo>
                <a:cubicBezTo>
                  <a:pt x="7548785" y="1705625"/>
                  <a:pt x="7497774" y="1756636"/>
                  <a:pt x="7434850" y="1756636"/>
                </a:cubicBezTo>
                <a:lnTo>
                  <a:pt x="37981" y="1756636"/>
                </a:lnTo>
                <a:cubicBezTo>
                  <a:pt x="17005" y="1756636"/>
                  <a:pt x="0" y="1739631"/>
                  <a:pt x="0" y="1718654"/>
                </a:cubicBezTo>
                <a:lnTo>
                  <a:pt x="0" y="37981"/>
                </a:lnTo>
                <a:cubicBezTo>
                  <a:pt x="0" y="17019"/>
                  <a:pt x="17019" y="0"/>
                  <a:pt x="37981" y="0"/>
                </a:cubicBezTo>
                <a:close/>
              </a:path>
            </a:pathLst>
          </a:custGeom>
          <a:gradFill>
            <a:gsLst>
              <a:gs pos="0">
                <a:srgbClr val="8B5CF6">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8"/>
          <p:cNvSpPr/>
          <p:nvPr/>
        </p:nvSpPr>
        <p:spPr>
          <a:xfrm>
            <a:off x="398804" y="5102106"/>
            <a:ext cx="37981" cy="1756636"/>
          </a:xfrm>
          <a:custGeom>
            <a:rect b="b" l="l" r="r" t="t"/>
            <a:pathLst>
              <a:path extrusionOk="0" h="1756636" w="37981">
                <a:moveTo>
                  <a:pt x="37981" y="0"/>
                </a:moveTo>
                <a:lnTo>
                  <a:pt x="37981" y="0"/>
                </a:lnTo>
                <a:lnTo>
                  <a:pt x="37981" y="1756636"/>
                </a:lnTo>
                <a:lnTo>
                  <a:pt x="37981" y="1756636"/>
                </a:lnTo>
                <a:cubicBezTo>
                  <a:pt x="17005" y="1756636"/>
                  <a:pt x="0" y="1739631"/>
                  <a:pt x="0" y="1718654"/>
                </a:cubicBezTo>
                <a:lnTo>
                  <a:pt x="0" y="37981"/>
                </a:lnTo>
                <a:cubicBezTo>
                  <a:pt x="0" y="17019"/>
                  <a:pt x="17019" y="0"/>
                  <a:pt x="37981"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8"/>
          <p:cNvSpPr/>
          <p:nvPr/>
        </p:nvSpPr>
        <p:spPr>
          <a:xfrm>
            <a:off x="569720" y="5674942"/>
            <a:ext cx="607701" cy="607701"/>
          </a:xfrm>
          <a:custGeom>
            <a:rect b="b" l="l" r="r" t="t"/>
            <a:pathLst>
              <a:path extrusionOk="0" h="607701" w="607701">
                <a:moveTo>
                  <a:pt x="113944" y="0"/>
                </a:moveTo>
                <a:lnTo>
                  <a:pt x="493757" y="0"/>
                </a:lnTo>
                <a:cubicBezTo>
                  <a:pt x="556687" y="0"/>
                  <a:pt x="607701" y="51014"/>
                  <a:pt x="607701" y="113944"/>
                </a:cubicBezTo>
                <a:lnTo>
                  <a:pt x="607701" y="493757"/>
                </a:lnTo>
                <a:cubicBezTo>
                  <a:pt x="607701" y="556687"/>
                  <a:pt x="556687" y="607701"/>
                  <a:pt x="493757" y="607701"/>
                </a:cubicBezTo>
                <a:lnTo>
                  <a:pt x="113944" y="607701"/>
                </a:lnTo>
                <a:cubicBezTo>
                  <a:pt x="51014" y="607701"/>
                  <a:pt x="0" y="556687"/>
                  <a:pt x="0" y="493757"/>
                </a:cubicBezTo>
                <a:lnTo>
                  <a:pt x="0" y="113944"/>
                </a:lnTo>
                <a:cubicBezTo>
                  <a:pt x="0" y="51057"/>
                  <a:pt x="51057" y="0"/>
                  <a:pt x="113944"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8"/>
          <p:cNvSpPr/>
          <p:nvPr/>
        </p:nvSpPr>
        <p:spPr>
          <a:xfrm>
            <a:off x="745383" y="5864848"/>
            <a:ext cx="256374" cy="227888"/>
          </a:xfrm>
          <a:custGeom>
            <a:rect b="b" l="l" r="r" t="t"/>
            <a:pathLst>
              <a:path extrusionOk="0" h="227888" w="256374">
                <a:moveTo>
                  <a:pt x="213867" y="4584"/>
                </a:moveTo>
                <a:lnTo>
                  <a:pt x="115324" y="70325"/>
                </a:lnTo>
                <a:cubicBezTo>
                  <a:pt x="102371" y="78960"/>
                  <a:pt x="94137" y="92980"/>
                  <a:pt x="92802" y="108291"/>
                </a:cubicBezTo>
                <a:cubicBezTo>
                  <a:pt x="120531" y="113988"/>
                  <a:pt x="142385" y="135843"/>
                  <a:pt x="148127" y="163616"/>
                </a:cubicBezTo>
                <a:cubicBezTo>
                  <a:pt x="163483" y="162281"/>
                  <a:pt x="177459" y="154047"/>
                  <a:pt x="186094" y="141095"/>
                </a:cubicBezTo>
                <a:lnTo>
                  <a:pt x="251789" y="42506"/>
                </a:lnTo>
                <a:cubicBezTo>
                  <a:pt x="254771" y="38011"/>
                  <a:pt x="256374" y="32759"/>
                  <a:pt x="256374" y="27329"/>
                </a:cubicBezTo>
                <a:cubicBezTo>
                  <a:pt x="256374" y="12240"/>
                  <a:pt x="244134" y="0"/>
                  <a:pt x="229045" y="0"/>
                </a:cubicBezTo>
                <a:cubicBezTo>
                  <a:pt x="223659" y="0"/>
                  <a:pt x="218363" y="1602"/>
                  <a:pt x="213867" y="4584"/>
                </a:cubicBezTo>
                <a:close/>
                <a:moveTo>
                  <a:pt x="128187" y="178037"/>
                </a:moveTo>
                <a:cubicBezTo>
                  <a:pt x="128187" y="150486"/>
                  <a:pt x="105888" y="128187"/>
                  <a:pt x="78336" y="128187"/>
                </a:cubicBezTo>
                <a:cubicBezTo>
                  <a:pt x="50785" y="128187"/>
                  <a:pt x="28486" y="150486"/>
                  <a:pt x="28486" y="178037"/>
                </a:cubicBezTo>
                <a:cubicBezTo>
                  <a:pt x="28486" y="179773"/>
                  <a:pt x="28575" y="181509"/>
                  <a:pt x="28753" y="183200"/>
                </a:cubicBezTo>
                <a:cubicBezTo>
                  <a:pt x="29554" y="190990"/>
                  <a:pt x="24213" y="199402"/>
                  <a:pt x="16379" y="199402"/>
                </a:cubicBezTo>
                <a:lnTo>
                  <a:pt x="14243" y="199402"/>
                </a:lnTo>
                <a:cubicBezTo>
                  <a:pt x="6365" y="199402"/>
                  <a:pt x="0" y="205767"/>
                  <a:pt x="0" y="213645"/>
                </a:cubicBezTo>
                <a:cubicBezTo>
                  <a:pt x="0" y="221523"/>
                  <a:pt x="6365" y="227888"/>
                  <a:pt x="14243" y="227888"/>
                </a:cubicBezTo>
                <a:lnTo>
                  <a:pt x="78336" y="227888"/>
                </a:lnTo>
                <a:cubicBezTo>
                  <a:pt x="105888" y="227888"/>
                  <a:pt x="128187" y="205589"/>
                  <a:pt x="128187" y="17803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8"/>
          <p:cNvSpPr/>
          <p:nvPr/>
        </p:nvSpPr>
        <p:spPr>
          <a:xfrm>
            <a:off x="1329346" y="5560998"/>
            <a:ext cx="5849121" cy="265869"/>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495">
                <a:solidFill>
                  <a:srgbClr val="F8FAFC"/>
                </a:solidFill>
                <a:latin typeface="Arial"/>
                <a:ea typeface="Arial"/>
                <a:cs typeface="Arial"/>
                <a:sym typeface="Arial"/>
              </a:rPr>
              <a:t>Giao diện thân thiện</a:t>
            </a:r>
            <a:endParaRPr sz="1600">
              <a:solidFill>
                <a:schemeClr val="dk1"/>
              </a:solidFill>
              <a:latin typeface="Calibri"/>
              <a:ea typeface="Calibri"/>
              <a:cs typeface="Calibri"/>
              <a:sym typeface="Calibri"/>
            </a:endParaRPr>
          </a:p>
        </p:txBody>
      </p:sp>
      <p:sp>
        <p:nvSpPr>
          <p:cNvPr id="454" name="Google Shape;454;p8"/>
          <p:cNvSpPr/>
          <p:nvPr/>
        </p:nvSpPr>
        <p:spPr>
          <a:xfrm>
            <a:off x="1329346" y="5902829"/>
            <a:ext cx="5830131" cy="493757"/>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96">
                <a:solidFill>
                  <a:srgbClr val="94A3B8"/>
                </a:solidFill>
                <a:latin typeface="Arial"/>
                <a:ea typeface="Arial"/>
                <a:cs typeface="Arial"/>
                <a:sym typeface="Arial"/>
              </a:rPr>
              <a:t>Phản hồi đa phương tiện (ảnh + text), form nhập liệu có cấu trúc. Người dùng dễ dàng tương tác không cần hướng dẫn.</a:t>
            </a:r>
            <a:endParaRPr sz="1600">
              <a:solidFill>
                <a:schemeClr val="dk1"/>
              </a:solidFill>
              <a:latin typeface="Calibri"/>
              <a:ea typeface="Calibri"/>
              <a:cs typeface="Calibri"/>
              <a:sym typeface="Calibri"/>
            </a:endParaRPr>
          </a:p>
        </p:txBody>
      </p:sp>
      <p:sp>
        <p:nvSpPr>
          <p:cNvPr id="455" name="Google Shape;455;p8"/>
          <p:cNvSpPr/>
          <p:nvPr/>
        </p:nvSpPr>
        <p:spPr>
          <a:xfrm>
            <a:off x="7062150" y="5693932"/>
            <a:ext cx="731140" cy="379813"/>
          </a:xfrm>
          <a:prstGeom prst="rect">
            <a:avLst/>
          </a:prstGeom>
          <a:noFill/>
          <a:ln>
            <a:noFill/>
          </a:ln>
        </p:spPr>
        <p:txBody>
          <a:bodyPr anchorCtr="0" anchor="ctr" bIns="0" lIns="0" spcFirstLastPara="1" rIns="0" wrap="square" tIns="0">
            <a:noAutofit/>
          </a:bodyPr>
          <a:lstStyle/>
          <a:p>
            <a:pPr indent="0" lvl="0" marL="0" marR="0" rtl="0" algn="r">
              <a:lnSpc>
                <a:spcPct val="90000"/>
              </a:lnSpc>
              <a:spcBef>
                <a:spcPts val="0"/>
              </a:spcBef>
              <a:spcAft>
                <a:spcPts val="0"/>
              </a:spcAft>
              <a:buNone/>
            </a:pPr>
            <a:r>
              <a:rPr b="1" lang="en-US" sz="2692">
                <a:solidFill>
                  <a:srgbClr val="8B5CF6"/>
                </a:solidFill>
                <a:latin typeface="Arial"/>
                <a:ea typeface="Arial"/>
                <a:cs typeface="Arial"/>
                <a:sym typeface="Arial"/>
              </a:rPr>
              <a:t>A+</a:t>
            </a:r>
            <a:endParaRPr sz="1600">
              <a:solidFill>
                <a:schemeClr val="dk1"/>
              </a:solidFill>
              <a:latin typeface="Calibri"/>
              <a:ea typeface="Calibri"/>
              <a:cs typeface="Calibri"/>
              <a:sym typeface="Calibri"/>
            </a:endParaRPr>
          </a:p>
        </p:txBody>
      </p:sp>
      <p:sp>
        <p:nvSpPr>
          <p:cNvPr id="456" name="Google Shape;456;p8"/>
          <p:cNvSpPr/>
          <p:nvPr/>
        </p:nvSpPr>
        <p:spPr>
          <a:xfrm>
            <a:off x="7166598" y="6073745"/>
            <a:ext cx="626692" cy="189907"/>
          </a:xfrm>
          <a:prstGeom prst="rect">
            <a:avLst/>
          </a:prstGeom>
          <a:noFill/>
          <a:ln>
            <a:noFill/>
          </a:ln>
        </p:spPr>
        <p:txBody>
          <a:bodyPr anchorCtr="0" anchor="ctr" bIns="0" lIns="0" spcFirstLastPara="1" rIns="0" wrap="square" tIns="0">
            <a:noAutofit/>
          </a:bodyPr>
          <a:lstStyle/>
          <a:p>
            <a:pPr indent="0" lvl="0" marL="0" marR="0" rtl="0" algn="r">
              <a:lnSpc>
                <a:spcPct val="120000"/>
              </a:lnSpc>
              <a:spcBef>
                <a:spcPts val="0"/>
              </a:spcBef>
              <a:spcAft>
                <a:spcPts val="0"/>
              </a:spcAft>
              <a:buNone/>
            </a:pPr>
            <a:r>
              <a:rPr lang="en-US" sz="1047">
                <a:solidFill>
                  <a:srgbClr val="94A3B8"/>
                </a:solidFill>
                <a:latin typeface="Arial"/>
                <a:ea typeface="Arial"/>
                <a:cs typeface="Arial"/>
                <a:sym typeface="Arial"/>
              </a:rPr>
              <a:t>UX Score</a:t>
            </a:r>
            <a:endParaRPr sz="1600">
              <a:solidFill>
                <a:schemeClr val="dk1"/>
              </a:solidFill>
              <a:latin typeface="Calibri"/>
              <a:ea typeface="Calibri"/>
              <a:cs typeface="Calibri"/>
              <a:sym typeface="Calibri"/>
            </a:endParaRPr>
          </a:p>
        </p:txBody>
      </p:sp>
      <p:sp>
        <p:nvSpPr>
          <p:cNvPr id="457" name="Google Shape;457;p8"/>
          <p:cNvSpPr/>
          <p:nvPr/>
        </p:nvSpPr>
        <p:spPr>
          <a:xfrm>
            <a:off x="8104558" y="1372075"/>
            <a:ext cx="3703178" cy="1756636"/>
          </a:xfrm>
          <a:custGeom>
            <a:rect b="b" l="l" r="r" t="t"/>
            <a:pathLst>
              <a:path extrusionOk="0" h="1756636" w="3703178">
                <a:moveTo>
                  <a:pt x="113935" y="0"/>
                </a:moveTo>
                <a:lnTo>
                  <a:pt x="3589242" y="0"/>
                </a:lnTo>
                <a:cubicBezTo>
                  <a:pt x="3652167" y="0"/>
                  <a:pt x="3703178" y="51011"/>
                  <a:pt x="3703178" y="113935"/>
                </a:cubicBezTo>
                <a:lnTo>
                  <a:pt x="3703178" y="1642700"/>
                </a:lnTo>
                <a:cubicBezTo>
                  <a:pt x="3703178" y="1705625"/>
                  <a:pt x="3652167" y="1756636"/>
                  <a:pt x="3589242" y="1756636"/>
                </a:cubicBezTo>
                <a:lnTo>
                  <a:pt x="113935" y="1756636"/>
                </a:lnTo>
                <a:cubicBezTo>
                  <a:pt x="51011" y="1756636"/>
                  <a:pt x="0" y="1705625"/>
                  <a:pt x="0" y="1642700"/>
                </a:cubicBezTo>
                <a:lnTo>
                  <a:pt x="0" y="113935"/>
                </a:lnTo>
                <a:cubicBezTo>
                  <a:pt x="0" y="51053"/>
                  <a:pt x="51053" y="0"/>
                  <a:pt x="113935" y="0"/>
                </a:cubicBezTo>
                <a:close/>
              </a:path>
            </a:pathLst>
          </a:custGeom>
          <a:gradFill>
            <a:gsLst>
              <a:gs pos="0">
                <a:srgbClr val="06B6D4">
                  <a:alpha val="20000"/>
                </a:srgbClr>
              </a:gs>
              <a:gs pos="100000">
                <a:srgbClr val="06B6D4">
                  <a:alpha val="4705"/>
                </a:srgbClr>
              </a:gs>
            </a:gsLst>
            <a:lin ang="2700000" scaled="0"/>
          </a:gradFill>
          <a:ln cap="flat" cmpd="sng" w="12700">
            <a:solidFill>
              <a:srgbClr val="06B6D4">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8"/>
          <p:cNvSpPr/>
          <p:nvPr/>
        </p:nvSpPr>
        <p:spPr>
          <a:xfrm>
            <a:off x="8261231" y="1528748"/>
            <a:ext cx="455776" cy="455776"/>
          </a:xfrm>
          <a:custGeom>
            <a:rect b="b" l="l" r="r" t="t"/>
            <a:pathLst>
              <a:path extrusionOk="0" h="455776" w="455776">
                <a:moveTo>
                  <a:pt x="113944" y="0"/>
                </a:moveTo>
                <a:lnTo>
                  <a:pt x="341832" y="0"/>
                </a:lnTo>
                <a:cubicBezTo>
                  <a:pt x="404761" y="0"/>
                  <a:pt x="455776" y="51014"/>
                  <a:pt x="455776" y="113944"/>
                </a:cubicBezTo>
                <a:lnTo>
                  <a:pt x="455776" y="341832"/>
                </a:lnTo>
                <a:cubicBezTo>
                  <a:pt x="455776" y="404761"/>
                  <a:pt x="404761" y="455776"/>
                  <a:pt x="341832" y="455776"/>
                </a:cubicBezTo>
                <a:lnTo>
                  <a:pt x="113944" y="455776"/>
                </a:lnTo>
                <a:cubicBezTo>
                  <a:pt x="51014" y="455776"/>
                  <a:pt x="0" y="404761"/>
                  <a:pt x="0" y="341832"/>
                </a:cubicBezTo>
                <a:lnTo>
                  <a:pt x="0" y="113944"/>
                </a:lnTo>
                <a:cubicBezTo>
                  <a:pt x="0" y="51057"/>
                  <a:pt x="51057" y="0"/>
                  <a:pt x="113944" y="0"/>
                </a:cubicBezTo>
                <a:close/>
              </a:path>
            </a:pathLst>
          </a:custGeom>
          <a:solidFill>
            <a:srgbClr val="06B6D4">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8"/>
          <p:cNvSpPr/>
          <p:nvPr/>
        </p:nvSpPr>
        <p:spPr>
          <a:xfrm>
            <a:off x="8394166" y="1661682"/>
            <a:ext cx="189907" cy="189907"/>
          </a:xfrm>
          <a:custGeom>
            <a:rect b="b" l="l" r="r" t="t"/>
            <a:pathLst>
              <a:path extrusionOk="0" h="189907" w="189907">
                <a:moveTo>
                  <a:pt x="44509" y="20771"/>
                </a:moveTo>
                <a:cubicBezTo>
                  <a:pt x="44509" y="9310"/>
                  <a:pt x="53819" y="0"/>
                  <a:pt x="65280" y="0"/>
                </a:cubicBezTo>
                <a:lnTo>
                  <a:pt x="74182" y="0"/>
                </a:lnTo>
                <a:cubicBezTo>
                  <a:pt x="80747" y="0"/>
                  <a:pt x="86051" y="5304"/>
                  <a:pt x="86051" y="11869"/>
                </a:cubicBezTo>
                <a:lnTo>
                  <a:pt x="86051" y="178037"/>
                </a:lnTo>
                <a:cubicBezTo>
                  <a:pt x="86051" y="184603"/>
                  <a:pt x="80747" y="189907"/>
                  <a:pt x="74182" y="189907"/>
                </a:cubicBezTo>
                <a:lnTo>
                  <a:pt x="62313" y="189907"/>
                </a:lnTo>
                <a:cubicBezTo>
                  <a:pt x="51260" y="189907"/>
                  <a:pt x="41950" y="182340"/>
                  <a:pt x="39317" y="172103"/>
                </a:cubicBezTo>
                <a:cubicBezTo>
                  <a:pt x="39057" y="172103"/>
                  <a:pt x="38834" y="172103"/>
                  <a:pt x="38575" y="172103"/>
                </a:cubicBezTo>
                <a:cubicBezTo>
                  <a:pt x="22180" y="172103"/>
                  <a:pt x="8902" y="158824"/>
                  <a:pt x="8902" y="142430"/>
                </a:cubicBezTo>
                <a:cubicBezTo>
                  <a:pt x="8902" y="135754"/>
                  <a:pt x="11127" y="129596"/>
                  <a:pt x="14836" y="124626"/>
                </a:cubicBezTo>
                <a:cubicBezTo>
                  <a:pt x="7641" y="119211"/>
                  <a:pt x="2967" y="110606"/>
                  <a:pt x="2967" y="100888"/>
                </a:cubicBezTo>
                <a:cubicBezTo>
                  <a:pt x="2967" y="89427"/>
                  <a:pt x="9495" y="79449"/>
                  <a:pt x="18991" y="74516"/>
                </a:cubicBezTo>
                <a:cubicBezTo>
                  <a:pt x="16357" y="70065"/>
                  <a:pt x="14836" y="64872"/>
                  <a:pt x="14836" y="59346"/>
                </a:cubicBezTo>
                <a:cubicBezTo>
                  <a:pt x="14836" y="42952"/>
                  <a:pt x="28115" y="29673"/>
                  <a:pt x="44509" y="29673"/>
                </a:cubicBezTo>
                <a:lnTo>
                  <a:pt x="44509" y="20771"/>
                </a:lnTo>
                <a:close/>
                <a:moveTo>
                  <a:pt x="145397" y="20771"/>
                </a:moveTo>
                <a:lnTo>
                  <a:pt x="145397" y="29673"/>
                </a:lnTo>
                <a:cubicBezTo>
                  <a:pt x="161791" y="29673"/>
                  <a:pt x="175070" y="42952"/>
                  <a:pt x="175070" y="59346"/>
                </a:cubicBezTo>
                <a:cubicBezTo>
                  <a:pt x="175070" y="64909"/>
                  <a:pt x="173549" y="70102"/>
                  <a:pt x="170916" y="74516"/>
                </a:cubicBezTo>
                <a:cubicBezTo>
                  <a:pt x="180448" y="79449"/>
                  <a:pt x="186939" y="89390"/>
                  <a:pt x="186939" y="100888"/>
                </a:cubicBezTo>
                <a:cubicBezTo>
                  <a:pt x="186939" y="110606"/>
                  <a:pt x="182266" y="119211"/>
                  <a:pt x="175070" y="124626"/>
                </a:cubicBezTo>
                <a:cubicBezTo>
                  <a:pt x="178779" y="129596"/>
                  <a:pt x="181005" y="135754"/>
                  <a:pt x="181005" y="142430"/>
                </a:cubicBezTo>
                <a:cubicBezTo>
                  <a:pt x="181005" y="158824"/>
                  <a:pt x="167726" y="172103"/>
                  <a:pt x="151332" y="172103"/>
                </a:cubicBezTo>
                <a:cubicBezTo>
                  <a:pt x="151072" y="172103"/>
                  <a:pt x="150850" y="172103"/>
                  <a:pt x="150590" y="172103"/>
                </a:cubicBezTo>
                <a:cubicBezTo>
                  <a:pt x="147956" y="182340"/>
                  <a:pt x="138647" y="189907"/>
                  <a:pt x="127593" y="189907"/>
                </a:cubicBezTo>
                <a:lnTo>
                  <a:pt x="115724" y="189907"/>
                </a:lnTo>
                <a:cubicBezTo>
                  <a:pt x="109159" y="189907"/>
                  <a:pt x="103855" y="184603"/>
                  <a:pt x="103855" y="178037"/>
                </a:cubicBezTo>
                <a:lnTo>
                  <a:pt x="103855" y="11869"/>
                </a:lnTo>
                <a:cubicBezTo>
                  <a:pt x="103855" y="5304"/>
                  <a:pt x="109159" y="0"/>
                  <a:pt x="115724" y="0"/>
                </a:cubicBezTo>
                <a:lnTo>
                  <a:pt x="124626" y="0"/>
                </a:lnTo>
                <a:cubicBezTo>
                  <a:pt x="136087" y="0"/>
                  <a:pt x="145397" y="9310"/>
                  <a:pt x="145397" y="20771"/>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8"/>
          <p:cNvSpPr/>
          <p:nvPr/>
        </p:nvSpPr>
        <p:spPr>
          <a:xfrm>
            <a:off x="8830951" y="1623701"/>
            <a:ext cx="1652187" cy="265869"/>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46">
                <a:solidFill>
                  <a:srgbClr val="F8FAFC"/>
                </a:solidFill>
                <a:latin typeface="Arial"/>
                <a:ea typeface="Arial"/>
                <a:cs typeface="Arial"/>
                <a:sym typeface="Arial"/>
              </a:rPr>
              <a:t>Tối ưu tương tác AI</a:t>
            </a:r>
            <a:endParaRPr sz="1600">
              <a:solidFill>
                <a:schemeClr val="dk1"/>
              </a:solidFill>
              <a:latin typeface="Calibri"/>
              <a:ea typeface="Calibri"/>
              <a:cs typeface="Calibri"/>
              <a:sym typeface="Calibri"/>
            </a:endParaRPr>
          </a:p>
        </p:txBody>
      </p:sp>
      <p:sp>
        <p:nvSpPr>
          <p:cNvPr id="461" name="Google Shape;461;p8"/>
          <p:cNvSpPr/>
          <p:nvPr/>
        </p:nvSpPr>
        <p:spPr>
          <a:xfrm>
            <a:off x="8261231" y="2098467"/>
            <a:ext cx="3465794" cy="493757"/>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96">
                <a:solidFill>
                  <a:srgbClr val="94A3B8"/>
                </a:solidFill>
                <a:latin typeface="Arial"/>
                <a:ea typeface="Arial"/>
                <a:cs typeface="Arial"/>
                <a:sym typeface="Arial"/>
              </a:rPr>
              <a:t>Chatbot </a:t>
            </a:r>
            <a:r>
              <a:rPr b="1" lang="en-US" sz="1196">
                <a:solidFill>
                  <a:srgbClr val="06B6D4"/>
                </a:solidFill>
                <a:latin typeface="Arial"/>
                <a:ea typeface="Arial"/>
                <a:cs typeface="Arial"/>
                <a:sym typeface="Arial"/>
              </a:rPr>
              <a:t>hiểu ngữ cảnh</a:t>
            </a:r>
            <a:r>
              <a:rPr lang="en-US" sz="1196">
                <a:solidFill>
                  <a:srgbClr val="94A3B8"/>
                </a:solidFill>
                <a:latin typeface="Arial"/>
                <a:ea typeface="Arial"/>
                <a:cs typeface="Arial"/>
                <a:sym typeface="Arial"/>
              </a:rPr>
              <a:t>, phản hồi tự nhiên, không chỉ tra cứu khô khan.</a:t>
            </a:r>
            <a:endParaRPr sz="1600">
              <a:solidFill>
                <a:schemeClr val="dk1"/>
              </a:solidFill>
              <a:latin typeface="Calibri"/>
              <a:ea typeface="Calibri"/>
              <a:cs typeface="Calibri"/>
              <a:sym typeface="Calibri"/>
            </a:endParaRPr>
          </a:p>
        </p:txBody>
      </p:sp>
      <p:sp>
        <p:nvSpPr>
          <p:cNvPr id="462" name="Google Shape;462;p8"/>
          <p:cNvSpPr/>
          <p:nvPr/>
        </p:nvSpPr>
        <p:spPr>
          <a:xfrm>
            <a:off x="8261231" y="2706168"/>
            <a:ext cx="1186916" cy="265869"/>
          </a:xfrm>
          <a:custGeom>
            <a:rect b="b" l="l" r="r" t="t"/>
            <a:pathLst>
              <a:path extrusionOk="0" h="265869" w="1186916">
                <a:moveTo>
                  <a:pt x="132935" y="0"/>
                </a:moveTo>
                <a:lnTo>
                  <a:pt x="1053981" y="0"/>
                </a:lnTo>
                <a:cubicBezTo>
                  <a:pt x="1127350" y="0"/>
                  <a:pt x="1186916" y="59566"/>
                  <a:pt x="1186916" y="132935"/>
                </a:cubicBezTo>
                <a:lnTo>
                  <a:pt x="1186916" y="132935"/>
                </a:lnTo>
                <a:cubicBezTo>
                  <a:pt x="1186916" y="206303"/>
                  <a:pt x="1127350" y="265869"/>
                  <a:pt x="1053981" y="265869"/>
                </a:cubicBezTo>
                <a:lnTo>
                  <a:pt x="132935" y="265869"/>
                </a:lnTo>
                <a:cubicBezTo>
                  <a:pt x="59566" y="265869"/>
                  <a:pt x="0" y="206303"/>
                  <a:pt x="0" y="132935"/>
                </a:cubicBezTo>
                <a:lnTo>
                  <a:pt x="0" y="132935"/>
                </a:lnTo>
                <a:cubicBezTo>
                  <a:pt x="0" y="59566"/>
                  <a:pt x="59566" y="0"/>
                  <a:pt x="132935"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8"/>
          <p:cNvSpPr/>
          <p:nvPr/>
        </p:nvSpPr>
        <p:spPr>
          <a:xfrm>
            <a:off x="8261231" y="2706168"/>
            <a:ext cx="1253383" cy="265869"/>
          </a:xfrm>
          <a:prstGeom prst="rect">
            <a:avLst/>
          </a:prstGeom>
          <a:noFill/>
          <a:ln>
            <a:noFill/>
          </a:ln>
        </p:spPr>
        <p:txBody>
          <a:bodyPr anchorCtr="0" anchor="ctr" bIns="37975" lIns="113925" spcFirstLastPara="1" rIns="113925" wrap="square" tIns="37975">
            <a:noAutofit/>
          </a:bodyPr>
          <a:lstStyle/>
          <a:p>
            <a:pPr indent="0" lvl="0" marL="0" marR="0" rtl="0" algn="l">
              <a:lnSpc>
                <a:spcPct val="120000"/>
              </a:lnSpc>
              <a:spcBef>
                <a:spcPts val="0"/>
              </a:spcBef>
              <a:spcAft>
                <a:spcPts val="0"/>
              </a:spcAft>
              <a:buNone/>
            </a:pPr>
            <a:r>
              <a:rPr b="1" lang="en-US" sz="1047">
                <a:solidFill>
                  <a:srgbClr val="06B6D4"/>
                </a:solidFill>
                <a:latin typeface="Arial"/>
                <a:ea typeface="Arial"/>
                <a:cs typeface="Arial"/>
                <a:sym typeface="Arial"/>
              </a:rPr>
              <a:t>Context-aware</a:t>
            </a:r>
            <a:endParaRPr sz="1600">
              <a:solidFill>
                <a:schemeClr val="dk1"/>
              </a:solidFill>
              <a:latin typeface="Calibri"/>
              <a:ea typeface="Calibri"/>
              <a:cs typeface="Calibri"/>
              <a:sym typeface="Calibri"/>
            </a:endParaRPr>
          </a:p>
        </p:txBody>
      </p:sp>
      <p:sp>
        <p:nvSpPr>
          <p:cNvPr id="464" name="Google Shape;464;p8"/>
          <p:cNvSpPr/>
          <p:nvPr/>
        </p:nvSpPr>
        <p:spPr>
          <a:xfrm>
            <a:off x="9520104" y="2706168"/>
            <a:ext cx="702654" cy="265869"/>
          </a:xfrm>
          <a:custGeom>
            <a:rect b="b" l="l" r="r" t="t"/>
            <a:pathLst>
              <a:path extrusionOk="0" h="265869" w="702654">
                <a:moveTo>
                  <a:pt x="132935" y="0"/>
                </a:moveTo>
                <a:lnTo>
                  <a:pt x="569720" y="0"/>
                </a:lnTo>
                <a:cubicBezTo>
                  <a:pt x="643088" y="0"/>
                  <a:pt x="702654" y="59566"/>
                  <a:pt x="702654" y="132935"/>
                </a:cubicBezTo>
                <a:lnTo>
                  <a:pt x="702654" y="132935"/>
                </a:lnTo>
                <a:cubicBezTo>
                  <a:pt x="702654" y="206303"/>
                  <a:pt x="643088" y="265869"/>
                  <a:pt x="569720" y="265869"/>
                </a:cubicBezTo>
                <a:lnTo>
                  <a:pt x="132935" y="265869"/>
                </a:lnTo>
                <a:cubicBezTo>
                  <a:pt x="59566" y="265869"/>
                  <a:pt x="0" y="206303"/>
                  <a:pt x="0" y="132935"/>
                </a:cubicBezTo>
                <a:lnTo>
                  <a:pt x="0" y="132935"/>
                </a:lnTo>
                <a:cubicBezTo>
                  <a:pt x="0" y="59566"/>
                  <a:pt x="59566" y="0"/>
                  <a:pt x="132935"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8"/>
          <p:cNvSpPr/>
          <p:nvPr/>
        </p:nvSpPr>
        <p:spPr>
          <a:xfrm>
            <a:off x="9520104" y="2706168"/>
            <a:ext cx="769121" cy="265869"/>
          </a:xfrm>
          <a:prstGeom prst="rect">
            <a:avLst/>
          </a:prstGeom>
          <a:noFill/>
          <a:ln>
            <a:noFill/>
          </a:ln>
        </p:spPr>
        <p:txBody>
          <a:bodyPr anchorCtr="0" anchor="ctr" bIns="37975" lIns="113925" spcFirstLastPara="1" rIns="113925" wrap="square" tIns="37975">
            <a:noAutofit/>
          </a:bodyPr>
          <a:lstStyle/>
          <a:p>
            <a:pPr indent="0" lvl="0" marL="0" marR="0" rtl="0" algn="l">
              <a:lnSpc>
                <a:spcPct val="120000"/>
              </a:lnSpc>
              <a:spcBef>
                <a:spcPts val="0"/>
              </a:spcBef>
              <a:spcAft>
                <a:spcPts val="0"/>
              </a:spcAft>
              <a:buNone/>
            </a:pPr>
            <a:r>
              <a:rPr b="1" lang="en-US" sz="1047">
                <a:solidFill>
                  <a:srgbClr val="06B6D4"/>
                </a:solidFill>
                <a:latin typeface="Arial"/>
                <a:ea typeface="Arial"/>
                <a:cs typeface="Arial"/>
                <a:sym typeface="Arial"/>
              </a:rPr>
              <a:t>Natural</a:t>
            </a:r>
            <a:endParaRPr sz="1600">
              <a:solidFill>
                <a:schemeClr val="dk1"/>
              </a:solidFill>
              <a:latin typeface="Calibri"/>
              <a:ea typeface="Calibri"/>
              <a:cs typeface="Calibri"/>
              <a:sym typeface="Calibri"/>
            </a:endParaRPr>
          </a:p>
        </p:txBody>
      </p:sp>
      <p:sp>
        <p:nvSpPr>
          <p:cNvPr id="466" name="Google Shape;466;p8"/>
          <p:cNvSpPr/>
          <p:nvPr/>
        </p:nvSpPr>
        <p:spPr>
          <a:xfrm>
            <a:off x="8104558" y="3252150"/>
            <a:ext cx="3703178" cy="1756636"/>
          </a:xfrm>
          <a:custGeom>
            <a:rect b="b" l="l" r="r" t="t"/>
            <a:pathLst>
              <a:path extrusionOk="0" h="1756636" w="3703178">
                <a:moveTo>
                  <a:pt x="113935" y="0"/>
                </a:moveTo>
                <a:lnTo>
                  <a:pt x="3589242" y="0"/>
                </a:lnTo>
                <a:cubicBezTo>
                  <a:pt x="3652167" y="0"/>
                  <a:pt x="3703178" y="51011"/>
                  <a:pt x="3703178" y="113935"/>
                </a:cubicBezTo>
                <a:lnTo>
                  <a:pt x="3703178" y="1642700"/>
                </a:lnTo>
                <a:cubicBezTo>
                  <a:pt x="3703178" y="1705625"/>
                  <a:pt x="3652167" y="1756636"/>
                  <a:pt x="3589242" y="1756636"/>
                </a:cubicBezTo>
                <a:lnTo>
                  <a:pt x="113935" y="1756636"/>
                </a:lnTo>
                <a:cubicBezTo>
                  <a:pt x="51011" y="1756636"/>
                  <a:pt x="0" y="1705625"/>
                  <a:pt x="0" y="1642700"/>
                </a:cubicBezTo>
                <a:lnTo>
                  <a:pt x="0" y="113935"/>
                </a:lnTo>
                <a:cubicBezTo>
                  <a:pt x="0" y="51053"/>
                  <a:pt x="51053" y="0"/>
                  <a:pt x="113935" y="0"/>
                </a:cubicBezTo>
                <a:close/>
              </a:path>
            </a:pathLst>
          </a:custGeom>
          <a:gradFill>
            <a:gsLst>
              <a:gs pos="0">
                <a:srgbClr val="F59E0B">
                  <a:alpha val="20000"/>
                </a:srgbClr>
              </a:gs>
              <a:gs pos="100000">
                <a:srgbClr val="F59E0B">
                  <a:alpha val="4705"/>
                </a:srgbClr>
              </a:gs>
            </a:gsLst>
            <a:lin ang="2700000" scaled="0"/>
          </a:gradFill>
          <a:ln cap="flat" cmpd="sng" w="12700">
            <a:solidFill>
              <a:srgbClr val="F59E0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8"/>
          <p:cNvSpPr/>
          <p:nvPr/>
        </p:nvSpPr>
        <p:spPr>
          <a:xfrm>
            <a:off x="8261231" y="3408822"/>
            <a:ext cx="455776" cy="455776"/>
          </a:xfrm>
          <a:custGeom>
            <a:rect b="b" l="l" r="r" t="t"/>
            <a:pathLst>
              <a:path extrusionOk="0" h="455776" w="455776">
                <a:moveTo>
                  <a:pt x="113944" y="0"/>
                </a:moveTo>
                <a:lnTo>
                  <a:pt x="341832" y="0"/>
                </a:lnTo>
                <a:cubicBezTo>
                  <a:pt x="404761" y="0"/>
                  <a:pt x="455776" y="51014"/>
                  <a:pt x="455776" y="113944"/>
                </a:cubicBezTo>
                <a:lnTo>
                  <a:pt x="455776" y="341832"/>
                </a:lnTo>
                <a:cubicBezTo>
                  <a:pt x="455776" y="404761"/>
                  <a:pt x="404761" y="455776"/>
                  <a:pt x="341832" y="455776"/>
                </a:cubicBezTo>
                <a:lnTo>
                  <a:pt x="113944" y="455776"/>
                </a:lnTo>
                <a:cubicBezTo>
                  <a:pt x="51014" y="455776"/>
                  <a:pt x="0" y="404761"/>
                  <a:pt x="0" y="341832"/>
                </a:cubicBezTo>
                <a:lnTo>
                  <a:pt x="0" y="113944"/>
                </a:lnTo>
                <a:cubicBezTo>
                  <a:pt x="0" y="51057"/>
                  <a:pt x="51057" y="0"/>
                  <a:pt x="113944" y="0"/>
                </a:cubicBezTo>
                <a:close/>
              </a:path>
            </a:pathLst>
          </a:custGeom>
          <a:solidFill>
            <a:srgbClr val="F59E0B">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8"/>
          <p:cNvSpPr/>
          <p:nvPr/>
        </p:nvSpPr>
        <p:spPr>
          <a:xfrm>
            <a:off x="8370428" y="3541757"/>
            <a:ext cx="237383" cy="189907"/>
          </a:xfrm>
          <a:custGeom>
            <a:rect b="b" l="l" r="r" t="t"/>
            <a:pathLst>
              <a:path extrusionOk="0" h="189907" w="237383">
                <a:moveTo>
                  <a:pt x="129782" y="87646"/>
                </a:moveTo>
                <a:lnTo>
                  <a:pt x="105265" y="87646"/>
                </a:lnTo>
                <a:lnTo>
                  <a:pt x="105265" y="65614"/>
                </a:lnTo>
                <a:lnTo>
                  <a:pt x="129782" y="65614"/>
                </a:lnTo>
                <a:lnTo>
                  <a:pt x="129782" y="87646"/>
                </a:lnTo>
                <a:close/>
                <a:moveTo>
                  <a:pt x="129782" y="11869"/>
                </a:moveTo>
                <a:lnTo>
                  <a:pt x="105265" y="11869"/>
                </a:lnTo>
                <a:lnTo>
                  <a:pt x="105265" y="34383"/>
                </a:lnTo>
                <a:lnTo>
                  <a:pt x="129782" y="34383"/>
                </a:lnTo>
                <a:lnTo>
                  <a:pt x="129782" y="11869"/>
                </a:lnTo>
                <a:close/>
                <a:moveTo>
                  <a:pt x="158787" y="65577"/>
                </a:moveTo>
                <a:lnTo>
                  <a:pt x="134270" y="65577"/>
                </a:lnTo>
                <a:lnTo>
                  <a:pt x="134270" y="87609"/>
                </a:lnTo>
                <a:lnTo>
                  <a:pt x="158787" y="87609"/>
                </a:lnTo>
                <a:lnTo>
                  <a:pt x="158787" y="65577"/>
                </a:lnTo>
                <a:close/>
                <a:moveTo>
                  <a:pt x="100814" y="38834"/>
                </a:moveTo>
                <a:lnTo>
                  <a:pt x="76296" y="38834"/>
                </a:lnTo>
                <a:lnTo>
                  <a:pt x="76296" y="61126"/>
                </a:lnTo>
                <a:lnTo>
                  <a:pt x="100814" y="61126"/>
                </a:lnTo>
                <a:lnTo>
                  <a:pt x="100814" y="38834"/>
                </a:lnTo>
                <a:close/>
                <a:moveTo>
                  <a:pt x="129782" y="38834"/>
                </a:moveTo>
                <a:lnTo>
                  <a:pt x="105265" y="38834"/>
                </a:lnTo>
                <a:lnTo>
                  <a:pt x="105265" y="61126"/>
                </a:lnTo>
                <a:lnTo>
                  <a:pt x="129782" y="61126"/>
                </a:lnTo>
                <a:lnTo>
                  <a:pt x="129782" y="38834"/>
                </a:lnTo>
                <a:close/>
                <a:moveTo>
                  <a:pt x="232450" y="75926"/>
                </a:moveTo>
                <a:cubicBezTo>
                  <a:pt x="227109" y="72328"/>
                  <a:pt x="214795" y="71029"/>
                  <a:pt x="205336" y="72810"/>
                </a:cubicBezTo>
                <a:cubicBezTo>
                  <a:pt x="204112" y="63908"/>
                  <a:pt x="199142" y="56156"/>
                  <a:pt x="190092" y="49183"/>
                </a:cubicBezTo>
                <a:lnTo>
                  <a:pt x="184899" y="45733"/>
                </a:lnTo>
                <a:lnTo>
                  <a:pt x="181450" y="50926"/>
                </a:lnTo>
                <a:cubicBezTo>
                  <a:pt x="174625" y="61237"/>
                  <a:pt x="172770" y="78225"/>
                  <a:pt x="180077" y="89427"/>
                </a:cubicBezTo>
                <a:cubicBezTo>
                  <a:pt x="176850" y="91170"/>
                  <a:pt x="170508" y="93544"/>
                  <a:pt x="162125" y="93395"/>
                </a:cubicBezTo>
                <a:lnTo>
                  <a:pt x="890" y="93395"/>
                </a:lnTo>
                <a:cubicBezTo>
                  <a:pt x="-2337" y="112238"/>
                  <a:pt x="3041" y="136718"/>
                  <a:pt x="17210" y="153520"/>
                </a:cubicBezTo>
                <a:cubicBezTo>
                  <a:pt x="30971" y="169803"/>
                  <a:pt x="51594" y="178074"/>
                  <a:pt x="78559" y="178074"/>
                </a:cubicBezTo>
                <a:cubicBezTo>
                  <a:pt x="136940" y="178074"/>
                  <a:pt x="180152" y="151183"/>
                  <a:pt x="200366" y="102334"/>
                </a:cubicBezTo>
                <a:cubicBezTo>
                  <a:pt x="208304" y="102483"/>
                  <a:pt x="225440" y="102371"/>
                  <a:pt x="234230" y="85569"/>
                </a:cubicBezTo>
                <a:cubicBezTo>
                  <a:pt x="234787" y="84642"/>
                  <a:pt x="236678" y="80673"/>
                  <a:pt x="237383" y="79227"/>
                </a:cubicBezTo>
                <a:lnTo>
                  <a:pt x="232450" y="75926"/>
                </a:lnTo>
                <a:close/>
                <a:moveTo>
                  <a:pt x="42877" y="65577"/>
                </a:moveTo>
                <a:lnTo>
                  <a:pt x="18397" y="65577"/>
                </a:lnTo>
                <a:lnTo>
                  <a:pt x="18397" y="87609"/>
                </a:lnTo>
                <a:lnTo>
                  <a:pt x="42914" y="87609"/>
                </a:lnTo>
                <a:lnTo>
                  <a:pt x="42914" y="65577"/>
                </a:lnTo>
                <a:lnTo>
                  <a:pt x="42877" y="65577"/>
                </a:lnTo>
                <a:close/>
                <a:moveTo>
                  <a:pt x="71846" y="65577"/>
                </a:moveTo>
                <a:lnTo>
                  <a:pt x="47328" y="65577"/>
                </a:lnTo>
                <a:lnTo>
                  <a:pt x="47328" y="87609"/>
                </a:lnTo>
                <a:lnTo>
                  <a:pt x="71846" y="87609"/>
                </a:lnTo>
                <a:lnTo>
                  <a:pt x="71846" y="65577"/>
                </a:lnTo>
                <a:close/>
                <a:moveTo>
                  <a:pt x="100814" y="65577"/>
                </a:moveTo>
                <a:lnTo>
                  <a:pt x="76296" y="65577"/>
                </a:lnTo>
                <a:lnTo>
                  <a:pt x="76296" y="87609"/>
                </a:lnTo>
                <a:lnTo>
                  <a:pt x="100814" y="87609"/>
                </a:lnTo>
                <a:lnTo>
                  <a:pt x="100814" y="65577"/>
                </a:lnTo>
                <a:close/>
                <a:moveTo>
                  <a:pt x="71846" y="38834"/>
                </a:moveTo>
                <a:lnTo>
                  <a:pt x="47328" y="38834"/>
                </a:lnTo>
                <a:lnTo>
                  <a:pt x="47328" y="61126"/>
                </a:lnTo>
                <a:lnTo>
                  <a:pt x="71846" y="61126"/>
                </a:lnTo>
                <a:lnTo>
                  <a:pt x="71846" y="38834"/>
                </a:ln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8"/>
          <p:cNvSpPr/>
          <p:nvPr/>
        </p:nvSpPr>
        <p:spPr>
          <a:xfrm>
            <a:off x="8830951" y="3503776"/>
            <a:ext cx="1557234" cy="265869"/>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46">
                <a:solidFill>
                  <a:srgbClr val="F8FAFC"/>
                </a:solidFill>
                <a:latin typeface="Arial"/>
                <a:ea typeface="Arial"/>
                <a:cs typeface="Arial"/>
                <a:sym typeface="Arial"/>
              </a:rPr>
              <a:t>Triển khai ổn định</a:t>
            </a:r>
            <a:endParaRPr sz="1600">
              <a:solidFill>
                <a:schemeClr val="dk1"/>
              </a:solidFill>
              <a:latin typeface="Calibri"/>
              <a:ea typeface="Calibri"/>
              <a:cs typeface="Calibri"/>
              <a:sym typeface="Calibri"/>
            </a:endParaRPr>
          </a:p>
        </p:txBody>
      </p:sp>
      <p:sp>
        <p:nvSpPr>
          <p:cNvPr id="470" name="Google Shape;470;p8"/>
          <p:cNvSpPr/>
          <p:nvPr/>
        </p:nvSpPr>
        <p:spPr>
          <a:xfrm>
            <a:off x="8261231" y="3978542"/>
            <a:ext cx="3465794" cy="493757"/>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96">
                <a:solidFill>
                  <a:srgbClr val="94A3B8"/>
                </a:solidFill>
                <a:latin typeface="Arial"/>
                <a:ea typeface="Arial"/>
                <a:cs typeface="Arial"/>
                <a:sym typeface="Arial"/>
              </a:rPr>
              <a:t>Hệ thống chạy trên </a:t>
            </a:r>
            <a:r>
              <a:rPr b="1" lang="en-US" sz="1196">
                <a:solidFill>
                  <a:srgbClr val="F59E0B"/>
                </a:solidFill>
                <a:latin typeface="Arial"/>
                <a:ea typeface="Arial"/>
                <a:cs typeface="Arial"/>
                <a:sym typeface="Arial"/>
              </a:rPr>
              <a:t>Docker</a:t>
            </a:r>
            <a:r>
              <a:rPr lang="en-US" sz="1196">
                <a:solidFill>
                  <a:srgbClr val="94A3B8"/>
                </a:solidFill>
                <a:latin typeface="Arial"/>
                <a:ea typeface="Arial"/>
                <a:cs typeface="Arial"/>
                <a:sym typeface="Arial"/>
              </a:rPr>
              <a:t>, đảm bảo tính nhất quán giữa các node xử lý.</a:t>
            </a:r>
            <a:endParaRPr sz="1600">
              <a:solidFill>
                <a:schemeClr val="dk1"/>
              </a:solidFill>
              <a:latin typeface="Calibri"/>
              <a:ea typeface="Calibri"/>
              <a:cs typeface="Calibri"/>
              <a:sym typeface="Calibri"/>
            </a:endParaRPr>
          </a:p>
        </p:txBody>
      </p:sp>
      <p:sp>
        <p:nvSpPr>
          <p:cNvPr id="471" name="Google Shape;471;p8"/>
          <p:cNvSpPr/>
          <p:nvPr/>
        </p:nvSpPr>
        <p:spPr>
          <a:xfrm>
            <a:off x="8261231" y="4586243"/>
            <a:ext cx="1120449" cy="265869"/>
          </a:xfrm>
          <a:custGeom>
            <a:rect b="b" l="l" r="r" t="t"/>
            <a:pathLst>
              <a:path extrusionOk="0" h="265869" w="1120449">
                <a:moveTo>
                  <a:pt x="132935" y="0"/>
                </a:moveTo>
                <a:lnTo>
                  <a:pt x="987514" y="0"/>
                </a:lnTo>
                <a:cubicBezTo>
                  <a:pt x="1060883" y="0"/>
                  <a:pt x="1120449" y="59566"/>
                  <a:pt x="1120449" y="132935"/>
                </a:cubicBezTo>
                <a:lnTo>
                  <a:pt x="1120449" y="132935"/>
                </a:lnTo>
                <a:cubicBezTo>
                  <a:pt x="1120449" y="206303"/>
                  <a:pt x="1060883" y="265869"/>
                  <a:pt x="987514" y="265869"/>
                </a:cubicBezTo>
                <a:lnTo>
                  <a:pt x="132935" y="265869"/>
                </a:lnTo>
                <a:cubicBezTo>
                  <a:pt x="59566" y="265869"/>
                  <a:pt x="0" y="206303"/>
                  <a:pt x="0" y="132935"/>
                </a:cubicBezTo>
                <a:lnTo>
                  <a:pt x="0" y="132935"/>
                </a:lnTo>
                <a:cubicBezTo>
                  <a:pt x="0" y="59566"/>
                  <a:pt x="59566" y="0"/>
                  <a:pt x="132935"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8"/>
          <p:cNvSpPr/>
          <p:nvPr/>
        </p:nvSpPr>
        <p:spPr>
          <a:xfrm>
            <a:off x="8261231" y="4586243"/>
            <a:ext cx="1186916" cy="265869"/>
          </a:xfrm>
          <a:prstGeom prst="rect">
            <a:avLst/>
          </a:prstGeom>
          <a:noFill/>
          <a:ln>
            <a:noFill/>
          </a:ln>
        </p:spPr>
        <p:txBody>
          <a:bodyPr anchorCtr="0" anchor="ctr" bIns="37975" lIns="113925" spcFirstLastPara="1" rIns="113925" wrap="square" tIns="37975">
            <a:noAutofit/>
          </a:bodyPr>
          <a:lstStyle/>
          <a:p>
            <a:pPr indent="0" lvl="0" marL="0" marR="0" rtl="0" algn="l">
              <a:lnSpc>
                <a:spcPct val="120000"/>
              </a:lnSpc>
              <a:spcBef>
                <a:spcPts val="0"/>
              </a:spcBef>
              <a:spcAft>
                <a:spcPts val="0"/>
              </a:spcAft>
              <a:buNone/>
            </a:pPr>
            <a:r>
              <a:rPr b="1" lang="en-US" sz="1047">
                <a:solidFill>
                  <a:srgbClr val="F59E0B"/>
                </a:solidFill>
                <a:latin typeface="Arial"/>
                <a:ea typeface="Arial"/>
                <a:cs typeface="Arial"/>
                <a:sym typeface="Arial"/>
              </a:rPr>
              <a:t>Containerized</a:t>
            </a:r>
            <a:endParaRPr sz="1600">
              <a:solidFill>
                <a:schemeClr val="dk1"/>
              </a:solidFill>
              <a:latin typeface="Calibri"/>
              <a:ea typeface="Calibri"/>
              <a:cs typeface="Calibri"/>
              <a:sym typeface="Calibri"/>
            </a:endParaRPr>
          </a:p>
        </p:txBody>
      </p:sp>
      <p:sp>
        <p:nvSpPr>
          <p:cNvPr id="473" name="Google Shape;473;p8"/>
          <p:cNvSpPr/>
          <p:nvPr/>
        </p:nvSpPr>
        <p:spPr>
          <a:xfrm>
            <a:off x="9458384" y="4586243"/>
            <a:ext cx="636187" cy="265869"/>
          </a:xfrm>
          <a:custGeom>
            <a:rect b="b" l="l" r="r" t="t"/>
            <a:pathLst>
              <a:path extrusionOk="0" h="265869" w="636187">
                <a:moveTo>
                  <a:pt x="132935" y="0"/>
                </a:moveTo>
                <a:lnTo>
                  <a:pt x="503252" y="0"/>
                </a:lnTo>
                <a:cubicBezTo>
                  <a:pt x="576621" y="0"/>
                  <a:pt x="636187" y="59566"/>
                  <a:pt x="636187" y="132935"/>
                </a:cubicBezTo>
                <a:lnTo>
                  <a:pt x="636187" y="132935"/>
                </a:lnTo>
                <a:cubicBezTo>
                  <a:pt x="636187" y="206303"/>
                  <a:pt x="576621" y="265869"/>
                  <a:pt x="503252" y="265869"/>
                </a:cubicBezTo>
                <a:lnTo>
                  <a:pt x="132935" y="265869"/>
                </a:lnTo>
                <a:cubicBezTo>
                  <a:pt x="59566" y="265869"/>
                  <a:pt x="0" y="206303"/>
                  <a:pt x="0" y="132935"/>
                </a:cubicBezTo>
                <a:lnTo>
                  <a:pt x="0" y="132935"/>
                </a:lnTo>
                <a:cubicBezTo>
                  <a:pt x="0" y="59566"/>
                  <a:pt x="59566" y="0"/>
                  <a:pt x="132935"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8"/>
          <p:cNvSpPr/>
          <p:nvPr/>
        </p:nvSpPr>
        <p:spPr>
          <a:xfrm>
            <a:off x="9458384" y="4586243"/>
            <a:ext cx="702654" cy="265869"/>
          </a:xfrm>
          <a:prstGeom prst="rect">
            <a:avLst/>
          </a:prstGeom>
          <a:noFill/>
          <a:ln>
            <a:noFill/>
          </a:ln>
        </p:spPr>
        <p:txBody>
          <a:bodyPr anchorCtr="0" anchor="ctr" bIns="37975" lIns="113925" spcFirstLastPara="1" rIns="113925" wrap="square" tIns="37975">
            <a:noAutofit/>
          </a:bodyPr>
          <a:lstStyle/>
          <a:p>
            <a:pPr indent="0" lvl="0" marL="0" marR="0" rtl="0" algn="l">
              <a:lnSpc>
                <a:spcPct val="120000"/>
              </a:lnSpc>
              <a:spcBef>
                <a:spcPts val="0"/>
              </a:spcBef>
              <a:spcAft>
                <a:spcPts val="0"/>
              </a:spcAft>
              <a:buNone/>
            </a:pPr>
            <a:r>
              <a:rPr b="1" lang="en-US" sz="1047">
                <a:solidFill>
                  <a:srgbClr val="F59E0B"/>
                </a:solidFill>
                <a:latin typeface="Arial"/>
                <a:ea typeface="Arial"/>
                <a:cs typeface="Arial"/>
                <a:sym typeface="Arial"/>
              </a:rPr>
              <a:t>Stable</a:t>
            </a:r>
            <a:endParaRPr sz="1600">
              <a:solidFill>
                <a:schemeClr val="dk1"/>
              </a:solidFill>
              <a:latin typeface="Calibri"/>
              <a:ea typeface="Calibri"/>
              <a:cs typeface="Calibri"/>
              <a:sym typeface="Calibri"/>
            </a:endParaRPr>
          </a:p>
        </p:txBody>
      </p:sp>
      <p:sp>
        <p:nvSpPr>
          <p:cNvPr id="475" name="Google Shape;475;p8"/>
          <p:cNvSpPr/>
          <p:nvPr/>
        </p:nvSpPr>
        <p:spPr>
          <a:xfrm>
            <a:off x="8104558" y="5132224"/>
            <a:ext cx="3703178" cy="1718654"/>
          </a:xfrm>
          <a:custGeom>
            <a:rect b="b" l="l" r="r" t="t"/>
            <a:pathLst>
              <a:path extrusionOk="0" h="1718654" w="3703178">
                <a:moveTo>
                  <a:pt x="113947" y="0"/>
                </a:moveTo>
                <a:lnTo>
                  <a:pt x="3589231" y="0"/>
                </a:lnTo>
                <a:cubicBezTo>
                  <a:pt x="3652162" y="0"/>
                  <a:pt x="3703178" y="51016"/>
                  <a:pt x="3703178" y="113947"/>
                </a:cubicBezTo>
                <a:lnTo>
                  <a:pt x="3703178" y="1604707"/>
                </a:lnTo>
                <a:cubicBezTo>
                  <a:pt x="3703178" y="1667638"/>
                  <a:pt x="3652162" y="1718654"/>
                  <a:pt x="3589231" y="1718654"/>
                </a:cubicBezTo>
                <a:lnTo>
                  <a:pt x="113947" y="1718654"/>
                </a:lnTo>
                <a:cubicBezTo>
                  <a:pt x="51016" y="1718654"/>
                  <a:pt x="0" y="1667638"/>
                  <a:pt x="0" y="1604707"/>
                </a:cubicBezTo>
                <a:lnTo>
                  <a:pt x="0" y="113947"/>
                </a:lnTo>
                <a:cubicBezTo>
                  <a:pt x="0" y="51016"/>
                  <a:pt x="51016" y="0"/>
                  <a:pt x="113947" y="0"/>
                </a:cubicBezTo>
                <a:close/>
              </a:path>
            </a:pathLst>
          </a:custGeom>
          <a:gradFill>
            <a:gsLst>
              <a:gs pos="0">
                <a:srgbClr val="1E293B"/>
              </a:gs>
              <a:gs pos="100000">
                <a:srgbClr val="0F172A"/>
              </a:gs>
            </a:gsLst>
            <a:lin ang="2700000" scaled="0"/>
          </a:gradFill>
          <a:ln cap="flat" cmpd="sng" w="12700">
            <a:solidFill>
              <a:srgbClr val="10B98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8"/>
          <p:cNvSpPr/>
          <p:nvPr/>
        </p:nvSpPr>
        <p:spPr>
          <a:xfrm>
            <a:off x="8280222" y="5326879"/>
            <a:ext cx="151925" cy="151925"/>
          </a:xfrm>
          <a:custGeom>
            <a:rect b="b" l="l" r="r" t="t"/>
            <a:pathLst>
              <a:path extrusionOk="0" h="151925" w="151925">
                <a:moveTo>
                  <a:pt x="9495" y="9495"/>
                </a:moveTo>
                <a:cubicBezTo>
                  <a:pt x="14747" y="9495"/>
                  <a:pt x="18991" y="13739"/>
                  <a:pt x="18991" y="18991"/>
                </a:cubicBezTo>
                <a:lnTo>
                  <a:pt x="18991" y="118692"/>
                </a:lnTo>
                <a:cubicBezTo>
                  <a:pt x="18991" y="121303"/>
                  <a:pt x="21127" y="123439"/>
                  <a:pt x="23738" y="123439"/>
                </a:cubicBezTo>
                <a:lnTo>
                  <a:pt x="142430" y="123439"/>
                </a:lnTo>
                <a:cubicBezTo>
                  <a:pt x="147682" y="123439"/>
                  <a:pt x="151925" y="127682"/>
                  <a:pt x="151925" y="132935"/>
                </a:cubicBezTo>
                <a:cubicBezTo>
                  <a:pt x="151925" y="138187"/>
                  <a:pt x="147682" y="142430"/>
                  <a:pt x="142430" y="142430"/>
                </a:cubicBezTo>
                <a:lnTo>
                  <a:pt x="23738" y="142430"/>
                </a:lnTo>
                <a:cubicBezTo>
                  <a:pt x="10623" y="142430"/>
                  <a:pt x="0" y="131807"/>
                  <a:pt x="0" y="118692"/>
                </a:cubicBezTo>
                <a:lnTo>
                  <a:pt x="0" y="18991"/>
                </a:lnTo>
                <a:cubicBezTo>
                  <a:pt x="0" y="13739"/>
                  <a:pt x="4243" y="9495"/>
                  <a:pt x="9495" y="9495"/>
                </a:cubicBezTo>
                <a:close/>
                <a:moveTo>
                  <a:pt x="37981" y="28486"/>
                </a:moveTo>
                <a:cubicBezTo>
                  <a:pt x="37981" y="23234"/>
                  <a:pt x="42225" y="18991"/>
                  <a:pt x="47477" y="18991"/>
                </a:cubicBezTo>
                <a:lnTo>
                  <a:pt x="104449" y="18991"/>
                </a:lnTo>
                <a:cubicBezTo>
                  <a:pt x="109701" y="18991"/>
                  <a:pt x="113944" y="23234"/>
                  <a:pt x="113944" y="28486"/>
                </a:cubicBezTo>
                <a:cubicBezTo>
                  <a:pt x="113944" y="33738"/>
                  <a:pt x="109701" y="37981"/>
                  <a:pt x="104449" y="37981"/>
                </a:cubicBezTo>
                <a:lnTo>
                  <a:pt x="47477" y="37981"/>
                </a:lnTo>
                <a:cubicBezTo>
                  <a:pt x="42225" y="37981"/>
                  <a:pt x="37981" y="33738"/>
                  <a:pt x="37981" y="28486"/>
                </a:cubicBezTo>
                <a:close/>
                <a:moveTo>
                  <a:pt x="47477" y="52224"/>
                </a:moveTo>
                <a:lnTo>
                  <a:pt x="85458" y="52224"/>
                </a:lnTo>
                <a:cubicBezTo>
                  <a:pt x="90710" y="52224"/>
                  <a:pt x="94953" y="56468"/>
                  <a:pt x="94953" y="61720"/>
                </a:cubicBezTo>
                <a:cubicBezTo>
                  <a:pt x="94953" y="66972"/>
                  <a:pt x="90710" y="71215"/>
                  <a:pt x="85458" y="71215"/>
                </a:cubicBezTo>
                <a:lnTo>
                  <a:pt x="47477" y="71215"/>
                </a:lnTo>
                <a:cubicBezTo>
                  <a:pt x="42225" y="71215"/>
                  <a:pt x="37981" y="66972"/>
                  <a:pt x="37981" y="61720"/>
                </a:cubicBezTo>
                <a:cubicBezTo>
                  <a:pt x="37981" y="56468"/>
                  <a:pt x="42225" y="52224"/>
                  <a:pt x="47477" y="52224"/>
                </a:cubicBezTo>
                <a:close/>
                <a:moveTo>
                  <a:pt x="47477" y="85458"/>
                </a:moveTo>
                <a:lnTo>
                  <a:pt x="123439" y="85458"/>
                </a:lnTo>
                <a:cubicBezTo>
                  <a:pt x="128691" y="85458"/>
                  <a:pt x="132935" y="89701"/>
                  <a:pt x="132935" y="94953"/>
                </a:cubicBezTo>
                <a:cubicBezTo>
                  <a:pt x="132935" y="100205"/>
                  <a:pt x="128691" y="104449"/>
                  <a:pt x="123439" y="104449"/>
                </a:cubicBezTo>
                <a:lnTo>
                  <a:pt x="47477" y="104449"/>
                </a:lnTo>
                <a:cubicBezTo>
                  <a:pt x="42225" y="104449"/>
                  <a:pt x="37981" y="100205"/>
                  <a:pt x="37981" y="94953"/>
                </a:cubicBezTo>
                <a:cubicBezTo>
                  <a:pt x="37981" y="89701"/>
                  <a:pt x="42225" y="85458"/>
                  <a:pt x="47477" y="85458"/>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8"/>
          <p:cNvSpPr/>
          <p:nvPr/>
        </p:nvSpPr>
        <p:spPr>
          <a:xfrm>
            <a:off x="8451138" y="5288897"/>
            <a:ext cx="3275888" cy="22788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96">
                <a:solidFill>
                  <a:srgbClr val="F8FAFC"/>
                </a:solidFill>
                <a:latin typeface="Arial"/>
                <a:ea typeface="Arial"/>
                <a:cs typeface="Arial"/>
                <a:sym typeface="Arial"/>
              </a:rPr>
              <a:t>Chỉ số hiệu suất</a:t>
            </a:r>
            <a:endParaRPr sz="1600">
              <a:solidFill>
                <a:schemeClr val="dk1"/>
              </a:solidFill>
              <a:latin typeface="Calibri"/>
              <a:ea typeface="Calibri"/>
              <a:cs typeface="Calibri"/>
              <a:sym typeface="Calibri"/>
            </a:endParaRPr>
          </a:p>
        </p:txBody>
      </p:sp>
      <p:sp>
        <p:nvSpPr>
          <p:cNvPr id="478" name="Google Shape;478;p8"/>
          <p:cNvSpPr/>
          <p:nvPr/>
        </p:nvSpPr>
        <p:spPr>
          <a:xfrm>
            <a:off x="8261231" y="5630729"/>
            <a:ext cx="1224897" cy="1899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47">
                <a:solidFill>
                  <a:srgbClr val="94A3B8"/>
                </a:solidFill>
                <a:latin typeface="Arial"/>
                <a:ea typeface="Arial"/>
                <a:cs typeface="Arial"/>
                <a:sym typeface="Arial"/>
              </a:rPr>
              <a:t>Thời gian phản hồi</a:t>
            </a:r>
            <a:endParaRPr sz="1600">
              <a:solidFill>
                <a:schemeClr val="dk1"/>
              </a:solidFill>
              <a:latin typeface="Calibri"/>
              <a:ea typeface="Calibri"/>
              <a:cs typeface="Calibri"/>
              <a:sym typeface="Calibri"/>
            </a:endParaRPr>
          </a:p>
        </p:txBody>
      </p:sp>
      <p:sp>
        <p:nvSpPr>
          <p:cNvPr id="479" name="Google Shape;479;p8"/>
          <p:cNvSpPr/>
          <p:nvPr/>
        </p:nvSpPr>
        <p:spPr>
          <a:xfrm>
            <a:off x="11372583" y="5630729"/>
            <a:ext cx="341832" cy="1899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47">
                <a:solidFill>
                  <a:srgbClr val="10B981"/>
                </a:solidFill>
                <a:latin typeface="Arial"/>
                <a:ea typeface="Arial"/>
                <a:cs typeface="Arial"/>
                <a:sym typeface="Arial"/>
              </a:rPr>
              <a:t>&lt; 3s</a:t>
            </a:r>
            <a:endParaRPr sz="1600">
              <a:solidFill>
                <a:schemeClr val="dk1"/>
              </a:solidFill>
              <a:latin typeface="Calibri"/>
              <a:ea typeface="Calibri"/>
              <a:cs typeface="Calibri"/>
              <a:sym typeface="Calibri"/>
            </a:endParaRPr>
          </a:p>
        </p:txBody>
      </p:sp>
      <p:sp>
        <p:nvSpPr>
          <p:cNvPr id="480" name="Google Shape;480;p8"/>
          <p:cNvSpPr/>
          <p:nvPr/>
        </p:nvSpPr>
        <p:spPr>
          <a:xfrm>
            <a:off x="8261231" y="5858617"/>
            <a:ext cx="3389832" cy="75963"/>
          </a:xfrm>
          <a:custGeom>
            <a:rect b="b" l="l" r="r" t="t"/>
            <a:pathLst>
              <a:path extrusionOk="0" h="75963" w="3389832">
                <a:moveTo>
                  <a:pt x="37981" y="0"/>
                </a:moveTo>
                <a:lnTo>
                  <a:pt x="3351850" y="0"/>
                </a:lnTo>
                <a:cubicBezTo>
                  <a:pt x="3372827" y="0"/>
                  <a:pt x="3389832" y="17005"/>
                  <a:pt x="3389832" y="37981"/>
                </a:cubicBezTo>
                <a:lnTo>
                  <a:pt x="3389832" y="37981"/>
                </a:lnTo>
                <a:cubicBezTo>
                  <a:pt x="3389832" y="58958"/>
                  <a:pt x="3372827" y="75963"/>
                  <a:pt x="3351850" y="75963"/>
                </a:cubicBezTo>
                <a:lnTo>
                  <a:pt x="37981" y="75963"/>
                </a:lnTo>
                <a:cubicBezTo>
                  <a:pt x="17019" y="75963"/>
                  <a:pt x="0" y="58944"/>
                  <a:pt x="0" y="37981"/>
                </a:cubicBezTo>
                <a:lnTo>
                  <a:pt x="0" y="37981"/>
                </a:lnTo>
                <a:cubicBezTo>
                  <a:pt x="0" y="17019"/>
                  <a:pt x="17019" y="0"/>
                  <a:pt x="37981"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8"/>
          <p:cNvSpPr/>
          <p:nvPr/>
        </p:nvSpPr>
        <p:spPr>
          <a:xfrm>
            <a:off x="8261231" y="5858617"/>
            <a:ext cx="3218916" cy="75963"/>
          </a:xfrm>
          <a:custGeom>
            <a:rect b="b" l="l" r="r" t="t"/>
            <a:pathLst>
              <a:path extrusionOk="0" h="75963" w="3218916">
                <a:moveTo>
                  <a:pt x="37981" y="0"/>
                </a:moveTo>
                <a:lnTo>
                  <a:pt x="3180935" y="0"/>
                </a:lnTo>
                <a:cubicBezTo>
                  <a:pt x="3201911" y="0"/>
                  <a:pt x="3218916" y="17005"/>
                  <a:pt x="3218916" y="37981"/>
                </a:cubicBezTo>
                <a:lnTo>
                  <a:pt x="3218916" y="37981"/>
                </a:lnTo>
                <a:cubicBezTo>
                  <a:pt x="3218916" y="58958"/>
                  <a:pt x="3201911" y="75963"/>
                  <a:pt x="3180935" y="75963"/>
                </a:cubicBezTo>
                <a:lnTo>
                  <a:pt x="37981" y="75963"/>
                </a:lnTo>
                <a:cubicBezTo>
                  <a:pt x="17019" y="75963"/>
                  <a:pt x="0" y="58944"/>
                  <a:pt x="0" y="37981"/>
                </a:cubicBezTo>
                <a:lnTo>
                  <a:pt x="0" y="37981"/>
                </a:lnTo>
                <a:cubicBezTo>
                  <a:pt x="0" y="17019"/>
                  <a:pt x="17019" y="0"/>
                  <a:pt x="37981" y="0"/>
                </a:cubicBezTo>
                <a:close/>
              </a:path>
            </a:pathLst>
          </a:custGeom>
          <a:gradFill>
            <a:gsLst>
              <a:gs pos="0">
                <a:srgbClr val="10B981"/>
              </a:gs>
              <a:gs pos="100000">
                <a:srgbClr val="06B6D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8"/>
          <p:cNvSpPr/>
          <p:nvPr/>
        </p:nvSpPr>
        <p:spPr>
          <a:xfrm>
            <a:off x="8261231" y="6010542"/>
            <a:ext cx="854579" cy="1899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47">
                <a:solidFill>
                  <a:srgbClr val="94A3B8"/>
                </a:solidFill>
                <a:latin typeface="Arial"/>
                <a:ea typeface="Arial"/>
                <a:cs typeface="Arial"/>
                <a:sym typeface="Arial"/>
              </a:rPr>
              <a:t>Độ chính xác</a:t>
            </a:r>
            <a:endParaRPr sz="1600">
              <a:solidFill>
                <a:schemeClr val="dk1"/>
              </a:solidFill>
              <a:latin typeface="Calibri"/>
              <a:ea typeface="Calibri"/>
              <a:cs typeface="Calibri"/>
              <a:sym typeface="Calibri"/>
            </a:endParaRPr>
          </a:p>
        </p:txBody>
      </p:sp>
      <p:sp>
        <p:nvSpPr>
          <p:cNvPr id="483" name="Google Shape;483;p8"/>
          <p:cNvSpPr/>
          <p:nvPr/>
        </p:nvSpPr>
        <p:spPr>
          <a:xfrm>
            <a:off x="11364423" y="6010542"/>
            <a:ext cx="351327" cy="1899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47">
                <a:solidFill>
                  <a:srgbClr val="3B82F6"/>
                </a:solidFill>
                <a:latin typeface="Arial"/>
                <a:ea typeface="Arial"/>
                <a:cs typeface="Arial"/>
                <a:sym typeface="Arial"/>
              </a:rPr>
              <a:t>98%</a:t>
            </a:r>
            <a:endParaRPr sz="1600">
              <a:solidFill>
                <a:schemeClr val="dk1"/>
              </a:solidFill>
              <a:latin typeface="Calibri"/>
              <a:ea typeface="Calibri"/>
              <a:cs typeface="Calibri"/>
              <a:sym typeface="Calibri"/>
            </a:endParaRPr>
          </a:p>
        </p:txBody>
      </p:sp>
      <p:sp>
        <p:nvSpPr>
          <p:cNvPr id="484" name="Google Shape;484;p8"/>
          <p:cNvSpPr/>
          <p:nvPr/>
        </p:nvSpPr>
        <p:spPr>
          <a:xfrm>
            <a:off x="8261231" y="6238430"/>
            <a:ext cx="3389832" cy="75963"/>
          </a:xfrm>
          <a:custGeom>
            <a:rect b="b" l="l" r="r" t="t"/>
            <a:pathLst>
              <a:path extrusionOk="0" h="75963" w="3389832">
                <a:moveTo>
                  <a:pt x="37981" y="0"/>
                </a:moveTo>
                <a:lnTo>
                  <a:pt x="3351850" y="0"/>
                </a:lnTo>
                <a:cubicBezTo>
                  <a:pt x="3372827" y="0"/>
                  <a:pt x="3389832" y="17005"/>
                  <a:pt x="3389832" y="37981"/>
                </a:cubicBezTo>
                <a:lnTo>
                  <a:pt x="3389832" y="37981"/>
                </a:lnTo>
                <a:cubicBezTo>
                  <a:pt x="3389832" y="58958"/>
                  <a:pt x="3372827" y="75963"/>
                  <a:pt x="3351850" y="75963"/>
                </a:cubicBezTo>
                <a:lnTo>
                  <a:pt x="37981" y="75963"/>
                </a:lnTo>
                <a:cubicBezTo>
                  <a:pt x="17019" y="75963"/>
                  <a:pt x="0" y="58944"/>
                  <a:pt x="0" y="37981"/>
                </a:cubicBezTo>
                <a:lnTo>
                  <a:pt x="0" y="37981"/>
                </a:lnTo>
                <a:cubicBezTo>
                  <a:pt x="0" y="17019"/>
                  <a:pt x="17019" y="0"/>
                  <a:pt x="37981"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8"/>
          <p:cNvSpPr/>
          <p:nvPr/>
        </p:nvSpPr>
        <p:spPr>
          <a:xfrm>
            <a:off x="8261231" y="6238430"/>
            <a:ext cx="3313869" cy="75963"/>
          </a:xfrm>
          <a:custGeom>
            <a:rect b="b" l="l" r="r" t="t"/>
            <a:pathLst>
              <a:path extrusionOk="0" h="75963" w="3313869">
                <a:moveTo>
                  <a:pt x="37981" y="0"/>
                </a:moveTo>
                <a:lnTo>
                  <a:pt x="3275888" y="0"/>
                </a:lnTo>
                <a:cubicBezTo>
                  <a:pt x="3296864" y="0"/>
                  <a:pt x="3313869" y="17005"/>
                  <a:pt x="3313869" y="37981"/>
                </a:cubicBezTo>
                <a:lnTo>
                  <a:pt x="3313869" y="37981"/>
                </a:lnTo>
                <a:cubicBezTo>
                  <a:pt x="3313869" y="58958"/>
                  <a:pt x="3296864" y="75963"/>
                  <a:pt x="3275888" y="75963"/>
                </a:cubicBezTo>
                <a:lnTo>
                  <a:pt x="37981" y="75963"/>
                </a:lnTo>
                <a:cubicBezTo>
                  <a:pt x="17019" y="75963"/>
                  <a:pt x="0" y="58944"/>
                  <a:pt x="0" y="37981"/>
                </a:cubicBezTo>
                <a:lnTo>
                  <a:pt x="0" y="37981"/>
                </a:lnTo>
                <a:cubicBezTo>
                  <a:pt x="0" y="17019"/>
                  <a:pt x="17019" y="0"/>
                  <a:pt x="37981" y="0"/>
                </a:cubicBezTo>
                <a:close/>
              </a:path>
            </a:pathLst>
          </a:custGeom>
          <a:gradFill>
            <a:gsLst>
              <a:gs pos="0">
                <a:srgbClr val="3B82F6"/>
              </a:gs>
              <a:gs pos="100000">
                <a:srgbClr val="8B5CF6"/>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8"/>
          <p:cNvSpPr/>
          <p:nvPr/>
        </p:nvSpPr>
        <p:spPr>
          <a:xfrm>
            <a:off x="8261231" y="6390355"/>
            <a:ext cx="512748" cy="1899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47">
                <a:solidFill>
                  <a:srgbClr val="94A3B8"/>
                </a:solidFill>
                <a:latin typeface="Arial"/>
                <a:ea typeface="Arial"/>
                <a:cs typeface="Arial"/>
                <a:sym typeface="Arial"/>
              </a:rPr>
              <a:t>Uptime</a:t>
            </a:r>
            <a:endParaRPr sz="1600">
              <a:solidFill>
                <a:schemeClr val="dk1"/>
              </a:solidFill>
              <a:latin typeface="Calibri"/>
              <a:ea typeface="Calibri"/>
              <a:cs typeface="Calibri"/>
              <a:sym typeface="Calibri"/>
            </a:endParaRPr>
          </a:p>
        </p:txBody>
      </p:sp>
      <p:sp>
        <p:nvSpPr>
          <p:cNvPr id="487" name="Google Shape;487;p8"/>
          <p:cNvSpPr/>
          <p:nvPr/>
        </p:nvSpPr>
        <p:spPr>
          <a:xfrm>
            <a:off x="11246473" y="6390355"/>
            <a:ext cx="465271" cy="18990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47">
                <a:solidFill>
                  <a:srgbClr val="8B5CF6"/>
                </a:solidFill>
                <a:latin typeface="Arial"/>
                <a:ea typeface="Arial"/>
                <a:cs typeface="Arial"/>
                <a:sym typeface="Arial"/>
              </a:rPr>
              <a:t>99.5%</a:t>
            </a:r>
            <a:endParaRPr sz="1600">
              <a:solidFill>
                <a:schemeClr val="dk1"/>
              </a:solidFill>
              <a:latin typeface="Calibri"/>
              <a:ea typeface="Calibri"/>
              <a:cs typeface="Calibri"/>
              <a:sym typeface="Calibri"/>
            </a:endParaRPr>
          </a:p>
        </p:txBody>
      </p:sp>
      <p:sp>
        <p:nvSpPr>
          <p:cNvPr id="488" name="Google Shape;488;p8"/>
          <p:cNvSpPr/>
          <p:nvPr/>
        </p:nvSpPr>
        <p:spPr>
          <a:xfrm>
            <a:off x="8261231" y="6618243"/>
            <a:ext cx="3389832" cy="75963"/>
          </a:xfrm>
          <a:custGeom>
            <a:rect b="b" l="l" r="r" t="t"/>
            <a:pathLst>
              <a:path extrusionOk="0" h="75963" w="3389832">
                <a:moveTo>
                  <a:pt x="37981" y="0"/>
                </a:moveTo>
                <a:lnTo>
                  <a:pt x="3351850" y="0"/>
                </a:lnTo>
                <a:cubicBezTo>
                  <a:pt x="3372827" y="0"/>
                  <a:pt x="3389832" y="17005"/>
                  <a:pt x="3389832" y="37981"/>
                </a:cubicBezTo>
                <a:lnTo>
                  <a:pt x="3389832" y="37981"/>
                </a:lnTo>
                <a:cubicBezTo>
                  <a:pt x="3389832" y="58958"/>
                  <a:pt x="3372827" y="75963"/>
                  <a:pt x="3351850" y="75963"/>
                </a:cubicBezTo>
                <a:lnTo>
                  <a:pt x="37981" y="75963"/>
                </a:lnTo>
                <a:cubicBezTo>
                  <a:pt x="17019" y="75963"/>
                  <a:pt x="0" y="58944"/>
                  <a:pt x="0" y="37981"/>
                </a:cubicBezTo>
                <a:lnTo>
                  <a:pt x="0" y="37981"/>
                </a:lnTo>
                <a:cubicBezTo>
                  <a:pt x="0" y="17019"/>
                  <a:pt x="17019" y="0"/>
                  <a:pt x="37981"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8"/>
          <p:cNvSpPr/>
          <p:nvPr/>
        </p:nvSpPr>
        <p:spPr>
          <a:xfrm>
            <a:off x="8261231" y="6618243"/>
            <a:ext cx="3370841" cy="75963"/>
          </a:xfrm>
          <a:custGeom>
            <a:rect b="b" l="l" r="r" t="t"/>
            <a:pathLst>
              <a:path extrusionOk="0" h="75963" w="3370841">
                <a:moveTo>
                  <a:pt x="37981" y="0"/>
                </a:moveTo>
                <a:lnTo>
                  <a:pt x="3332860" y="0"/>
                </a:lnTo>
                <a:cubicBezTo>
                  <a:pt x="3353836" y="0"/>
                  <a:pt x="3370841" y="17005"/>
                  <a:pt x="3370841" y="37981"/>
                </a:cubicBezTo>
                <a:lnTo>
                  <a:pt x="3370841" y="37981"/>
                </a:lnTo>
                <a:cubicBezTo>
                  <a:pt x="3370841" y="58958"/>
                  <a:pt x="3353836" y="75963"/>
                  <a:pt x="3332860" y="75963"/>
                </a:cubicBezTo>
                <a:lnTo>
                  <a:pt x="37981" y="75963"/>
                </a:lnTo>
                <a:cubicBezTo>
                  <a:pt x="17019" y="75963"/>
                  <a:pt x="0" y="58944"/>
                  <a:pt x="0" y="37981"/>
                </a:cubicBezTo>
                <a:lnTo>
                  <a:pt x="0" y="37981"/>
                </a:lnTo>
                <a:cubicBezTo>
                  <a:pt x="0" y="17019"/>
                  <a:pt x="17019" y="0"/>
                  <a:pt x="37981" y="0"/>
                </a:cubicBezTo>
                <a:close/>
              </a:path>
            </a:pathLst>
          </a:custGeom>
          <a:gradFill>
            <a:gsLst>
              <a:gs pos="0">
                <a:srgbClr val="8B5CF6"/>
              </a:gs>
              <a:gs pos="100000">
                <a:srgbClr val="EC4899"/>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94" name="Shape 494"/>
        <p:cNvGrpSpPr/>
        <p:nvPr/>
      </p:nvGrpSpPr>
      <p:grpSpPr>
        <a:xfrm>
          <a:off x="0" y="0"/>
          <a:ext cx="0" cy="0"/>
          <a:chOff x="0" y="0"/>
          <a:chExt cx="0" cy="0"/>
        </a:xfrm>
      </p:grpSpPr>
      <p:sp>
        <p:nvSpPr>
          <p:cNvPr id="495" name="Google Shape;495;p9"/>
          <p:cNvSpPr/>
          <p:nvPr/>
        </p:nvSpPr>
        <p:spPr>
          <a:xfrm>
            <a:off x="341992" y="341992"/>
            <a:ext cx="11576415" cy="2051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77">
                <a:solidFill>
                  <a:srgbClr val="6366F1"/>
                </a:solidFill>
                <a:latin typeface="Arial"/>
                <a:ea typeface="Arial"/>
                <a:cs typeface="Arial"/>
                <a:sym typeface="Arial"/>
              </a:rPr>
              <a:t>07 / ĐÁNH GIÁ</a:t>
            </a:r>
            <a:endParaRPr sz="1600">
              <a:solidFill>
                <a:schemeClr val="dk1"/>
              </a:solidFill>
              <a:latin typeface="Calibri"/>
              <a:ea typeface="Calibri"/>
              <a:cs typeface="Calibri"/>
              <a:sym typeface="Calibri"/>
            </a:endParaRPr>
          </a:p>
        </p:txBody>
      </p:sp>
      <p:sp>
        <p:nvSpPr>
          <p:cNvPr id="496" name="Google Shape;496;p9"/>
          <p:cNvSpPr/>
          <p:nvPr/>
        </p:nvSpPr>
        <p:spPr>
          <a:xfrm>
            <a:off x="341992" y="615585"/>
            <a:ext cx="11661913" cy="341992"/>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424">
                <a:solidFill>
                  <a:srgbClr val="F8FAFC"/>
                </a:solidFill>
                <a:latin typeface="Arial"/>
                <a:ea typeface="Arial"/>
                <a:cs typeface="Arial"/>
                <a:sym typeface="Arial"/>
              </a:rPr>
              <a:t>Ưu điểm và Hạn chế</a:t>
            </a:r>
            <a:endParaRPr sz="1600">
              <a:solidFill>
                <a:schemeClr val="dk1"/>
              </a:solidFill>
              <a:latin typeface="Calibri"/>
              <a:ea typeface="Calibri"/>
              <a:cs typeface="Calibri"/>
              <a:sym typeface="Calibri"/>
            </a:endParaRPr>
          </a:p>
        </p:txBody>
      </p:sp>
      <p:sp>
        <p:nvSpPr>
          <p:cNvPr id="497" name="Google Shape;497;p9"/>
          <p:cNvSpPr/>
          <p:nvPr/>
        </p:nvSpPr>
        <p:spPr>
          <a:xfrm>
            <a:off x="341992" y="1060174"/>
            <a:ext cx="820780" cy="34199"/>
          </a:xfrm>
          <a:custGeom>
            <a:rect b="b" l="l" r="r" t="t"/>
            <a:pathLst>
              <a:path extrusionOk="0" h="34199" w="820780">
                <a:moveTo>
                  <a:pt x="0" y="0"/>
                </a:moveTo>
                <a:lnTo>
                  <a:pt x="820780" y="0"/>
                </a:lnTo>
                <a:lnTo>
                  <a:pt x="820780" y="34199"/>
                </a:lnTo>
                <a:lnTo>
                  <a:pt x="0" y="34199"/>
                </a:lnTo>
                <a:lnTo>
                  <a:pt x="0" y="0"/>
                </a:lnTo>
                <a:close/>
              </a:path>
            </a:pathLst>
          </a:custGeom>
          <a:gradFill>
            <a:gsLst>
              <a:gs pos="0">
                <a:srgbClr val="10B981"/>
              </a:gs>
              <a:gs pos="100000">
                <a:srgbClr val="F59E0B"/>
              </a:gs>
            </a:gsLst>
            <a:lin ang="0" scaled="0"/>
          </a:gradFill>
          <a:ln>
            <a:noFill/>
          </a:ln>
        </p:spPr>
      </p:sp>
      <p:sp>
        <p:nvSpPr>
          <p:cNvPr id="498" name="Google Shape;498;p9"/>
          <p:cNvSpPr/>
          <p:nvPr/>
        </p:nvSpPr>
        <p:spPr>
          <a:xfrm>
            <a:off x="346266" y="1235445"/>
            <a:ext cx="5677060" cy="5617212"/>
          </a:xfrm>
          <a:custGeom>
            <a:rect b="b" l="l" r="r" t="t"/>
            <a:pathLst>
              <a:path extrusionOk="0" h="5617212" w="5677060">
                <a:moveTo>
                  <a:pt x="102570" y="0"/>
                </a:moveTo>
                <a:lnTo>
                  <a:pt x="5574490" y="0"/>
                </a:lnTo>
                <a:cubicBezTo>
                  <a:pt x="5631138" y="0"/>
                  <a:pt x="5677060" y="45922"/>
                  <a:pt x="5677060" y="102570"/>
                </a:cubicBezTo>
                <a:lnTo>
                  <a:pt x="5677060" y="5514641"/>
                </a:lnTo>
                <a:cubicBezTo>
                  <a:pt x="5677060" y="5571290"/>
                  <a:pt x="5631138" y="5617212"/>
                  <a:pt x="5574490" y="5617212"/>
                </a:cubicBezTo>
                <a:lnTo>
                  <a:pt x="102570" y="5617212"/>
                </a:lnTo>
                <a:cubicBezTo>
                  <a:pt x="45922" y="5617212"/>
                  <a:pt x="0" y="5571289"/>
                  <a:pt x="0" y="5514641"/>
                </a:cubicBezTo>
                <a:lnTo>
                  <a:pt x="0" y="102570"/>
                </a:lnTo>
                <a:cubicBezTo>
                  <a:pt x="0" y="45922"/>
                  <a:pt x="45922" y="0"/>
                  <a:pt x="102570" y="0"/>
                </a:cubicBezTo>
                <a:close/>
              </a:path>
            </a:pathLst>
          </a:custGeom>
          <a:gradFill>
            <a:gsLst>
              <a:gs pos="0">
                <a:srgbClr val="10B981">
                  <a:alpha val="9803"/>
                </a:srgbClr>
              </a:gs>
              <a:gs pos="100000">
                <a:srgbClr val="0F172A"/>
              </a:gs>
            </a:gsLst>
            <a:lin ang="2700000" scaled="0"/>
          </a:gradFill>
          <a:ln cap="flat" cmpd="sng" w="12700">
            <a:solidFill>
              <a:srgbClr val="10B98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9"/>
          <p:cNvSpPr/>
          <p:nvPr/>
        </p:nvSpPr>
        <p:spPr>
          <a:xfrm>
            <a:off x="487338" y="1376516"/>
            <a:ext cx="478788" cy="478788"/>
          </a:xfrm>
          <a:custGeom>
            <a:rect b="b" l="l" r="r" t="t"/>
            <a:pathLst>
              <a:path extrusionOk="0" h="478788" w="478788">
                <a:moveTo>
                  <a:pt x="102600" y="0"/>
                </a:moveTo>
                <a:lnTo>
                  <a:pt x="376189" y="0"/>
                </a:lnTo>
                <a:cubicBezTo>
                  <a:pt x="432853" y="0"/>
                  <a:pt x="478788" y="45935"/>
                  <a:pt x="478788" y="102600"/>
                </a:cubicBezTo>
                <a:lnTo>
                  <a:pt x="478788" y="376189"/>
                </a:lnTo>
                <a:cubicBezTo>
                  <a:pt x="478788" y="432853"/>
                  <a:pt x="432853" y="478788"/>
                  <a:pt x="376189" y="478788"/>
                </a:cubicBezTo>
                <a:lnTo>
                  <a:pt x="102600" y="478788"/>
                </a:lnTo>
                <a:cubicBezTo>
                  <a:pt x="45935" y="478788"/>
                  <a:pt x="0" y="432853"/>
                  <a:pt x="0" y="376189"/>
                </a:cubicBezTo>
                <a:lnTo>
                  <a:pt x="0" y="102600"/>
                </a:lnTo>
                <a:cubicBezTo>
                  <a:pt x="0" y="45973"/>
                  <a:pt x="45973" y="0"/>
                  <a:pt x="102600" y="0"/>
                </a:cubicBezTo>
                <a:close/>
              </a:path>
            </a:pathLst>
          </a:custGeom>
          <a:solidFill>
            <a:srgbClr val="10B981">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9"/>
          <p:cNvSpPr/>
          <p:nvPr/>
        </p:nvSpPr>
        <p:spPr>
          <a:xfrm>
            <a:off x="624135" y="1513313"/>
            <a:ext cx="205195" cy="205195"/>
          </a:xfrm>
          <a:custGeom>
            <a:rect b="b" l="l" r="r" t="t"/>
            <a:pathLst>
              <a:path extrusionOk="0" h="205195" w="205195">
                <a:moveTo>
                  <a:pt x="32062" y="64123"/>
                </a:moveTo>
                <a:cubicBezTo>
                  <a:pt x="39155" y="64123"/>
                  <a:pt x="44886" y="69854"/>
                  <a:pt x="44886" y="76948"/>
                </a:cubicBezTo>
                <a:lnTo>
                  <a:pt x="44886" y="179546"/>
                </a:lnTo>
                <a:cubicBezTo>
                  <a:pt x="44886" y="186639"/>
                  <a:pt x="39155" y="192370"/>
                  <a:pt x="32062" y="192370"/>
                </a:cubicBezTo>
                <a:lnTo>
                  <a:pt x="12825" y="192370"/>
                </a:lnTo>
                <a:cubicBezTo>
                  <a:pt x="5731" y="192370"/>
                  <a:pt x="0" y="186639"/>
                  <a:pt x="0" y="179546"/>
                </a:cubicBezTo>
                <a:lnTo>
                  <a:pt x="0" y="76948"/>
                </a:lnTo>
                <a:cubicBezTo>
                  <a:pt x="0" y="69854"/>
                  <a:pt x="5731" y="64123"/>
                  <a:pt x="12825" y="64123"/>
                </a:cubicBezTo>
                <a:lnTo>
                  <a:pt x="32062" y="64123"/>
                </a:lnTo>
                <a:close/>
                <a:moveTo>
                  <a:pt x="108449" y="6412"/>
                </a:moveTo>
                <a:cubicBezTo>
                  <a:pt x="119390" y="6412"/>
                  <a:pt x="128247" y="15269"/>
                  <a:pt x="128247" y="26210"/>
                </a:cubicBezTo>
                <a:lnTo>
                  <a:pt x="128247" y="27894"/>
                </a:lnTo>
                <a:cubicBezTo>
                  <a:pt x="128247" y="30619"/>
                  <a:pt x="127726" y="33344"/>
                  <a:pt x="126724" y="35869"/>
                </a:cubicBezTo>
                <a:lnTo>
                  <a:pt x="115422" y="64123"/>
                </a:lnTo>
                <a:lnTo>
                  <a:pt x="179546" y="64123"/>
                </a:lnTo>
                <a:cubicBezTo>
                  <a:pt x="190166" y="64123"/>
                  <a:pt x="198783" y="72740"/>
                  <a:pt x="198783" y="83360"/>
                </a:cubicBezTo>
                <a:cubicBezTo>
                  <a:pt x="198783" y="91256"/>
                  <a:pt x="194013" y="98029"/>
                  <a:pt x="187200" y="100994"/>
                </a:cubicBezTo>
                <a:cubicBezTo>
                  <a:pt x="194013" y="103960"/>
                  <a:pt x="198783" y="110733"/>
                  <a:pt x="198783" y="118628"/>
                </a:cubicBezTo>
                <a:cubicBezTo>
                  <a:pt x="198783" y="128006"/>
                  <a:pt x="192050" y="135821"/>
                  <a:pt x="183153" y="137505"/>
                </a:cubicBezTo>
                <a:cubicBezTo>
                  <a:pt x="184916" y="140430"/>
                  <a:pt x="185958" y="143837"/>
                  <a:pt x="185958" y="147484"/>
                </a:cubicBezTo>
                <a:cubicBezTo>
                  <a:pt x="185958" y="156381"/>
                  <a:pt x="179946" y="163835"/>
                  <a:pt x="171771" y="166040"/>
                </a:cubicBezTo>
                <a:cubicBezTo>
                  <a:pt x="172652" y="168244"/>
                  <a:pt x="173133" y="170648"/>
                  <a:pt x="173133" y="173133"/>
                </a:cubicBezTo>
                <a:cubicBezTo>
                  <a:pt x="173133" y="183754"/>
                  <a:pt x="164517" y="192370"/>
                  <a:pt x="153896" y="192370"/>
                </a:cubicBezTo>
                <a:lnTo>
                  <a:pt x="118668" y="192370"/>
                </a:lnTo>
                <a:cubicBezTo>
                  <a:pt x="104120" y="192370"/>
                  <a:pt x="89973" y="187401"/>
                  <a:pt x="78631" y="178303"/>
                </a:cubicBezTo>
                <a:lnTo>
                  <a:pt x="73742" y="174416"/>
                </a:lnTo>
                <a:cubicBezTo>
                  <a:pt x="67650" y="169566"/>
                  <a:pt x="64123" y="162192"/>
                  <a:pt x="64123" y="154377"/>
                </a:cubicBezTo>
                <a:lnTo>
                  <a:pt x="64123" y="79593"/>
                </a:lnTo>
                <a:cubicBezTo>
                  <a:pt x="64123" y="73622"/>
                  <a:pt x="65526" y="67730"/>
                  <a:pt x="68171" y="62400"/>
                </a:cubicBezTo>
                <a:lnTo>
                  <a:pt x="90695" y="17353"/>
                </a:lnTo>
                <a:cubicBezTo>
                  <a:pt x="94061" y="10661"/>
                  <a:pt x="100914" y="6412"/>
                  <a:pt x="108449" y="6412"/>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9"/>
          <p:cNvSpPr/>
          <p:nvPr/>
        </p:nvSpPr>
        <p:spPr>
          <a:xfrm>
            <a:off x="1068724" y="1483388"/>
            <a:ext cx="940477" cy="265043"/>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616">
                <a:solidFill>
                  <a:srgbClr val="F8FAFC"/>
                </a:solidFill>
                <a:latin typeface="Arial"/>
                <a:ea typeface="Arial"/>
                <a:cs typeface="Arial"/>
                <a:sym typeface="Arial"/>
              </a:rPr>
              <a:t>Ưu điểm</a:t>
            </a:r>
            <a:endParaRPr sz="1600">
              <a:solidFill>
                <a:schemeClr val="dk1"/>
              </a:solidFill>
              <a:latin typeface="Calibri"/>
              <a:ea typeface="Calibri"/>
              <a:cs typeface="Calibri"/>
              <a:sym typeface="Calibri"/>
            </a:endParaRPr>
          </a:p>
        </p:txBody>
      </p:sp>
      <p:sp>
        <p:nvSpPr>
          <p:cNvPr id="502" name="Google Shape;502;p9"/>
          <p:cNvSpPr/>
          <p:nvPr/>
        </p:nvSpPr>
        <p:spPr>
          <a:xfrm>
            <a:off x="504438" y="1992101"/>
            <a:ext cx="5377818" cy="889178"/>
          </a:xfrm>
          <a:custGeom>
            <a:rect b="b" l="l" r="r" t="t"/>
            <a:pathLst>
              <a:path extrusionOk="0" h="889178" w="5377818">
                <a:moveTo>
                  <a:pt x="34199" y="0"/>
                </a:moveTo>
                <a:lnTo>
                  <a:pt x="5309422" y="0"/>
                </a:lnTo>
                <a:cubicBezTo>
                  <a:pt x="5347196" y="0"/>
                  <a:pt x="5377818" y="30622"/>
                  <a:pt x="5377818" y="68396"/>
                </a:cubicBezTo>
                <a:lnTo>
                  <a:pt x="5377818" y="820783"/>
                </a:lnTo>
                <a:cubicBezTo>
                  <a:pt x="5377818" y="858556"/>
                  <a:pt x="5347196" y="889178"/>
                  <a:pt x="5309422" y="889178"/>
                </a:cubicBezTo>
                <a:lnTo>
                  <a:pt x="34199" y="889178"/>
                </a:lnTo>
                <a:cubicBezTo>
                  <a:pt x="15311" y="889178"/>
                  <a:pt x="0" y="873867"/>
                  <a:pt x="0" y="854979"/>
                </a:cubicBezTo>
                <a:lnTo>
                  <a:pt x="0" y="34199"/>
                </a:lnTo>
                <a:cubicBezTo>
                  <a:pt x="0" y="15324"/>
                  <a:pt x="15324" y="0"/>
                  <a:pt x="34199"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9"/>
          <p:cNvSpPr/>
          <p:nvPr/>
        </p:nvSpPr>
        <p:spPr>
          <a:xfrm>
            <a:off x="504438" y="1992101"/>
            <a:ext cx="34199" cy="889178"/>
          </a:xfrm>
          <a:custGeom>
            <a:rect b="b" l="l" r="r" t="t"/>
            <a:pathLst>
              <a:path extrusionOk="0" h="889178" w="34199">
                <a:moveTo>
                  <a:pt x="34199" y="0"/>
                </a:moveTo>
                <a:lnTo>
                  <a:pt x="34199" y="0"/>
                </a:lnTo>
                <a:lnTo>
                  <a:pt x="34199" y="889178"/>
                </a:lnTo>
                <a:lnTo>
                  <a:pt x="34199" y="889178"/>
                </a:lnTo>
                <a:cubicBezTo>
                  <a:pt x="15311" y="889178"/>
                  <a:pt x="0" y="873867"/>
                  <a:pt x="0" y="854979"/>
                </a:cubicBezTo>
                <a:lnTo>
                  <a:pt x="0" y="34199"/>
                </a:lnTo>
                <a:cubicBezTo>
                  <a:pt x="0" y="15324"/>
                  <a:pt x="15324" y="0"/>
                  <a:pt x="34199"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9"/>
          <p:cNvSpPr/>
          <p:nvPr/>
        </p:nvSpPr>
        <p:spPr>
          <a:xfrm>
            <a:off x="624135" y="2128898"/>
            <a:ext cx="273593" cy="273593"/>
          </a:xfrm>
          <a:custGeom>
            <a:rect b="b" l="l" r="r" t="t"/>
            <a:pathLst>
              <a:path extrusionOk="0" h="273593" w="273593">
                <a:moveTo>
                  <a:pt x="136797" y="0"/>
                </a:moveTo>
                <a:lnTo>
                  <a:pt x="136797" y="0"/>
                </a:lnTo>
                <a:cubicBezTo>
                  <a:pt x="212297" y="0"/>
                  <a:pt x="273593" y="61297"/>
                  <a:pt x="273593" y="136797"/>
                </a:cubicBezTo>
                <a:lnTo>
                  <a:pt x="273593" y="136797"/>
                </a:lnTo>
                <a:cubicBezTo>
                  <a:pt x="273593" y="212297"/>
                  <a:pt x="212297" y="273593"/>
                  <a:pt x="136797" y="273593"/>
                </a:cubicBezTo>
                <a:lnTo>
                  <a:pt x="136797" y="273593"/>
                </a:lnTo>
                <a:cubicBezTo>
                  <a:pt x="61297" y="273593"/>
                  <a:pt x="0" y="212297"/>
                  <a:pt x="0" y="136797"/>
                </a:cubicBezTo>
                <a:lnTo>
                  <a:pt x="0" y="136797"/>
                </a:lnTo>
                <a:cubicBezTo>
                  <a:pt x="0" y="61297"/>
                  <a:pt x="61297" y="0"/>
                  <a:pt x="136797"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9"/>
          <p:cNvSpPr/>
          <p:nvPr/>
        </p:nvSpPr>
        <p:spPr>
          <a:xfrm>
            <a:off x="703220" y="2205846"/>
            <a:ext cx="119697" cy="119697"/>
          </a:xfrm>
          <a:custGeom>
            <a:rect b="b" l="l" r="r" t="t"/>
            <a:pathLst>
              <a:path extrusionOk="0" h="119697" w="119697">
                <a:moveTo>
                  <a:pt x="29924" y="74811"/>
                </a:moveTo>
                <a:lnTo>
                  <a:pt x="5728" y="74811"/>
                </a:lnTo>
                <a:cubicBezTo>
                  <a:pt x="-94" y="74811"/>
                  <a:pt x="-3670" y="68475"/>
                  <a:pt x="-678" y="63472"/>
                </a:cubicBezTo>
                <a:lnTo>
                  <a:pt x="11689" y="42852"/>
                </a:lnTo>
                <a:cubicBezTo>
                  <a:pt x="13723" y="39463"/>
                  <a:pt x="17370" y="37405"/>
                  <a:pt x="21321" y="37405"/>
                </a:cubicBezTo>
                <a:lnTo>
                  <a:pt x="43530" y="37405"/>
                </a:lnTo>
                <a:cubicBezTo>
                  <a:pt x="61321" y="7271"/>
                  <a:pt x="87856" y="5751"/>
                  <a:pt x="105600" y="8346"/>
                </a:cubicBezTo>
                <a:cubicBezTo>
                  <a:pt x="108592" y="8790"/>
                  <a:pt x="110930" y="11128"/>
                  <a:pt x="111351" y="14097"/>
                </a:cubicBezTo>
                <a:cubicBezTo>
                  <a:pt x="113946" y="31841"/>
                  <a:pt x="112426" y="58376"/>
                  <a:pt x="82292" y="76167"/>
                </a:cubicBezTo>
                <a:lnTo>
                  <a:pt x="82292" y="98376"/>
                </a:lnTo>
                <a:cubicBezTo>
                  <a:pt x="82292" y="102327"/>
                  <a:pt x="80234" y="105974"/>
                  <a:pt x="76845" y="108008"/>
                </a:cubicBezTo>
                <a:lnTo>
                  <a:pt x="56225" y="120375"/>
                </a:lnTo>
                <a:cubicBezTo>
                  <a:pt x="51245" y="123367"/>
                  <a:pt x="44886" y="119767"/>
                  <a:pt x="44886" y="113969"/>
                </a:cubicBezTo>
                <a:lnTo>
                  <a:pt x="44886" y="89773"/>
                </a:lnTo>
                <a:cubicBezTo>
                  <a:pt x="44886" y="81520"/>
                  <a:pt x="38177" y="74811"/>
                  <a:pt x="29924" y="74811"/>
                </a:cubicBezTo>
                <a:lnTo>
                  <a:pt x="29901" y="74811"/>
                </a:lnTo>
                <a:close/>
                <a:moveTo>
                  <a:pt x="93513" y="37405"/>
                </a:moveTo>
                <a:cubicBezTo>
                  <a:pt x="93513" y="31212"/>
                  <a:pt x="88485" y="26184"/>
                  <a:pt x="82292" y="26184"/>
                </a:cubicBezTo>
                <a:cubicBezTo>
                  <a:pt x="76098" y="26184"/>
                  <a:pt x="71070" y="31212"/>
                  <a:pt x="71070" y="37405"/>
                </a:cubicBezTo>
                <a:cubicBezTo>
                  <a:pt x="71070" y="43599"/>
                  <a:pt x="76098" y="48627"/>
                  <a:pt x="82292" y="48627"/>
                </a:cubicBezTo>
                <a:cubicBezTo>
                  <a:pt x="88485" y="48627"/>
                  <a:pt x="93513" y="43599"/>
                  <a:pt x="93513" y="37405"/>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9"/>
          <p:cNvSpPr/>
          <p:nvPr/>
        </p:nvSpPr>
        <p:spPr>
          <a:xfrm>
            <a:off x="1000325" y="2094698"/>
            <a:ext cx="4847731" cy="2051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77">
                <a:solidFill>
                  <a:srgbClr val="F8FAFC"/>
                </a:solidFill>
                <a:latin typeface="Arial"/>
                <a:ea typeface="Arial"/>
                <a:cs typeface="Arial"/>
                <a:sym typeface="Arial"/>
              </a:rPr>
              <a:t>Tận dụng Low-code</a:t>
            </a:r>
            <a:endParaRPr sz="1600">
              <a:solidFill>
                <a:schemeClr val="dk1"/>
              </a:solidFill>
              <a:latin typeface="Calibri"/>
              <a:ea typeface="Calibri"/>
              <a:cs typeface="Calibri"/>
              <a:sym typeface="Calibri"/>
            </a:endParaRPr>
          </a:p>
        </p:txBody>
      </p:sp>
      <p:sp>
        <p:nvSpPr>
          <p:cNvPr id="507" name="Google Shape;507;p9"/>
          <p:cNvSpPr/>
          <p:nvPr/>
        </p:nvSpPr>
        <p:spPr>
          <a:xfrm>
            <a:off x="1000325" y="2334093"/>
            <a:ext cx="4847731" cy="444589"/>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77">
                <a:solidFill>
                  <a:srgbClr val="94A3B8"/>
                </a:solidFill>
                <a:latin typeface="Arial"/>
                <a:ea typeface="Arial"/>
                <a:cs typeface="Arial"/>
                <a:sym typeface="Arial"/>
              </a:rPr>
              <a:t>Giảm thời gian phát triển </a:t>
            </a:r>
            <a:r>
              <a:rPr b="1" lang="en-US" sz="1077">
                <a:solidFill>
                  <a:srgbClr val="10B981"/>
                </a:solidFill>
                <a:latin typeface="Arial"/>
                <a:ea typeface="Arial"/>
                <a:cs typeface="Arial"/>
                <a:sym typeface="Arial"/>
              </a:rPr>
              <a:t>60-70%</a:t>
            </a:r>
            <a:r>
              <a:rPr lang="en-US" sz="1077">
                <a:solidFill>
                  <a:srgbClr val="94A3B8"/>
                </a:solidFill>
                <a:latin typeface="Arial"/>
                <a:ea typeface="Arial"/>
                <a:cs typeface="Arial"/>
                <a:sym typeface="Arial"/>
              </a:rPr>
              <a:t> so với code truyền thống. Dễ dàng chỉnh sửa workflow mà không cần deploy lại.</a:t>
            </a:r>
            <a:endParaRPr sz="1600">
              <a:solidFill>
                <a:schemeClr val="dk1"/>
              </a:solidFill>
              <a:latin typeface="Calibri"/>
              <a:ea typeface="Calibri"/>
              <a:cs typeface="Calibri"/>
              <a:sym typeface="Calibri"/>
            </a:endParaRPr>
          </a:p>
        </p:txBody>
      </p:sp>
      <p:sp>
        <p:nvSpPr>
          <p:cNvPr id="508" name="Google Shape;508;p9"/>
          <p:cNvSpPr/>
          <p:nvPr/>
        </p:nvSpPr>
        <p:spPr>
          <a:xfrm>
            <a:off x="504438" y="2983877"/>
            <a:ext cx="5377818" cy="889178"/>
          </a:xfrm>
          <a:custGeom>
            <a:rect b="b" l="l" r="r" t="t"/>
            <a:pathLst>
              <a:path extrusionOk="0" h="889178" w="5377818">
                <a:moveTo>
                  <a:pt x="34199" y="0"/>
                </a:moveTo>
                <a:lnTo>
                  <a:pt x="5309422" y="0"/>
                </a:lnTo>
                <a:cubicBezTo>
                  <a:pt x="5347196" y="0"/>
                  <a:pt x="5377818" y="30622"/>
                  <a:pt x="5377818" y="68396"/>
                </a:cubicBezTo>
                <a:lnTo>
                  <a:pt x="5377818" y="820783"/>
                </a:lnTo>
                <a:cubicBezTo>
                  <a:pt x="5377818" y="858556"/>
                  <a:pt x="5347196" y="889178"/>
                  <a:pt x="5309422" y="889178"/>
                </a:cubicBezTo>
                <a:lnTo>
                  <a:pt x="34199" y="889178"/>
                </a:lnTo>
                <a:cubicBezTo>
                  <a:pt x="15311" y="889178"/>
                  <a:pt x="0" y="873867"/>
                  <a:pt x="0" y="854979"/>
                </a:cubicBezTo>
                <a:lnTo>
                  <a:pt x="0" y="34199"/>
                </a:lnTo>
                <a:cubicBezTo>
                  <a:pt x="0" y="15324"/>
                  <a:pt x="15324" y="0"/>
                  <a:pt x="34199"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9"/>
          <p:cNvSpPr/>
          <p:nvPr/>
        </p:nvSpPr>
        <p:spPr>
          <a:xfrm>
            <a:off x="504438" y="2983877"/>
            <a:ext cx="34199" cy="889178"/>
          </a:xfrm>
          <a:custGeom>
            <a:rect b="b" l="l" r="r" t="t"/>
            <a:pathLst>
              <a:path extrusionOk="0" h="889178" w="34199">
                <a:moveTo>
                  <a:pt x="34199" y="0"/>
                </a:moveTo>
                <a:lnTo>
                  <a:pt x="34199" y="0"/>
                </a:lnTo>
                <a:lnTo>
                  <a:pt x="34199" y="889178"/>
                </a:lnTo>
                <a:lnTo>
                  <a:pt x="34199" y="889178"/>
                </a:lnTo>
                <a:cubicBezTo>
                  <a:pt x="15311" y="889178"/>
                  <a:pt x="0" y="873867"/>
                  <a:pt x="0" y="854979"/>
                </a:cubicBezTo>
                <a:lnTo>
                  <a:pt x="0" y="34199"/>
                </a:lnTo>
                <a:cubicBezTo>
                  <a:pt x="0" y="15324"/>
                  <a:pt x="15324" y="0"/>
                  <a:pt x="34199"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9"/>
          <p:cNvSpPr/>
          <p:nvPr/>
        </p:nvSpPr>
        <p:spPr>
          <a:xfrm>
            <a:off x="624135" y="3120673"/>
            <a:ext cx="273593" cy="273593"/>
          </a:xfrm>
          <a:custGeom>
            <a:rect b="b" l="l" r="r" t="t"/>
            <a:pathLst>
              <a:path extrusionOk="0" h="273593" w="273593">
                <a:moveTo>
                  <a:pt x="136797" y="0"/>
                </a:moveTo>
                <a:lnTo>
                  <a:pt x="136797" y="0"/>
                </a:lnTo>
                <a:cubicBezTo>
                  <a:pt x="212297" y="0"/>
                  <a:pt x="273593" y="61297"/>
                  <a:pt x="273593" y="136797"/>
                </a:cubicBezTo>
                <a:lnTo>
                  <a:pt x="273593" y="136797"/>
                </a:lnTo>
                <a:cubicBezTo>
                  <a:pt x="273593" y="212297"/>
                  <a:pt x="212297" y="273593"/>
                  <a:pt x="136797" y="273593"/>
                </a:cubicBezTo>
                <a:lnTo>
                  <a:pt x="136797" y="273593"/>
                </a:lnTo>
                <a:cubicBezTo>
                  <a:pt x="61297" y="273593"/>
                  <a:pt x="0" y="212297"/>
                  <a:pt x="0" y="136797"/>
                </a:cubicBezTo>
                <a:lnTo>
                  <a:pt x="0" y="136797"/>
                </a:lnTo>
                <a:cubicBezTo>
                  <a:pt x="0" y="61297"/>
                  <a:pt x="61297" y="0"/>
                  <a:pt x="136797"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9"/>
          <p:cNvSpPr/>
          <p:nvPr/>
        </p:nvSpPr>
        <p:spPr>
          <a:xfrm>
            <a:off x="703220" y="3197621"/>
            <a:ext cx="119697" cy="119697"/>
          </a:xfrm>
          <a:custGeom>
            <a:rect b="b" l="l" r="r" t="t"/>
            <a:pathLst>
              <a:path extrusionOk="0" h="119697" w="119697">
                <a:moveTo>
                  <a:pt x="66394" y="-304"/>
                </a:moveTo>
                <a:cubicBezTo>
                  <a:pt x="62350" y="-2642"/>
                  <a:pt x="57347" y="-2642"/>
                  <a:pt x="53303" y="-304"/>
                </a:cubicBezTo>
                <a:lnTo>
                  <a:pt x="33618" y="11058"/>
                </a:lnTo>
                <a:cubicBezTo>
                  <a:pt x="29574" y="13396"/>
                  <a:pt x="27072" y="17721"/>
                  <a:pt x="27072" y="22396"/>
                </a:cubicBezTo>
                <a:lnTo>
                  <a:pt x="27072" y="46219"/>
                </a:lnTo>
                <a:lnTo>
                  <a:pt x="6429" y="58142"/>
                </a:lnTo>
                <a:cubicBezTo>
                  <a:pt x="2385" y="60480"/>
                  <a:pt x="-117" y="64805"/>
                  <a:pt x="-117" y="69480"/>
                </a:cubicBezTo>
                <a:lnTo>
                  <a:pt x="-117" y="92228"/>
                </a:lnTo>
                <a:cubicBezTo>
                  <a:pt x="-117" y="96903"/>
                  <a:pt x="2385" y="101228"/>
                  <a:pt x="6429" y="103566"/>
                </a:cubicBezTo>
                <a:lnTo>
                  <a:pt x="26137" y="114928"/>
                </a:lnTo>
                <a:cubicBezTo>
                  <a:pt x="30181" y="117266"/>
                  <a:pt x="35184" y="117266"/>
                  <a:pt x="39229" y="114928"/>
                </a:cubicBezTo>
                <a:lnTo>
                  <a:pt x="59872" y="103005"/>
                </a:lnTo>
                <a:lnTo>
                  <a:pt x="80515" y="114928"/>
                </a:lnTo>
                <a:cubicBezTo>
                  <a:pt x="84559" y="117266"/>
                  <a:pt x="89562" y="117266"/>
                  <a:pt x="93607" y="114928"/>
                </a:cubicBezTo>
                <a:lnTo>
                  <a:pt x="113268" y="103566"/>
                </a:lnTo>
                <a:cubicBezTo>
                  <a:pt x="117312" y="101228"/>
                  <a:pt x="119814" y="96903"/>
                  <a:pt x="119814" y="92228"/>
                </a:cubicBezTo>
                <a:lnTo>
                  <a:pt x="119814" y="69480"/>
                </a:lnTo>
                <a:cubicBezTo>
                  <a:pt x="119814" y="64805"/>
                  <a:pt x="117312" y="60480"/>
                  <a:pt x="113268" y="58142"/>
                </a:cubicBezTo>
                <a:lnTo>
                  <a:pt x="92625" y="46219"/>
                </a:lnTo>
                <a:lnTo>
                  <a:pt x="92625" y="22396"/>
                </a:lnTo>
                <a:cubicBezTo>
                  <a:pt x="92625" y="17721"/>
                  <a:pt x="90123" y="13396"/>
                  <a:pt x="86079" y="11058"/>
                </a:cubicBezTo>
                <a:lnTo>
                  <a:pt x="66394" y="-304"/>
                </a:lnTo>
                <a:close/>
                <a:moveTo>
                  <a:pt x="54238" y="68405"/>
                </a:moveTo>
                <a:lnTo>
                  <a:pt x="54238" y="93303"/>
                </a:lnTo>
                <a:lnTo>
                  <a:pt x="33595" y="105226"/>
                </a:lnTo>
                <a:cubicBezTo>
                  <a:pt x="33314" y="105390"/>
                  <a:pt x="32987" y="105483"/>
                  <a:pt x="32660" y="105483"/>
                </a:cubicBezTo>
                <a:lnTo>
                  <a:pt x="32660" y="80866"/>
                </a:lnTo>
                <a:lnTo>
                  <a:pt x="54238" y="68405"/>
                </a:lnTo>
                <a:close/>
                <a:moveTo>
                  <a:pt x="108335" y="68545"/>
                </a:moveTo>
                <a:cubicBezTo>
                  <a:pt x="108499" y="68826"/>
                  <a:pt x="108592" y="69153"/>
                  <a:pt x="108592" y="69480"/>
                </a:cubicBezTo>
                <a:lnTo>
                  <a:pt x="108592" y="92228"/>
                </a:lnTo>
                <a:cubicBezTo>
                  <a:pt x="108592" y="92905"/>
                  <a:pt x="108242" y="93513"/>
                  <a:pt x="107657" y="93841"/>
                </a:cubicBezTo>
                <a:lnTo>
                  <a:pt x="87949" y="105202"/>
                </a:lnTo>
                <a:cubicBezTo>
                  <a:pt x="87669" y="105366"/>
                  <a:pt x="87341" y="105460"/>
                  <a:pt x="87014" y="105460"/>
                </a:cubicBezTo>
                <a:lnTo>
                  <a:pt x="87014" y="80842"/>
                </a:lnTo>
                <a:lnTo>
                  <a:pt x="108335" y="68545"/>
                </a:lnTo>
                <a:close/>
                <a:moveTo>
                  <a:pt x="81427" y="22396"/>
                </a:moveTo>
                <a:lnTo>
                  <a:pt x="81427" y="46219"/>
                </a:lnTo>
                <a:lnTo>
                  <a:pt x="59849" y="58680"/>
                </a:lnTo>
                <a:lnTo>
                  <a:pt x="59849" y="33782"/>
                </a:lnTo>
                <a:lnTo>
                  <a:pt x="81170" y="21485"/>
                </a:lnTo>
                <a:cubicBezTo>
                  <a:pt x="81333" y="21765"/>
                  <a:pt x="81427" y="22093"/>
                  <a:pt x="81427" y="2242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9"/>
          <p:cNvSpPr/>
          <p:nvPr/>
        </p:nvSpPr>
        <p:spPr>
          <a:xfrm>
            <a:off x="1000325" y="3086474"/>
            <a:ext cx="4847731" cy="2051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77">
                <a:solidFill>
                  <a:srgbClr val="F8FAFC"/>
                </a:solidFill>
                <a:latin typeface="Arial"/>
                <a:ea typeface="Arial"/>
                <a:cs typeface="Arial"/>
                <a:sym typeface="Arial"/>
              </a:rPr>
              <a:t>Kiến trúc Modular</a:t>
            </a:r>
            <a:endParaRPr sz="1600">
              <a:solidFill>
                <a:schemeClr val="dk1"/>
              </a:solidFill>
              <a:latin typeface="Calibri"/>
              <a:ea typeface="Calibri"/>
              <a:cs typeface="Calibri"/>
              <a:sym typeface="Calibri"/>
            </a:endParaRPr>
          </a:p>
        </p:txBody>
      </p:sp>
      <p:sp>
        <p:nvSpPr>
          <p:cNvPr id="513" name="Google Shape;513;p9"/>
          <p:cNvSpPr/>
          <p:nvPr/>
        </p:nvSpPr>
        <p:spPr>
          <a:xfrm>
            <a:off x="1000325" y="3325868"/>
            <a:ext cx="4847731" cy="444589"/>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77">
                <a:solidFill>
                  <a:srgbClr val="94A3B8"/>
                </a:solidFill>
                <a:latin typeface="Arial"/>
                <a:ea typeface="Arial"/>
                <a:cs typeface="Arial"/>
                <a:sym typeface="Arial"/>
              </a:rPr>
              <a:t>Dễ bảo trì và mở rộng. Mỗi node độc lập, có thể thay thế hoặc nâng cấp riêng lẻ không ảnh hưởng hệ thống.</a:t>
            </a:r>
            <a:endParaRPr sz="1600">
              <a:solidFill>
                <a:schemeClr val="dk1"/>
              </a:solidFill>
              <a:latin typeface="Calibri"/>
              <a:ea typeface="Calibri"/>
              <a:cs typeface="Calibri"/>
              <a:sym typeface="Calibri"/>
            </a:endParaRPr>
          </a:p>
        </p:txBody>
      </p:sp>
      <p:sp>
        <p:nvSpPr>
          <p:cNvPr id="514" name="Google Shape;514;p9"/>
          <p:cNvSpPr/>
          <p:nvPr/>
        </p:nvSpPr>
        <p:spPr>
          <a:xfrm>
            <a:off x="504438" y="3975652"/>
            <a:ext cx="5377818" cy="889178"/>
          </a:xfrm>
          <a:custGeom>
            <a:rect b="b" l="l" r="r" t="t"/>
            <a:pathLst>
              <a:path extrusionOk="0" h="889178" w="5377818">
                <a:moveTo>
                  <a:pt x="34199" y="0"/>
                </a:moveTo>
                <a:lnTo>
                  <a:pt x="5309422" y="0"/>
                </a:lnTo>
                <a:cubicBezTo>
                  <a:pt x="5347196" y="0"/>
                  <a:pt x="5377818" y="30622"/>
                  <a:pt x="5377818" y="68396"/>
                </a:cubicBezTo>
                <a:lnTo>
                  <a:pt x="5377818" y="820783"/>
                </a:lnTo>
                <a:cubicBezTo>
                  <a:pt x="5377818" y="858556"/>
                  <a:pt x="5347196" y="889178"/>
                  <a:pt x="5309422" y="889178"/>
                </a:cubicBezTo>
                <a:lnTo>
                  <a:pt x="34199" y="889178"/>
                </a:lnTo>
                <a:cubicBezTo>
                  <a:pt x="15311" y="889178"/>
                  <a:pt x="0" y="873867"/>
                  <a:pt x="0" y="854979"/>
                </a:cubicBezTo>
                <a:lnTo>
                  <a:pt x="0" y="34199"/>
                </a:lnTo>
                <a:cubicBezTo>
                  <a:pt x="0" y="15324"/>
                  <a:pt x="15324" y="0"/>
                  <a:pt x="34199"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9"/>
          <p:cNvSpPr/>
          <p:nvPr/>
        </p:nvSpPr>
        <p:spPr>
          <a:xfrm>
            <a:off x="504438" y="3975652"/>
            <a:ext cx="34199" cy="889178"/>
          </a:xfrm>
          <a:custGeom>
            <a:rect b="b" l="l" r="r" t="t"/>
            <a:pathLst>
              <a:path extrusionOk="0" h="889178" w="34199">
                <a:moveTo>
                  <a:pt x="34199" y="0"/>
                </a:moveTo>
                <a:lnTo>
                  <a:pt x="34199" y="0"/>
                </a:lnTo>
                <a:lnTo>
                  <a:pt x="34199" y="889178"/>
                </a:lnTo>
                <a:lnTo>
                  <a:pt x="34199" y="889178"/>
                </a:lnTo>
                <a:cubicBezTo>
                  <a:pt x="15311" y="889178"/>
                  <a:pt x="0" y="873867"/>
                  <a:pt x="0" y="854979"/>
                </a:cubicBezTo>
                <a:lnTo>
                  <a:pt x="0" y="34199"/>
                </a:lnTo>
                <a:cubicBezTo>
                  <a:pt x="0" y="15324"/>
                  <a:pt x="15324" y="0"/>
                  <a:pt x="34199"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9"/>
          <p:cNvSpPr/>
          <p:nvPr/>
        </p:nvSpPr>
        <p:spPr>
          <a:xfrm>
            <a:off x="624135" y="4112449"/>
            <a:ext cx="273593" cy="273593"/>
          </a:xfrm>
          <a:custGeom>
            <a:rect b="b" l="l" r="r" t="t"/>
            <a:pathLst>
              <a:path extrusionOk="0" h="273593" w="273593">
                <a:moveTo>
                  <a:pt x="136797" y="0"/>
                </a:moveTo>
                <a:lnTo>
                  <a:pt x="136797" y="0"/>
                </a:lnTo>
                <a:cubicBezTo>
                  <a:pt x="212297" y="0"/>
                  <a:pt x="273593" y="61297"/>
                  <a:pt x="273593" y="136797"/>
                </a:cubicBezTo>
                <a:lnTo>
                  <a:pt x="273593" y="136797"/>
                </a:lnTo>
                <a:cubicBezTo>
                  <a:pt x="273593" y="212297"/>
                  <a:pt x="212297" y="273593"/>
                  <a:pt x="136797" y="273593"/>
                </a:cubicBezTo>
                <a:lnTo>
                  <a:pt x="136797" y="273593"/>
                </a:lnTo>
                <a:cubicBezTo>
                  <a:pt x="61297" y="273593"/>
                  <a:pt x="0" y="212297"/>
                  <a:pt x="0" y="136797"/>
                </a:cubicBezTo>
                <a:lnTo>
                  <a:pt x="0" y="136797"/>
                </a:lnTo>
                <a:cubicBezTo>
                  <a:pt x="0" y="61297"/>
                  <a:pt x="61297" y="0"/>
                  <a:pt x="136797"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9"/>
          <p:cNvSpPr/>
          <p:nvPr/>
        </p:nvSpPr>
        <p:spPr>
          <a:xfrm>
            <a:off x="688258" y="4189397"/>
            <a:ext cx="149621" cy="119697"/>
          </a:xfrm>
          <a:custGeom>
            <a:rect b="b" l="l" r="r" t="t"/>
            <a:pathLst>
              <a:path extrusionOk="0" h="119697" w="149621">
                <a:moveTo>
                  <a:pt x="89773" y="7481"/>
                </a:moveTo>
                <a:lnTo>
                  <a:pt x="119697" y="7481"/>
                </a:lnTo>
                <a:cubicBezTo>
                  <a:pt x="123835" y="7481"/>
                  <a:pt x="127178" y="10824"/>
                  <a:pt x="127178" y="14962"/>
                </a:cubicBezTo>
                <a:cubicBezTo>
                  <a:pt x="127178" y="19100"/>
                  <a:pt x="123835" y="22443"/>
                  <a:pt x="119697" y="22443"/>
                </a:cubicBezTo>
                <a:lnTo>
                  <a:pt x="93139" y="22443"/>
                </a:lnTo>
                <a:cubicBezTo>
                  <a:pt x="91924" y="28475"/>
                  <a:pt x="87786" y="33454"/>
                  <a:pt x="82292" y="35839"/>
                </a:cubicBezTo>
                <a:lnTo>
                  <a:pt x="82292" y="104735"/>
                </a:lnTo>
                <a:lnTo>
                  <a:pt x="119697" y="104735"/>
                </a:lnTo>
                <a:cubicBezTo>
                  <a:pt x="123835" y="104735"/>
                  <a:pt x="127178" y="108078"/>
                  <a:pt x="127178" y="112216"/>
                </a:cubicBezTo>
                <a:cubicBezTo>
                  <a:pt x="127178" y="116354"/>
                  <a:pt x="123835" y="119697"/>
                  <a:pt x="119697" y="119697"/>
                </a:cubicBezTo>
                <a:lnTo>
                  <a:pt x="29924" y="119697"/>
                </a:lnTo>
                <a:cubicBezTo>
                  <a:pt x="25786" y="119697"/>
                  <a:pt x="22443" y="116354"/>
                  <a:pt x="22443" y="112216"/>
                </a:cubicBezTo>
                <a:cubicBezTo>
                  <a:pt x="22443" y="108078"/>
                  <a:pt x="25786" y="104735"/>
                  <a:pt x="29924" y="104735"/>
                </a:cubicBezTo>
                <a:lnTo>
                  <a:pt x="67330" y="104735"/>
                </a:lnTo>
                <a:lnTo>
                  <a:pt x="67330" y="35839"/>
                </a:lnTo>
                <a:cubicBezTo>
                  <a:pt x="61836" y="33431"/>
                  <a:pt x="57698" y="28451"/>
                  <a:pt x="56482" y="22443"/>
                </a:cubicBezTo>
                <a:lnTo>
                  <a:pt x="29924" y="22443"/>
                </a:lnTo>
                <a:cubicBezTo>
                  <a:pt x="25786" y="22443"/>
                  <a:pt x="22443" y="19100"/>
                  <a:pt x="22443" y="14962"/>
                </a:cubicBezTo>
                <a:cubicBezTo>
                  <a:pt x="22443" y="10824"/>
                  <a:pt x="25786" y="7481"/>
                  <a:pt x="29924" y="7481"/>
                </a:cubicBezTo>
                <a:lnTo>
                  <a:pt x="59849" y="7481"/>
                </a:lnTo>
                <a:cubicBezTo>
                  <a:pt x="63262" y="2946"/>
                  <a:pt x="68686" y="0"/>
                  <a:pt x="74811" y="0"/>
                </a:cubicBezTo>
                <a:cubicBezTo>
                  <a:pt x="80936" y="0"/>
                  <a:pt x="86360" y="2946"/>
                  <a:pt x="89773" y="7481"/>
                </a:cubicBezTo>
                <a:close/>
                <a:moveTo>
                  <a:pt x="102771" y="74811"/>
                </a:moveTo>
                <a:lnTo>
                  <a:pt x="136623" y="74811"/>
                </a:lnTo>
                <a:lnTo>
                  <a:pt x="119697" y="45775"/>
                </a:lnTo>
                <a:lnTo>
                  <a:pt x="102771" y="74811"/>
                </a:lnTo>
                <a:close/>
                <a:moveTo>
                  <a:pt x="119697" y="97254"/>
                </a:moveTo>
                <a:cubicBezTo>
                  <a:pt x="104992" y="97254"/>
                  <a:pt x="92765" y="89305"/>
                  <a:pt x="90240" y="78808"/>
                </a:cubicBezTo>
                <a:cubicBezTo>
                  <a:pt x="89633" y="76237"/>
                  <a:pt x="90474" y="73595"/>
                  <a:pt x="91807" y="71304"/>
                </a:cubicBezTo>
                <a:lnTo>
                  <a:pt x="114063" y="33150"/>
                </a:lnTo>
                <a:cubicBezTo>
                  <a:pt x="115232" y="31140"/>
                  <a:pt x="117383" y="29924"/>
                  <a:pt x="119697" y="29924"/>
                </a:cubicBezTo>
                <a:cubicBezTo>
                  <a:pt x="122012" y="29924"/>
                  <a:pt x="124162" y="31163"/>
                  <a:pt x="125331" y="33150"/>
                </a:cubicBezTo>
                <a:lnTo>
                  <a:pt x="147587" y="71304"/>
                </a:lnTo>
                <a:cubicBezTo>
                  <a:pt x="148920" y="73595"/>
                  <a:pt x="149762" y="76237"/>
                  <a:pt x="149154" y="78808"/>
                </a:cubicBezTo>
                <a:cubicBezTo>
                  <a:pt x="146629" y="89282"/>
                  <a:pt x="134402" y="97254"/>
                  <a:pt x="119697" y="97254"/>
                </a:cubicBezTo>
                <a:close/>
                <a:moveTo>
                  <a:pt x="29644" y="45775"/>
                </a:moveTo>
                <a:lnTo>
                  <a:pt x="12718" y="74811"/>
                </a:lnTo>
                <a:lnTo>
                  <a:pt x="46593" y="74811"/>
                </a:lnTo>
                <a:lnTo>
                  <a:pt x="29644" y="45775"/>
                </a:lnTo>
                <a:close/>
                <a:moveTo>
                  <a:pt x="210" y="78808"/>
                </a:moveTo>
                <a:cubicBezTo>
                  <a:pt x="-397" y="76237"/>
                  <a:pt x="444" y="73595"/>
                  <a:pt x="1777" y="71304"/>
                </a:cubicBezTo>
                <a:lnTo>
                  <a:pt x="24033" y="33150"/>
                </a:lnTo>
                <a:cubicBezTo>
                  <a:pt x="25202" y="31140"/>
                  <a:pt x="27353" y="29924"/>
                  <a:pt x="29667" y="29924"/>
                </a:cubicBezTo>
                <a:cubicBezTo>
                  <a:pt x="31982" y="29924"/>
                  <a:pt x="34132" y="31163"/>
                  <a:pt x="35301" y="33150"/>
                </a:cubicBezTo>
                <a:lnTo>
                  <a:pt x="57557" y="71304"/>
                </a:lnTo>
                <a:cubicBezTo>
                  <a:pt x="58890" y="73595"/>
                  <a:pt x="59732" y="76237"/>
                  <a:pt x="59124" y="78808"/>
                </a:cubicBezTo>
                <a:cubicBezTo>
                  <a:pt x="56599" y="89282"/>
                  <a:pt x="44372" y="97254"/>
                  <a:pt x="29667" y="97254"/>
                </a:cubicBezTo>
                <a:cubicBezTo>
                  <a:pt x="14962" y="97254"/>
                  <a:pt x="2735" y="89305"/>
                  <a:pt x="210" y="78808"/>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9"/>
          <p:cNvSpPr/>
          <p:nvPr/>
        </p:nvSpPr>
        <p:spPr>
          <a:xfrm>
            <a:off x="1000325" y="4078250"/>
            <a:ext cx="4847731" cy="2051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77">
                <a:solidFill>
                  <a:srgbClr val="F8FAFC"/>
                </a:solidFill>
                <a:latin typeface="Arial"/>
                <a:ea typeface="Arial"/>
                <a:cs typeface="Arial"/>
                <a:sym typeface="Arial"/>
              </a:rPr>
              <a:t>Kết hợp hài hòa</a:t>
            </a:r>
            <a:endParaRPr sz="1600">
              <a:solidFill>
                <a:schemeClr val="dk1"/>
              </a:solidFill>
              <a:latin typeface="Calibri"/>
              <a:ea typeface="Calibri"/>
              <a:cs typeface="Calibri"/>
              <a:sym typeface="Calibri"/>
            </a:endParaRPr>
          </a:p>
        </p:txBody>
      </p:sp>
      <p:sp>
        <p:nvSpPr>
          <p:cNvPr id="519" name="Google Shape;519;p9"/>
          <p:cNvSpPr/>
          <p:nvPr/>
        </p:nvSpPr>
        <p:spPr>
          <a:xfrm>
            <a:off x="1000325" y="4317644"/>
            <a:ext cx="4847731" cy="444589"/>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77">
                <a:solidFill>
                  <a:srgbClr val="94A3B8"/>
                </a:solidFill>
                <a:latin typeface="Arial"/>
                <a:ea typeface="Arial"/>
                <a:cs typeface="Arial"/>
                <a:sym typeface="Arial"/>
              </a:rPr>
              <a:t>Dữ liệu chính xác từ </a:t>
            </a:r>
            <a:r>
              <a:rPr b="1" lang="en-US" sz="1077">
                <a:solidFill>
                  <a:srgbClr val="8B5CF6"/>
                </a:solidFill>
                <a:latin typeface="Arial"/>
                <a:ea typeface="Arial"/>
                <a:cs typeface="Arial"/>
                <a:sym typeface="Arial"/>
              </a:rPr>
              <a:t>TMDB</a:t>
            </a:r>
            <a:r>
              <a:rPr lang="en-US" sz="1077">
                <a:solidFill>
                  <a:srgbClr val="94A3B8"/>
                </a:solidFill>
                <a:latin typeface="Arial"/>
                <a:ea typeface="Arial"/>
                <a:cs typeface="Arial"/>
                <a:sym typeface="Arial"/>
              </a:rPr>
              <a:t> + AI linh hoạt từ </a:t>
            </a:r>
            <a:r>
              <a:rPr b="1" lang="en-US" sz="1077">
                <a:solidFill>
                  <a:srgbClr val="8B5CF6"/>
                </a:solidFill>
                <a:latin typeface="Arial"/>
                <a:ea typeface="Arial"/>
                <a:cs typeface="Arial"/>
                <a:sym typeface="Arial"/>
              </a:rPr>
              <a:t>Gemini</a:t>
            </a:r>
            <a:r>
              <a:rPr lang="en-US" sz="1077">
                <a:solidFill>
                  <a:srgbClr val="94A3B8"/>
                </a:solidFill>
                <a:latin typeface="Arial"/>
                <a:ea typeface="Arial"/>
                <a:cs typeface="Arial"/>
                <a:sym typeface="Arial"/>
              </a:rPr>
              <a:t>. Tận dụng ưu điểm cả hai thế giới.</a:t>
            </a:r>
            <a:endParaRPr sz="1600">
              <a:solidFill>
                <a:schemeClr val="dk1"/>
              </a:solidFill>
              <a:latin typeface="Calibri"/>
              <a:ea typeface="Calibri"/>
              <a:cs typeface="Calibri"/>
              <a:sym typeface="Calibri"/>
            </a:endParaRPr>
          </a:p>
        </p:txBody>
      </p:sp>
      <p:sp>
        <p:nvSpPr>
          <p:cNvPr id="520" name="Google Shape;520;p9"/>
          <p:cNvSpPr/>
          <p:nvPr/>
        </p:nvSpPr>
        <p:spPr>
          <a:xfrm>
            <a:off x="6167738" y="1235445"/>
            <a:ext cx="5677060" cy="5617212"/>
          </a:xfrm>
          <a:custGeom>
            <a:rect b="b" l="l" r="r" t="t"/>
            <a:pathLst>
              <a:path extrusionOk="0" h="5617212" w="5677060">
                <a:moveTo>
                  <a:pt x="102570" y="0"/>
                </a:moveTo>
                <a:lnTo>
                  <a:pt x="5574490" y="0"/>
                </a:lnTo>
                <a:cubicBezTo>
                  <a:pt x="5631138" y="0"/>
                  <a:pt x="5677060" y="45922"/>
                  <a:pt x="5677060" y="102570"/>
                </a:cubicBezTo>
                <a:lnTo>
                  <a:pt x="5677060" y="5514641"/>
                </a:lnTo>
                <a:cubicBezTo>
                  <a:pt x="5677060" y="5571290"/>
                  <a:pt x="5631138" y="5617212"/>
                  <a:pt x="5574490" y="5617212"/>
                </a:cubicBezTo>
                <a:lnTo>
                  <a:pt x="102570" y="5617212"/>
                </a:lnTo>
                <a:cubicBezTo>
                  <a:pt x="45922" y="5617212"/>
                  <a:pt x="0" y="5571289"/>
                  <a:pt x="0" y="5514641"/>
                </a:cubicBezTo>
                <a:lnTo>
                  <a:pt x="0" y="102570"/>
                </a:lnTo>
                <a:cubicBezTo>
                  <a:pt x="0" y="45922"/>
                  <a:pt x="45922" y="0"/>
                  <a:pt x="102570" y="0"/>
                </a:cubicBezTo>
                <a:close/>
              </a:path>
            </a:pathLst>
          </a:custGeom>
          <a:gradFill>
            <a:gsLst>
              <a:gs pos="0">
                <a:srgbClr val="F59E0B">
                  <a:alpha val="9803"/>
                </a:srgbClr>
              </a:gs>
              <a:gs pos="100000">
                <a:srgbClr val="0F172A"/>
              </a:gs>
            </a:gsLst>
            <a:lin ang="2700000" scaled="0"/>
          </a:gradFill>
          <a:ln cap="flat" cmpd="sng" w="12700">
            <a:solidFill>
              <a:srgbClr val="F59E0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9"/>
          <p:cNvSpPr/>
          <p:nvPr/>
        </p:nvSpPr>
        <p:spPr>
          <a:xfrm>
            <a:off x="6308810" y="1376516"/>
            <a:ext cx="478788" cy="478788"/>
          </a:xfrm>
          <a:custGeom>
            <a:rect b="b" l="l" r="r" t="t"/>
            <a:pathLst>
              <a:path extrusionOk="0" h="478788" w="478788">
                <a:moveTo>
                  <a:pt x="102600" y="0"/>
                </a:moveTo>
                <a:lnTo>
                  <a:pt x="376189" y="0"/>
                </a:lnTo>
                <a:cubicBezTo>
                  <a:pt x="432853" y="0"/>
                  <a:pt x="478788" y="45935"/>
                  <a:pt x="478788" y="102600"/>
                </a:cubicBezTo>
                <a:lnTo>
                  <a:pt x="478788" y="376189"/>
                </a:lnTo>
                <a:cubicBezTo>
                  <a:pt x="478788" y="432853"/>
                  <a:pt x="432853" y="478788"/>
                  <a:pt x="376189" y="478788"/>
                </a:cubicBezTo>
                <a:lnTo>
                  <a:pt x="102600" y="478788"/>
                </a:lnTo>
                <a:cubicBezTo>
                  <a:pt x="45935" y="478788"/>
                  <a:pt x="0" y="432853"/>
                  <a:pt x="0" y="376189"/>
                </a:cubicBezTo>
                <a:lnTo>
                  <a:pt x="0" y="102600"/>
                </a:lnTo>
                <a:cubicBezTo>
                  <a:pt x="0" y="45973"/>
                  <a:pt x="45973" y="0"/>
                  <a:pt x="102600" y="0"/>
                </a:cubicBezTo>
                <a:close/>
              </a:path>
            </a:pathLst>
          </a:custGeom>
          <a:solidFill>
            <a:srgbClr val="F59E0B">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9"/>
          <p:cNvSpPr/>
          <p:nvPr/>
        </p:nvSpPr>
        <p:spPr>
          <a:xfrm>
            <a:off x="6445606" y="1513313"/>
            <a:ext cx="205195" cy="205195"/>
          </a:xfrm>
          <a:custGeom>
            <a:rect b="b" l="l" r="r" t="t"/>
            <a:pathLst>
              <a:path extrusionOk="0" h="205195" w="205195">
                <a:moveTo>
                  <a:pt x="102597" y="205195"/>
                </a:moveTo>
                <a:cubicBezTo>
                  <a:pt x="159223" y="205195"/>
                  <a:pt x="205195" y="159223"/>
                  <a:pt x="205195" y="102597"/>
                </a:cubicBezTo>
                <a:cubicBezTo>
                  <a:pt x="205195" y="45972"/>
                  <a:pt x="159223" y="0"/>
                  <a:pt x="102597" y="0"/>
                </a:cubicBezTo>
                <a:cubicBezTo>
                  <a:pt x="45972" y="0"/>
                  <a:pt x="0" y="45972"/>
                  <a:pt x="0" y="102597"/>
                </a:cubicBezTo>
                <a:cubicBezTo>
                  <a:pt x="0" y="159223"/>
                  <a:pt x="45972" y="205195"/>
                  <a:pt x="102597" y="205195"/>
                </a:cubicBezTo>
                <a:close/>
                <a:moveTo>
                  <a:pt x="102597" y="54505"/>
                </a:moveTo>
                <a:cubicBezTo>
                  <a:pt x="107928" y="54505"/>
                  <a:pt x="112216" y="58793"/>
                  <a:pt x="112216" y="64123"/>
                </a:cubicBezTo>
                <a:lnTo>
                  <a:pt x="112216" y="109010"/>
                </a:lnTo>
                <a:cubicBezTo>
                  <a:pt x="112216" y="114340"/>
                  <a:pt x="107928" y="118628"/>
                  <a:pt x="102597" y="118628"/>
                </a:cubicBezTo>
                <a:cubicBezTo>
                  <a:pt x="97267" y="118628"/>
                  <a:pt x="92979" y="114340"/>
                  <a:pt x="92979" y="109010"/>
                </a:cubicBezTo>
                <a:lnTo>
                  <a:pt x="92979" y="64123"/>
                </a:lnTo>
                <a:cubicBezTo>
                  <a:pt x="92979" y="58793"/>
                  <a:pt x="97267" y="54505"/>
                  <a:pt x="102597" y="54505"/>
                </a:cubicBezTo>
                <a:close/>
                <a:moveTo>
                  <a:pt x="91897" y="141072"/>
                </a:moveTo>
                <a:cubicBezTo>
                  <a:pt x="91653" y="137100"/>
                  <a:pt x="93634" y="133321"/>
                  <a:pt x="97039" y="131261"/>
                </a:cubicBezTo>
                <a:cubicBezTo>
                  <a:pt x="100444" y="129201"/>
                  <a:pt x="104711" y="129201"/>
                  <a:pt x="108116" y="131261"/>
                </a:cubicBezTo>
                <a:cubicBezTo>
                  <a:pt x="111521" y="133321"/>
                  <a:pt x="113501" y="137100"/>
                  <a:pt x="113258" y="141072"/>
                </a:cubicBezTo>
                <a:cubicBezTo>
                  <a:pt x="113501" y="145043"/>
                  <a:pt x="111521" y="148822"/>
                  <a:pt x="108116" y="150882"/>
                </a:cubicBezTo>
                <a:cubicBezTo>
                  <a:pt x="104711" y="152942"/>
                  <a:pt x="100444" y="152942"/>
                  <a:pt x="97039" y="150882"/>
                </a:cubicBezTo>
                <a:cubicBezTo>
                  <a:pt x="93634" y="148822"/>
                  <a:pt x="91653" y="145043"/>
                  <a:pt x="91897" y="141072"/>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9"/>
          <p:cNvSpPr/>
          <p:nvPr/>
        </p:nvSpPr>
        <p:spPr>
          <a:xfrm>
            <a:off x="6890195" y="1483388"/>
            <a:ext cx="914827" cy="265043"/>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616">
                <a:solidFill>
                  <a:srgbClr val="F8FAFC"/>
                </a:solidFill>
                <a:latin typeface="Arial"/>
                <a:ea typeface="Arial"/>
                <a:cs typeface="Arial"/>
                <a:sym typeface="Arial"/>
              </a:rPr>
              <a:t>Hạn chế</a:t>
            </a:r>
            <a:endParaRPr sz="1600">
              <a:solidFill>
                <a:schemeClr val="dk1"/>
              </a:solidFill>
              <a:latin typeface="Calibri"/>
              <a:ea typeface="Calibri"/>
              <a:cs typeface="Calibri"/>
              <a:sym typeface="Calibri"/>
            </a:endParaRPr>
          </a:p>
        </p:txBody>
      </p:sp>
      <p:sp>
        <p:nvSpPr>
          <p:cNvPr id="524" name="Google Shape;524;p9"/>
          <p:cNvSpPr/>
          <p:nvPr/>
        </p:nvSpPr>
        <p:spPr>
          <a:xfrm>
            <a:off x="6325909" y="1992101"/>
            <a:ext cx="5377818" cy="889178"/>
          </a:xfrm>
          <a:custGeom>
            <a:rect b="b" l="l" r="r" t="t"/>
            <a:pathLst>
              <a:path extrusionOk="0" h="889178" w="5377818">
                <a:moveTo>
                  <a:pt x="34199" y="0"/>
                </a:moveTo>
                <a:lnTo>
                  <a:pt x="5309422" y="0"/>
                </a:lnTo>
                <a:cubicBezTo>
                  <a:pt x="5347196" y="0"/>
                  <a:pt x="5377818" y="30622"/>
                  <a:pt x="5377818" y="68396"/>
                </a:cubicBezTo>
                <a:lnTo>
                  <a:pt x="5377818" y="820783"/>
                </a:lnTo>
                <a:cubicBezTo>
                  <a:pt x="5377818" y="858556"/>
                  <a:pt x="5347196" y="889178"/>
                  <a:pt x="5309422" y="889178"/>
                </a:cubicBezTo>
                <a:lnTo>
                  <a:pt x="34199" y="889178"/>
                </a:lnTo>
                <a:cubicBezTo>
                  <a:pt x="15311" y="889178"/>
                  <a:pt x="0" y="873867"/>
                  <a:pt x="0" y="854979"/>
                </a:cubicBezTo>
                <a:lnTo>
                  <a:pt x="0" y="34199"/>
                </a:lnTo>
                <a:cubicBezTo>
                  <a:pt x="0" y="15324"/>
                  <a:pt x="15324" y="0"/>
                  <a:pt x="34199"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9"/>
          <p:cNvSpPr/>
          <p:nvPr/>
        </p:nvSpPr>
        <p:spPr>
          <a:xfrm>
            <a:off x="6325909" y="1992101"/>
            <a:ext cx="34199" cy="889178"/>
          </a:xfrm>
          <a:custGeom>
            <a:rect b="b" l="l" r="r" t="t"/>
            <a:pathLst>
              <a:path extrusionOk="0" h="889178" w="34199">
                <a:moveTo>
                  <a:pt x="34199" y="0"/>
                </a:moveTo>
                <a:lnTo>
                  <a:pt x="34199" y="0"/>
                </a:lnTo>
                <a:lnTo>
                  <a:pt x="34199" y="889178"/>
                </a:lnTo>
                <a:lnTo>
                  <a:pt x="34199" y="889178"/>
                </a:lnTo>
                <a:cubicBezTo>
                  <a:pt x="15311" y="889178"/>
                  <a:pt x="0" y="873867"/>
                  <a:pt x="0" y="854979"/>
                </a:cubicBezTo>
                <a:lnTo>
                  <a:pt x="0" y="34199"/>
                </a:lnTo>
                <a:cubicBezTo>
                  <a:pt x="0" y="15324"/>
                  <a:pt x="15324" y="0"/>
                  <a:pt x="34199" y="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9"/>
          <p:cNvSpPr/>
          <p:nvPr/>
        </p:nvSpPr>
        <p:spPr>
          <a:xfrm>
            <a:off x="6445606" y="2128898"/>
            <a:ext cx="273593" cy="273593"/>
          </a:xfrm>
          <a:custGeom>
            <a:rect b="b" l="l" r="r" t="t"/>
            <a:pathLst>
              <a:path extrusionOk="0" h="273593" w="273593">
                <a:moveTo>
                  <a:pt x="136797" y="0"/>
                </a:moveTo>
                <a:lnTo>
                  <a:pt x="136797" y="0"/>
                </a:lnTo>
                <a:cubicBezTo>
                  <a:pt x="212297" y="0"/>
                  <a:pt x="273593" y="61297"/>
                  <a:pt x="273593" y="136797"/>
                </a:cubicBezTo>
                <a:lnTo>
                  <a:pt x="273593" y="136797"/>
                </a:lnTo>
                <a:cubicBezTo>
                  <a:pt x="273593" y="212297"/>
                  <a:pt x="212297" y="273593"/>
                  <a:pt x="136797" y="273593"/>
                </a:cubicBezTo>
                <a:lnTo>
                  <a:pt x="136797" y="273593"/>
                </a:lnTo>
                <a:cubicBezTo>
                  <a:pt x="61297" y="273593"/>
                  <a:pt x="0" y="212297"/>
                  <a:pt x="0" y="136797"/>
                </a:cubicBezTo>
                <a:lnTo>
                  <a:pt x="0" y="136797"/>
                </a:lnTo>
                <a:cubicBezTo>
                  <a:pt x="0" y="61297"/>
                  <a:pt x="61297" y="0"/>
                  <a:pt x="136797"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9"/>
          <p:cNvSpPr/>
          <p:nvPr/>
        </p:nvSpPr>
        <p:spPr>
          <a:xfrm>
            <a:off x="6517211" y="2205846"/>
            <a:ext cx="134659" cy="119697"/>
          </a:xfrm>
          <a:custGeom>
            <a:rect b="b" l="l" r="r" t="t"/>
            <a:pathLst>
              <a:path extrusionOk="0" h="119697" w="134659">
                <a:moveTo>
                  <a:pt x="0" y="29924"/>
                </a:moveTo>
                <a:cubicBezTo>
                  <a:pt x="0" y="21672"/>
                  <a:pt x="6710" y="14962"/>
                  <a:pt x="14962" y="14962"/>
                </a:cubicBezTo>
                <a:lnTo>
                  <a:pt x="119697" y="14962"/>
                </a:lnTo>
                <a:cubicBezTo>
                  <a:pt x="127950" y="14962"/>
                  <a:pt x="134659" y="21672"/>
                  <a:pt x="134659" y="29924"/>
                </a:cubicBezTo>
                <a:lnTo>
                  <a:pt x="134659" y="44886"/>
                </a:lnTo>
                <a:cubicBezTo>
                  <a:pt x="134659" y="46944"/>
                  <a:pt x="132929" y="48557"/>
                  <a:pt x="130989" y="49235"/>
                </a:cubicBezTo>
                <a:cubicBezTo>
                  <a:pt x="126594" y="50754"/>
                  <a:pt x="123438" y="54939"/>
                  <a:pt x="123438" y="59849"/>
                </a:cubicBezTo>
                <a:cubicBezTo>
                  <a:pt x="123438" y="64758"/>
                  <a:pt x="126594" y="68943"/>
                  <a:pt x="130989" y="70462"/>
                </a:cubicBezTo>
                <a:cubicBezTo>
                  <a:pt x="132929" y="71140"/>
                  <a:pt x="134659" y="72753"/>
                  <a:pt x="134659" y="74811"/>
                </a:cubicBezTo>
                <a:lnTo>
                  <a:pt x="134659" y="89773"/>
                </a:lnTo>
                <a:cubicBezTo>
                  <a:pt x="134659" y="98025"/>
                  <a:pt x="127950" y="104735"/>
                  <a:pt x="119697" y="104735"/>
                </a:cubicBezTo>
                <a:lnTo>
                  <a:pt x="14962" y="104735"/>
                </a:lnTo>
                <a:cubicBezTo>
                  <a:pt x="6710" y="104735"/>
                  <a:pt x="0" y="98025"/>
                  <a:pt x="0" y="89773"/>
                </a:cubicBezTo>
                <a:lnTo>
                  <a:pt x="0" y="74811"/>
                </a:lnTo>
                <a:cubicBezTo>
                  <a:pt x="0" y="72753"/>
                  <a:pt x="1730" y="71140"/>
                  <a:pt x="3670" y="70462"/>
                </a:cubicBezTo>
                <a:cubicBezTo>
                  <a:pt x="8066" y="68943"/>
                  <a:pt x="11222" y="64758"/>
                  <a:pt x="11222" y="59849"/>
                </a:cubicBezTo>
                <a:cubicBezTo>
                  <a:pt x="11222" y="54939"/>
                  <a:pt x="8066" y="50754"/>
                  <a:pt x="3670" y="49235"/>
                </a:cubicBezTo>
                <a:cubicBezTo>
                  <a:pt x="1730" y="48557"/>
                  <a:pt x="0" y="46944"/>
                  <a:pt x="0" y="44886"/>
                </a:cubicBezTo>
                <a:lnTo>
                  <a:pt x="0" y="29924"/>
                </a:ln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9"/>
          <p:cNvSpPr/>
          <p:nvPr/>
        </p:nvSpPr>
        <p:spPr>
          <a:xfrm>
            <a:off x="6821797" y="2094698"/>
            <a:ext cx="4847731" cy="2051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77">
                <a:solidFill>
                  <a:srgbClr val="F8FAFC"/>
                </a:solidFill>
                <a:latin typeface="Arial"/>
                <a:ea typeface="Arial"/>
                <a:cs typeface="Arial"/>
                <a:sym typeface="Arial"/>
              </a:rPr>
              <a:t>Chưa tích hợp đặt vé</a:t>
            </a:r>
            <a:endParaRPr sz="1600">
              <a:solidFill>
                <a:schemeClr val="dk1"/>
              </a:solidFill>
              <a:latin typeface="Calibri"/>
              <a:ea typeface="Calibri"/>
              <a:cs typeface="Calibri"/>
              <a:sym typeface="Calibri"/>
            </a:endParaRPr>
          </a:p>
        </p:txBody>
      </p:sp>
      <p:sp>
        <p:nvSpPr>
          <p:cNvPr id="529" name="Google Shape;529;p9"/>
          <p:cNvSpPr/>
          <p:nvPr/>
        </p:nvSpPr>
        <p:spPr>
          <a:xfrm>
            <a:off x="6821797" y="2334093"/>
            <a:ext cx="4847731" cy="444589"/>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77">
                <a:solidFill>
                  <a:srgbClr val="94A3B8"/>
                </a:solidFill>
                <a:latin typeface="Arial"/>
                <a:ea typeface="Arial"/>
                <a:cs typeface="Arial"/>
                <a:sym typeface="Arial"/>
              </a:rPr>
              <a:t>Chưa kết nối hệ thống đặt vé trực tuyến (CGV, Lotte, Galaxy). Người dùng vẫn phải chuyển sang app riêng.</a:t>
            </a:r>
            <a:endParaRPr sz="1600">
              <a:solidFill>
                <a:schemeClr val="dk1"/>
              </a:solidFill>
              <a:latin typeface="Calibri"/>
              <a:ea typeface="Calibri"/>
              <a:cs typeface="Calibri"/>
              <a:sym typeface="Calibri"/>
            </a:endParaRPr>
          </a:p>
        </p:txBody>
      </p:sp>
      <p:sp>
        <p:nvSpPr>
          <p:cNvPr id="530" name="Google Shape;530;p9"/>
          <p:cNvSpPr/>
          <p:nvPr/>
        </p:nvSpPr>
        <p:spPr>
          <a:xfrm>
            <a:off x="6325909" y="2949677"/>
            <a:ext cx="5377818" cy="889178"/>
          </a:xfrm>
          <a:custGeom>
            <a:rect b="b" l="l" r="r" t="t"/>
            <a:pathLst>
              <a:path extrusionOk="0" h="889178" w="5377818">
                <a:moveTo>
                  <a:pt x="34199" y="0"/>
                </a:moveTo>
                <a:lnTo>
                  <a:pt x="5309422" y="0"/>
                </a:lnTo>
                <a:cubicBezTo>
                  <a:pt x="5347196" y="0"/>
                  <a:pt x="5377818" y="30622"/>
                  <a:pt x="5377818" y="68396"/>
                </a:cubicBezTo>
                <a:lnTo>
                  <a:pt x="5377818" y="820783"/>
                </a:lnTo>
                <a:cubicBezTo>
                  <a:pt x="5377818" y="858556"/>
                  <a:pt x="5347196" y="889178"/>
                  <a:pt x="5309422" y="889178"/>
                </a:cubicBezTo>
                <a:lnTo>
                  <a:pt x="34199" y="889178"/>
                </a:lnTo>
                <a:cubicBezTo>
                  <a:pt x="15311" y="889178"/>
                  <a:pt x="0" y="873867"/>
                  <a:pt x="0" y="854979"/>
                </a:cubicBezTo>
                <a:lnTo>
                  <a:pt x="0" y="34199"/>
                </a:lnTo>
                <a:cubicBezTo>
                  <a:pt x="0" y="15324"/>
                  <a:pt x="15324" y="0"/>
                  <a:pt x="34199"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9"/>
          <p:cNvSpPr/>
          <p:nvPr/>
        </p:nvSpPr>
        <p:spPr>
          <a:xfrm>
            <a:off x="6325909" y="2949677"/>
            <a:ext cx="34199" cy="889178"/>
          </a:xfrm>
          <a:custGeom>
            <a:rect b="b" l="l" r="r" t="t"/>
            <a:pathLst>
              <a:path extrusionOk="0" h="889178" w="34199">
                <a:moveTo>
                  <a:pt x="34199" y="0"/>
                </a:moveTo>
                <a:lnTo>
                  <a:pt x="34199" y="0"/>
                </a:lnTo>
                <a:lnTo>
                  <a:pt x="34199" y="889178"/>
                </a:lnTo>
                <a:lnTo>
                  <a:pt x="34199" y="889178"/>
                </a:lnTo>
                <a:cubicBezTo>
                  <a:pt x="15311" y="889178"/>
                  <a:pt x="0" y="873867"/>
                  <a:pt x="0" y="854979"/>
                </a:cubicBezTo>
                <a:lnTo>
                  <a:pt x="0" y="34199"/>
                </a:lnTo>
                <a:cubicBezTo>
                  <a:pt x="0" y="15324"/>
                  <a:pt x="15324" y="0"/>
                  <a:pt x="34199" y="0"/>
                </a:cubicBezTo>
                <a:close/>
              </a:path>
            </a:pathLst>
          </a:cu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9"/>
          <p:cNvSpPr/>
          <p:nvPr/>
        </p:nvSpPr>
        <p:spPr>
          <a:xfrm>
            <a:off x="6445606" y="3086474"/>
            <a:ext cx="273593" cy="273593"/>
          </a:xfrm>
          <a:custGeom>
            <a:rect b="b" l="l" r="r" t="t"/>
            <a:pathLst>
              <a:path extrusionOk="0" h="273593" w="273593">
                <a:moveTo>
                  <a:pt x="136797" y="0"/>
                </a:moveTo>
                <a:lnTo>
                  <a:pt x="136797" y="0"/>
                </a:lnTo>
                <a:cubicBezTo>
                  <a:pt x="212297" y="0"/>
                  <a:pt x="273593" y="61297"/>
                  <a:pt x="273593" y="136797"/>
                </a:cubicBezTo>
                <a:lnTo>
                  <a:pt x="273593" y="136797"/>
                </a:lnTo>
                <a:cubicBezTo>
                  <a:pt x="273593" y="212297"/>
                  <a:pt x="212297" y="273593"/>
                  <a:pt x="136797" y="273593"/>
                </a:cubicBezTo>
                <a:lnTo>
                  <a:pt x="136797" y="273593"/>
                </a:lnTo>
                <a:cubicBezTo>
                  <a:pt x="61297" y="273593"/>
                  <a:pt x="0" y="212297"/>
                  <a:pt x="0" y="136797"/>
                </a:cubicBezTo>
                <a:lnTo>
                  <a:pt x="0" y="136797"/>
                </a:lnTo>
                <a:cubicBezTo>
                  <a:pt x="0" y="61297"/>
                  <a:pt x="61297" y="0"/>
                  <a:pt x="136797" y="0"/>
                </a:cubicBezTo>
                <a:close/>
              </a:path>
            </a:pathLst>
          </a:custGeom>
          <a:solidFill>
            <a:srgbClr val="EF444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9"/>
          <p:cNvSpPr/>
          <p:nvPr/>
        </p:nvSpPr>
        <p:spPr>
          <a:xfrm>
            <a:off x="6539654" y="3163422"/>
            <a:ext cx="89773" cy="119697"/>
          </a:xfrm>
          <a:custGeom>
            <a:rect b="b" l="l" r="r" t="t"/>
            <a:pathLst>
              <a:path extrusionOk="0" h="119697" w="89773">
                <a:moveTo>
                  <a:pt x="0" y="44092"/>
                </a:moveTo>
                <a:cubicBezTo>
                  <a:pt x="0" y="19731"/>
                  <a:pt x="20105" y="0"/>
                  <a:pt x="44886" y="0"/>
                </a:cubicBezTo>
                <a:cubicBezTo>
                  <a:pt x="69667" y="0"/>
                  <a:pt x="89773" y="19731"/>
                  <a:pt x="89773" y="44092"/>
                </a:cubicBezTo>
                <a:cubicBezTo>
                  <a:pt x="89773" y="71982"/>
                  <a:pt x="61672" y="105413"/>
                  <a:pt x="49936" y="118154"/>
                </a:cubicBezTo>
                <a:cubicBezTo>
                  <a:pt x="47177" y="121147"/>
                  <a:pt x="42572" y="121147"/>
                  <a:pt x="39813" y="118154"/>
                </a:cubicBezTo>
                <a:cubicBezTo>
                  <a:pt x="28077" y="105413"/>
                  <a:pt x="-23" y="71982"/>
                  <a:pt x="-23" y="44092"/>
                </a:cubicBezTo>
                <a:close/>
                <a:moveTo>
                  <a:pt x="44886" y="59849"/>
                </a:moveTo>
                <a:cubicBezTo>
                  <a:pt x="53144" y="59849"/>
                  <a:pt x="59849" y="53144"/>
                  <a:pt x="59849" y="44886"/>
                </a:cubicBezTo>
                <a:cubicBezTo>
                  <a:pt x="59849" y="36629"/>
                  <a:pt x="53144" y="29924"/>
                  <a:pt x="44886" y="29924"/>
                </a:cubicBezTo>
                <a:cubicBezTo>
                  <a:pt x="36629" y="29924"/>
                  <a:pt x="29924" y="36629"/>
                  <a:pt x="29924" y="44886"/>
                </a:cubicBezTo>
                <a:cubicBezTo>
                  <a:pt x="29924" y="53144"/>
                  <a:pt x="36629" y="59849"/>
                  <a:pt x="44886" y="59849"/>
                </a:cubicBezTo>
                <a:close/>
              </a:path>
            </a:pathLst>
          </a:cu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9"/>
          <p:cNvSpPr/>
          <p:nvPr/>
        </p:nvSpPr>
        <p:spPr>
          <a:xfrm>
            <a:off x="6821797" y="3052275"/>
            <a:ext cx="4847731" cy="2051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77">
                <a:solidFill>
                  <a:srgbClr val="F8FAFC"/>
                </a:solidFill>
                <a:latin typeface="Arial"/>
                <a:ea typeface="Arial"/>
                <a:cs typeface="Arial"/>
                <a:sym typeface="Arial"/>
              </a:rPr>
              <a:t>Chưa có GPS tự động</a:t>
            </a:r>
            <a:endParaRPr sz="1600">
              <a:solidFill>
                <a:schemeClr val="dk1"/>
              </a:solidFill>
              <a:latin typeface="Calibri"/>
              <a:ea typeface="Calibri"/>
              <a:cs typeface="Calibri"/>
              <a:sym typeface="Calibri"/>
            </a:endParaRPr>
          </a:p>
        </p:txBody>
      </p:sp>
      <p:sp>
        <p:nvSpPr>
          <p:cNvPr id="535" name="Google Shape;535;p9"/>
          <p:cNvSpPr/>
          <p:nvPr/>
        </p:nvSpPr>
        <p:spPr>
          <a:xfrm>
            <a:off x="6821797" y="3291669"/>
            <a:ext cx="4847731" cy="444589"/>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77">
                <a:solidFill>
                  <a:srgbClr val="94A3B8"/>
                </a:solidFill>
                <a:latin typeface="Arial"/>
                <a:ea typeface="Arial"/>
                <a:cs typeface="Arial"/>
                <a:sym typeface="Arial"/>
              </a:rPr>
              <a:t>Người dùng phải nhập địa chỉ thủ công. Chưa tự động định vị vị trí hiện tại để gợi ý rạp gần nhất.</a:t>
            </a:r>
            <a:endParaRPr sz="1600">
              <a:solidFill>
                <a:schemeClr val="dk1"/>
              </a:solidFill>
              <a:latin typeface="Calibri"/>
              <a:ea typeface="Calibri"/>
              <a:cs typeface="Calibri"/>
              <a:sym typeface="Calibri"/>
            </a:endParaRPr>
          </a:p>
        </p:txBody>
      </p:sp>
      <p:sp>
        <p:nvSpPr>
          <p:cNvPr id="536" name="Google Shape;536;p9"/>
          <p:cNvSpPr/>
          <p:nvPr/>
        </p:nvSpPr>
        <p:spPr>
          <a:xfrm>
            <a:off x="6325909" y="3907254"/>
            <a:ext cx="5377818" cy="889178"/>
          </a:xfrm>
          <a:custGeom>
            <a:rect b="b" l="l" r="r" t="t"/>
            <a:pathLst>
              <a:path extrusionOk="0" h="889178" w="5377818">
                <a:moveTo>
                  <a:pt x="34199" y="0"/>
                </a:moveTo>
                <a:lnTo>
                  <a:pt x="5309422" y="0"/>
                </a:lnTo>
                <a:cubicBezTo>
                  <a:pt x="5347196" y="0"/>
                  <a:pt x="5377818" y="30622"/>
                  <a:pt x="5377818" y="68396"/>
                </a:cubicBezTo>
                <a:lnTo>
                  <a:pt x="5377818" y="820783"/>
                </a:lnTo>
                <a:cubicBezTo>
                  <a:pt x="5377818" y="858556"/>
                  <a:pt x="5347196" y="889178"/>
                  <a:pt x="5309422" y="889178"/>
                </a:cubicBezTo>
                <a:lnTo>
                  <a:pt x="34199" y="889178"/>
                </a:lnTo>
                <a:cubicBezTo>
                  <a:pt x="15311" y="889178"/>
                  <a:pt x="0" y="873867"/>
                  <a:pt x="0" y="854979"/>
                </a:cubicBezTo>
                <a:lnTo>
                  <a:pt x="0" y="34199"/>
                </a:lnTo>
                <a:cubicBezTo>
                  <a:pt x="0" y="15324"/>
                  <a:pt x="15324" y="0"/>
                  <a:pt x="34199"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9"/>
          <p:cNvSpPr/>
          <p:nvPr/>
        </p:nvSpPr>
        <p:spPr>
          <a:xfrm>
            <a:off x="6325909" y="3907254"/>
            <a:ext cx="34199" cy="889178"/>
          </a:xfrm>
          <a:custGeom>
            <a:rect b="b" l="l" r="r" t="t"/>
            <a:pathLst>
              <a:path extrusionOk="0" h="889178" w="34199">
                <a:moveTo>
                  <a:pt x="34199" y="0"/>
                </a:moveTo>
                <a:lnTo>
                  <a:pt x="34199" y="0"/>
                </a:lnTo>
                <a:lnTo>
                  <a:pt x="34199" y="889178"/>
                </a:lnTo>
                <a:lnTo>
                  <a:pt x="34199" y="889178"/>
                </a:lnTo>
                <a:cubicBezTo>
                  <a:pt x="15311" y="889178"/>
                  <a:pt x="0" y="873867"/>
                  <a:pt x="0" y="854979"/>
                </a:cubicBezTo>
                <a:lnTo>
                  <a:pt x="0" y="34199"/>
                </a:lnTo>
                <a:cubicBezTo>
                  <a:pt x="0" y="15324"/>
                  <a:pt x="15324" y="0"/>
                  <a:pt x="34199"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9"/>
          <p:cNvSpPr/>
          <p:nvPr/>
        </p:nvSpPr>
        <p:spPr>
          <a:xfrm>
            <a:off x="6445606" y="4044050"/>
            <a:ext cx="273593" cy="273593"/>
          </a:xfrm>
          <a:custGeom>
            <a:rect b="b" l="l" r="r" t="t"/>
            <a:pathLst>
              <a:path extrusionOk="0" h="273593" w="273593">
                <a:moveTo>
                  <a:pt x="136797" y="0"/>
                </a:moveTo>
                <a:lnTo>
                  <a:pt x="136797" y="0"/>
                </a:lnTo>
                <a:cubicBezTo>
                  <a:pt x="212297" y="0"/>
                  <a:pt x="273593" y="61297"/>
                  <a:pt x="273593" y="136797"/>
                </a:cubicBezTo>
                <a:lnTo>
                  <a:pt x="273593" y="136797"/>
                </a:lnTo>
                <a:cubicBezTo>
                  <a:pt x="273593" y="212297"/>
                  <a:pt x="212297" y="273593"/>
                  <a:pt x="136797" y="273593"/>
                </a:cubicBezTo>
                <a:lnTo>
                  <a:pt x="136797" y="273593"/>
                </a:lnTo>
                <a:cubicBezTo>
                  <a:pt x="61297" y="273593"/>
                  <a:pt x="0" y="212297"/>
                  <a:pt x="0" y="136797"/>
                </a:cubicBezTo>
                <a:lnTo>
                  <a:pt x="0" y="136797"/>
                </a:lnTo>
                <a:cubicBezTo>
                  <a:pt x="0" y="61297"/>
                  <a:pt x="61297" y="0"/>
                  <a:pt x="136797"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9"/>
          <p:cNvSpPr/>
          <p:nvPr/>
        </p:nvSpPr>
        <p:spPr>
          <a:xfrm>
            <a:off x="6509730" y="4120999"/>
            <a:ext cx="149621" cy="119697"/>
          </a:xfrm>
          <a:custGeom>
            <a:rect b="b" l="l" r="r" t="t"/>
            <a:pathLst>
              <a:path extrusionOk="0" h="119697" w="149621">
                <a:moveTo>
                  <a:pt x="59965" y="1870"/>
                </a:moveTo>
                <a:cubicBezTo>
                  <a:pt x="75449" y="1870"/>
                  <a:pt x="88019" y="14441"/>
                  <a:pt x="88019" y="29924"/>
                </a:cubicBezTo>
                <a:cubicBezTo>
                  <a:pt x="88019" y="45408"/>
                  <a:pt x="75449" y="57978"/>
                  <a:pt x="59965" y="57978"/>
                </a:cubicBezTo>
                <a:cubicBezTo>
                  <a:pt x="44482" y="57978"/>
                  <a:pt x="31911" y="45408"/>
                  <a:pt x="31911" y="29924"/>
                </a:cubicBezTo>
                <a:cubicBezTo>
                  <a:pt x="31911" y="14441"/>
                  <a:pt x="44482" y="1870"/>
                  <a:pt x="59965" y="1870"/>
                </a:cubicBezTo>
                <a:close/>
                <a:moveTo>
                  <a:pt x="52999" y="71070"/>
                </a:moveTo>
                <a:lnTo>
                  <a:pt x="66885" y="71070"/>
                </a:lnTo>
                <a:lnTo>
                  <a:pt x="67236" y="71070"/>
                </a:lnTo>
                <a:cubicBezTo>
                  <a:pt x="64220" y="77336"/>
                  <a:pt x="65413" y="84676"/>
                  <a:pt x="69925" y="89656"/>
                </a:cubicBezTo>
                <a:cubicBezTo>
                  <a:pt x="65202" y="94869"/>
                  <a:pt x="64127" y="102701"/>
                  <a:pt x="67727" y="109153"/>
                </a:cubicBezTo>
                <a:lnTo>
                  <a:pt x="72987" y="118598"/>
                </a:lnTo>
                <a:cubicBezTo>
                  <a:pt x="73198" y="118972"/>
                  <a:pt x="73431" y="119346"/>
                  <a:pt x="73665" y="119697"/>
                </a:cubicBezTo>
                <a:lnTo>
                  <a:pt x="18258" y="119697"/>
                </a:lnTo>
                <a:cubicBezTo>
                  <a:pt x="14424" y="119697"/>
                  <a:pt x="11315" y="116588"/>
                  <a:pt x="11315" y="112754"/>
                </a:cubicBezTo>
                <a:cubicBezTo>
                  <a:pt x="11315" y="89726"/>
                  <a:pt x="29971" y="71070"/>
                  <a:pt x="52999" y="71070"/>
                </a:cubicBezTo>
                <a:close/>
                <a:moveTo>
                  <a:pt x="101135" y="57885"/>
                </a:moveTo>
                <a:cubicBezTo>
                  <a:pt x="101135" y="54775"/>
                  <a:pt x="103636" y="52274"/>
                  <a:pt x="106745" y="52274"/>
                </a:cubicBezTo>
                <a:lnTo>
                  <a:pt x="117967" y="52274"/>
                </a:lnTo>
                <a:cubicBezTo>
                  <a:pt x="121076" y="52274"/>
                  <a:pt x="123578" y="54775"/>
                  <a:pt x="123578" y="57885"/>
                </a:cubicBezTo>
                <a:lnTo>
                  <a:pt x="123578" y="59311"/>
                </a:lnTo>
                <a:cubicBezTo>
                  <a:pt x="123578" y="63729"/>
                  <a:pt x="129212" y="66979"/>
                  <a:pt x="133046" y="64781"/>
                </a:cubicBezTo>
                <a:lnTo>
                  <a:pt x="134215" y="64103"/>
                </a:lnTo>
                <a:cubicBezTo>
                  <a:pt x="136927" y="62537"/>
                  <a:pt x="140410" y="63496"/>
                  <a:pt x="141930" y="66231"/>
                </a:cubicBezTo>
                <a:lnTo>
                  <a:pt x="147167" y="75629"/>
                </a:lnTo>
                <a:cubicBezTo>
                  <a:pt x="148616" y="78247"/>
                  <a:pt x="147774" y="81520"/>
                  <a:pt x="145250" y="83110"/>
                </a:cubicBezTo>
                <a:lnTo>
                  <a:pt x="144151" y="83788"/>
                </a:lnTo>
                <a:cubicBezTo>
                  <a:pt x="140363" y="86149"/>
                  <a:pt x="140363" y="93116"/>
                  <a:pt x="144151" y="95500"/>
                </a:cubicBezTo>
                <a:lnTo>
                  <a:pt x="145226" y="96178"/>
                </a:lnTo>
                <a:cubicBezTo>
                  <a:pt x="147751" y="97768"/>
                  <a:pt x="148616" y="101041"/>
                  <a:pt x="147167" y="103660"/>
                </a:cubicBezTo>
                <a:lnTo>
                  <a:pt x="141906" y="113104"/>
                </a:lnTo>
                <a:cubicBezTo>
                  <a:pt x="140387" y="115840"/>
                  <a:pt x="136904" y="116822"/>
                  <a:pt x="134192" y="115232"/>
                </a:cubicBezTo>
                <a:lnTo>
                  <a:pt x="133046" y="114554"/>
                </a:lnTo>
                <a:cubicBezTo>
                  <a:pt x="129212" y="112333"/>
                  <a:pt x="123578" y="115606"/>
                  <a:pt x="123578" y="120024"/>
                </a:cubicBezTo>
                <a:lnTo>
                  <a:pt x="123578" y="121450"/>
                </a:lnTo>
                <a:cubicBezTo>
                  <a:pt x="123578" y="124560"/>
                  <a:pt x="121076" y="127061"/>
                  <a:pt x="117967" y="127061"/>
                </a:cubicBezTo>
                <a:lnTo>
                  <a:pt x="106745" y="127061"/>
                </a:lnTo>
                <a:cubicBezTo>
                  <a:pt x="103636" y="127061"/>
                  <a:pt x="101135" y="124560"/>
                  <a:pt x="101135" y="121450"/>
                </a:cubicBezTo>
                <a:lnTo>
                  <a:pt x="101135" y="120071"/>
                </a:lnTo>
                <a:cubicBezTo>
                  <a:pt x="101135" y="115629"/>
                  <a:pt x="95477" y="112356"/>
                  <a:pt x="91620" y="114577"/>
                </a:cubicBezTo>
                <a:lnTo>
                  <a:pt x="90498" y="115232"/>
                </a:lnTo>
                <a:cubicBezTo>
                  <a:pt x="87786" y="116798"/>
                  <a:pt x="84326" y="115840"/>
                  <a:pt x="82783" y="113104"/>
                </a:cubicBezTo>
                <a:lnTo>
                  <a:pt x="77499" y="103660"/>
                </a:lnTo>
                <a:cubicBezTo>
                  <a:pt x="76050" y="101041"/>
                  <a:pt x="76891" y="97745"/>
                  <a:pt x="79440" y="96155"/>
                </a:cubicBezTo>
                <a:lnTo>
                  <a:pt x="80468" y="95524"/>
                </a:lnTo>
                <a:cubicBezTo>
                  <a:pt x="84279" y="93163"/>
                  <a:pt x="84279" y="86149"/>
                  <a:pt x="80468" y="83788"/>
                </a:cubicBezTo>
                <a:lnTo>
                  <a:pt x="79416" y="83133"/>
                </a:lnTo>
                <a:cubicBezTo>
                  <a:pt x="76868" y="81544"/>
                  <a:pt x="76026" y="78247"/>
                  <a:pt x="77476" y="75629"/>
                </a:cubicBezTo>
                <a:lnTo>
                  <a:pt x="82736" y="66207"/>
                </a:lnTo>
                <a:cubicBezTo>
                  <a:pt x="84256" y="63472"/>
                  <a:pt x="87739" y="62514"/>
                  <a:pt x="90427" y="64080"/>
                </a:cubicBezTo>
                <a:lnTo>
                  <a:pt x="91550" y="64735"/>
                </a:lnTo>
                <a:cubicBezTo>
                  <a:pt x="95407" y="66956"/>
                  <a:pt x="101065" y="63683"/>
                  <a:pt x="101065" y="59241"/>
                </a:cubicBezTo>
                <a:lnTo>
                  <a:pt x="101065" y="57861"/>
                </a:lnTo>
                <a:close/>
                <a:moveTo>
                  <a:pt x="124490" y="89726"/>
                </a:moveTo>
                <a:cubicBezTo>
                  <a:pt x="124490" y="83017"/>
                  <a:pt x="119042" y="77569"/>
                  <a:pt x="112333" y="77569"/>
                </a:cubicBezTo>
                <a:cubicBezTo>
                  <a:pt x="105623" y="77569"/>
                  <a:pt x="100176" y="83017"/>
                  <a:pt x="100176" y="89726"/>
                </a:cubicBezTo>
                <a:cubicBezTo>
                  <a:pt x="100176" y="96436"/>
                  <a:pt x="105623" y="101883"/>
                  <a:pt x="112333" y="101883"/>
                </a:cubicBezTo>
                <a:cubicBezTo>
                  <a:pt x="119042" y="101883"/>
                  <a:pt x="124490" y="96436"/>
                  <a:pt x="124490" y="89726"/>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9"/>
          <p:cNvSpPr/>
          <p:nvPr/>
        </p:nvSpPr>
        <p:spPr>
          <a:xfrm>
            <a:off x="6821797" y="4009851"/>
            <a:ext cx="4847731" cy="2051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77">
                <a:solidFill>
                  <a:srgbClr val="F8FAFC"/>
                </a:solidFill>
                <a:latin typeface="Arial"/>
                <a:ea typeface="Arial"/>
                <a:cs typeface="Arial"/>
                <a:sym typeface="Arial"/>
              </a:rPr>
              <a:t>Chưa cá nhân hóa</a:t>
            </a:r>
            <a:endParaRPr sz="1600">
              <a:solidFill>
                <a:schemeClr val="dk1"/>
              </a:solidFill>
              <a:latin typeface="Calibri"/>
              <a:ea typeface="Calibri"/>
              <a:cs typeface="Calibri"/>
              <a:sym typeface="Calibri"/>
            </a:endParaRPr>
          </a:p>
        </p:txBody>
      </p:sp>
      <p:sp>
        <p:nvSpPr>
          <p:cNvPr id="541" name="Google Shape;541;p9"/>
          <p:cNvSpPr/>
          <p:nvPr/>
        </p:nvSpPr>
        <p:spPr>
          <a:xfrm>
            <a:off x="6821797" y="4249245"/>
            <a:ext cx="4847731" cy="444589"/>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77">
                <a:solidFill>
                  <a:srgbClr val="94A3B8"/>
                </a:solidFill>
                <a:latin typeface="Arial"/>
                <a:ea typeface="Arial"/>
                <a:cs typeface="Arial"/>
                <a:sym typeface="Arial"/>
              </a:rPr>
              <a:t>Chưa gợi ý phim theo lịch sử và sở thích người dùng. Mọi người nhận cùng kết quả tra cứu.</a:t>
            </a:r>
            <a:endParaRPr sz="1600">
              <a:solidFill>
                <a:schemeClr val="dk1"/>
              </a:solidFill>
              <a:latin typeface="Calibri"/>
              <a:ea typeface="Calibri"/>
              <a:cs typeface="Calibri"/>
              <a:sym typeface="Calibri"/>
            </a:endParaRPr>
          </a:p>
        </p:txBody>
      </p:sp>
      <p:sp>
        <p:nvSpPr>
          <p:cNvPr id="542" name="Google Shape;542;p9"/>
          <p:cNvSpPr/>
          <p:nvPr/>
        </p:nvSpPr>
        <p:spPr>
          <a:xfrm>
            <a:off x="6325909" y="4864830"/>
            <a:ext cx="5377818" cy="889178"/>
          </a:xfrm>
          <a:custGeom>
            <a:rect b="b" l="l" r="r" t="t"/>
            <a:pathLst>
              <a:path extrusionOk="0" h="889178" w="5377818">
                <a:moveTo>
                  <a:pt x="34199" y="0"/>
                </a:moveTo>
                <a:lnTo>
                  <a:pt x="5309422" y="0"/>
                </a:lnTo>
                <a:cubicBezTo>
                  <a:pt x="5347196" y="0"/>
                  <a:pt x="5377818" y="30622"/>
                  <a:pt x="5377818" y="68396"/>
                </a:cubicBezTo>
                <a:lnTo>
                  <a:pt x="5377818" y="820783"/>
                </a:lnTo>
                <a:cubicBezTo>
                  <a:pt x="5377818" y="858556"/>
                  <a:pt x="5347196" y="889178"/>
                  <a:pt x="5309422" y="889178"/>
                </a:cubicBezTo>
                <a:lnTo>
                  <a:pt x="34199" y="889178"/>
                </a:lnTo>
                <a:cubicBezTo>
                  <a:pt x="15311" y="889178"/>
                  <a:pt x="0" y="873867"/>
                  <a:pt x="0" y="854979"/>
                </a:cubicBezTo>
                <a:lnTo>
                  <a:pt x="0" y="34199"/>
                </a:lnTo>
                <a:cubicBezTo>
                  <a:pt x="0" y="15324"/>
                  <a:pt x="15324" y="0"/>
                  <a:pt x="34199"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9"/>
          <p:cNvSpPr/>
          <p:nvPr/>
        </p:nvSpPr>
        <p:spPr>
          <a:xfrm>
            <a:off x="6325909" y="4864830"/>
            <a:ext cx="34199" cy="889178"/>
          </a:xfrm>
          <a:custGeom>
            <a:rect b="b" l="l" r="r" t="t"/>
            <a:pathLst>
              <a:path extrusionOk="0" h="889178" w="34199">
                <a:moveTo>
                  <a:pt x="34199" y="0"/>
                </a:moveTo>
                <a:lnTo>
                  <a:pt x="34199" y="0"/>
                </a:lnTo>
                <a:lnTo>
                  <a:pt x="34199" y="889178"/>
                </a:lnTo>
                <a:lnTo>
                  <a:pt x="34199" y="889178"/>
                </a:lnTo>
                <a:cubicBezTo>
                  <a:pt x="15311" y="889178"/>
                  <a:pt x="0" y="873867"/>
                  <a:pt x="0" y="854979"/>
                </a:cubicBezTo>
                <a:lnTo>
                  <a:pt x="0" y="34199"/>
                </a:lnTo>
                <a:cubicBezTo>
                  <a:pt x="0" y="15324"/>
                  <a:pt x="15324" y="0"/>
                  <a:pt x="34199" y="0"/>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9"/>
          <p:cNvSpPr/>
          <p:nvPr/>
        </p:nvSpPr>
        <p:spPr>
          <a:xfrm>
            <a:off x="6445606" y="5001627"/>
            <a:ext cx="273593" cy="273593"/>
          </a:xfrm>
          <a:custGeom>
            <a:rect b="b" l="l" r="r" t="t"/>
            <a:pathLst>
              <a:path extrusionOk="0" h="273593" w="273593">
                <a:moveTo>
                  <a:pt x="136797" y="0"/>
                </a:moveTo>
                <a:lnTo>
                  <a:pt x="136797" y="0"/>
                </a:lnTo>
                <a:cubicBezTo>
                  <a:pt x="212297" y="0"/>
                  <a:pt x="273593" y="61297"/>
                  <a:pt x="273593" y="136797"/>
                </a:cubicBezTo>
                <a:lnTo>
                  <a:pt x="273593" y="136797"/>
                </a:lnTo>
                <a:cubicBezTo>
                  <a:pt x="273593" y="212297"/>
                  <a:pt x="212297" y="273593"/>
                  <a:pt x="136797" y="273593"/>
                </a:cubicBezTo>
                <a:lnTo>
                  <a:pt x="136797" y="273593"/>
                </a:lnTo>
                <a:cubicBezTo>
                  <a:pt x="61297" y="273593"/>
                  <a:pt x="0" y="212297"/>
                  <a:pt x="0" y="136797"/>
                </a:cubicBezTo>
                <a:lnTo>
                  <a:pt x="0" y="136797"/>
                </a:lnTo>
                <a:cubicBezTo>
                  <a:pt x="0" y="61297"/>
                  <a:pt x="61297" y="0"/>
                  <a:pt x="136797"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9"/>
          <p:cNvSpPr/>
          <p:nvPr/>
        </p:nvSpPr>
        <p:spPr>
          <a:xfrm>
            <a:off x="6524692" y="5078575"/>
            <a:ext cx="119697" cy="119697"/>
          </a:xfrm>
          <a:custGeom>
            <a:rect b="b" l="l" r="r" t="t"/>
            <a:pathLst>
              <a:path extrusionOk="0" h="119697" w="119697">
                <a:moveTo>
                  <a:pt x="59849" y="0"/>
                </a:moveTo>
                <a:cubicBezTo>
                  <a:pt x="92880" y="0"/>
                  <a:pt x="119697" y="26817"/>
                  <a:pt x="119697" y="59849"/>
                </a:cubicBezTo>
                <a:cubicBezTo>
                  <a:pt x="119697" y="92880"/>
                  <a:pt x="92880" y="119697"/>
                  <a:pt x="59849" y="119697"/>
                </a:cubicBezTo>
                <a:cubicBezTo>
                  <a:pt x="26817" y="119697"/>
                  <a:pt x="0" y="92880"/>
                  <a:pt x="0" y="59849"/>
                </a:cubicBezTo>
                <a:cubicBezTo>
                  <a:pt x="0" y="26817"/>
                  <a:pt x="26817" y="0"/>
                  <a:pt x="59849" y="0"/>
                </a:cubicBezTo>
                <a:close/>
                <a:moveTo>
                  <a:pt x="54238" y="28054"/>
                </a:moveTo>
                <a:lnTo>
                  <a:pt x="54238" y="59849"/>
                </a:lnTo>
                <a:cubicBezTo>
                  <a:pt x="54238" y="61719"/>
                  <a:pt x="55173" y="63472"/>
                  <a:pt x="56739" y="64524"/>
                </a:cubicBezTo>
                <a:lnTo>
                  <a:pt x="79182" y="79486"/>
                </a:lnTo>
                <a:cubicBezTo>
                  <a:pt x="81754" y="81216"/>
                  <a:pt x="85237" y="80515"/>
                  <a:pt x="86967" y="77920"/>
                </a:cubicBezTo>
                <a:cubicBezTo>
                  <a:pt x="88697" y="75325"/>
                  <a:pt x="87996" y="71865"/>
                  <a:pt x="85401" y="70135"/>
                </a:cubicBezTo>
                <a:lnTo>
                  <a:pt x="65459" y="56856"/>
                </a:lnTo>
                <a:lnTo>
                  <a:pt x="65459" y="28054"/>
                </a:lnTo>
                <a:cubicBezTo>
                  <a:pt x="65459" y="24945"/>
                  <a:pt x="62958" y="22443"/>
                  <a:pt x="59849" y="22443"/>
                </a:cubicBezTo>
                <a:cubicBezTo>
                  <a:pt x="56739" y="22443"/>
                  <a:pt x="54238" y="24945"/>
                  <a:pt x="54238" y="28054"/>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9"/>
          <p:cNvSpPr/>
          <p:nvPr/>
        </p:nvSpPr>
        <p:spPr>
          <a:xfrm>
            <a:off x="6821797" y="4967428"/>
            <a:ext cx="4847731" cy="2051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77">
                <a:solidFill>
                  <a:srgbClr val="F8FAFC"/>
                </a:solidFill>
                <a:latin typeface="Arial"/>
                <a:ea typeface="Arial"/>
                <a:cs typeface="Arial"/>
                <a:sym typeface="Arial"/>
              </a:rPr>
              <a:t>Độ trễ API</a:t>
            </a:r>
            <a:endParaRPr sz="1600">
              <a:solidFill>
                <a:schemeClr val="dk1"/>
              </a:solidFill>
              <a:latin typeface="Calibri"/>
              <a:ea typeface="Calibri"/>
              <a:cs typeface="Calibri"/>
              <a:sym typeface="Calibri"/>
            </a:endParaRPr>
          </a:p>
        </p:txBody>
      </p:sp>
      <p:sp>
        <p:nvSpPr>
          <p:cNvPr id="547" name="Google Shape;547;p9"/>
          <p:cNvSpPr/>
          <p:nvPr/>
        </p:nvSpPr>
        <p:spPr>
          <a:xfrm>
            <a:off x="6821797" y="5206822"/>
            <a:ext cx="4847731" cy="444589"/>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77">
                <a:solidFill>
                  <a:srgbClr val="94A3B8"/>
                </a:solidFill>
                <a:latin typeface="Arial"/>
                <a:ea typeface="Arial"/>
                <a:cs typeface="Arial"/>
                <a:sym typeface="Arial"/>
              </a:rPr>
              <a:t>Đôi khi ảnh hưởng thời gian phản hồi do phụ thuộc vào kết nối mạng và tải của dịch vụ bên thứ ba.</a:t>
            </a:r>
            <a:endParaRPr sz="1600">
              <a:solidFill>
                <a:schemeClr val="dk1"/>
              </a:solidFill>
              <a:latin typeface="Calibri"/>
              <a:ea typeface="Calibri"/>
              <a:cs typeface="Calibri"/>
              <a:sym typeface="Calibri"/>
            </a:endParaRPr>
          </a:p>
        </p:txBody>
      </p:sp>
      <p:sp>
        <p:nvSpPr>
          <p:cNvPr id="548" name="Google Shape;548;p9"/>
          <p:cNvSpPr/>
          <p:nvPr/>
        </p:nvSpPr>
        <p:spPr>
          <a:xfrm>
            <a:off x="6325909" y="5822407"/>
            <a:ext cx="5377818" cy="889178"/>
          </a:xfrm>
          <a:custGeom>
            <a:rect b="b" l="l" r="r" t="t"/>
            <a:pathLst>
              <a:path extrusionOk="0" h="889178" w="5377818">
                <a:moveTo>
                  <a:pt x="34199" y="0"/>
                </a:moveTo>
                <a:lnTo>
                  <a:pt x="5309422" y="0"/>
                </a:lnTo>
                <a:cubicBezTo>
                  <a:pt x="5347196" y="0"/>
                  <a:pt x="5377818" y="30622"/>
                  <a:pt x="5377818" y="68396"/>
                </a:cubicBezTo>
                <a:lnTo>
                  <a:pt x="5377818" y="820783"/>
                </a:lnTo>
                <a:cubicBezTo>
                  <a:pt x="5377818" y="858556"/>
                  <a:pt x="5347196" y="889178"/>
                  <a:pt x="5309422" y="889178"/>
                </a:cubicBezTo>
                <a:lnTo>
                  <a:pt x="34199" y="889178"/>
                </a:lnTo>
                <a:cubicBezTo>
                  <a:pt x="15311" y="889178"/>
                  <a:pt x="0" y="873867"/>
                  <a:pt x="0" y="854979"/>
                </a:cubicBezTo>
                <a:lnTo>
                  <a:pt x="0" y="34199"/>
                </a:lnTo>
                <a:cubicBezTo>
                  <a:pt x="0" y="15324"/>
                  <a:pt x="15324" y="0"/>
                  <a:pt x="34199" y="0"/>
                </a:cubicBezTo>
                <a:close/>
              </a:path>
            </a:pathLst>
          </a:custGeom>
          <a:solidFill>
            <a:srgbClr val="0F17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9"/>
          <p:cNvSpPr/>
          <p:nvPr/>
        </p:nvSpPr>
        <p:spPr>
          <a:xfrm>
            <a:off x="6325909" y="5822407"/>
            <a:ext cx="34199" cy="889178"/>
          </a:xfrm>
          <a:custGeom>
            <a:rect b="b" l="l" r="r" t="t"/>
            <a:pathLst>
              <a:path extrusionOk="0" h="889178" w="34199">
                <a:moveTo>
                  <a:pt x="34199" y="0"/>
                </a:moveTo>
                <a:lnTo>
                  <a:pt x="34199" y="0"/>
                </a:lnTo>
                <a:lnTo>
                  <a:pt x="34199" y="889178"/>
                </a:lnTo>
                <a:lnTo>
                  <a:pt x="34199" y="889178"/>
                </a:lnTo>
                <a:cubicBezTo>
                  <a:pt x="15311" y="889178"/>
                  <a:pt x="0" y="873867"/>
                  <a:pt x="0" y="854979"/>
                </a:cubicBezTo>
                <a:lnTo>
                  <a:pt x="0" y="34199"/>
                </a:lnTo>
                <a:cubicBezTo>
                  <a:pt x="0" y="15324"/>
                  <a:pt x="15324" y="0"/>
                  <a:pt x="34199" y="0"/>
                </a:cubicBezTo>
                <a:close/>
              </a:path>
            </a:pathLst>
          </a:cu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9"/>
          <p:cNvSpPr/>
          <p:nvPr/>
        </p:nvSpPr>
        <p:spPr>
          <a:xfrm>
            <a:off x="6445606" y="5959203"/>
            <a:ext cx="273593" cy="273593"/>
          </a:xfrm>
          <a:custGeom>
            <a:rect b="b" l="l" r="r" t="t"/>
            <a:pathLst>
              <a:path extrusionOk="0" h="273593" w="273593">
                <a:moveTo>
                  <a:pt x="136797" y="0"/>
                </a:moveTo>
                <a:lnTo>
                  <a:pt x="136797" y="0"/>
                </a:lnTo>
                <a:cubicBezTo>
                  <a:pt x="212297" y="0"/>
                  <a:pt x="273593" y="61297"/>
                  <a:pt x="273593" y="136797"/>
                </a:cubicBezTo>
                <a:lnTo>
                  <a:pt x="273593" y="136797"/>
                </a:lnTo>
                <a:cubicBezTo>
                  <a:pt x="273593" y="212297"/>
                  <a:pt x="212297" y="273593"/>
                  <a:pt x="136797" y="273593"/>
                </a:cubicBezTo>
                <a:lnTo>
                  <a:pt x="136797" y="273593"/>
                </a:lnTo>
                <a:cubicBezTo>
                  <a:pt x="61297" y="273593"/>
                  <a:pt x="0" y="212297"/>
                  <a:pt x="0" y="136797"/>
                </a:cubicBezTo>
                <a:lnTo>
                  <a:pt x="0" y="136797"/>
                </a:lnTo>
                <a:cubicBezTo>
                  <a:pt x="0" y="61297"/>
                  <a:pt x="61297" y="0"/>
                  <a:pt x="136797" y="0"/>
                </a:cubicBezTo>
                <a:close/>
              </a:path>
            </a:pathLst>
          </a:custGeom>
          <a:solidFill>
            <a:srgbClr val="94A3B8">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9"/>
          <p:cNvSpPr/>
          <p:nvPr/>
        </p:nvSpPr>
        <p:spPr>
          <a:xfrm>
            <a:off x="6524692" y="6036151"/>
            <a:ext cx="119697" cy="119697"/>
          </a:xfrm>
          <a:custGeom>
            <a:rect b="b" l="l" r="r" t="t"/>
            <a:pathLst>
              <a:path extrusionOk="0" h="119697" w="119697">
                <a:moveTo>
                  <a:pt x="119697" y="11222"/>
                </a:moveTo>
                <a:cubicBezTo>
                  <a:pt x="119697" y="8627"/>
                  <a:pt x="118364" y="6219"/>
                  <a:pt x="116144" y="4863"/>
                </a:cubicBezTo>
                <a:cubicBezTo>
                  <a:pt x="113923" y="3507"/>
                  <a:pt x="111187" y="3366"/>
                  <a:pt x="108873" y="4535"/>
                </a:cubicBezTo>
                <a:lnTo>
                  <a:pt x="81707" y="18118"/>
                </a:lnTo>
                <a:lnTo>
                  <a:pt x="39767" y="4115"/>
                </a:lnTo>
                <a:cubicBezTo>
                  <a:pt x="37873" y="3483"/>
                  <a:pt x="35839" y="3624"/>
                  <a:pt x="34062" y="4512"/>
                </a:cubicBezTo>
                <a:lnTo>
                  <a:pt x="4138" y="19474"/>
                </a:lnTo>
                <a:cubicBezTo>
                  <a:pt x="1590" y="20760"/>
                  <a:pt x="0" y="23355"/>
                  <a:pt x="0" y="26184"/>
                </a:cubicBezTo>
                <a:lnTo>
                  <a:pt x="0" y="108475"/>
                </a:lnTo>
                <a:cubicBezTo>
                  <a:pt x="0" y="111070"/>
                  <a:pt x="1333" y="113478"/>
                  <a:pt x="3554" y="114834"/>
                </a:cubicBezTo>
                <a:cubicBezTo>
                  <a:pt x="5774" y="116190"/>
                  <a:pt x="8510" y="116331"/>
                  <a:pt x="10824" y="115162"/>
                </a:cubicBezTo>
                <a:lnTo>
                  <a:pt x="37966" y="101579"/>
                </a:lnTo>
                <a:lnTo>
                  <a:pt x="79907" y="115559"/>
                </a:lnTo>
                <a:cubicBezTo>
                  <a:pt x="81801" y="116190"/>
                  <a:pt x="83835" y="116050"/>
                  <a:pt x="85611" y="115162"/>
                </a:cubicBezTo>
                <a:lnTo>
                  <a:pt x="115536" y="100200"/>
                </a:lnTo>
                <a:cubicBezTo>
                  <a:pt x="118061" y="98937"/>
                  <a:pt x="119674" y="96342"/>
                  <a:pt x="119674" y="93513"/>
                </a:cubicBezTo>
                <a:lnTo>
                  <a:pt x="119674" y="11222"/>
                </a:lnTo>
                <a:close/>
                <a:moveTo>
                  <a:pt x="44886" y="88113"/>
                </a:moveTo>
                <a:lnTo>
                  <a:pt x="44886" y="21602"/>
                </a:lnTo>
                <a:lnTo>
                  <a:pt x="74811" y="31584"/>
                </a:lnTo>
                <a:lnTo>
                  <a:pt x="74811" y="98095"/>
                </a:lnTo>
                <a:lnTo>
                  <a:pt x="44886" y="88113"/>
                </a:lnTo>
                <a:close/>
              </a:path>
            </a:pathLst>
          </a:cu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9"/>
          <p:cNvSpPr/>
          <p:nvPr/>
        </p:nvSpPr>
        <p:spPr>
          <a:xfrm>
            <a:off x="6821797" y="5925004"/>
            <a:ext cx="4847731" cy="2051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77">
                <a:solidFill>
                  <a:srgbClr val="F8FAFC"/>
                </a:solidFill>
                <a:latin typeface="Arial"/>
                <a:ea typeface="Arial"/>
                <a:cs typeface="Arial"/>
                <a:sym typeface="Arial"/>
              </a:rPr>
              <a:t>Phạm vi hạn chế</a:t>
            </a:r>
            <a:endParaRPr sz="1600">
              <a:solidFill>
                <a:schemeClr val="dk1"/>
              </a:solidFill>
              <a:latin typeface="Calibri"/>
              <a:ea typeface="Calibri"/>
              <a:cs typeface="Calibri"/>
              <a:sym typeface="Calibri"/>
            </a:endParaRPr>
          </a:p>
        </p:txBody>
      </p:sp>
      <p:sp>
        <p:nvSpPr>
          <p:cNvPr id="553" name="Google Shape;553;p9"/>
          <p:cNvSpPr/>
          <p:nvPr/>
        </p:nvSpPr>
        <p:spPr>
          <a:xfrm>
            <a:off x="6821797" y="6164398"/>
            <a:ext cx="4847731" cy="444589"/>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077">
                <a:solidFill>
                  <a:srgbClr val="94A3B8"/>
                </a:solidFill>
                <a:latin typeface="Arial"/>
                <a:ea typeface="Arial"/>
                <a:cs typeface="Arial"/>
                <a:sym typeface="Arial"/>
              </a:rPr>
              <a:t>Chỉ tập trung </a:t>
            </a:r>
            <a:r>
              <a:rPr b="1" lang="en-US" sz="1077">
                <a:solidFill>
                  <a:srgbClr val="94A3B8"/>
                </a:solidFill>
                <a:latin typeface="Arial"/>
                <a:ea typeface="Arial"/>
                <a:cs typeface="Arial"/>
                <a:sym typeface="Arial"/>
              </a:rPr>
              <a:t>TP.HCM</a:t>
            </a:r>
            <a:r>
              <a:rPr lang="en-US" sz="1077">
                <a:solidFill>
                  <a:srgbClr val="94A3B8"/>
                </a:solidFill>
                <a:latin typeface="Arial"/>
                <a:ea typeface="Arial"/>
                <a:cs typeface="Arial"/>
                <a:sym typeface="Arial"/>
              </a:rPr>
              <a:t>, chưa mở rộng toàn quốc. Dữ liệu rạp chiếu còn thiếu ở các tỉnh thành khác.</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58" name="Shape 558"/>
        <p:cNvGrpSpPr/>
        <p:nvPr/>
      </p:nvGrpSpPr>
      <p:grpSpPr>
        <a:xfrm>
          <a:off x="0" y="0"/>
          <a:ext cx="0" cy="0"/>
          <a:chOff x="0" y="0"/>
          <a:chExt cx="0" cy="0"/>
        </a:xfrm>
      </p:grpSpPr>
      <p:sp>
        <p:nvSpPr>
          <p:cNvPr id="559" name="Google Shape;559;p10"/>
          <p:cNvSpPr/>
          <p:nvPr/>
        </p:nvSpPr>
        <p:spPr>
          <a:xfrm>
            <a:off x="374850" y="374850"/>
            <a:ext cx="11517270" cy="22491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81">
                <a:solidFill>
                  <a:srgbClr val="14B8A6"/>
                </a:solidFill>
                <a:latin typeface="Arial"/>
                <a:ea typeface="Arial"/>
                <a:cs typeface="Arial"/>
                <a:sym typeface="Arial"/>
              </a:rPr>
              <a:t>08 / HƯỚNG PHÁT TRIỂN</a:t>
            </a:r>
            <a:endParaRPr sz="1600">
              <a:solidFill>
                <a:schemeClr val="dk1"/>
              </a:solidFill>
              <a:latin typeface="Calibri"/>
              <a:ea typeface="Calibri"/>
              <a:cs typeface="Calibri"/>
              <a:sym typeface="Calibri"/>
            </a:endParaRPr>
          </a:p>
        </p:txBody>
      </p:sp>
      <p:sp>
        <p:nvSpPr>
          <p:cNvPr id="560" name="Google Shape;560;p10"/>
          <p:cNvSpPr/>
          <p:nvPr/>
        </p:nvSpPr>
        <p:spPr>
          <a:xfrm>
            <a:off x="374850" y="674730"/>
            <a:ext cx="11610982" cy="37485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656">
                <a:solidFill>
                  <a:srgbClr val="F8FAFC"/>
                </a:solidFill>
                <a:latin typeface="Arial"/>
                <a:ea typeface="Arial"/>
                <a:cs typeface="Arial"/>
                <a:sym typeface="Arial"/>
              </a:rPr>
              <a:t>Tầm nhìn tương lai</a:t>
            </a:r>
            <a:endParaRPr sz="1600">
              <a:solidFill>
                <a:schemeClr val="dk1"/>
              </a:solidFill>
              <a:latin typeface="Calibri"/>
              <a:ea typeface="Calibri"/>
              <a:cs typeface="Calibri"/>
              <a:sym typeface="Calibri"/>
            </a:endParaRPr>
          </a:p>
        </p:txBody>
      </p:sp>
      <p:sp>
        <p:nvSpPr>
          <p:cNvPr id="561" name="Google Shape;561;p10"/>
          <p:cNvSpPr/>
          <p:nvPr/>
        </p:nvSpPr>
        <p:spPr>
          <a:xfrm>
            <a:off x="374850" y="1162035"/>
            <a:ext cx="899640" cy="37485"/>
          </a:xfrm>
          <a:custGeom>
            <a:rect b="b" l="l" r="r" t="t"/>
            <a:pathLst>
              <a:path extrusionOk="0" h="37485" w="899640">
                <a:moveTo>
                  <a:pt x="0" y="0"/>
                </a:moveTo>
                <a:lnTo>
                  <a:pt x="899640" y="0"/>
                </a:lnTo>
                <a:lnTo>
                  <a:pt x="899640" y="37485"/>
                </a:lnTo>
                <a:lnTo>
                  <a:pt x="0" y="37485"/>
                </a:lnTo>
                <a:lnTo>
                  <a:pt x="0" y="0"/>
                </a:lnTo>
                <a:close/>
              </a:path>
            </a:pathLst>
          </a:custGeom>
          <a:gradFill>
            <a:gsLst>
              <a:gs pos="0">
                <a:srgbClr val="14B8A6"/>
              </a:gs>
              <a:gs pos="100000">
                <a:srgbClr val="3B82F6"/>
              </a:gs>
            </a:gsLst>
            <a:lin ang="0" scaled="0"/>
          </a:gradFill>
          <a:ln>
            <a:noFill/>
          </a:ln>
        </p:spPr>
      </p:sp>
      <p:sp>
        <p:nvSpPr>
          <p:cNvPr id="562" name="Google Shape;562;p10"/>
          <p:cNvSpPr/>
          <p:nvPr/>
        </p:nvSpPr>
        <p:spPr>
          <a:xfrm>
            <a:off x="393593" y="1349460"/>
            <a:ext cx="6784787" cy="1012095"/>
          </a:xfrm>
          <a:custGeom>
            <a:rect b="b" l="l" r="r" t="t"/>
            <a:pathLst>
              <a:path extrusionOk="0" h="1012095" w="6784787">
                <a:moveTo>
                  <a:pt x="37485" y="0"/>
                </a:moveTo>
                <a:lnTo>
                  <a:pt x="6672333" y="0"/>
                </a:lnTo>
                <a:cubicBezTo>
                  <a:pt x="6734440" y="0"/>
                  <a:pt x="6784787" y="50347"/>
                  <a:pt x="6784787" y="112454"/>
                </a:cubicBezTo>
                <a:lnTo>
                  <a:pt x="6784787" y="899641"/>
                </a:lnTo>
                <a:cubicBezTo>
                  <a:pt x="6784787" y="961748"/>
                  <a:pt x="6734440" y="1012095"/>
                  <a:pt x="6672333" y="1012095"/>
                </a:cubicBezTo>
                <a:lnTo>
                  <a:pt x="37485" y="1012095"/>
                </a:lnTo>
                <a:cubicBezTo>
                  <a:pt x="16783" y="1012095"/>
                  <a:pt x="0" y="995313"/>
                  <a:pt x="0" y="974610"/>
                </a:cubicBezTo>
                <a:lnTo>
                  <a:pt x="0" y="37485"/>
                </a:lnTo>
                <a:cubicBezTo>
                  <a:pt x="0" y="16796"/>
                  <a:pt x="16796" y="0"/>
                  <a:pt x="37485" y="0"/>
                </a:cubicBezTo>
                <a:close/>
              </a:path>
            </a:pathLst>
          </a:custGeom>
          <a:gradFill>
            <a:gsLst>
              <a:gs pos="0">
                <a:srgbClr val="3B82F6">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0"/>
          <p:cNvSpPr/>
          <p:nvPr/>
        </p:nvSpPr>
        <p:spPr>
          <a:xfrm>
            <a:off x="393593" y="1349460"/>
            <a:ext cx="37485" cy="1012095"/>
          </a:xfrm>
          <a:custGeom>
            <a:rect b="b" l="l" r="r" t="t"/>
            <a:pathLst>
              <a:path extrusionOk="0" h="1012095" w="37485">
                <a:moveTo>
                  <a:pt x="37485" y="0"/>
                </a:moveTo>
                <a:lnTo>
                  <a:pt x="37485" y="0"/>
                </a:lnTo>
                <a:lnTo>
                  <a:pt x="37485" y="1012095"/>
                </a:lnTo>
                <a:lnTo>
                  <a:pt x="37485" y="1012095"/>
                </a:lnTo>
                <a:cubicBezTo>
                  <a:pt x="16783" y="1012095"/>
                  <a:pt x="0" y="995313"/>
                  <a:pt x="0" y="974610"/>
                </a:cubicBezTo>
                <a:lnTo>
                  <a:pt x="0" y="37485"/>
                </a:lnTo>
                <a:cubicBezTo>
                  <a:pt x="0" y="16796"/>
                  <a:pt x="16796" y="0"/>
                  <a:pt x="37485"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0"/>
          <p:cNvSpPr/>
          <p:nvPr/>
        </p:nvSpPr>
        <p:spPr>
          <a:xfrm>
            <a:off x="524790" y="1593113"/>
            <a:ext cx="524790" cy="524790"/>
          </a:xfrm>
          <a:custGeom>
            <a:rect b="b" l="l" r="r" t="t"/>
            <a:pathLst>
              <a:path extrusionOk="0" h="524790" w="524790">
                <a:moveTo>
                  <a:pt x="112457" y="0"/>
                </a:moveTo>
                <a:lnTo>
                  <a:pt x="412333" y="0"/>
                </a:lnTo>
                <a:cubicBezTo>
                  <a:pt x="474441" y="0"/>
                  <a:pt x="524790" y="50349"/>
                  <a:pt x="524790" y="112457"/>
                </a:cubicBezTo>
                <a:lnTo>
                  <a:pt x="524790" y="412333"/>
                </a:lnTo>
                <a:cubicBezTo>
                  <a:pt x="524790" y="474441"/>
                  <a:pt x="474441" y="524790"/>
                  <a:pt x="412333" y="524790"/>
                </a:cubicBezTo>
                <a:lnTo>
                  <a:pt x="112457" y="524790"/>
                </a:lnTo>
                <a:cubicBezTo>
                  <a:pt x="50349" y="524790"/>
                  <a:pt x="0" y="474441"/>
                  <a:pt x="0" y="412333"/>
                </a:cubicBezTo>
                <a:lnTo>
                  <a:pt x="0" y="112457"/>
                </a:lnTo>
                <a:cubicBezTo>
                  <a:pt x="0" y="50390"/>
                  <a:pt x="50390" y="0"/>
                  <a:pt x="112457" y="0"/>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0"/>
          <p:cNvSpPr/>
          <p:nvPr/>
        </p:nvSpPr>
        <p:spPr>
          <a:xfrm>
            <a:off x="681759" y="1761796"/>
            <a:ext cx="210853" cy="187425"/>
          </a:xfrm>
          <a:custGeom>
            <a:rect b="b" l="l" r="r" t="t"/>
            <a:pathLst>
              <a:path extrusionOk="0" h="187425" w="210853">
                <a:moveTo>
                  <a:pt x="0" y="46856"/>
                </a:moveTo>
                <a:cubicBezTo>
                  <a:pt x="0" y="33934"/>
                  <a:pt x="10506" y="23428"/>
                  <a:pt x="23428" y="23428"/>
                </a:cubicBezTo>
                <a:lnTo>
                  <a:pt x="187425" y="23428"/>
                </a:lnTo>
                <a:cubicBezTo>
                  <a:pt x="200347" y="23428"/>
                  <a:pt x="210853" y="33934"/>
                  <a:pt x="210853" y="46856"/>
                </a:cubicBezTo>
                <a:lnTo>
                  <a:pt x="210853" y="70284"/>
                </a:lnTo>
                <a:cubicBezTo>
                  <a:pt x="210853" y="73506"/>
                  <a:pt x="208144" y="76032"/>
                  <a:pt x="205106" y="77093"/>
                </a:cubicBezTo>
                <a:cubicBezTo>
                  <a:pt x="198224" y="79473"/>
                  <a:pt x="193282" y="86025"/>
                  <a:pt x="193282" y="93713"/>
                </a:cubicBezTo>
                <a:cubicBezTo>
                  <a:pt x="193282" y="101400"/>
                  <a:pt x="198224" y="107952"/>
                  <a:pt x="205106" y="110332"/>
                </a:cubicBezTo>
                <a:cubicBezTo>
                  <a:pt x="208144" y="111393"/>
                  <a:pt x="210853" y="113919"/>
                  <a:pt x="210853" y="117141"/>
                </a:cubicBezTo>
                <a:lnTo>
                  <a:pt x="210853" y="140569"/>
                </a:lnTo>
                <a:cubicBezTo>
                  <a:pt x="210853" y="153491"/>
                  <a:pt x="200347" y="163997"/>
                  <a:pt x="187425" y="163997"/>
                </a:cubicBezTo>
                <a:lnTo>
                  <a:pt x="23428" y="163997"/>
                </a:lnTo>
                <a:cubicBezTo>
                  <a:pt x="10506" y="163997"/>
                  <a:pt x="0" y="153491"/>
                  <a:pt x="0" y="140569"/>
                </a:cubicBezTo>
                <a:lnTo>
                  <a:pt x="0" y="117141"/>
                </a:lnTo>
                <a:cubicBezTo>
                  <a:pt x="0" y="113919"/>
                  <a:pt x="2709" y="111393"/>
                  <a:pt x="5747" y="110332"/>
                </a:cubicBezTo>
                <a:cubicBezTo>
                  <a:pt x="12629" y="107952"/>
                  <a:pt x="17571" y="101400"/>
                  <a:pt x="17571" y="93713"/>
                </a:cubicBezTo>
                <a:cubicBezTo>
                  <a:pt x="17571" y="86025"/>
                  <a:pt x="12629" y="79473"/>
                  <a:pt x="5747" y="77093"/>
                </a:cubicBezTo>
                <a:cubicBezTo>
                  <a:pt x="2709" y="76032"/>
                  <a:pt x="0" y="73506"/>
                  <a:pt x="0" y="70284"/>
                </a:cubicBezTo>
                <a:lnTo>
                  <a:pt x="0" y="4685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0"/>
          <p:cNvSpPr/>
          <p:nvPr/>
        </p:nvSpPr>
        <p:spPr>
          <a:xfrm>
            <a:off x="1199520" y="1461915"/>
            <a:ext cx="4207693" cy="2623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28">
                <a:solidFill>
                  <a:srgbClr val="F8FAFC"/>
                </a:solidFill>
                <a:latin typeface="Arial"/>
                <a:ea typeface="Arial"/>
                <a:cs typeface="Arial"/>
                <a:sym typeface="Arial"/>
              </a:rPr>
              <a:t>Tích hợp đặt vé</a:t>
            </a:r>
            <a:endParaRPr sz="1600">
              <a:solidFill>
                <a:schemeClr val="dk1"/>
              </a:solidFill>
              <a:latin typeface="Calibri"/>
              <a:ea typeface="Calibri"/>
              <a:cs typeface="Calibri"/>
              <a:sym typeface="Calibri"/>
            </a:endParaRPr>
          </a:p>
        </p:txBody>
      </p:sp>
      <p:sp>
        <p:nvSpPr>
          <p:cNvPr id="567" name="Google Shape;567;p10"/>
          <p:cNvSpPr/>
          <p:nvPr/>
        </p:nvSpPr>
        <p:spPr>
          <a:xfrm>
            <a:off x="1199520" y="1761796"/>
            <a:ext cx="4198321" cy="48730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81">
                <a:solidFill>
                  <a:srgbClr val="94A3B8"/>
                </a:solidFill>
                <a:latin typeface="Arial"/>
                <a:ea typeface="Arial"/>
                <a:cs typeface="Arial"/>
                <a:sym typeface="Arial"/>
              </a:rPr>
              <a:t>Kết nối hệ thống đặt vé trực tuyến </a:t>
            </a:r>
            <a:r>
              <a:rPr b="1" lang="en-US" sz="1181">
                <a:solidFill>
                  <a:srgbClr val="3B82F6"/>
                </a:solidFill>
                <a:latin typeface="Arial"/>
                <a:ea typeface="Arial"/>
                <a:cs typeface="Arial"/>
                <a:sym typeface="Arial"/>
              </a:rPr>
              <a:t>CGV, Lotte, Galaxy</a:t>
            </a:r>
            <a:r>
              <a:rPr lang="en-US" sz="1181">
                <a:solidFill>
                  <a:srgbClr val="94A3B8"/>
                </a:solidFill>
                <a:latin typeface="Arial"/>
                <a:ea typeface="Arial"/>
                <a:cs typeface="Arial"/>
                <a:sym typeface="Arial"/>
              </a:rPr>
              <a:t>... cho phép đặt vé ngay trong chat.</a:t>
            </a:r>
            <a:endParaRPr sz="1600">
              <a:solidFill>
                <a:schemeClr val="dk1"/>
              </a:solidFill>
              <a:latin typeface="Calibri"/>
              <a:ea typeface="Calibri"/>
              <a:cs typeface="Calibri"/>
              <a:sym typeface="Calibri"/>
            </a:endParaRPr>
          </a:p>
        </p:txBody>
      </p:sp>
      <p:sp>
        <p:nvSpPr>
          <p:cNvPr id="568" name="Google Shape;568;p10"/>
          <p:cNvSpPr/>
          <p:nvPr/>
        </p:nvSpPr>
        <p:spPr>
          <a:xfrm>
            <a:off x="5476765" y="1724311"/>
            <a:ext cx="740329" cy="262395"/>
          </a:xfrm>
          <a:custGeom>
            <a:rect b="b" l="l" r="r" t="t"/>
            <a:pathLst>
              <a:path extrusionOk="0" h="262395" w="740329">
                <a:moveTo>
                  <a:pt x="131198" y="0"/>
                </a:moveTo>
                <a:lnTo>
                  <a:pt x="609131" y="0"/>
                </a:lnTo>
                <a:cubicBezTo>
                  <a:pt x="681541" y="0"/>
                  <a:pt x="740329" y="58788"/>
                  <a:pt x="740329" y="131198"/>
                </a:cubicBezTo>
                <a:lnTo>
                  <a:pt x="740329" y="131198"/>
                </a:lnTo>
                <a:cubicBezTo>
                  <a:pt x="740329" y="203607"/>
                  <a:pt x="681541" y="262395"/>
                  <a:pt x="609131" y="262395"/>
                </a:cubicBezTo>
                <a:lnTo>
                  <a:pt x="131198" y="262395"/>
                </a:lnTo>
                <a:cubicBezTo>
                  <a:pt x="58788" y="262395"/>
                  <a:pt x="0" y="203607"/>
                  <a:pt x="0" y="131198"/>
                </a:cubicBezTo>
                <a:lnTo>
                  <a:pt x="0" y="131198"/>
                </a:lnTo>
                <a:cubicBezTo>
                  <a:pt x="0" y="58788"/>
                  <a:pt x="58788" y="0"/>
                  <a:pt x="131198"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0"/>
          <p:cNvSpPr/>
          <p:nvPr/>
        </p:nvSpPr>
        <p:spPr>
          <a:xfrm>
            <a:off x="5476765" y="1724311"/>
            <a:ext cx="805928"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3B82F6"/>
                </a:solidFill>
                <a:latin typeface="Arial"/>
                <a:ea typeface="Arial"/>
                <a:cs typeface="Arial"/>
                <a:sym typeface="Arial"/>
              </a:rPr>
              <a:t>Booking</a:t>
            </a:r>
            <a:endParaRPr sz="1600">
              <a:solidFill>
                <a:schemeClr val="dk1"/>
              </a:solidFill>
              <a:latin typeface="Calibri"/>
              <a:ea typeface="Calibri"/>
              <a:cs typeface="Calibri"/>
              <a:sym typeface="Calibri"/>
            </a:endParaRPr>
          </a:p>
        </p:txBody>
      </p:sp>
      <p:sp>
        <p:nvSpPr>
          <p:cNvPr id="570" name="Google Shape;570;p10"/>
          <p:cNvSpPr/>
          <p:nvPr/>
        </p:nvSpPr>
        <p:spPr>
          <a:xfrm>
            <a:off x="6290746" y="1724311"/>
            <a:ext cx="777814" cy="262395"/>
          </a:xfrm>
          <a:custGeom>
            <a:rect b="b" l="l" r="r" t="t"/>
            <a:pathLst>
              <a:path extrusionOk="0" h="262395" w="777814">
                <a:moveTo>
                  <a:pt x="131198" y="0"/>
                </a:moveTo>
                <a:lnTo>
                  <a:pt x="646616" y="0"/>
                </a:lnTo>
                <a:cubicBezTo>
                  <a:pt x="719026" y="0"/>
                  <a:pt x="777814" y="58788"/>
                  <a:pt x="777814" y="131198"/>
                </a:cubicBezTo>
                <a:lnTo>
                  <a:pt x="777814" y="131198"/>
                </a:lnTo>
                <a:cubicBezTo>
                  <a:pt x="777814" y="203607"/>
                  <a:pt x="719026" y="262395"/>
                  <a:pt x="646616" y="262395"/>
                </a:cubicBezTo>
                <a:lnTo>
                  <a:pt x="131198" y="262395"/>
                </a:lnTo>
                <a:cubicBezTo>
                  <a:pt x="58788" y="262395"/>
                  <a:pt x="0" y="203607"/>
                  <a:pt x="0" y="131198"/>
                </a:cubicBezTo>
                <a:lnTo>
                  <a:pt x="0" y="131198"/>
                </a:lnTo>
                <a:cubicBezTo>
                  <a:pt x="0" y="58788"/>
                  <a:pt x="58788" y="0"/>
                  <a:pt x="131198"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0"/>
          <p:cNvSpPr/>
          <p:nvPr/>
        </p:nvSpPr>
        <p:spPr>
          <a:xfrm>
            <a:off x="6290746" y="1724311"/>
            <a:ext cx="843413"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3B82F6"/>
                </a:solidFill>
                <a:latin typeface="Arial"/>
                <a:ea typeface="Arial"/>
                <a:cs typeface="Arial"/>
                <a:sym typeface="Arial"/>
              </a:rPr>
              <a:t>Payment</a:t>
            </a:r>
            <a:endParaRPr sz="1600">
              <a:solidFill>
                <a:schemeClr val="dk1"/>
              </a:solidFill>
              <a:latin typeface="Calibri"/>
              <a:ea typeface="Calibri"/>
              <a:cs typeface="Calibri"/>
              <a:sym typeface="Calibri"/>
            </a:endParaRPr>
          </a:p>
        </p:txBody>
      </p:sp>
      <p:sp>
        <p:nvSpPr>
          <p:cNvPr id="572" name="Google Shape;572;p10"/>
          <p:cNvSpPr/>
          <p:nvPr/>
        </p:nvSpPr>
        <p:spPr>
          <a:xfrm>
            <a:off x="393593" y="2474011"/>
            <a:ext cx="6784787" cy="1012095"/>
          </a:xfrm>
          <a:custGeom>
            <a:rect b="b" l="l" r="r" t="t"/>
            <a:pathLst>
              <a:path extrusionOk="0" h="1012095" w="6784787">
                <a:moveTo>
                  <a:pt x="37485" y="0"/>
                </a:moveTo>
                <a:lnTo>
                  <a:pt x="6672333" y="0"/>
                </a:lnTo>
                <a:cubicBezTo>
                  <a:pt x="6734440" y="0"/>
                  <a:pt x="6784787" y="50347"/>
                  <a:pt x="6784787" y="112454"/>
                </a:cubicBezTo>
                <a:lnTo>
                  <a:pt x="6784787" y="899641"/>
                </a:lnTo>
                <a:cubicBezTo>
                  <a:pt x="6784787" y="961748"/>
                  <a:pt x="6734440" y="1012095"/>
                  <a:pt x="6672333" y="1012095"/>
                </a:cubicBezTo>
                <a:lnTo>
                  <a:pt x="37485" y="1012095"/>
                </a:lnTo>
                <a:cubicBezTo>
                  <a:pt x="16783" y="1012095"/>
                  <a:pt x="0" y="995313"/>
                  <a:pt x="0" y="974610"/>
                </a:cubicBezTo>
                <a:lnTo>
                  <a:pt x="0" y="37485"/>
                </a:lnTo>
                <a:cubicBezTo>
                  <a:pt x="0" y="16796"/>
                  <a:pt x="16796" y="0"/>
                  <a:pt x="37485" y="0"/>
                </a:cubicBezTo>
                <a:close/>
              </a:path>
            </a:pathLst>
          </a:custGeom>
          <a:gradFill>
            <a:gsLst>
              <a:gs pos="0">
                <a:srgbClr val="8B5CF6">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0"/>
          <p:cNvSpPr/>
          <p:nvPr/>
        </p:nvSpPr>
        <p:spPr>
          <a:xfrm>
            <a:off x="393593" y="2474011"/>
            <a:ext cx="37485" cy="1012095"/>
          </a:xfrm>
          <a:custGeom>
            <a:rect b="b" l="l" r="r" t="t"/>
            <a:pathLst>
              <a:path extrusionOk="0" h="1012095" w="37485">
                <a:moveTo>
                  <a:pt x="37485" y="0"/>
                </a:moveTo>
                <a:lnTo>
                  <a:pt x="37485" y="0"/>
                </a:lnTo>
                <a:lnTo>
                  <a:pt x="37485" y="1012095"/>
                </a:lnTo>
                <a:lnTo>
                  <a:pt x="37485" y="1012095"/>
                </a:lnTo>
                <a:cubicBezTo>
                  <a:pt x="16783" y="1012095"/>
                  <a:pt x="0" y="995313"/>
                  <a:pt x="0" y="974610"/>
                </a:cubicBezTo>
                <a:lnTo>
                  <a:pt x="0" y="37485"/>
                </a:lnTo>
                <a:cubicBezTo>
                  <a:pt x="0" y="16796"/>
                  <a:pt x="16796" y="0"/>
                  <a:pt x="37485"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0"/>
          <p:cNvSpPr/>
          <p:nvPr/>
        </p:nvSpPr>
        <p:spPr>
          <a:xfrm>
            <a:off x="524790" y="2717663"/>
            <a:ext cx="524790" cy="524790"/>
          </a:xfrm>
          <a:custGeom>
            <a:rect b="b" l="l" r="r" t="t"/>
            <a:pathLst>
              <a:path extrusionOk="0" h="524790" w="524790">
                <a:moveTo>
                  <a:pt x="112457" y="0"/>
                </a:moveTo>
                <a:lnTo>
                  <a:pt x="412333" y="0"/>
                </a:lnTo>
                <a:cubicBezTo>
                  <a:pt x="474441" y="0"/>
                  <a:pt x="524790" y="50349"/>
                  <a:pt x="524790" y="112457"/>
                </a:cubicBezTo>
                <a:lnTo>
                  <a:pt x="524790" y="412333"/>
                </a:lnTo>
                <a:cubicBezTo>
                  <a:pt x="524790" y="474441"/>
                  <a:pt x="474441" y="524790"/>
                  <a:pt x="412333" y="524790"/>
                </a:cubicBezTo>
                <a:lnTo>
                  <a:pt x="112457" y="524790"/>
                </a:lnTo>
                <a:cubicBezTo>
                  <a:pt x="50349" y="524790"/>
                  <a:pt x="0" y="474441"/>
                  <a:pt x="0" y="412333"/>
                </a:cubicBezTo>
                <a:lnTo>
                  <a:pt x="0" y="112457"/>
                </a:lnTo>
                <a:cubicBezTo>
                  <a:pt x="0" y="50390"/>
                  <a:pt x="50390" y="0"/>
                  <a:pt x="112457" y="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0"/>
          <p:cNvSpPr/>
          <p:nvPr/>
        </p:nvSpPr>
        <p:spPr>
          <a:xfrm>
            <a:off x="705187" y="2886346"/>
            <a:ext cx="163997" cy="187425"/>
          </a:xfrm>
          <a:custGeom>
            <a:rect b="b" l="l" r="r" t="t"/>
            <a:pathLst>
              <a:path extrusionOk="0" h="187425" w="163997">
                <a:moveTo>
                  <a:pt x="81998" y="122998"/>
                </a:moveTo>
                <a:cubicBezTo>
                  <a:pt x="109307" y="122998"/>
                  <a:pt x="132662" y="106012"/>
                  <a:pt x="142033" y="81998"/>
                </a:cubicBezTo>
                <a:lnTo>
                  <a:pt x="143497" y="81998"/>
                </a:lnTo>
                <a:cubicBezTo>
                  <a:pt x="148366" y="81998"/>
                  <a:pt x="152283" y="78082"/>
                  <a:pt x="152283" y="73213"/>
                </a:cubicBezTo>
                <a:lnTo>
                  <a:pt x="152283" y="43928"/>
                </a:lnTo>
                <a:cubicBezTo>
                  <a:pt x="152283" y="39059"/>
                  <a:pt x="148366" y="35142"/>
                  <a:pt x="143497" y="35142"/>
                </a:cubicBezTo>
                <a:lnTo>
                  <a:pt x="142033" y="35142"/>
                </a:lnTo>
                <a:cubicBezTo>
                  <a:pt x="132662" y="11128"/>
                  <a:pt x="109307" y="-5857"/>
                  <a:pt x="81998" y="-5857"/>
                </a:cubicBezTo>
                <a:cubicBezTo>
                  <a:pt x="54690" y="-5857"/>
                  <a:pt x="31335" y="11128"/>
                  <a:pt x="21964" y="35142"/>
                </a:cubicBezTo>
                <a:lnTo>
                  <a:pt x="20500" y="35142"/>
                </a:lnTo>
                <a:cubicBezTo>
                  <a:pt x="15631" y="35142"/>
                  <a:pt x="11714" y="39059"/>
                  <a:pt x="11714" y="43928"/>
                </a:cubicBezTo>
                <a:lnTo>
                  <a:pt x="11714" y="73213"/>
                </a:lnTo>
                <a:cubicBezTo>
                  <a:pt x="11714" y="78082"/>
                  <a:pt x="15631" y="81998"/>
                  <a:pt x="20500" y="81998"/>
                </a:cubicBezTo>
                <a:lnTo>
                  <a:pt x="21964" y="81998"/>
                </a:lnTo>
                <a:cubicBezTo>
                  <a:pt x="31335" y="106012"/>
                  <a:pt x="54690" y="122998"/>
                  <a:pt x="81998" y="122998"/>
                </a:cubicBezTo>
                <a:close/>
                <a:moveTo>
                  <a:pt x="76141" y="29285"/>
                </a:moveTo>
                <a:lnTo>
                  <a:pt x="87855" y="29285"/>
                </a:lnTo>
                <a:cubicBezTo>
                  <a:pt x="107257" y="29285"/>
                  <a:pt x="122998" y="45026"/>
                  <a:pt x="122998" y="64427"/>
                </a:cubicBezTo>
                <a:cubicBezTo>
                  <a:pt x="122998" y="83829"/>
                  <a:pt x="107257" y="99570"/>
                  <a:pt x="87855" y="99570"/>
                </a:cubicBezTo>
                <a:lnTo>
                  <a:pt x="76141" y="99570"/>
                </a:lnTo>
                <a:cubicBezTo>
                  <a:pt x="56740" y="99570"/>
                  <a:pt x="40999" y="83829"/>
                  <a:pt x="40999" y="64427"/>
                </a:cubicBezTo>
                <a:cubicBezTo>
                  <a:pt x="40999" y="45026"/>
                  <a:pt x="56740" y="29285"/>
                  <a:pt x="76141" y="29285"/>
                </a:cubicBezTo>
                <a:close/>
                <a:moveTo>
                  <a:pt x="5857" y="177395"/>
                </a:moveTo>
                <a:cubicBezTo>
                  <a:pt x="5857" y="182922"/>
                  <a:pt x="10360" y="187425"/>
                  <a:pt x="15887" y="187425"/>
                </a:cubicBezTo>
                <a:lnTo>
                  <a:pt x="35142" y="187425"/>
                </a:lnTo>
                <a:lnTo>
                  <a:pt x="35142" y="169854"/>
                </a:lnTo>
                <a:cubicBezTo>
                  <a:pt x="35142" y="163375"/>
                  <a:pt x="40377" y="158140"/>
                  <a:pt x="46856" y="158140"/>
                </a:cubicBezTo>
                <a:lnTo>
                  <a:pt x="117141" y="158140"/>
                </a:lnTo>
                <a:cubicBezTo>
                  <a:pt x="123620" y="158140"/>
                  <a:pt x="128855" y="163375"/>
                  <a:pt x="128855" y="169854"/>
                </a:cubicBezTo>
                <a:lnTo>
                  <a:pt x="128855" y="187425"/>
                </a:lnTo>
                <a:lnTo>
                  <a:pt x="148110" y="187425"/>
                </a:lnTo>
                <a:cubicBezTo>
                  <a:pt x="153637" y="187425"/>
                  <a:pt x="158140" y="182922"/>
                  <a:pt x="158140" y="177395"/>
                </a:cubicBezTo>
                <a:cubicBezTo>
                  <a:pt x="158140" y="155504"/>
                  <a:pt x="146462" y="136322"/>
                  <a:pt x="129001" y="125780"/>
                </a:cubicBezTo>
                <a:cubicBezTo>
                  <a:pt x="115676" y="135114"/>
                  <a:pt x="99496" y="140569"/>
                  <a:pt x="81998" y="140569"/>
                </a:cubicBezTo>
                <a:cubicBezTo>
                  <a:pt x="64501" y="140569"/>
                  <a:pt x="48321" y="135114"/>
                  <a:pt x="34996" y="125780"/>
                </a:cubicBezTo>
                <a:cubicBezTo>
                  <a:pt x="17534" y="136322"/>
                  <a:pt x="5857" y="155504"/>
                  <a:pt x="5857" y="177395"/>
                </a:cubicBezTo>
                <a:close/>
                <a:moveTo>
                  <a:pt x="67100" y="51798"/>
                </a:moveTo>
                <a:cubicBezTo>
                  <a:pt x="66770" y="50590"/>
                  <a:pt x="65672" y="49785"/>
                  <a:pt x="64427" y="49785"/>
                </a:cubicBezTo>
                <a:cubicBezTo>
                  <a:pt x="63183" y="49785"/>
                  <a:pt x="62085" y="50590"/>
                  <a:pt x="61755" y="51798"/>
                </a:cubicBezTo>
                <a:lnTo>
                  <a:pt x="59559" y="59559"/>
                </a:lnTo>
                <a:lnTo>
                  <a:pt x="51798" y="61755"/>
                </a:lnTo>
                <a:cubicBezTo>
                  <a:pt x="50590" y="62085"/>
                  <a:pt x="49785" y="63183"/>
                  <a:pt x="49785" y="64427"/>
                </a:cubicBezTo>
                <a:cubicBezTo>
                  <a:pt x="49785" y="65672"/>
                  <a:pt x="50590" y="66770"/>
                  <a:pt x="51798" y="67100"/>
                </a:cubicBezTo>
                <a:lnTo>
                  <a:pt x="59559" y="69296"/>
                </a:lnTo>
                <a:lnTo>
                  <a:pt x="61755" y="77057"/>
                </a:lnTo>
                <a:cubicBezTo>
                  <a:pt x="62085" y="78265"/>
                  <a:pt x="63183" y="79070"/>
                  <a:pt x="64427" y="79070"/>
                </a:cubicBezTo>
                <a:cubicBezTo>
                  <a:pt x="65672" y="79070"/>
                  <a:pt x="66770" y="78265"/>
                  <a:pt x="67100" y="77057"/>
                </a:cubicBezTo>
                <a:lnTo>
                  <a:pt x="69296" y="69296"/>
                </a:lnTo>
                <a:lnTo>
                  <a:pt x="77057" y="67100"/>
                </a:lnTo>
                <a:cubicBezTo>
                  <a:pt x="78265" y="66770"/>
                  <a:pt x="79070" y="65672"/>
                  <a:pt x="79070" y="64427"/>
                </a:cubicBezTo>
                <a:cubicBezTo>
                  <a:pt x="79070" y="63183"/>
                  <a:pt x="78265" y="62085"/>
                  <a:pt x="77057" y="61755"/>
                </a:cubicBezTo>
                <a:lnTo>
                  <a:pt x="69296" y="59559"/>
                </a:lnTo>
                <a:lnTo>
                  <a:pt x="67100" y="51798"/>
                </a:lnTo>
                <a:close/>
                <a:moveTo>
                  <a:pt x="55642" y="178640"/>
                </a:moveTo>
                <a:lnTo>
                  <a:pt x="55642" y="187425"/>
                </a:lnTo>
                <a:lnTo>
                  <a:pt x="73213" y="187425"/>
                </a:lnTo>
                <a:lnTo>
                  <a:pt x="73213" y="178640"/>
                </a:lnTo>
                <a:cubicBezTo>
                  <a:pt x="73213" y="173771"/>
                  <a:pt x="69296" y="169854"/>
                  <a:pt x="64427" y="169854"/>
                </a:cubicBezTo>
                <a:cubicBezTo>
                  <a:pt x="59559" y="169854"/>
                  <a:pt x="55642" y="173771"/>
                  <a:pt x="55642" y="178640"/>
                </a:cubicBezTo>
                <a:close/>
                <a:moveTo>
                  <a:pt x="99570" y="169854"/>
                </a:moveTo>
                <a:cubicBezTo>
                  <a:pt x="94701" y="169854"/>
                  <a:pt x="90784" y="173771"/>
                  <a:pt x="90784" y="178640"/>
                </a:cubicBezTo>
                <a:lnTo>
                  <a:pt x="90784" y="187425"/>
                </a:lnTo>
                <a:lnTo>
                  <a:pt x="108355" y="187425"/>
                </a:lnTo>
                <a:lnTo>
                  <a:pt x="108355" y="178640"/>
                </a:lnTo>
                <a:cubicBezTo>
                  <a:pt x="108355" y="173771"/>
                  <a:pt x="104438" y="169854"/>
                  <a:pt x="99570" y="16985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0"/>
          <p:cNvSpPr/>
          <p:nvPr/>
        </p:nvSpPr>
        <p:spPr>
          <a:xfrm>
            <a:off x="1199520" y="2586466"/>
            <a:ext cx="3973411" cy="2623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28">
                <a:solidFill>
                  <a:srgbClr val="F8FAFC"/>
                </a:solidFill>
                <a:latin typeface="Arial"/>
                <a:ea typeface="Arial"/>
                <a:cs typeface="Arial"/>
                <a:sym typeface="Arial"/>
              </a:rPr>
              <a:t>Cá nhân hóa AI</a:t>
            </a:r>
            <a:endParaRPr sz="1600">
              <a:solidFill>
                <a:schemeClr val="dk1"/>
              </a:solidFill>
              <a:latin typeface="Calibri"/>
              <a:ea typeface="Calibri"/>
              <a:cs typeface="Calibri"/>
              <a:sym typeface="Calibri"/>
            </a:endParaRPr>
          </a:p>
        </p:txBody>
      </p:sp>
      <p:sp>
        <p:nvSpPr>
          <p:cNvPr id="577" name="Google Shape;577;p10"/>
          <p:cNvSpPr/>
          <p:nvPr/>
        </p:nvSpPr>
        <p:spPr>
          <a:xfrm>
            <a:off x="1199520" y="2886346"/>
            <a:ext cx="3964040" cy="48730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81">
                <a:solidFill>
                  <a:srgbClr val="94A3B8"/>
                </a:solidFill>
                <a:latin typeface="Arial"/>
                <a:ea typeface="Arial"/>
                <a:cs typeface="Arial"/>
                <a:sym typeface="Arial"/>
              </a:rPr>
              <a:t>Gợi ý phim dựa trên </a:t>
            </a:r>
            <a:r>
              <a:rPr b="1" lang="en-US" sz="1181">
                <a:solidFill>
                  <a:srgbClr val="8B5CF6"/>
                </a:solidFill>
                <a:latin typeface="Arial"/>
                <a:ea typeface="Arial"/>
                <a:cs typeface="Arial"/>
                <a:sym typeface="Arial"/>
              </a:rPr>
              <a:t>lịch sử xem</a:t>
            </a:r>
            <a:r>
              <a:rPr lang="en-US" sz="1181">
                <a:solidFill>
                  <a:srgbClr val="94A3B8"/>
                </a:solidFill>
                <a:latin typeface="Arial"/>
                <a:ea typeface="Arial"/>
                <a:cs typeface="Arial"/>
                <a:sym typeface="Arial"/>
              </a:rPr>
              <a:t>, </a:t>
            </a:r>
            <a:r>
              <a:rPr b="1" lang="en-US" sz="1181">
                <a:solidFill>
                  <a:srgbClr val="8B5CF6"/>
                </a:solidFill>
                <a:latin typeface="Arial"/>
                <a:ea typeface="Arial"/>
                <a:cs typeface="Arial"/>
                <a:sym typeface="Arial"/>
              </a:rPr>
              <a:t>đánh giá</a:t>
            </a:r>
            <a:r>
              <a:rPr lang="en-US" sz="1181">
                <a:solidFill>
                  <a:srgbClr val="94A3B8"/>
                </a:solidFill>
                <a:latin typeface="Arial"/>
                <a:ea typeface="Arial"/>
                <a:cs typeface="Arial"/>
                <a:sym typeface="Arial"/>
              </a:rPr>
              <a:t> và </a:t>
            </a:r>
            <a:r>
              <a:rPr b="1" lang="en-US" sz="1181">
                <a:solidFill>
                  <a:srgbClr val="8B5CF6"/>
                </a:solidFill>
                <a:latin typeface="Arial"/>
                <a:ea typeface="Arial"/>
                <a:cs typeface="Arial"/>
                <a:sym typeface="Arial"/>
              </a:rPr>
              <a:t>sở thích</a:t>
            </a:r>
            <a:r>
              <a:rPr lang="en-US" sz="1181">
                <a:solidFill>
                  <a:srgbClr val="94A3B8"/>
                </a:solidFill>
                <a:latin typeface="Arial"/>
                <a:ea typeface="Arial"/>
                <a:cs typeface="Arial"/>
                <a:sym typeface="Arial"/>
              </a:rPr>
              <a:t> người dùng.</a:t>
            </a:r>
            <a:endParaRPr sz="1600">
              <a:solidFill>
                <a:schemeClr val="dk1"/>
              </a:solidFill>
              <a:latin typeface="Calibri"/>
              <a:ea typeface="Calibri"/>
              <a:cs typeface="Calibri"/>
              <a:sym typeface="Calibri"/>
            </a:endParaRPr>
          </a:p>
        </p:txBody>
      </p:sp>
      <p:sp>
        <p:nvSpPr>
          <p:cNvPr id="578" name="Google Shape;578;p10"/>
          <p:cNvSpPr/>
          <p:nvPr/>
        </p:nvSpPr>
        <p:spPr>
          <a:xfrm>
            <a:off x="5240727" y="2848861"/>
            <a:ext cx="421706" cy="262395"/>
          </a:xfrm>
          <a:custGeom>
            <a:rect b="b" l="l" r="r" t="t"/>
            <a:pathLst>
              <a:path extrusionOk="0" h="262395" w="421706">
                <a:moveTo>
                  <a:pt x="131198" y="0"/>
                </a:moveTo>
                <a:lnTo>
                  <a:pt x="290509" y="0"/>
                </a:lnTo>
                <a:cubicBezTo>
                  <a:pt x="362919" y="0"/>
                  <a:pt x="421706" y="58788"/>
                  <a:pt x="421706" y="131198"/>
                </a:cubicBezTo>
                <a:lnTo>
                  <a:pt x="421706" y="131198"/>
                </a:lnTo>
                <a:cubicBezTo>
                  <a:pt x="421706" y="203607"/>
                  <a:pt x="362919" y="262395"/>
                  <a:pt x="290509" y="262395"/>
                </a:cubicBezTo>
                <a:lnTo>
                  <a:pt x="131198" y="262395"/>
                </a:lnTo>
                <a:cubicBezTo>
                  <a:pt x="58788" y="262395"/>
                  <a:pt x="0" y="203607"/>
                  <a:pt x="0" y="131198"/>
                </a:cubicBezTo>
                <a:lnTo>
                  <a:pt x="0" y="131198"/>
                </a:lnTo>
                <a:cubicBezTo>
                  <a:pt x="0" y="58788"/>
                  <a:pt x="58788" y="0"/>
                  <a:pt x="131198"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0"/>
          <p:cNvSpPr/>
          <p:nvPr/>
        </p:nvSpPr>
        <p:spPr>
          <a:xfrm>
            <a:off x="5240727" y="2848861"/>
            <a:ext cx="487305"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8B5CF6"/>
                </a:solidFill>
                <a:latin typeface="Arial"/>
                <a:ea typeface="Arial"/>
                <a:cs typeface="Arial"/>
                <a:sym typeface="Arial"/>
              </a:rPr>
              <a:t>ML</a:t>
            </a:r>
            <a:endParaRPr sz="1600">
              <a:solidFill>
                <a:schemeClr val="dk1"/>
              </a:solidFill>
              <a:latin typeface="Calibri"/>
              <a:ea typeface="Calibri"/>
              <a:cs typeface="Calibri"/>
              <a:sym typeface="Calibri"/>
            </a:endParaRPr>
          </a:p>
        </p:txBody>
      </p:sp>
      <p:sp>
        <p:nvSpPr>
          <p:cNvPr id="580" name="Google Shape;580;p10"/>
          <p:cNvSpPr/>
          <p:nvPr/>
        </p:nvSpPr>
        <p:spPr>
          <a:xfrm>
            <a:off x="5735792" y="2848861"/>
            <a:ext cx="1330718" cy="262395"/>
          </a:xfrm>
          <a:custGeom>
            <a:rect b="b" l="l" r="r" t="t"/>
            <a:pathLst>
              <a:path extrusionOk="0" h="262395" w="1330718">
                <a:moveTo>
                  <a:pt x="131198" y="0"/>
                </a:moveTo>
                <a:lnTo>
                  <a:pt x="1199520" y="0"/>
                </a:lnTo>
                <a:cubicBezTo>
                  <a:pt x="1271979" y="0"/>
                  <a:pt x="1330718" y="58739"/>
                  <a:pt x="1330718" y="131198"/>
                </a:cubicBezTo>
                <a:lnTo>
                  <a:pt x="1330718" y="131198"/>
                </a:lnTo>
                <a:cubicBezTo>
                  <a:pt x="1330718" y="203656"/>
                  <a:pt x="1271979" y="262395"/>
                  <a:pt x="1199520" y="262395"/>
                </a:cubicBezTo>
                <a:lnTo>
                  <a:pt x="131198" y="262395"/>
                </a:lnTo>
                <a:cubicBezTo>
                  <a:pt x="58788" y="262395"/>
                  <a:pt x="0" y="203607"/>
                  <a:pt x="0" y="131198"/>
                </a:cubicBezTo>
                <a:lnTo>
                  <a:pt x="0" y="131198"/>
                </a:lnTo>
                <a:cubicBezTo>
                  <a:pt x="0" y="58788"/>
                  <a:pt x="58788" y="0"/>
                  <a:pt x="131198"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0"/>
          <p:cNvSpPr/>
          <p:nvPr/>
        </p:nvSpPr>
        <p:spPr>
          <a:xfrm>
            <a:off x="5735792" y="2848861"/>
            <a:ext cx="1396317"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8B5CF6"/>
                </a:solidFill>
                <a:latin typeface="Arial"/>
                <a:ea typeface="Arial"/>
                <a:cs typeface="Arial"/>
                <a:sym typeface="Arial"/>
              </a:rPr>
              <a:t>Recommendation</a:t>
            </a:r>
            <a:endParaRPr sz="1600">
              <a:solidFill>
                <a:schemeClr val="dk1"/>
              </a:solidFill>
              <a:latin typeface="Calibri"/>
              <a:ea typeface="Calibri"/>
              <a:cs typeface="Calibri"/>
              <a:sym typeface="Calibri"/>
            </a:endParaRPr>
          </a:p>
        </p:txBody>
      </p:sp>
      <p:sp>
        <p:nvSpPr>
          <p:cNvPr id="582" name="Google Shape;582;p10"/>
          <p:cNvSpPr/>
          <p:nvPr/>
        </p:nvSpPr>
        <p:spPr>
          <a:xfrm>
            <a:off x="393593" y="3598561"/>
            <a:ext cx="6784787" cy="1012095"/>
          </a:xfrm>
          <a:custGeom>
            <a:rect b="b" l="l" r="r" t="t"/>
            <a:pathLst>
              <a:path extrusionOk="0" h="1012095" w="6784787">
                <a:moveTo>
                  <a:pt x="37485" y="0"/>
                </a:moveTo>
                <a:lnTo>
                  <a:pt x="6672333" y="0"/>
                </a:lnTo>
                <a:cubicBezTo>
                  <a:pt x="6734440" y="0"/>
                  <a:pt x="6784787" y="50347"/>
                  <a:pt x="6784787" y="112454"/>
                </a:cubicBezTo>
                <a:lnTo>
                  <a:pt x="6784787" y="899641"/>
                </a:lnTo>
                <a:cubicBezTo>
                  <a:pt x="6784787" y="961748"/>
                  <a:pt x="6734440" y="1012095"/>
                  <a:pt x="6672333" y="1012095"/>
                </a:cubicBezTo>
                <a:lnTo>
                  <a:pt x="37485" y="1012095"/>
                </a:lnTo>
                <a:cubicBezTo>
                  <a:pt x="16783" y="1012095"/>
                  <a:pt x="0" y="995313"/>
                  <a:pt x="0" y="974610"/>
                </a:cubicBezTo>
                <a:lnTo>
                  <a:pt x="0" y="37485"/>
                </a:lnTo>
                <a:cubicBezTo>
                  <a:pt x="0" y="16796"/>
                  <a:pt x="16796" y="0"/>
                  <a:pt x="37485" y="0"/>
                </a:cubicBezTo>
                <a:close/>
              </a:path>
            </a:pathLst>
          </a:custGeom>
          <a:gradFill>
            <a:gsLst>
              <a:gs pos="0">
                <a:srgbClr val="10B981">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0"/>
          <p:cNvSpPr/>
          <p:nvPr/>
        </p:nvSpPr>
        <p:spPr>
          <a:xfrm>
            <a:off x="393593" y="3598561"/>
            <a:ext cx="37485" cy="1012095"/>
          </a:xfrm>
          <a:custGeom>
            <a:rect b="b" l="l" r="r" t="t"/>
            <a:pathLst>
              <a:path extrusionOk="0" h="1012095" w="37485">
                <a:moveTo>
                  <a:pt x="37485" y="0"/>
                </a:moveTo>
                <a:lnTo>
                  <a:pt x="37485" y="0"/>
                </a:lnTo>
                <a:lnTo>
                  <a:pt x="37485" y="1012095"/>
                </a:lnTo>
                <a:lnTo>
                  <a:pt x="37485" y="1012095"/>
                </a:lnTo>
                <a:cubicBezTo>
                  <a:pt x="16783" y="1012095"/>
                  <a:pt x="0" y="995313"/>
                  <a:pt x="0" y="974610"/>
                </a:cubicBezTo>
                <a:lnTo>
                  <a:pt x="0" y="37485"/>
                </a:lnTo>
                <a:cubicBezTo>
                  <a:pt x="0" y="16796"/>
                  <a:pt x="16796" y="0"/>
                  <a:pt x="37485"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0"/>
          <p:cNvSpPr/>
          <p:nvPr/>
        </p:nvSpPr>
        <p:spPr>
          <a:xfrm>
            <a:off x="524790" y="3842214"/>
            <a:ext cx="524790" cy="524790"/>
          </a:xfrm>
          <a:custGeom>
            <a:rect b="b" l="l" r="r" t="t"/>
            <a:pathLst>
              <a:path extrusionOk="0" h="524790" w="524790">
                <a:moveTo>
                  <a:pt x="112457" y="0"/>
                </a:moveTo>
                <a:lnTo>
                  <a:pt x="412333" y="0"/>
                </a:lnTo>
                <a:cubicBezTo>
                  <a:pt x="474441" y="0"/>
                  <a:pt x="524790" y="50349"/>
                  <a:pt x="524790" y="112457"/>
                </a:cubicBezTo>
                <a:lnTo>
                  <a:pt x="524790" y="412333"/>
                </a:lnTo>
                <a:cubicBezTo>
                  <a:pt x="524790" y="474441"/>
                  <a:pt x="474441" y="524790"/>
                  <a:pt x="412333" y="524790"/>
                </a:cubicBezTo>
                <a:lnTo>
                  <a:pt x="112457" y="524790"/>
                </a:lnTo>
                <a:cubicBezTo>
                  <a:pt x="50349" y="524790"/>
                  <a:pt x="0" y="474441"/>
                  <a:pt x="0" y="412333"/>
                </a:cubicBezTo>
                <a:lnTo>
                  <a:pt x="0" y="112457"/>
                </a:lnTo>
                <a:cubicBezTo>
                  <a:pt x="0" y="50390"/>
                  <a:pt x="50390" y="0"/>
                  <a:pt x="112457" y="0"/>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0"/>
          <p:cNvSpPr/>
          <p:nvPr/>
        </p:nvSpPr>
        <p:spPr>
          <a:xfrm>
            <a:off x="693473" y="4010896"/>
            <a:ext cx="187425" cy="187425"/>
          </a:xfrm>
          <a:custGeom>
            <a:rect b="b" l="l" r="r" t="t"/>
            <a:pathLst>
              <a:path extrusionOk="0" h="187425" w="187425">
                <a:moveTo>
                  <a:pt x="174942" y="27638"/>
                </a:moveTo>
                <a:cubicBezTo>
                  <a:pt x="176590" y="23318"/>
                  <a:pt x="175565" y="18413"/>
                  <a:pt x="172307" y="15155"/>
                </a:cubicBezTo>
                <a:cubicBezTo>
                  <a:pt x="169049" y="11897"/>
                  <a:pt x="164143" y="10836"/>
                  <a:pt x="159824" y="12519"/>
                </a:cubicBezTo>
                <a:lnTo>
                  <a:pt x="7541" y="71090"/>
                </a:lnTo>
                <a:cubicBezTo>
                  <a:pt x="2892" y="72847"/>
                  <a:pt x="-110" y="77313"/>
                  <a:pt x="0" y="82255"/>
                </a:cubicBezTo>
                <a:cubicBezTo>
                  <a:pt x="110" y="87197"/>
                  <a:pt x="3331" y="91553"/>
                  <a:pt x="8017" y="93090"/>
                </a:cubicBezTo>
                <a:lnTo>
                  <a:pt x="72737" y="114651"/>
                </a:lnTo>
                <a:lnTo>
                  <a:pt x="94298" y="179372"/>
                </a:lnTo>
                <a:cubicBezTo>
                  <a:pt x="95872" y="184057"/>
                  <a:pt x="100192" y="187279"/>
                  <a:pt x="105134" y="187388"/>
                </a:cubicBezTo>
                <a:cubicBezTo>
                  <a:pt x="110076" y="187498"/>
                  <a:pt x="114542" y="184497"/>
                  <a:pt x="116335" y="179884"/>
                </a:cubicBezTo>
                <a:lnTo>
                  <a:pt x="174906" y="2760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0"/>
          <p:cNvSpPr/>
          <p:nvPr/>
        </p:nvSpPr>
        <p:spPr>
          <a:xfrm>
            <a:off x="1199520" y="3711016"/>
            <a:ext cx="4263920" cy="2623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28">
                <a:solidFill>
                  <a:srgbClr val="F8FAFC"/>
                </a:solidFill>
                <a:latin typeface="Arial"/>
                <a:ea typeface="Arial"/>
                <a:cs typeface="Arial"/>
                <a:sym typeface="Arial"/>
              </a:rPr>
              <a:t>Định vị thông minh</a:t>
            </a:r>
            <a:endParaRPr sz="1600">
              <a:solidFill>
                <a:schemeClr val="dk1"/>
              </a:solidFill>
              <a:latin typeface="Calibri"/>
              <a:ea typeface="Calibri"/>
              <a:cs typeface="Calibri"/>
              <a:sym typeface="Calibri"/>
            </a:endParaRPr>
          </a:p>
        </p:txBody>
      </p:sp>
      <p:sp>
        <p:nvSpPr>
          <p:cNvPr id="587" name="Google Shape;587;p10"/>
          <p:cNvSpPr/>
          <p:nvPr/>
        </p:nvSpPr>
        <p:spPr>
          <a:xfrm>
            <a:off x="1199520" y="4010896"/>
            <a:ext cx="4254549" cy="48730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81">
                <a:solidFill>
                  <a:srgbClr val="94A3B8"/>
                </a:solidFill>
                <a:latin typeface="Arial"/>
                <a:ea typeface="Arial"/>
                <a:cs typeface="Arial"/>
                <a:sym typeface="Arial"/>
              </a:rPr>
              <a:t>Tích hợp </a:t>
            </a:r>
            <a:r>
              <a:rPr b="1" lang="en-US" sz="1181">
                <a:solidFill>
                  <a:srgbClr val="10B981"/>
                </a:solidFill>
                <a:latin typeface="Arial"/>
                <a:ea typeface="Arial"/>
                <a:cs typeface="Arial"/>
                <a:sym typeface="Arial"/>
              </a:rPr>
              <a:t>GPS tự động</a:t>
            </a:r>
            <a:r>
              <a:rPr lang="en-US" sz="1181">
                <a:solidFill>
                  <a:srgbClr val="94A3B8"/>
                </a:solidFill>
                <a:latin typeface="Arial"/>
                <a:ea typeface="Arial"/>
                <a:cs typeface="Arial"/>
                <a:sym typeface="Arial"/>
              </a:rPr>
              <a:t>, gợi ý rạp gần nhất không cần nhập địa chỉ thủ công.</a:t>
            </a:r>
            <a:endParaRPr sz="1600">
              <a:solidFill>
                <a:schemeClr val="dk1"/>
              </a:solidFill>
              <a:latin typeface="Calibri"/>
              <a:ea typeface="Calibri"/>
              <a:cs typeface="Calibri"/>
              <a:sym typeface="Calibri"/>
            </a:endParaRPr>
          </a:p>
        </p:txBody>
      </p:sp>
      <p:sp>
        <p:nvSpPr>
          <p:cNvPr id="588" name="Google Shape;588;p10"/>
          <p:cNvSpPr/>
          <p:nvPr/>
        </p:nvSpPr>
        <p:spPr>
          <a:xfrm>
            <a:off x="5528893" y="3973411"/>
            <a:ext cx="496676" cy="262395"/>
          </a:xfrm>
          <a:custGeom>
            <a:rect b="b" l="l" r="r" t="t"/>
            <a:pathLst>
              <a:path extrusionOk="0" h="262395" w="496676">
                <a:moveTo>
                  <a:pt x="131198" y="0"/>
                </a:moveTo>
                <a:lnTo>
                  <a:pt x="365479" y="0"/>
                </a:lnTo>
                <a:cubicBezTo>
                  <a:pt x="437889" y="0"/>
                  <a:pt x="496676" y="58788"/>
                  <a:pt x="496676" y="131198"/>
                </a:cubicBezTo>
                <a:lnTo>
                  <a:pt x="496676" y="131198"/>
                </a:lnTo>
                <a:cubicBezTo>
                  <a:pt x="496676" y="203607"/>
                  <a:pt x="437889" y="262395"/>
                  <a:pt x="365479" y="262395"/>
                </a:cubicBezTo>
                <a:lnTo>
                  <a:pt x="131198" y="262395"/>
                </a:lnTo>
                <a:cubicBezTo>
                  <a:pt x="58788" y="262395"/>
                  <a:pt x="0" y="203607"/>
                  <a:pt x="0" y="131198"/>
                </a:cubicBezTo>
                <a:lnTo>
                  <a:pt x="0" y="131198"/>
                </a:lnTo>
                <a:cubicBezTo>
                  <a:pt x="0" y="58788"/>
                  <a:pt x="58788" y="0"/>
                  <a:pt x="131198"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0"/>
          <p:cNvSpPr/>
          <p:nvPr/>
        </p:nvSpPr>
        <p:spPr>
          <a:xfrm>
            <a:off x="5528893" y="3973411"/>
            <a:ext cx="562275"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10B981"/>
                </a:solidFill>
                <a:latin typeface="Arial"/>
                <a:ea typeface="Arial"/>
                <a:cs typeface="Arial"/>
                <a:sym typeface="Arial"/>
              </a:rPr>
              <a:t>GPS</a:t>
            </a:r>
            <a:endParaRPr sz="1600">
              <a:solidFill>
                <a:schemeClr val="dk1"/>
              </a:solidFill>
              <a:latin typeface="Calibri"/>
              <a:ea typeface="Calibri"/>
              <a:cs typeface="Calibri"/>
              <a:sym typeface="Calibri"/>
            </a:endParaRPr>
          </a:p>
        </p:txBody>
      </p:sp>
      <p:sp>
        <p:nvSpPr>
          <p:cNvPr id="590" name="Google Shape;590;p10"/>
          <p:cNvSpPr/>
          <p:nvPr/>
        </p:nvSpPr>
        <p:spPr>
          <a:xfrm>
            <a:off x="6096293" y="3973411"/>
            <a:ext cx="974610" cy="262395"/>
          </a:xfrm>
          <a:custGeom>
            <a:rect b="b" l="l" r="r" t="t"/>
            <a:pathLst>
              <a:path extrusionOk="0" h="262395" w="974610">
                <a:moveTo>
                  <a:pt x="131198" y="0"/>
                </a:moveTo>
                <a:lnTo>
                  <a:pt x="843413" y="0"/>
                </a:lnTo>
                <a:cubicBezTo>
                  <a:pt x="915871" y="0"/>
                  <a:pt x="974610" y="58739"/>
                  <a:pt x="974610" y="131198"/>
                </a:cubicBezTo>
                <a:lnTo>
                  <a:pt x="974610" y="131198"/>
                </a:lnTo>
                <a:cubicBezTo>
                  <a:pt x="974610" y="203656"/>
                  <a:pt x="915871" y="262395"/>
                  <a:pt x="843413" y="262395"/>
                </a:cubicBezTo>
                <a:lnTo>
                  <a:pt x="131198" y="262395"/>
                </a:lnTo>
                <a:cubicBezTo>
                  <a:pt x="58788" y="262395"/>
                  <a:pt x="0" y="203607"/>
                  <a:pt x="0" y="131198"/>
                </a:cubicBezTo>
                <a:lnTo>
                  <a:pt x="0" y="131198"/>
                </a:lnTo>
                <a:cubicBezTo>
                  <a:pt x="0" y="58788"/>
                  <a:pt x="58788" y="0"/>
                  <a:pt x="131198"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0"/>
          <p:cNvSpPr/>
          <p:nvPr/>
        </p:nvSpPr>
        <p:spPr>
          <a:xfrm>
            <a:off x="6096293" y="3973411"/>
            <a:ext cx="1040209"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10B981"/>
                </a:solidFill>
                <a:latin typeface="Arial"/>
                <a:ea typeface="Arial"/>
                <a:cs typeface="Arial"/>
                <a:sym typeface="Arial"/>
              </a:rPr>
              <a:t>Auto-locate</a:t>
            </a:r>
            <a:endParaRPr sz="1600">
              <a:solidFill>
                <a:schemeClr val="dk1"/>
              </a:solidFill>
              <a:latin typeface="Calibri"/>
              <a:ea typeface="Calibri"/>
              <a:cs typeface="Calibri"/>
              <a:sym typeface="Calibri"/>
            </a:endParaRPr>
          </a:p>
        </p:txBody>
      </p:sp>
      <p:sp>
        <p:nvSpPr>
          <p:cNvPr id="592" name="Google Shape;592;p10"/>
          <p:cNvSpPr/>
          <p:nvPr/>
        </p:nvSpPr>
        <p:spPr>
          <a:xfrm>
            <a:off x="393593" y="4723111"/>
            <a:ext cx="6784787" cy="1012095"/>
          </a:xfrm>
          <a:custGeom>
            <a:rect b="b" l="l" r="r" t="t"/>
            <a:pathLst>
              <a:path extrusionOk="0" h="1012095" w="6784787">
                <a:moveTo>
                  <a:pt x="37485" y="0"/>
                </a:moveTo>
                <a:lnTo>
                  <a:pt x="6672333" y="0"/>
                </a:lnTo>
                <a:cubicBezTo>
                  <a:pt x="6734440" y="0"/>
                  <a:pt x="6784787" y="50347"/>
                  <a:pt x="6784787" y="112454"/>
                </a:cubicBezTo>
                <a:lnTo>
                  <a:pt x="6784787" y="899641"/>
                </a:lnTo>
                <a:cubicBezTo>
                  <a:pt x="6784787" y="961748"/>
                  <a:pt x="6734440" y="1012095"/>
                  <a:pt x="6672333" y="1012095"/>
                </a:cubicBezTo>
                <a:lnTo>
                  <a:pt x="37485" y="1012095"/>
                </a:lnTo>
                <a:cubicBezTo>
                  <a:pt x="16783" y="1012095"/>
                  <a:pt x="0" y="995313"/>
                  <a:pt x="0" y="974610"/>
                </a:cubicBezTo>
                <a:lnTo>
                  <a:pt x="0" y="37485"/>
                </a:lnTo>
                <a:cubicBezTo>
                  <a:pt x="0" y="16796"/>
                  <a:pt x="16796" y="0"/>
                  <a:pt x="37485" y="0"/>
                </a:cubicBezTo>
                <a:close/>
              </a:path>
            </a:pathLst>
          </a:custGeom>
          <a:gradFill>
            <a:gsLst>
              <a:gs pos="0">
                <a:srgbClr val="06B6D4">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0"/>
          <p:cNvSpPr/>
          <p:nvPr/>
        </p:nvSpPr>
        <p:spPr>
          <a:xfrm>
            <a:off x="393593" y="4723111"/>
            <a:ext cx="37485" cy="1012095"/>
          </a:xfrm>
          <a:custGeom>
            <a:rect b="b" l="l" r="r" t="t"/>
            <a:pathLst>
              <a:path extrusionOk="0" h="1012095" w="37485">
                <a:moveTo>
                  <a:pt x="37485" y="0"/>
                </a:moveTo>
                <a:lnTo>
                  <a:pt x="37485" y="0"/>
                </a:lnTo>
                <a:lnTo>
                  <a:pt x="37485" y="1012095"/>
                </a:lnTo>
                <a:lnTo>
                  <a:pt x="37485" y="1012095"/>
                </a:lnTo>
                <a:cubicBezTo>
                  <a:pt x="16783" y="1012095"/>
                  <a:pt x="0" y="995313"/>
                  <a:pt x="0" y="974610"/>
                </a:cubicBezTo>
                <a:lnTo>
                  <a:pt x="0" y="37485"/>
                </a:lnTo>
                <a:cubicBezTo>
                  <a:pt x="0" y="16796"/>
                  <a:pt x="16796" y="0"/>
                  <a:pt x="37485" y="0"/>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0"/>
          <p:cNvSpPr/>
          <p:nvPr/>
        </p:nvSpPr>
        <p:spPr>
          <a:xfrm>
            <a:off x="524790" y="4966764"/>
            <a:ext cx="524790" cy="524790"/>
          </a:xfrm>
          <a:custGeom>
            <a:rect b="b" l="l" r="r" t="t"/>
            <a:pathLst>
              <a:path extrusionOk="0" h="524790" w="524790">
                <a:moveTo>
                  <a:pt x="112457" y="0"/>
                </a:moveTo>
                <a:lnTo>
                  <a:pt x="412333" y="0"/>
                </a:lnTo>
                <a:cubicBezTo>
                  <a:pt x="474441" y="0"/>
                  <a:pt x="524790" y="50349"/>
                  <a:pt x="524790" y="112457"/>
                </a:cubicBezTo>
                <a:lnTo>
                  <a:pt x="524790" y="412333"/>
                </a:lnTo>
                <a:cubicBezTo>
                  <a:pt x="524790" y="474441"/>
                  <a:pt x="474441" y="524790"/>
                  <a:pt x="412333" y="524790"/>
                </a:cubicBezTo>
                <a:lnTo>
                  <a:pt x="112457" y="524790"/>
                </a:lnTo>
                <a:cubicBezTo>
                  <a:pt x="50349" y="524790"/>
                  <a:pt x="0" y="474441"/>
                  <a:pt x="0" y="412333"/>
                </a:cubicBezTo>
                <a:lnTo>
                  <a:pt x="0" y="112457"/>
                </a:lnTo>
                <a:cubicBezTo>
                  <a:pt x="0" y="50390"/>
                  <a:pt x="50390" y="0"/>
                  <a:pt x="112457" y="0"/>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0"/>
          <p:cNvSpPr/>
          <p:nvPr/>
        </p:nvSpPr>
        <p:spPr>
          <a:xfrm>
            <a:off x="693473" y="5135447"/>
            <a:ext cx="187425" cy="187425"/>
          </a:xfrm>
          <a:custGeom>
            <a:rect b="b" l="l" r="r" t="t"/>
            <a:pathLst>
              <a:path extrusionOk="0" h="187425" w="187425">
                <a:moveTo>
                  <a:pt x="18303" y="104255"/>
                </a:moveTo>
                <a:cubicBezTo>
                  <a:pt x="19841" y="105024"/>
                  <a:pt x="21598" y="105427"/>
                  <a:pt x="23428" y="105427"/>
                </a:cubicBezTo>
                <a:lnTo>
                  <a:pt x="41988" y="105427"/>
                </a:lnTo>
                <a:cubicBezTo>
                  <a:pt x="45099" y="105427"/>
                  <a:pt x="48064" y="106671"/>
                  <a:pt x="50261" y="108868"/>
                </a:cubicBezTo>
                <a:lnTo>
                  <a:pt x="55129" y="113736"/>
                </a:lnTo>
                <a:cubicBezTo>
                  <a:pt x="57326" y="115933"/>
                  <a:pt x="60291" y="117177"/>
                  <a:pt x="63402" y="117177"/>
                </a:cubicBezTo>
                <a:lnTo>
                  <a:pt x="70248" y="117177"/>
                </a:lnTo>
                <a:cubicBezTo>
                  <a:pt x="76727" y="117177"/>
                  <a:pt x="81962" y="111943"/>
                  <a:pt x="81962" y="105463"/>
                </a:cubicBezTo>
                <a:lnTo>
                  <a:pt x="81962" y="90821"/>
                </a:lnTo>
                <a:cubicBezTo>
                  <a:pt x="81962" y="85952"/>
                  <a:pt x="85879" y="82035"/>
                  <a:pt x="90747" y="82035"/>
                </a:cubicBezTo>
                <a:cubicBezTo>
                  <a:pt x="95616" y="82035"/>
                  <a:pt x="99533" y="78118"/>
                  <a:pt x="99533" y="73250"/>
                </a:cubicBezTo>
                <a:lnTo>
                  <a:pt x="99533" y="57619"/>
                </a:lnTo>
                <a:cubicBezTo>
                  <a:pt x="99533" y="54507"/>
                  <a:pt x="100778" y="51542"/>
                  <a:pt x="102974" y="49346"/>
                </a:cubicBezTo>
                <a:lnTo>
                  <a:pt x="107843" y="44477"/>
                </a:lnTo>
                <a:cubicBezTo>
                  <a:pt x="110039" y="42280"/>
                  <a:pt x="111284" y="39315"/>
                  <a:pt x="111284" y="36204"/>
                </a:cubicBezTo>
                <a:lnTo>
                  <a:pt x="111284" y="20866"/>
                </a:lnTo>
                <a:cubicBezTo>
                  <a:pt x="111284" y="20426"/>
                  <a:pt x="111247" y="20024"/>
                  <a:pt x="111210" y="19584"/>
                </a:cubicBezTo>
                <a:cubicBezTo>
                  <a:pt x="105573" y="18267"/>
                  <a:pt x="99716" y="17571"/>
                  <a:pt x="93713" y="17571"/>
                </a:cubicBezTo>
                <a:cubicBezTo>
                  <a:pt x="51652" y="17571"/>
                  <a:pt x="17571" y="51652"/>
                  <a:pt x="17571" y="93713"/>
                </a:cubicBezTo>
                <a:cubicBezTo>
                  <a:pt x="17571" y="97300"/>
                  <a:pt x="17827" y="100814"/>
                  <a:pt x="18303" y="104255"/>
                </a:cubicBezTo>
                <a:close/>
                <a:moveTo>
                  <a:pt x="165937" y="117909"/>
                </a:moveTo>
                <a:cubicBezTo>
                  <a:pt x="164766" y="117397"/>
                  <a:pt x="163484" y="117141"/>
                  <a:pt x="162093" y="117141"/>
                </a:cubicBezTo>
                <a:lnTo>
                  <a:pt x="158140" y="117141"/>
                </a:lnTo>
                <a:cubicBezTo>
                  <a:pt x="154919" y="117141"/>
                  <a:pt x="152283" y="114505"/>
                  <a:pt x="152283" y="111284"/>
                </a:cubicBezTo>
                <a:cubicBezTo>
                  <a:pt x="152283" y="108062"/>
                  <a:pt x="149647" y="105427"/>
                  <a:pt x="146426" y="105427"/>
                </a:cubicBezTo>
                <a:lnTo>
                  <a:pt x="133723" y="105427"/>
                </a:lnTo>
                <a:cubicBezTo>
                  <a:pt x="130612" y="105427"/>
                  <a:pt x="127647" y="106671"/>
                  <a:pt x="125450" y="108868"/>
                </a:cubicBezTo>
                <a:lnTo>
                  <a:pt x="108868" y="125450"/>
                </a:lnTo>
                <a:cubicBezTo>
                  <a:pt x="106671" y="127647"/>
                  <a:pt x="105427" y="130612"/>
                  <a:pt x="105427" y="133723"/>
                </a:cubicBezTo>
                <a:lnTo>
                  <a:pt x="105427" y="140569"/>
                </a:lnTo>
                <a:cubicBezTo>
                  <a:pt x="105427" y="147048"/>
                  <a:pt x="110661" y="152283"/>
                  <a:pt x="117141" y="152283"/>
                </a:cubicBezTo>
                <a:lnTo>
                  <a:pt x="123986" y="152283"/>
                </a:lnTo>
                <a:cubicBezTo>
                  <a:pt x="127098" y="152283"/>
                  <a:pt x="130063" y="153527"/>
                  <a:pt x="132259" y="155724"/>
                </a:cubicBezTo>
                <a:cubicBezTo>
                  <a:pt x="133064" y="156529"/>
                  <a:pt x="133980" y="157225"/>
                  <a:pt x="134931" y="157737"/>
                </a:cubicBezTo>
                <a:cubicBezTo>
                  <a:pt x="149318" y="148439"/>
                  <a:pt x="160373" y="134456"/>
                  <a:pt x="165900" y="117909"/>
                </a:cubicBezTo>
                <a:close/>
                <a:moveTo>
                  <a:pt x="0" y="93713"/>
                </a:moveTo>
                <a:cubicBezTo>
                  <a:pt x="0" y="41991"/>
                  <a:pt x="41991" y="0"/>
                  <a:pt x="93713" y="0"/>
                </a:cubicBezTo>
                <a:cubicBezTo>
                  <a:pt x="145434" y="0"/>
                  <a:pt x="187425" y="41991"/>
                  <a:pt x="187425" y="93713"/>
                </a:cubicBezTo>
                <a:cubicBezTo>
                  <a:pt x="187425" y="145434"/>
                  <a:pt x="145434" y="187425"/>
                  <a:pt x="93713" y="187425"/>
                </a:cubicBezTo>
                <a:cubicBezTo>
                  <a:pt x="41991" y="187425"/>
                  <a:pt x="0" y="145434"/>
                  <a:pt x="0" y="93713"/>
                </a:cubicBezTo>
                <a:close/>
                <a:moveTo>
                  <a:pt x="46856" y="134712"/>
                </a:moveTo>
                <a:cubicBezTo>
                  <a:pt x="46856" y="137933"/>
                  <a:pt x="49492" y="140569"/>
                  <a:pt x="52713" y="140569"/>
                </a:cubicBezTo>
                <a:lnTo>
                  <a:pt x="64427" y="140569"/>
                </a:lnTo>
                <a:cubicBezTo>
                  <a:pt x="67649" y="140569"/>
                  <a:pt x="70284" y="137933"/>
                  <a:pt x="70284" y="134712"/>
                </a:cubicBezTo>
                <a:cubicBezTo>
                  <a:pt x="70284" y="131490"/>
                  <a:pt x="67649" y="128855"/>
                  <a:pt x="64427" y="128855"/>
                </a:cubicBezTo>
                <a:lnTo>
                  <a:pt x="52713" y="128855"/>
                </a:lnTo>
                <a:cubicBezTo>
                  <a:pt x="49492" y="128855"/>
                  <a:pt x="46856" y="131490"/>
                  <a:pt x="46856" y="134712"/>
                </a:cubicBezTo>
                <a:close/>
                <a:moveTo>
                  <a:pt x="99570" y="93713"/>
                </a:moveTo>
                <a:cubicBezTo>
                  <a:pt x="96348" y="93713"/>
                  <a:pt x="93713" y="96348"/>
                  <a:pt x="93713" y="99570"/>
                </a:cubicBezTo>
                <a:lnTo>
                  <a:pt x="93713" y="111284"/>
                </a:lnTo>
                <a:cubicBezTo>
                  <a:pt x="93713" y="114505"/>
                  <a:pt x="96348" y="117141"/>
                  <a:pt x="99570" y="117141"/>
                </a:cubicBezTo>
                <a:cubicBezTo>
                  <a:pt x="102791" y="117141"/>
                  <a:pt x="105427" y="114505"/>
                  <a:pt x="105427" y="111284"/>
                </a:cubicBezTo>
                <a:lnTo>
                  <a:pt x="105427" y="99570"/>
                </a:lnTo>
                <a:cubicBezTo>
                  <a:pt x="105427" y="96348"/>
                  <a:pt x="102791" y="93713"/>
                  <a:pt x="99570" y="93713"/>
                </a:cubicBezTo>
                <a:close/>
                <a:moveTo>
                  <a:pt x="117141" y="52713"/>
                </a:moveTo>
                <a:lnTo>
                  <a:pt x="117141" y="64427"/>
                </a:lnTo>
                <a:cubicBezTo>
                  <a:pt x="117141" y="67649"/>
                  <a:pt x="119776" y="70284"/>
                  <a:pt x="122998" y="70284"/>
                </a:cubicBezTo>
                <a:cubicBezTo>
                  <a:pt x="126219" y="70284"/>
                  <a:pt x="128855" y="67649"/>
                  <a:pt x="128855" y="64427"/>
                </a:cubicBezTo>
                <a:lnTo>
                  <a:pt x="128855" y="52713"/>
                </a:lnTo>
                <a:cubicBezTo>
                  <a:pt x="128855" y="49492"/>
                  <a:pt x="126219" y="46856"/>
                  <a:pt x="122998" y="46856"/>
                </a:cubicBezTo>
                <a:cubicBezTo>
                  <a:pt x="119776" y="46856"/>
                  <a:pt x="117141" y="49492"/>
                  <a:pt x="117141" y="5271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0"/>
          <p:cNvSpPr/>
          <p:nvPr/>
        </p:nvSpPr>
        <p:spPr>
          <a:xfrm>
            <a:off x="1199520" y="4835566"/>
            <a:ext cx="3823471" cy="2623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28">
                <a:solidFill>
                  <a:srgbClr val="F8FAFC"/>
                </a:solidFill>
                <a:latin typeface="Arial"/>
                <a:ea typeface="Arial"/>
                <a:cs typeface="Arial"/>
                <a:sym typeface="Arial"/>
              </a:rPr>
              <a:t>Mở rộng địa lý</a:t>
            </a:r>
            <a:endParaRPr sz="1600">
              <a:solidFill>
                <a:schemeClr val="dk1"/>
              </a:solidFill>
              <a:latin typeface="Calibri"/>
              <a:ea typeface="Calibri"/>
              <a:cs typeface="Calibri"/>
              <a:sym typeface="Calibri"/>
            </a:endParaRPr>
          </a:p>
        </p:txBody>
      </p:sp>
      <p:sp>
        <p:nvSpPr>
          <p:cNvPr id="597" name="Google Shape;597;p10"/>
          <p:cNvSpPr/>
          <p:nvPr/>
        </p:nvSpPr>
        <p:spPr>
          <a:xfrm>
            <a:off x="1199520" y="5135447"/>
            <a:ext cx="3814100" cy="48730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81">
                <a:solidFill>
                  <a:srgbClr val="94A3B8"/>
                </a:solidFill>
                <a:latin typeface="Arial"/>
                <a:ea typeface="Arial"/>
                <a:cs typeface="Arial"/>
                <a:sym typeface="Arial"/>
              </a:rPr>
              <a:t>Bao phủ </a:t>
            </a:r>
            <a:r>
              <a:rPr b="1" lang="en-US" sz="1181">
                <a:solidFill>
                  <a:srgbClr val="06B6D4"/>
                </a:solidFill>
                <a:latin typeface="Arial"/>
                <a:ea typeface="Arial"/>
                <a:cs typeface="Arial"/>
                <a:sym typeface="Arial"/>
              </a:rPr>
              <a:t>toàn quốc</a:t>
            </a:r>
            <a:r>
              <a:rPr lang="en-US" sz="1181">
                <a:solidFill>
                  <a:srgbClr val="94A3B8"/>
                </a:solidFill>
                <a:latin typeface="Arial"/>
                <a:ea typeface="Arial"/>
                <a:cs typeface="Arial"/>
                <a:sym typeface="Arial"/>
              </a:rPr>
              <a:t>, hỗ trợ đa ngôn ngữ (Anh, Việt) phục vụ du khách.</a:t>
            </a:r>
            <a:endParaRPr sz="1600">
              <a:solidFill>
                <a:schemeClr val="dk1"/>
              </a:solidFill>
              <a:latin typeface="Calibri"/>
              <a:ea typeface="Calibri"/>
              <a:cs typeface="Calibri"/>
              <a:sym typeface="Calibri"/>
            </a:endParaRPr>
          </a:p>
        </p:txBody>
      </p:sp>
      <p:sp>
        <p:nvSpPr>
          <p:cNvPr id="598" name="Google Shape;598;p10"/>
          <p:cNvSpPr/>
          <p:nvPr/>
        </p:nvSpPr>
        <p:spPr>
          <a:xfrm>
            <a:off x="5088151" y="5097962"/>
            <a:ext cx="946497" cy="262395"/>
          </a:xfrm>
          <a:custGeom>
            <a:rect b="b" l="l" r="r" t="t"/>
            <a:pathLst>
              <a:path extrusionOk="0" h="262395" w="946497">
                <a:moveTo>
                  <a:pt x="131198" y="0"/>
                </a:moveTo>
                <a:lnTo>
                  <a:pt x="815299" y="0"/>
                </a:lnTo>
                <a:cubicBezTo>
                  <a:pt x="887757" y="0"/>
                  <a:pt x="946497" y="58739"/>
                  <a:pt x="946497" y="131198"/>
                </a:cubicBezTo>
                <a:lnTo>
                  <a:pt x="946497" y="131198"/>
                </a:lnTo>
                <a:cubicBezTo>
                  <a:pt x="946497" y="203656"/>
                  <a:pt x="887757" y="262395"/>
                  <a:pt x="815299" y="262395"/>
                </a:cubicBezTo>
                <a:lnTo>
                  <a:pt x="131198" y="262395"/>
                </a:lnTo>
                <a:cubicBezTo>
                  <a:pt x="58788" y="262395"/>
                  <a:pt x="0" y="203607"/>
                  <a:pt x="0" y="131198"/>
                </a:cubicBezTo>
                <a:lnTo>
                  <a:pt x="0" y="131198"/>
                </a:lnTo>
                <a:cubicBezTo>
                  <a:pt x="0" y="58788"/>
                  <a:pt x="58788" y="0"/>
                  <a:pt x="131198"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0"/>
          <p:cNvSpPr/>
          <p:nvPr/>
        </p:nvSpPr>
        <p:spPr>
          <a:xfrm>
            <a:off x="5088151" y="5097962"/>
            <a:ext cx="1012095"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06B6D4"/>
                </a:solidFill>
                <a:latin typeface="Arial"/>
                <a:ea typeface="Arial"/>
                <a:cs typeface="Arial"/>
                <a:sym typeface="Arial"/>
              </a:rPr>
              <a:t>Nationwide</a:t>
            </a:r>
            <a:endParaRPr sz="1600">
              <a:solidFill>
                <a:schemeClr val="dk1"/>
              </a:solidFill>
              <a:latin typeface="Calibri"/>
              <a:ea typeface="Calibri"/>
              <a:cs typeface="Calibri"/>
              <a:sym typeface="Calibri"/>
            </a:endParaRPr>
          </a:p>
        </p:txBody>
      </p:sp>
      <p:sp>
        <p:nvSpPr>
          <p:cNvPr id="600" name="Google Shape;600;p10"/>
          <p:cNvSpPr/>
          <p:nvPr/>
        </p:nvSpPr>
        <p:spPr>
          <a:xfrm>
            <a:off x="6105371" y="5097962"/>
            <a:ext cx="965239" cy="262395"/>
          </a:xfrm>
          <a:custGeom>
            <a:rect b="b" l="l" r="r" t="t"/>
            <a:pathLst>
              <a:path extrusionOk="0" h="262395" w="965239">
                <a:moveTo>
                  <a:pt x="131198" y="0"/>
                </a:moveTo>
                <a:lnTo>
                  <a:pt x="834042" y="0"/>
                </a:lnTo>
                <a:cubicBezTo>
                  <a:pt x="906500" y="0"/>
                  <a:pt x="965239" y="58739"/>
                  <a:pt x="965239" y="131198"/>
                </a:cubicBezTo>
                <a:lnTo>
                  <a:pt x="965239" y="131198"/>
                </a:lnTo>
                <a:cubicBezTo>
                  <a:pt x="965239" y="203656"/>
                  <a:pt x="906500" y="262395"/>
                  <a:pt x="834042" y="262395"/>
                </a:cubicBezTo>
                <a:lnTo>
                  <a:pt x="131198" y="262395"/>
                </a:lnTo>
                <a:cubicBezTo>
                  <a:pt x="58788" y="262395"/>
                  <a:pt x="0" y="203607"/>
                  <a:pt x="0" y="131198"/>
                </a:cubicBezTo>
                <a:lnTo>
                  <a:pt x="0" y="131198"/>
                </a:lnTo>
                <a:cubicBezTo>
                  <a:pt x="0" y="58788"/>
                  <a:pt x="58788" y="0"/>
                  <a:pt x="131198"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0"/>
          <p:cNvSpPr/>
          <p:nvPr/>
        </p:nvSpPr>
        <p:spPr>
          <a:xfrm>
            <a:off x="6105371" y="5097962"/>
            <a:ext cx="1030838"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06B6D4"/>
                </a:solidFill>
                <a:latin typeface="Arial"/>
                <a:ea typeface="Arial"/>
                <a:cs typeface="Arial"/>
                <a:sym typeface="Arial"/>
              </a:rPr>
              <a:t>Multilingual</a:t>
            </a:r>
            <a:endParaRPr sz="1600">
              <a:solidFill>
                <a:schemeClr val="dk1"/>
              </a:solidFill>
              <a:latin typeface="Calibri"/>
              <a:ea typeface="Calibri"/>
              <a:cs typeface="Calibri"/>
              <a:sym typeface="Calibri"/>
            </a:endParaRPr>
          </a:p>
        </p:txBody>
      </p:sp>
      <p:sp>
        <p:nvSpPr>
          <p:cNvPr id="602" name="Google Shape;602;p10"/>
          <p:cNvSpPr/>
          <p:nvPr/>
        </p:nvSpPr>
        <p:spPr>
          <a:xfrm>
            <a:off x="393593" y="5847662"/>
            <a:ext cx="6784787" cy="1012095"/>
          </a:xfrm>
          <a:custGeom>
            <a:rect b="b" l="l" r="r" t="t"/>
            <a:pathLst>
              <a:path extrusionOk="0" h="1012095" w="6784787">
                <a:moveTo>
                  <a:pt x="37485" y="0"/>
                </a:moveTo>
                <a:lnTo>
                  <a:pt x="6672333" y="0"/>
                </a:lnTo>
                <a:cubicBezTo>
                  <a:pt x="6734440" y="0"/>
                  <a:pt x="6784787" y="50347"/>
                  <a:pt x="6784787" y="112454"/>
                </a:cubicBezTo>
                <a:lnTo>
                  <a:pt x="6784787" y="899641"/>
                </a:lnTo>
                <a:cubicBezTo>
                  <a:pt x="6784787" y="961748"/>
                  <a:pt x="6734440" y="1012095"/>
                  <a:pt x="6672333" y="1012095"/>
                </a:cubicBezTo>
                <a:lnTo>
                  <a:pt x="37485" y="1012095"/>
                </a:lnTo>
                <a:cubicBezTo>
                  <a:pt x="16783" y="1012095"/>
                  <a:pt x="0" y="995313"/>
                  <a:pt x="0" y="974610"/>
                </a:cubicBezTo>
                <a:lnTo>
                  <a:pt x="0" y="37485"/>
                </a:lnTo>
                <a:cubicBezTo>
                  <a:pt x="0" y="16796"/>
                  <a:pt x="16796" y="0"/>
                  <a:pt x="37485" y="0"/>
                </a:cubicBezTo>
                <a:close/>
              </a:path>
            </a:pathLst>
          </a:custGeom>
          <a:gradFill>
            <a:gsLst>
              <a:gs pos="0">
                <a:srgbClr val="F59E0B">
                  <a:alpha val="20000"/>
                </a:srgbClr>
              </a:gs>
              <a:gs pos="100000">
                <a:srgbClr val="000000">
                  <a:alpha val="0"/>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0"/>
          <p:cNvSpPr/>
          <p:nvPr/>
        </p:nvSpPr>
        <p:spPr>
          <a:xfrm>
            <a:off x="393593" y="5847662"/>
            <a:ext cx="37485" cy="1012095"/>
          </a:xfrm>
          <a:custGeom>
            <a:rect b="b" l="l" r="r" t="t"/>
            <a:pathLst>
              <a:path extrusionOk="0" h="1012095" w="37485">
                <a:moveTo>
                  <a:pt x="37485" y="0"/>
                </a:moveTo>
                <a:lnTo>
                  <a:pt x="37485" y="0"/>
                </a:lnTo>
                <a:lnTo>
                  <a:pt x="37485" y="1012095"/>
                </a:lnTo>
                <a:lnTo>
                  <a:pt x="37485" y="1012095"/>
                </a:lnTo>
                <a:cubicBezTo>
                  <a:pt x="16783" y="1012095"/>
                  <a:pt x="0" y="995313"/>
                  <a:pt x="0" y="974610"/>
                </a:cubicBezTo>
                <a:lnTo>
                  <a:pt x="0" y="37485"/>
                </a:lnTo>
                <a:cubicBezTo>
                  <a:pt x="0" y="16796"/>
                  <a:pt x="16796" y="0"/>
                  <a:pt x="37485" y="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0"/>
          <p:cNvSpPr/>
          <p:nvPr/>
        </p:nvSpPr>
        <p:spPr>
          <a:xfrm>
            <a:off x="524790" y="6091314"/>
            <a:ext cx="524790" cy="524790"/>
          </a:xfrm>
          <a:custGeom>
            <a:rect b="b" l="l" r="r" t="t"/>
            <a:pathLst>
              <a:path extrusionOk="0" h="524790" w="524790">
                <a:moveTo>
                  <a:pt x="112457" y="0"/>
                </a:moveTo>
                <a:lnTo>
                  <a:pt x="412333" y="0"/>
                </a:lnTo>
                <a:cubicBezTo>
                  <a:pt x="474441" y="0"/>
                  <a:pt x="524790" y="50349"/>
                  <a:pt x="524790" y="112457"/>
                </a:cubicBezTo>
                <a:lnTo>
                  <a:pt x="524790" y="412333"/>
                </a:lnTo>
                <a:cubicBezTo>
                  <a:pt x="524790" y="474441"/>
                  <a:pt x="474441" y="524790"/>
                  <a:pt x="412333" y="524790"/>
                </a:cubicBezTo>
                <a:lnTo>
                  <a:pt x="112457" y="524790"/>
                </a:lnTo>
                <a:cubicBezTo>
                  <a:pt x="50349" y="524790"/>
                  <a:pt x="0" y="474441"/>
                  <a:pt x="0" y="412333"/>
                </a:cubicBezTo>
                <a:lnTo>
                  <a:pt x="0" y="112457"/>
                </a:lnTo>
                <a:cubicBezTo>
                  <a:pt x="0" y="50390"/>
                  <a:pt x="50390" y="0"/>
                  <a:pt x="112457" y="0"/>
                </a:cubicBezTo>
                <a:close/>
              </a:path>
            </a:pathLst>
          </a:cu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0"/>
          <p:cNvSpPr/>
          <p:nvPr/>
        </p:nvSpPr>
        <p:spPr>
          <a:xfrm>
            <a:off x="693473" y="6259997"/>
            <a:ext cx="187425" cy="187425"/>
          </a:xfrm>
          <a:custGeom>
            <a:rect b="b" l="l" r="r" t="t"/>
            <a:pathLst>
              <a:path extrusionOk="0" h="187425" w="187425">
                <a:moveTo>
                  <a:pt x="187425" y="35142"/>
                </a:moveTo>
                <a:cubicBezTo>
                  <a:pt x="187425" y="53519"/>
                  <a:pt x="165791" y="80937"/>
                  <a:pt x="156456" y="91882"/>
                </a:cubicBezTo>
                <a:cubicBezTo>
                  <a:pt x="155065" y="93493"/>
                  <a:pt x="153015" y="94115"/>
                  <a:pt x="151148" y="93713"/>
                </a:cubicBezTo>
                <a:lnTo>
                  <a:pt x="117141" y="93713"/>
                </a:lnTo>
                <a:cubicBezTo>
                  <a:pt x="110661" y="93713"/>
                  <a:pt x="105427" y="98947"/>
                  <a:pt x="105427" y="105427"/>
                </a:cubicBezTo>
                <a:cubicBezTo>
                  <a:pt x="105427" y="111906"/>
                  <a:pt x="110661" y="117141"/>
                  <a:pt x="117141" y="117141"/>
                </a:cubicBezTo>
                <a:lnTo>
                  <a:pt x="152283" y="117141"/>
                </a:lnTo>
                <a:cubicBezTo>
                  <a:pt x="171684" y="117141"/>
                  <a:pt x="187425" y="132881"/>
                  <a:pt x="187425" y="152283"/>
                </a:cubicBezTo>
                <a:cubicBezTo>
                  <a:pt x="187425" y="171684"/>
                  <a:pt x="171684" y="187425"/>
                  <a:pt x="152283" y="187425"/>
                </a:cubicBezTo>
                <a:lnTo>
                  <a:pt x="51103" y="187425"/>
                </a:lnTo>
                <a:cubicBezTo>
                  <a:pt x="54287" y="183801"/>
                  <a:pt x="58168" y="179152"/>
                  <a:pt x="62085" y="173954"/>
                </a:cubicBezTo>
                <a:cubicBezTo>
                  <a:pt x="64391" y="170879"/>
                  <a:pt x="66770" y="167511"/>
                  <a:pt x="69040" y="163997"/>
                </a:cubicBezTo>
                <a:lnTo>
                  <a:pt x="152283" y="163997"/>
                </a:lnTo>
                <a:cubicBezTo>
                  <a:pt x="158762" y="163997"/>
                  <a:pt x="163997" y="158762"/>
                  <a:pt x="163997" y="152283"/>
                </a:cubicBezTo>
                <a:cubicBezTo>
                  <a:pt x="163997" y="145804"/>
                  <a:pt x="158762" y="140569"/>
                  <a:pt x="152283" y="140569"/>
                </a:cubicBezTo>
                <a:lnTo>
                  <a:pt x="117141" y="140569"/>
                </a:lnTo>
                <a:cubicBezTo>
                  <a:pt x="97739" y="140569"/>
                  <a:pt x="81998" y="124828"/>
                  <a:pt x="81998" y="105427"/>
                </a:cubicBezTo>
                <a:cubicBezTo>
                  <a:pt x="81998" y="86025"/>
                  <a:pt x="97739" y="70284"/>
                  <a:pt x="117141" y="70284"/>
                </a:cubicBezTo>
                <a:lnTo>
                  <a:pt x="131710" y="70284"/>
                </a:lnTo>
                <a:cubicBezTo>
                  <a:pt x="124023" y="58753"/>
                  <a:pt x="117141" y="45502"/>
                  <a:pt x="117141" y="35142"/>
                </a:cubicBezTo>
                <a:cubicBezTo>
                  <a:pt x="117141" y="15741"/>
                  <a:pt x="132881" y="0"/>
                  <a:pt x="152283" y="0"/>
                </a:cubicBezTo>
                <a:cubicBezTo>
                  <a:pt x="171684" y="0"/>
                  <a:pt x="187425" y="15741"/>
                  <a:pt x="187425" y="35142"/>
                </a:cubicBezTo>
                <a:close/>
                <a:moveTo>
                  <a:pt x="42866" y="179042"/>
                </a:moveTo>
                <a:cubicBezTo>
                  <a:pt x="41475" y="180616"/>
                  <a:pt x="40230" y="182007"/>
                  <a:pt x="39169" y="183179"/>
                </a:cubicBezTo>
                <a:lnTo>
                  <a:pt x="38510" y="183911"/>
                </a:lnTo>
                <a:lnTo>
                  <a:pt x="38437" y="183838"/>
                </a:lnTo>
                <a:cubicBezTo>
                  <a:pt x="36240" y="185522"/>
                  <a:pt x="33092" y="185302"/>
                  <a:pt x="31115" y="183179"/>
                </a:cubicBezTo>
                <a:cubicBezTo>
                  <a:pt x="21891" y="173149"/>
                  <a:pt x="0" y="147341"/>
                  <a:pt x="0" y="128855"/>
                </a:cubicBezTo>
                <a:cubicBezTo>
                  <a:pt x="0" y="109453"/>
                  <a:pt x="15741" y="93713"/>
                  <a:pt x="35142" y="93713"/>
                </a:cubicBezTo>
                <a:cubicBezTo>
                  <a:pt x="54544" y="93713"/>
                  <a:pt x="70284" y="109453"/>
                  <a:pt x="70284" y="128855"/>
                </a:cubicBezTo>
                <a:cubicBezTo>
                  <a:pt x="70284" y="139837"/>
                  <a:pt x="62560" y="153381"/>
                  <a:pt x="54361" y="164692"/>
                </a:cubicBezTo>
                <a:cubicBezTo>
                  <a:pt x="50444" y="170074"/>
                  <a:pt x="46417" y="174942"/>
                  <a:pt x="43086" y="178786"/>
                </a:cubicBezTo>
                <a:lnTo>
                  <a:pt x="42866" y="179042"/>
                </a:lnTo>
                <a:close/>
                <a:moveTo>
                  <a:pt x="46856" y="128855"/>
                </a:moveTo>
                <a:cubicBezTo>
                  <a:pt x="46856" y="122390"/>
                  <a:pt x="41607" y="117141"/>
                  <a:pt x="35142" y="117141"/>
                </a:cubicBezTo>
                <a:cubicBezTo>
                  <a:pt x="28677" y="117141"/>
                  <a:pt x="23428" y="122390"/>
                  <a:pt x="23428" y="128855"/>
                </a:cubicBezTo>
                <a:cubicBezTo>
                  <a:pt x="23428" y="135320"/>
                  <a:pt x="28677" y="140569"/>
                  <a:pt x="35142" y="140569"/>
                </a:cubicBezTo>
                <a:cubicBezTo>
                  <a:pt x="41607" y="140569"/>
                  <a:pt x="46856" y="135320"/>
                  <a:pt x="46856" y="128855"/>
                </a:cubicBezTo>
                <a:close/>
                <a:moveTo>
                  <a:pt x="152283" y="46856"/>
                </a:moveTo>
                <a:cubicBezTo>
                  <a:pt x="158748" y="46856"/>
                  <a:pt x="163997" y="41607"/>
                  <a:pt x="163997" y="35142"/>
                </a:cubicBezTo>
                <a:cubicBezTo>
                  <a:pt x="163997" y="28677"/>
                  <a:pt x="158748" y="23428"/>
                  <a:pt x="152283" y="23428"/>
                </a:cubicBezTo>
                <a:cubicBezTo>
                  <a:pt x="145818" y="23428"/>
                  <a:pt x="140569" y="28677"/>
                  <a:pt x="140569" y="35142"/>
                </a:cubicBezTo>
                <a:cubicBezTo>
                  <a:pt x="140569" y="41607"/>
                  <a:pt x="145818" y="46856"/>
                  <a:pt x="152283" y="4685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0"/>
          <p:cNvSpPr/>
          <p:nvPr/>
        </p:nvSpPr>
        <p:spPr>
          <a:xfrm>
            <a:off x="1199520" y="5960117"/>
            <a:ext cx="3954669" cy="2623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28">
                <a:solidFill>
                  <a:srgbClr val="F8FAFC"/>
                </a:solidFill>
                <a:latin typeface="Arial"/>
                <a:ea typeface="Arial"/>
                <a:cs typeface="Arial"/>
                <a:sym typeface="Arial"/>
              </a:rPr>
              <a:t>Tích hợp bản đồ</a:t>
            </a:r>
            <a:endParaRPr sz="1600">
              <a:solidFill>
                <a:schemeClr val="dk1"/>
              </a:solidFill>
              <a:latin typeface="Calibri"/>
              <a:ea typeface="Calibri"/>
              <a:cs typeface="Calibri"/>
              <a:sym typeface="Calibri"/>
            </a:endParaRPr>
          </a:p>
        </p:txBody>
      </p:sp>
      <p:sp>
        <p:nvSpPr>
          <p:cNvPr id="607" name="Google Shape;607;p10"/>
          <p:cNvSpPr/>
          <p:nvPr/>
        </p:nvSpPr>
        <p:spPr>
          <a:xfrm>
            <a:off x="1199520" y="6259997"/>
            <a:ext cx="3945297" cy="48730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181">
                <a:solidFill>
                  <a:srgbClr val="94A3B8"/>
                </a:solidFill>
                <a:latin typeface="Arial"/>
                <a:ea typeface="Arial"/>
                <a:cs typeface="Arial"/>
                <a:sym typeface="Arial"/>
              </a:rPr>
              <a:t>Chỉ đường từ vị trí hiện tại đến rạp chiếu qua </a:t>
            </a:r>
            <a:r>
              <a:rPr b="1" lang="en-US" sz="1181">
                <a:solidFill>
                  <a:srgbClr val="F59E0B"/>
                </a:solidFill>
                <a:latin typeface="Arial"/>
                <a:ea typeface="Arial"/>
                <a:cs typeface="Arial"/>
                <a:sym typeface="Arial"/>
              </a:rPr>
              <a:t>Google Maps/Grab</a:t>
            </a:r>
            <a:r>
              <a:rPr lang="en-US" sz="1181">
                <a:solidFill>
                  <a:srgbClr val="94A3B8"/>
                </a:solidFill>
                <a:latin typeface="Arial"/>
                <a:ea typeface="Arial"/>
                <a:cs typeface="Arial"/>
                <a:sym typeface="Arial"/>
              </a:rPr>
              <a:t>.</a:t>
            </a:r>
            <a:endParaRPr sz="1600">
              <a:solidFill>
                <a:schemeClr val="dk1"/>
              </a:solidFill>
              <a:latin typeface="Calibri"/>
              <a:ea typeface="Calibri"/>
              <a:cs typeface="Calibri"/>
              <a:sym typeface="Calibri"/>
            </a:endParaRPr>
          </a:p>
        </p:txBody>
      </p:sp>
      <p:sp>
        <p:nvSpPr>
          <p:cNvPr id="608" name="Google Shape;608;p10"/>
          <p:cNvSpPr/>
          <p:nvPr/>
        </p:nvSpPr>
        <p:spPr>
          <a:xfrm>
            <a:off x="5220227" y="6222512"/>
            <a:ext cx="899640" cy="262395"/>
          </a:xfrm>
          <a:custGeom>
            <a:rect b="b" l="l" r="r" t="t"/>
            <a:pathLst>
              <a:path extrusionOk="0" h="262395" w="899640">
                <a:moveTo>
                  <a:pt x="131198" y="0"/>
                </a:moveTo>
                <a:lnTo>
                  <a:pt x="768443" y="0"/>
                </a:lnTo>
                <a:cubicBezTo>
                  <a:pt x="840853" y="0"/>
                  <a:pt x="899640" y="58788"/>
                  <a:pt x="899640" y="131198"/>
                </a:cubicBezTo>
                <a:lnTo>
                  <a:pt x="899640" y="131198"/>
                </a:lnTo>
                <a:cubicBezTo>
                  <a:pt x="899640" y="203607"/>
                  <a:pt x="840853" y="262395"/>
                  <a:pt x="768443" y="262395"/>
                </a:cubicBezTo>
                <a:lnTo>
                  <a:pt x="131198" y="262395"/>
                </a:lnTo>
                <a:cubicBezTo>
                  <a:pt x="58788" y="262395"/>
                  <a:pt x="0" y="203607"/>
                  <a:pt x="0" y="131198"/>
                </a:cubicBezTo>
                <a:lnTo>
                  <a:pt x="0" y="131198"/>
                </a:lnTo>
                <a:cubicBezTo>
                  <a:pt x="0" y="58788"/>
                  <a:pt x="58788" y="0"/>
                  <a:pt x="131198"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0"/>
          <p:cNvSpPr/>
          <p:nvPr/>
        </p:nvSpPr>
        <p:spPr>
          <a:xfrm>
            <a:off x="5220227" y="6222512"/>
            <a:ext cx="965239"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F59E0B"/>
                </a:solidFill>
                <a:latin typeface="Arial"/>
                <a:ea typeface="Arial"/>
                <a:cs typeface="Arial"/>
                <a:sym typeface="Arial"/>
              </a:rPr>
              <a:t>Navigation</a:t>
            </a:r>
            <a:endParaRPr sz="1600">
              <a:solidFill>
                <a:schemeClr val="dk1"/>
              </a:solidFill>
              <a:latin typeface="Calibri"/>
              <a:ea typeface="Calibri"/>
              <a:cs typeface="Calibri"/>
              <a:sym typeface="Calibri"/>
            </a:endParaRPr>
          </a:p>
        </p:txBody>
      </p:sp>
      <p:sp>
        <p:nvSpPr>
          <p:cNvPr id="610" name="Google Shape;610;p10"/>
          <p:cNvSpPr/>
          <p:nvPr/>
        </p:nvSpPr>
        <p:spPr>
          <a:xfrm>
            <a:off x="6197327" y="6222512"/>
            <a:ext cx="871527" cy="262395"/>
          </a:xfrm>
          <a:custGeom>
            <a:rect b="b" l="l" r="r" t="t"/>
            <a:pathLst>
              <a:path extrusionOk="0" h="262395" w="871527">
                <a:moveTo>
                  <a:pt x="131198" y="0"/>
                </a:moveTo>
                <a:lnTo>
                  <a:pt x="740329" y="0"/>
                </a:lnTo>
                <a:cubicBezTo>
                  <a:pt x="812739" y="0"/>
                  <a:pt x="871527" y="58788"/>
                  <a:pt x="871527" y="131198"/>
                </a:cubicBezTo>
                <a:lnTo>
                  <a:pt x="871527" y="131198"/>
                </a:lnTo>
                <a:cubicBezTo>
                  <a:pt x="871527" y="203607"/>
                  <a:pt x="812739" y="262395"/>
                  <a:pt x="740329" y="262395"/>
                </a:cubicBezTo>
                <a:lnTo>
                  <a:pt x="131198" y="262395"/>
                </a:lnTo>
                <a:cubicBezTo>
                  <a:pt x="58788" y="262395"/>
                  <a:pt x="0" y="203607"/>
                  <a:pt x="0" y="131198"/>
                </a:cubicBezTo>
                <a:lnTo>
                  <a:pt x="0" y="131198"/>
                </a:lnTo>
                <a:cubicBezTo>
                  <a:pt x="0" y="58788"/>
                  <a:pt x="58788" y="0"/>
                  <a:pt x="131198" y="0"/>
                </a:cubicBezTo>
                <a:close/>
              </a:path>
            </a:pathLst>
          </a:custGeom>
          <a:solidFill>
            <a:srgbClr val="F59E0B">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0"/>
          <p:cNvSpPr/>
          <p:nvPr/>
        </p:nvSpPr>
        <p:spPr>
          <a:xfrm>
            <a:off x="6197327" y="6222512"/>
            <a:ext cx="937125" cy="262395"/>
          </a:xfrm>
          <a:prstGeom prst="rect">
            <a:avLst/>
          </a:prstGeom>
          <a:noFill/>
          <a:ln>
            <a:noFill/>
          </a:ln>
        </p:spPr>
        <p:txBody>
          <a:bodyPr anchorCtr="0" anchor="ctr" bIns="37475" lIns="112450" spcFirstLastPara="1" rIns="112450" wrap="square" tIns="37475">
            <a:noAutofit/>
          </a:bodyPr>
          <a:lstStyle/>
          <a:p>
            <a:pPr indent="0" lvl="0" marL="0" marR="0" rtl="0" algn="l">
              <a:lnSpc>
                <a:spcPct val="120000"/>
              </a:lnSpc>
              <a:spcBef>
                <a:spcPts val="0"/>
              </a:spcBef>
              <a:spcAft>
                <a:spcPts val="0"/>
              </a:spcAft>
              <a:buNone/>
            </a:pPr>
            <a:r>
              <a:rPr b="1" lang="en-US" sz="1033">
                <a:solidFill>
                  <a:srgbClr val="F59E0B"/>
                </a:solidFill>
                <a:latin typeface="Arial"/>
                <a:ea typeface="Arial"/>
                <a:cs typeface="Arial"/>
                <a:sym typeface="Arial"/>
              </a:rPr>
              <a:t>Directions</a:t>
            </a:r>
            <a:endParaRPr sz="1600">
              <a:solidFill>
                <a:schemeClr val="dk1"/>
              </a:solidFill>
              <a:latin typeface="Calibri"/>
              <a:ea typeface="Calibri"/>
              <a:cs typeface="Calibri"/>
              <a:sym typeface="Calibri"/>
            </a:endParaRPr>
          </a:p>
        </p:txBody>
      </p:sp>
      <p:sp>
        <p:nvSpPr>
          <p:cNvPr id="612" name="Google Shape;612;p10"/>
          <p:cNvSpPr/>
          <p:nvPr/>
        </p:nvSpPr>
        <p:spPr>
          <a:xfrm>
            <a:off x="7336675" y="1354149"/>
            <a:ext cx="4479459" cy="2623224"/>
          </a:xfrm>
          <a:custGeom>
            <a:rect b="b" l="l" r="r" t="t"/>
            <a:pathLst>
              <a:path extrusionOk="0" h="3532962" w="4479459">
                <a:moveTo>
                  <a:pt x="112454" y="0"/>
                </a:moveTo>
                <a:lnTo>
                  <a:pt x="4367005" y="0"/>
                </a:lnTo>
                <a:cubicBezTo>
                  <a:pt x="4429111" y="0"/>
                  <a:pt x="4479459" y="50347"/>
                  <a:pt x="4479459" y="112454"/>
                </a:cubicBezTo>
                <a:lnTo>
                  <a:pt x="4479459" y="3420508"/>
                </a:lnTo>
                <a:cubicBezTo>
                  <a:pt x="4479459" y="3482615"/>
                  <a:pt x="4429111" y="3532962"/>
                  <a:pt x="4367005" y="3532962"/>
                </a:cubicBezTo>
                <a:lnTo>
                  <a:pt x="112454" y="3532962"/>
                </a:lnTo>
                <a:cubicBezTo>
                  <a:pt x="50347" y="3532962"/>
                  <a:pt x="0" y="3482615"/>
                  <a:pt x="0" y="3420508"/>
                </a:cubicBezTo>
                <a:lnTo>
                  <a:pt x="0" y="112454"/>
                </a:lnTo>
                <a:cubicBezTo>
                  <a:pt x="0" y="50389"/>
                  <a:pt x="50389" y="0"/>
                  <a:pt x="112454" y="0"/>
                </a:cubicBezTo>
                <a:close/>
              </a:path>
            </a:pathLst>
          </a:custGeom>
          <a:gradFill>
            <a:gsLst>
              <a:gs pos="0">
                <a:srgbClr val="1E293B"/>
              </a:gs>
              <a:gs pos="100000">
                <a:srgbClr val="0F172A"/>
              </a:gs>
            </a:gsLst>
            <a:lin ang="2700000" scaled="0"/>
          </a:gradFill>
          <a:ln cap="flat" cmpd="sng" w="12700">
            <a:solidFill>
              <a:srgbClr val="14B8A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0"/>
          <p:cNvSpPr/>
          <p:nvPr/>
        </p:nvSpPr>
        <p:spPr>
          <a:xfrm>
            <a:off x="7514720" y="1555628"/>
            <a:ext cx="168683" cy="168683"/>
          </a:xfrm>
          <a:custGeom>
            <a:rect b="b" l="l" r="r" t="t"/>
            <a:pathLst>
              <a:path extrusionOk="0" h="168683" w="168683">
                <a:moveTo>
                  <a:pt x="73766" y="10543"/>
                </a:moveTo>
                <a:lnTo>
                  <a:pt x="48661" y="10543"/>
                </a:lnTo>
                <a:cubicBezTo>
                  <a:pt x="38975" y="10543"/>
                  <a:pt x="30508" y="17165"/>
                  <a:pt x="28202" y="26554"/>
                </a:cubicBezTo>
                <a:lnTo>
                  <a:pt x="461" y="138537"/>
                </a:lnTo>
                <a:cubicBezTo>
                  <a:pt x="-2010" y="148487"/>
                  <a:pt x="5535" y="158140"/>
                  <a:pt x="15814" y="158140"/>
                </a:cubicBezTo>
                <a:lnTo>
                  <a:pt x="73766" y="158140"/>
                </a:lnTo>
                <a:lnTo>
                  <a:pt x="73766" y="137055"/>
                </a:lnTo>
                <a:cubicBezTo>
                  <a:pt x="73766" y="131223"/>
                  <a:pt x="78477" y="126512"/>
                  <a:pt x="84308" y="126512"/>
                </a:cubicBezTo>
                <a:cubicBezTo>
                  <a:pt x="90140" y="126512"/>
                  <a:pt x="94851" y="131223"/>
                  <a:pt x="94851" y="137055"/>
                </a:cubicBezTo>
                <a:lnTo>
                  <a:pt x="94851" y="158140"/>
                </a:lnTo>
                <a:lnTo>
                  <a:pt x="152869" y="158140"/>
                </a:lnTo>
                <a:cubicBezTo>
                  <a:pt x="163148" y="158140"/>
                  <a:pt x="170692" y="148487"/>
                  <a:pt x="168221" y="138537"/>
                </a:cubicBezTo>
                <a:lnTo>
                  <a:pt x="140514" y="26554"/>
                </a:lnTo>
                <a:cubicBezTo>
                  <a:pt x="138175" y="17165"/>
                  <a:pt x="129741" y="10543"/>
                  <a:pt x="120022" y="10543"/>
                </a:cubicBezTo>
                <a:lnTo>
                  <a:pt x="94851" y="10543"/>
                </a:lnTo>
                <a:lnTo>
                  <a:pt x="94851" y="31628"/>
                </a:lnTo>
                <a:cubicBezTo>
                  <a:pt x="94851" y="37459"/>
                  <a:pt x="90140" y="42171"/>
                  <a:pt x="84308" y="42171"/>
                </a:cubicBezTo>
                <a:cubicBezTo>
                  <a:pt x="78477" y="42171"/>
                  <a:pt x="73766" y="37459"/>
                  <a:pt x="73766" y="31628"/>
                </a:cubicBezTo>
                <a:lnTo>
                  <a:pt x="73766" y="10543"/>
                </a:lnTo>
                <a:close/>
                <a:moveTo>
                  <a:pt x="94851" y="73799"/>
                </a:moveTo>
                <a:lnTo>
                  <a:pt x="94851" y="94884"/>
                </a:lnTo>
                <a:cubicBezTo>
                  <a:pt x="94851" y="100715"/>
                  <a:pt x="90140" y="105427"/>
                  <a:pt x="84308" y="105427"/>
                </a:cubicBezTo>
                <a:cubicBezTo>
                  <a:pt x="78477" y="105427"/>
                  <a:pt x="73766" y="100715"/>
                  <a:pt x="73766" y="94884"/>
                </a:cubicBezTo>
                <a:lnTo>
                  <a:pt x="73766" y="73799"/>
                </a:lnTo>
                <a:cubicBezTo>
                  <a:pt x="73766" y="67967"/>
                  <a:pt x="78477" y="63256"/>
                  <a:pt x="84308" y="63256"/>
                </a:cubicBezTo>
                <a:cubicBezTo>
                  <a:pt x="90140" y="63256"/>
                  <a:pt x="94851" y="67967"/>
                  <a:pt x="94851" y="73799"/>
                </a:cubicBezTo>
                <a:close/>
              </a:path>
            </a:pathLst>
          </a:cu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0"/>
          <p:cNvSpPr/>
          <p:nvPr/>
        </p:nvSpPr>
        <p:spPr>
          <a:xfrm>
            <a:off x="7706831" y="1508772"/>
            <a:ext cx="4039010" cy="262395"/>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28">
                <a:solidFill>
                  <a:srgbClr val="F8FAFC"/>
                </a:solidFill>
                <a:latin typeface="Arial"/>
                <a:ea typeface="Arial"/>
                <a:cs typeface="Arial"/>
                <a:sym typeface="Arial"/>
              </a:rPr>
              <a:t>Lộ trình phát triển</a:t>
            </a:r>
            <a:endParaRPr sz="1600">
              <a:solidFill>
                <a:schemeClr val="dk1"/>
              </a:solidFill>
              <a:latin typeface="Calibri"/>
              <a:ea typeface="Calibri"/>
              <a:cs typeface="Calibri"/>
              <a:sym typeface="Calibri"/>
            </a:endParaRPr>
          </a:p>
        </p:txBody>
      </p:sp>
      <p:sp>
        <p:nvSpPr>
          <p:cNvPr id="615" name="Google Shape;615;p10"/>
          <p:cNvSpPr/>
          <p:nvPr/>
        </p:nvSpPr>
        <p:spPr>
          <a:xfrm>
            <a:off x="7491292" y="1921107"/>
            <a:ext cx="374850" cy="374850"/>
          </a:xfrm>
          <a:custGeom>
            <a:rect b="b" l="l" r="r" t="t"/>
            <a:pathLst>
              <a:path extrusionOk="0" h="374850" w="374850">
                <a:moveTo>
                  <a:pt x="187425" y="0"/>
                </a:moveTo>
                <a:lnTo>
                  <a:pt x="187425" y="0"/>
                </a:lnTo>
                <a:cubicBezTo>
                  <a:pt x="290868" y="0"/>
                  <a:pt x="374850" y="83982"/>
                  <a:pt x="374850" y="187425"/>
                </a:cubicBezTo>
                <a:lnTo>
                  <a:pt x="374850" y="187425"/>
                </a:lnTo>
                <a:cubicBezTo>
                  <a:pt x="374850" y="290868"/>
                  <a:pt x="290868" y="374850"/>
                  <a:pt x="187425" y="374850"/>
                </a:cubicBezTo>
                <a:lnTo>
                  <a:pt x="187425" y="374850"/>
                </a:lnTo>
                <a:cubicBezTo>
                  <a:pt x="83982" y="374850"/>
                  <a:pt x="0" y="290868"/>
                  <a:pt x="0" y="187425"/>
                </a:cubicBezTo>
                <a:lnTo>
                  <a:pt x="0" y="187425"/>
                </a:lnTo>
                <a:cubicBezTo>
                  <a:pt x="0" y="83982"/>
                  <a:pt x="83982" y="0"/>
                  <a:pt x="187425"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0"/>
          <p:cNvSpPr/>
          <p:nvPr/>
        </p:nvSpPr>
        <p:spPr>
          <a:xfrm>
            <a:off x="7598036" y="2014819"/>
            <a:ext cx="224910" cy="18742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33">
                <a:solidFill>
                  <a:srgbClr val="3B82F6"/>
                </a:solidFill>
                <a:latin typeface="Arial"/>
                <a:ea typeface="Arial"/>
                <a:cs typeface="Arial"/>
                <a:sym typeface="Arial"/>
              </a:rPr>
              <a:t>Q1</a:t>
            </a:r>
            <a:endParaRPr sz="1600">
              <a:solidFill>
                <a:schemeClr val="dk1"/>
              </a:solidFill>
              <a:latin typeface="Calibri"/>
              <a:ea typeface="Calibri"/>
              <a:cs typeface="Calibri"/>
              <a:sym typeface="Calibri"/>
            </a:endParaRPr>
          </a:p>
        </p:txBody>
      </p:sp>
      <p:sp>
        <p:nvSpPr>
          <p:cNvPr id="617" name="Google Shape;617;p10"/>
          <p:cNvSpPr/>
          <p:nvPr/>
        </p:nvSpPr>
        <p:spPr>
          <a:xfrm>
            <a:off x="7978597" y="1921107"/>
            <a:ext cx="1049580" cy="18742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33">
                <a:solidFill>
                  <a:srgbClr val="F8FAFC"/>
                </a:solidFill>
                <a:latin typeface="Arial"/>
                <a:ea typeface="Arial"/>
                <a:cs typeface="Arial"/>
                <a:sym typeface="Arial"/>
              </a:rPr>
              <a:t>Tích hợp đặt vé</a:t>
            </a:r>
            <a:endParaRPr sz="1600">
              <a:solidFill>
                <a:schemeClr val="dk1"/>
              </a:solidFill>
              <a:latin typeface="Calibri"/>
              <a:ea typeface="Calibri"/>
              <a:cs typeface="Calibri"/>
              <a:sym typeface="Calibri"/>
            </a:endParaRPr>
          </a:p>
        </p:txBody>
      </p:sp>
      <p:sp>
        <p:nvSpPr>
          <p:cNvPr id="618" name="Google Shape;618;p10"/>
          <p:cNvSpPr/>
          <p:nvPr/>
        </p:nvSpPr>
        <p:spPr>
          <a:xfrm>
            <a:off x="7978597" y="2146017"/>
            <a:ext cx="1040209" cy="140569"/>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85">
                <a:solidFill>
                  <a:srgbClr val="94A3B8"/>
                </a:solidFill>
                <a:latin typeface="Arial"/>
                <a:ea typeface="Arial"/>
                <a:cs typeface="Arial"/>
                <a:sym typeface="Arial"/>
              </a:rPr>
              <a:t>Kết nối API đặt vé</a:t>
            </a:r>
            <a:endParaRPr sz="1600">
              <a:solidFill>
                <a:schemeClr val="dk1"/>
              </a:solidFill>
              <a:latin typeface="Calibri"/>
              <a:ea typeface="Calibri"/>
              <a:cs typeface="Calibri"/>
              <a:sym typeface="Calibri"/>
            </a:endParaRPr>
          </a:p>
        </p:txBody>
      </p:sp>
      <p:sp>
        <p:nvSpPr>
          <p:cNvPr id="619" name="Google Shape;619;p10"/>
          <p:cNvSpPr/>
          <p:nvPr/>
        </p:nvSpPr>
        <p:spPr>
          <a:xfrm>
            <a:off x="7491292" y="2408412"/>
            <a:ext cx="374850" cy="374850"/>
          </a:xfrm>
          <a:custGeom>
            <a:rect b="b" l="l" r="r" t="t"/>
            <a:pathLst>
              <a:path extrusionOk="0" h="374850" w="374850">
                <a:moveTo>
                  <a:pt x="187425" y="0"/>
                </a:moveTo>
                <a:lnTo>
                  <a:pt x="187425" y="0"/>
                </a:lnTo>
                <a:cubicBezTo>
                  <a:pt x="290868" y="0"/>
                  <a:pt x="374850" y="83982"/>
                  <a:pt x="374850" y="187425"/>
                </a:cubicBezTo>
                <a:lnTo>
                  <a:pt x="374850" y="187425"/>
                </a:lnTo>
                <a:cubicBezTo>
                  <a:pt x="374850" y="290868"/>
                  <a:pt x="290868" y="374850"/>
                  <a:pt x="187425" y="374850"/>
                </a:cubicBezTo>
                <a:lnTo>
                  <a:pt x="187425" y="374850"/>
                </a:lnTo>
                <a:cubicBezTo>
                  <a:pt x="83982" y="374850"/>
                  <a:pt x="0" y="290868"/>
                  <a:pt x="0" y="187425"/>
                </a:cubicBezTo>
                <a:lnTo>
                  <a:pt x="0" y="187425"/>
                </a:lnTo>
                <a:cubicBezTo>
                  <a:pt x="0" y="83982"/>
                  <a:pt x="83982" y="0"/>
                  <a:pt x="187425"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0"/>
          <p:cNvSpPr/>
          <p:nvPr/>
        </p:nvSpPr>
        <p:spPr>
          <a:xfrm>
            <a:off x="7586908" y="2502125"/>
            <a:ext cx="253024" cy="18742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33">
                <a:solidFill>
                  <a:srgbClr val="8B5CF6"/>
                </a:solidFill>
                <a:latin typeface="Arial"/>
                <a:ea typeface="Arial"/>
                <a:cs typeface="Arial"/>
                <a:sym typeface="Arial"/>
              </a:rPr>
              <a:t>Q2</a:t>
            </a:r>
            <a:endParaRPr sz="1600">
              <a:solidFill>
                <a:schemeClr val="dk1"/>
              </a:solidFill>
              <a:latin typeface="Calibri"/>
              <a:ea typeface="Calibri"/>
              <a:cs typeface="Calibri"/>
              <a:sym typeface="Calibri"/>
            </a:endParaRPr>
          </a:p>
        </p:txBody>
      </p:sp>
      <p:sp>
        <p:nvSpPr>
          <p:cNvPr id="621" name="Google Shape;621;p10"/>
          <p:cNvSpPr/>
          <p:nvPr/>
        </p:nvSpPr>
        <p:spPr>
          <a:xfrm>
            <a:off x="7978597" y="2408412"/>
            <a:ext cx="1030838" cy="18742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33">
                <a:solidFill>
                  <a:srgbClr val="F8FAFC"/>
                </a:solidFill>
                <a:latin typeface="Arial"/>
                <a:ea typeface="Arial"/>
                <a:cs typeface="Arial"/>
                <a:sym typeface="Arial"/>
              </a:rPr>
              <a:t>Cá nhân hóa AI</a:t>
            </a:r>
            <a:endParaRPr sz="1600">
              <a:solidFill>
                <a:schemeClr val="dk1"/>
              </a:solidFill>
              <a:latin typeface="Calibri"/>
              <a:ea typeface="Calibri"/>
              <a:cs typeface="Calibri"/>
              <a:sym typeface="Calibri"/>
            </a:endParaRPr>
          </a:p>
        </p:txBody>
      </p:sp>
      <p:sp>
        <p:nvSpPr>
          <p:cNvPr id="622" name="Google Shape;622;p10"/>
          <p:cNvSpPr/>
          <p:nvPr/>
        </p:nvSpPr>
        <p:spPr>
          <a:xfrm>
            <a:off x="7978597" y="2633322"/>
            <a:ext cx="1021467" cy="140569"/>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85">
                <a:solidFill>
                  <a:srgbClr val="94A3B8"/>
                </a:solidFill>
                <a:latin typeface="Arial"/>
                <a:ea typeface="Arial"/>
                <a:cs typeface="Arial"/>
                <a:sym typeface="Arial"/>
              </a:rPr>
              <a:t>Machine Learning</a:t>
            </a:r>
            <a:endParaRPr sz="1600">
              <a:solidFill>
                <a:schemeClr val="dk1"/>
              </a:solidFill>
              <a:latin typeface="Calibri"/>
              <a:ea typeface="Calibri"/>
              <a:cs typeface="Calibri"/>
              <a:sym typeface="Calibri"/>
            </a:endParaRPr>
          </a:p>
        </p:txBody>
      </p:sp>
      <p:sp>
        <p:nvSpPr>
          <p:cNvPr id="623" name="Google Shape;623;p10"/>
          <p:cNvSpPr/>
          <p:nvPr/>
        </p:nvSpPr>
        <p:spPr>
          <a:xfrm>
            <a:off x="7491292" y="2895717"/>
            <a:ext cx="374850" cy="374850"/>
          </a:xfrm>
          <a:custGeom>
            <a:rect b="b" l="l" r="r" t="t"/>
            <a:pathLst>
              <a:path extrusionOk="0" h="374850" w="374850">
                <a:moveTo>
                  <a:pt x="187425" y="0"/>
                </a:moveTo>
                <a:lnTo>
                  <a:pt x="187425" y="0"/>
                </a:lnTo>
                <a:cubicBezTo>
                  <a:pt x="290868" y="0"/>
                  <a:pt x="374850" y="83982"/>
                  <a:pt x="374850" y="187425"/>
                </a:cubicBezTo>
                <a:lnTo>
                  <a:pt x="374850" y="187425"/>
                </a:lnTo>
                <a:cubicBezTo>
                  <a:pt x="374850" y="290868"/>
                  <a:pt x="290868" y="374850"/>
                  <a:pt x="187425" y="374850"/>
                </a:cubicBezTo>
                <a:lnTo>
                  <a:pt x="187425" y="374850"/>
                </a:lnTo>
                <a:cubicBezTo>
                  <a:pt x="83982" y="374850"/>
                  <a:pt x="0" y="290868"/>
                  <a:pt x="0" y="187425"/>
                </a:cubicBezTo>
                <a:lnTo>
                  <a:pt x="0" y="187425"/>
                </a:lnTo>
                <a:cubicBezTo>
                  <a:pt x="0" y="83982"/>
                  <a:pt x="83982" y="0"/>
                  <a:pt x="187425"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0"/>
          <p:cNvSpPr/>
          <p:nvPr/>
        </p:nvSpPr>
        <p:spPr>
          <a:xfrm>
            <a:off x="7585297" y="2989430"/>
            <a:ext cx="253024" cy="18742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33">
                <a:solidFill>
                  <a:srgbClr val="10B981"/>
                </a:solidFill>
                <a:latin typeface="Arial"/>
                <a:ea typeface="Arial"/>
                <a:cs typeface="Arial"/>
                <a:sym typeface="Arial"/>
              </a:rPr>
              <a:t>Q3</a:t>
            </a:r>
            <a:endParaRPr sz="1600">
              <a:solidFill>
                <a:schemeClr val="dk1"/>
              </a:solidFill>
              <a:latin typeface="Calibri"/>
              <a:ea typeface="Calibri"/>
              <a:cs typeface="Calibri"/>
              <a:sym typeface="Calibri"/>
            </a:endParaRPr>
          </a:p>
        </p:txBody>
      </p:sp>
      <p:sp>
        <p:nvSpPr>
          <p:cNvPr id="625" name="Google Shape;625;p10"/>
          <p:cNvSpPr/>
          <p:nvPr/>
        </p:nvSpPr>
        <p:spPr>
          <a:xfrm>
            <a:off x="7978597" y="2895717"/>
            <a:ext cx="1077694" cy="18742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33">
                <a:solidFill>
                  <a:srgbClr val="F8FAFC"/>
                </a:solidFill>
                <a:latin typeface="Arial"/>
                <a:ea typeface="Arial"/>
                <a:cs typeface="Arial"/>
                <a:sym typeface="Arial"/>
              </a:rPr>
              <a:t>GPS &amp; Bản đồ</a:t>
            </a:r>
            <a:endParaRPr sz="1600">
              <a:solidFill>
                <a:schemeClr val="dk1"/>
              </a:solidFill>
              <a:latin typeface="Calibri"/>
              <a:ea typeface="Calibri"/>
              <a:cs typeface="Calibri"/>
              <a:sym typeface="Calibri"/>
            </a:endParaRPr>
          </a:p>
        </p:txBody>
      </p:sp>
      <p:sp>
        <p:nvSpPr>
          <p:cNvPr id="626" name="Google Shape;626;p10"/>
          <p:cNvSpPr/>
          <p:nvPr/>
        </p:nvSpPr>
        <p:spPr>
          <a:xfrm>
            <a:off x="7978597" y="3120627"/>
            <a:ext cx="1068323" cy="140569"/>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85">
                <a:solidFill>
                  <a:srgbClr val="94A3B8"/>
                </a:solidFill>
                <a:latin typeface="Arial"/>
                <a:ea typeface="Arial"/>
                <a:cs typeface="Arial"/>
                <a:sym typeface="Arial"/>
              </a:rPr>
              <a:t>Định vị &amp; chỉ đường</a:t>
            </a:r>
            <a:endParaRPr sz="1600">
              <a:solidFill>
                <a:schemeClr val="dk1"/>
              </a:solidFill>
              <a:latin typeface="Calibri"/>
              <a:ea typeface="Calibri"/>
              <a:cs typeface="Calibri"/>
              <a:sym typeface="Calibri"/>
            </a:endParaRPr>
          </a:p>
        </p:txBody>
      </p:sp>
      <p:sp>
        <p:nvSpPr>
          <p:cNvPr id="627" name="Google Shape;627;p10"/>
          <p:cNvSpPr/>
          <p:nvPr/>
        </p:nvSpPr>
        <p:spPr>
          <a:xfrm>
            <a:off x="7491292" y="3383022"/>
            <a:ext cx="374850" cy="374850"/>
          </a:xfrm>
          <a:custGeom>
            <a:rect b="b" l="l" r="r" t="t"/>
            <a:pathLst>
              <a:path extrusionOk="0" h="374850" w="374850">
                <a:moveTo>
                  <a:pt x="187425" y="0"/>
                </a:moveTo>
                <a:lnTo>
                  <a:pt x="187425" y="0"/>
                </a:lnTo>
                <a:cubicBezTo>
                  <a:pt x="290868" y="0"/>
                  <a:pt x="374850" y="83982"/>
                  <a:pt x="374850" y="187425"/>
                </a:cubicBezTo>
                <a:lnTo>
                  <a:pt x="374850" y="187425"/>
                </a:lnTo>
                <a:cubicBezTo>
                  <a:pt x="374850" y="290868"/>
                  <a:pt x="290868" y="374850"/>
                  <a:pt x="187425" y="374850"/>
                </a:cubicBezTo>
                <a:lnTo>
                  <a:pt x="187425" y="374850"/>
                </a:lnTo>
                <a:cubicBezTo>
                  <a:pt x="83982" y="374850"/>
                  <a:pt x="0" y="290868"/>
                  <a:pt x="0" y="187425"/>
                </a:cubicBezTo>
                <a:lnTo>
                  <a:pt x="0" y="187425"/>
                </a:lnTo>
                <a:cubicBezTo>
                  <a:pt x="0" y="83982"/>
                  <a:pt x="83982" y="0"/>
                  <a:pt x="187425" y="0"/>
                </a:cubicBezTo>
                <a:close/>
              </a:path>
            </a:pathLst>
          </a:custGeom>
          <a:solidFill>
            <a:srgbClr val="06B6D4">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0"/>
          <p:cNvSpPr/>
          <p:nvPr/>
        </p:nvSpPr>
        <p:spPr>
          <a:xfrm>
            <a:off x="7585444" y="3476735"/>
            <a:ext cx="253024" cy="18742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33">
                <a:solidFill>
                  <a:srgbClr val="06B6D4"/>
                </a:solidFill>
                <a:latin typeface="Arial"/>
                <a:ea typeface="Arial"/>
                <a:cs typeface="Arial"/>
                <a:sym typeface="Arial"/>
              </a:rPr>
              <a:t>Q4</a:t>
            </a:r>
            <a:endParaRPr sz="1600">
              <a:solidFill>
                <a:schemeClr val="dk1"/>
              </a:solidFill>
              <a:latin typeface="Calibri"/>
              <a:ea typeface="Calibri"/>
              <a:cs typeface="Calibri"/>
              <a:sym typeface="Calibri"/>
            </a:endParaRPr>
          </a:p>
        </p:txBody>
      </p:sp>
      <p:sp>
        <p:nvSpPr>
          <p:cNvPr id="629" name="Google Shape;629;p10"/>
          <p:cNvSpPr/>
          <p:nvPr/>
        </p:nvSpPr>
        <p:spPr>
          <a:xfrm>
            <a:off x="7978597" y="3383022"/>
            <a:ext cx="1274490" cy="18742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033">
                <a:solidFill>
                  <a:srgbClr val="F8FAFC"/>
                </a:solidFill>
                <a:latin typeface="Arial"/>
                <a:ea typeface="Arial"/>
                <a:cs typeface="Arial"/>
                <a:sym typeface="Arial"/>
              </a:rPr>
              <a:t>Mở rộng toàn quốc</a:t>
            </a:r>
            <a:endParaRPr sz="1600">
              <a:solidFill>
                <a:schemeClr val="dk1"/>
              </a:solidFill>
              <a:latin typeface="Calibri"/>
              <a:ea typeface="Calibri"/>
              <a:cs typeface="Calibri"/>
              <a:sym typeface="Calibri"/>
            </a:endParaRPr>
          </a:p>
        </p:txBody>
      </p:sp>
      <p:sp>
        <p:nvSpPr>
          <p:cNvPr id="630" name="Google Shape;630;p10"/>
          <p:cNvSpPr/>
          <p:nvPr/>
        </p:nvSpPr>
        <p:spPr>
          <a:xfrm>
            <a:off x="7978597" y="3607932"/>
            <a:ext cx="1265119" cy="140569"/>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lang="en-US" sz="885">
                <a:solidFill>
                  <a:srgbClr val="94A3B8"/>
                </a:solidFill>
                <a:latin typeface="Arial"/>
                <a:ea typeface="Arial"/>
                <a:cs typeface="Arial"/>
                <a:sym typeface="Arial"/>
              </a:rPr>
              <a:t>Multilingual support</a:t>
            </a:r>
            <a:endParaRPr sz="1600">
              <a:solidFill>
                <a:schemeClr val="dk1"/>
              </a:solidFill>
              <a:latin typeface="Calibri"/>
              <a:ea typeface="Calibri"/>
              <a:cs typeface="Calibri"/>
              <a:sym typeface="Calibri"/>
            </a:endParaRPr>
          </a:p>
        </p:txBody>
      </p:sp>
      <p:sp>
        <p:nvSpPr>
          <p:cNvPr id="631" name="Google Shape;631;p10"/>
          <p:cNvSpPr/>
          <p:nvPr/>
        </p:nvSpPr>
        <p:spPr>
          <a:xfrm>
            <a:off x="7336666" y="4451345"/>
            <a:ext cx="4479459" cy="1808652"/>
          </a:xfrm>
          <a:custGeom>
            <a:rect b="b" l="l" r="r" t="t"/>
            <a:pathLst>
              <a:path extrusionOk="0" h="1808652" w="4479459">
                <a:moveTo>
                  <a:pt x="112462" y="0"/>
                </a:moveTo>
                <a:lnTo>
                  <a:pt x="4366997" y="0"/>
                </a:lnTo>
                <a:cubicBezTo>
                  <a:pt x="4429066" y="0"/>
                  <a:pt x="4479459" y="50393"/>
                  <a:pt x="4479459" y="112462"/>
                </a:cubicBezTo>
                <a:lnTo>
                  <a:pt x="4479459" y="1696190"/>
                </a:lnTo>
                <a:cubicBezTo>
                  <a:pt x="4479459" y="1758259"/>
                  <a:pt x="4429066" y="1808652"/>
                  <a:pt x="4366997" y="1808652"/>
                </a:cubicBezTo>
                <a:lnTo>
                  <a:pt x="112462" y="1808652"/>
                </a:lnTo>
                <a:cubicBezTo>
                  <a:pt x="50393" y="1808652"/>
                  <a:pt x="0" y="1758259"/>
                  <a:pt x="0" y="1696190"/>
                </a:cubicBezTo>
                <a:lnTo>
                  <a:pt x="0" y="112462"/>
                </a:lnTo>
                <a:cubicBezTo>
                  <a:pt x="0" y="50393"/>
                  <a:pt x="50393" y="0"/>
                  <a:pt x="112462" y="0"/>
                </a:cubicBezTo>
                <a:close/>
              </a:path>
            </a:pathLst>
          </a:custGeom>
          <a:gradFill>
            <a:gsLst>
              <a:gs pos="0">
                <a:srgbClr val="14B8A6">
                  <a:alpha val="20000"/>
                </a:srgbClr>
              </a:gs>
              <a:gs pos="100000">
                <a:srgbClr val="14B8A6">
                  <a:alpha val="4705"/>
                </a:srgbClr>
              </a:gs>
            </a:gsLst>
            <a:lin ang="2700000" scaled="0"/>
          </a:gradFill>
          <a:ln cap="flat" cmpd="sng" w="12700">
            <a:solidFill>
              <a:srgbClr val="14B8A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0"/>
          <p:cNvSpPr/>
          <p:nvPr/>
        </p:nvSpPr>
        <p:spPr>
          <a:xfrm>
            <a:off x="7514720" y="4652827"/>
            <a:ext cx="168683" cy="168683"/>
          </a:xfrm>
          <a:custGeom>
            <a:rect b="b" l="l" r="r" t="t"/>
            <a:pathLst>
              <a:path extrusionOk="0" h="168683" w="168683">
                <a:moveTo>
                  <a:pt x="147597" y="84341"/>
                </a:moveTo>
                <a:cubicBezTo>
                  <a:pt x="147597" y="49429"/>
                  <a:pt x="119253" y="21085"/>
                  <a:pt x="84341" y="21085"/>
                </a:cubicBezTo>
                <a:cubicBezTo>
                  <a:pt x="49429" y="21085"/>
                  <a:pt x="21085" y="49429"/>
                  <a:pt x="21085" y="84341"/>
                </a:cubicBezTo>
                <a:cubicBezTo>
                  <a:pt x="21085" y="119253"/>
                  <a:pt x="49429" y="147597"/>
                  <a:pt x="84341" y="147597"/>
                </a:cubicBezTo>
                <a:cubicBezTo>
                  <a:pt x="119253" y="147597"/>
                  <a:pt x="147597" y="119253"/>
                  <a:pt x="147597" y="84341"/>
                </a:cubicBezTo>
                <a:close/>
                <a:moveTo>
                  <a:pt x="0" y="84341"/>
                </a:moveTo>
                <a:cubicBezTo>
                  <a:pt x="0" y="37792"/>
                  <a:pt x="37792" y="0"/>
                  <a:pt x="84341" y="0"/>
                </a:cubicBezTo>
                <a:cubicBezTo>
                  <a:pt x="130890" y="0"/>
                  <a:pt x="168683" y="37792"/>
                  <a:pt x="168683" y="84341"/>
                </a:cubicBezTo>
                <a:cubicBezTo>
                  <a:pt x="168683" y="130890"/>
                  <a:pt x="130890" y="168683"/>
                  <a:pt x="84341" y="168683"/>
                </a:cubicBezTo>
                <a:cubicBezTo>
                  <a:pt x="37792" y="168683"/>
                  <a:pt x="0" y="130890"/>
                  <a:pt x="0" y="84341"/>
                </a:cubicBezTo>
                <a:close/>
                <a:moveTo>
                  <a:pt x="84341" y="110698"/>
                </a:moveTo>
                <a:cubicBezTo>
                  <a:pt x="98888" y="110698"/>
                  <a:pt x="110698" y="98888"/>
                  <a:pt x="110698" y="84341"/>
                </a:cubicBezTo>
                <a:cubicBezTo>
                  <a:pt x="110698" y="69795"/>
                  <a:pt x="98888" y="57985"/>
                  <a:pt x="84341" y="57985"/>
                </a:cubicBezTo>
                <a:cubicBezTo>
                  <a:pt x="69795" y="57985"/>
                  <a:pt x="57985" y="69795"/>
                  <a:pt x="57985" y="84341"/>
                </a:cubicBezTo>
                <a:cubicBezTo>
                  <a:pt x="57985" y="98888"/>
                  <a:pt x="69795" y="110698"/>
                  <a:pt x="84341" y="110698"/>
                </a:cubicBezTo>
                <a:close/>
                <a:moveTo>
                  <a:pt x="84341" y="36899"/>
                </a:moveTo>
                <a:cubicBezTo>
                  <a:pt x="110525" y="36899"/>
                  <a:pt x="131783" y="58157"/>
                  <a:pt x="131783" y="84341"/>
                </a:cubicBezTo>
                <a:cubicBezTo>
                  <a:pt x="131783" y="110525"/>
                  <a:pt x="110525" y="131783"/>
                  <a:pt x="84341" y="131783"/>
                </a:cubicBezTo>
                <a:cubicBezTo>
                  <a:pt x="58157" y="131783"/>
                  <a:pt x="36899" y="110525"/>
                  <a:pt x="36899" y="84341"/>
                </a:cubicBezTo>
                <a:cubicBezTo>
                  <a:pt x="36899" y="58157"/>
                  <a:pt x="58157" y="36899"/>
                  <a:pt x="84341" y="36899"/>
                </a:cubicBezTo>
                <a:close/>
                <a:moveTo>
                  <a:pt x="73799" y="84341"/>
                </a:moveTo>
                <a:cubicBezTo>
                  <a:pt x="73799" y="78523"/>
                  <a:pt x="78523" y="73799"/>
                  <a:pt x="84341" y="73799"/>
                </a:cubicBezTo>
                <a:cubicBezTo>
                  <a:pt x="90160" y="73799"/>
                  <a:pt x="94884" y="78523"/>
                  <a:pt x="94884" y="84341"/>
                </a:cubicBezTo>
                <a:cubicBezTo>
                  <a:pt x="94884" y="90160"/>
                  <a:pt x="90160" y="94884"/>
                  <a:pt x="84341" y="94884"/>
                </a:cubicBezTo>
                <a:cubicBezTo>
                  <a:pt x="78523" y="94884"/>
                  <a:pt x="73799" y="90160"/>
                  <a:pt x="73799" y="84341"/>
                </a:cubicBezTo>
                <a:close/>
              </a:path>
            </a:pathLst>
          </a:cu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0"/>
          <p:cNvSpPr/>
          <p:nvPr/>
        </p:nvSpPr>
        <p:spPr>
          <a:xfrm>
            <a:off x="7706831" y="4605970"/>
            <a:ext cx="4038900" cy="262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28">
                <a:solidFill>
                  <a:srgbClr val="F8FAFC"/>
                </a:solidFill>
                <a:latin typeface="Arial"/>
                <a:ea typeface="Arial"/>
                <a:cs typeface="Arial"/>
                <a:sym typeface="Arial"/>
              </a:rPr>
              <a:t>Mục tiêu dài hạn</a:t>
            </a:r>
            <a:endParaRPr sz="1600">
              <a:solidFill>
                <a:schemeClr val="dk1"/>
              </a:solidFill>
              <a:latin typeface="Calibri"/>
              <a:ea typeface="Calibri"/>
              <a:cs typeface="Calibri"/>
              <a:sym typeface="Calibri"/>
            </a:endParaRPr>
          </a:p>
        </p:txBody>
      </p:sp>
      <p:sp>
        <p:nvSpPr>
          <p:cNvPr id="634" name="Google Shape;634;p10"/>
          <p:cNvSpPr/>
          <p:nvPr/>
        </p:nvSpPr>
        <p:spPr>
          <a:xfrm>
            <a:off x="7510034" y="5018305"/>
            <a:ext cx="149940" cy="149940"/>
          </a:xfrm>
          <a:custGeom>
            <a:rect b="b" l="l" r="r" t="t"/>
            <a:pathLst>
              <a:path extrusionOk="0" h="149940" w="149940">
                <a:moveTo>
                  <a:pt x="74970" y="149940"/>
                </a:moveTo>
                <a:cubicBezTo>
                  <a:pt x="116347" y="149940"/>
                  <a:pt x="149940" y="116347"/>
                  <a:pt x="149940" y="74970"/>
                </a:cubicBezTo>
                <a:cubicBezTo>
                  <a:pt x="149940" y="33593"/>
                  <a:pt x="116347" y="0"/>
                  <a:pt x="74970" y="0"/>
                </a:cubicBezTo>
                <a:cubicBezTo>
                  <a:pt x="33593" y="0"/>
                  <a:pt x="0" y="33593"/>
                  <a:pt x="0" y="74970"/>
                </a:cubicBezTo>
                <a:cubicBezTo>
                  <a:pt x="0" y="116347"/>
                  <a:pt x="33593" y="149940"/>
                  <a:pt x="74970" y="149940"/>
                </a:cubicBezTo>
                <a:close/>
                <a:moveTo>
                  <a:pt x="99687" y="62290"/>
                </a:moveTo>
                <a:lnTo>
                  <a:pt x="76259" y="99775"/>
                </a:lnTo>
                <a:cubicBezTo>
                  <a:pt x="75029" y="101737"/>
                  <a:pt x="72920" y="102967"/>
                  <a:pt x="70607" y="103084"/>
                </a:cubicBezTo>
                <a:cubicBezTo>
                  <a:pt x="68293" y="103201"/>
                  <a:pt x="66067" y="102147"/>
                  <a:pt x="64691" y="100272"/>
                </a:cubicBezTo>
                <a:lnTo>
                  <a:pt x="50634" y="81530"/>
                </a:lnTo>
                <a:cubicBezTo>
                  <a:pt x="48291" y="78426"/>
                  <a:pt x="48936" y="74033"/>
                  <a:pt x="52040" y="71690"/>
                </a:cubicBezTo>
                <a:cubicBezTo>
                  <a:pt x="55144" y="69347"/>
                  <a:pt x="59537" y="69992"/>
                  <a:pt x="61880" y="73096"/>
                </a:cubicBezTo>
                <a:lnTo>
                  <a:pt x="69787" y="83638"/>
                </a:lnTo>
                <a:lnTo>
                  <a:pt x="87768" y="54851"/>
                </a:lnTo>
                <a:cubicBezTo>
                  <a:pt x="89818" y="51571"/>
                  <a:pt x="94152" y="50546"/>
                  <a:pt x="97461" y="52625"/>
                </a:cubicBezTo>
                <a:cubicBezTo>
                  <a:pt x="100770" y="54705"/>
                  <a:pt x="101766" y="59010"/>
                  <a:pt x="99687" y="62319"/>
                </a:cubicBezTo>
                <a:close/>
              </a:path>
            </a:pathLst>
          </a:cu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0"/>
          <p:cNvSpPr/>
          <p:nvPr/>
        </p:nvSpPr>
        <p:spPr>
          <a:xfrm>
            <a:off x="7791172" y="4980820"/>
            <a:ext cx="2211600" cy="225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181">
                <a:solidFill>
                  <a:srgbClr val="94A3B8"/>
                </a:solidFill>
                <a:latin typeface="Arial"/>
                <a:ea typeface="Arial"/>
                <a:cs typeface="Arial"/>
                <a:sym typeface="Arial"/>
              </a:rPr>
              <a:t>Trở thành trợ lý điện ảnh #1 VN</a:t>
            </a:r>
            <a:endParaRPr sz="1600">
              <a:solidFill>
                <a:schemeClr val="dk1"/>
              </a:solidFill>
              <a:latin typeface="Calibri"/>
              <a:ea typeface="Calibri"/>
              <a:cs typeface="Calibri"/>
              <a:sym typeface="Calibri"/>
            </a:endParaRPr>
          </a:p>
        </p:txBody>
      </p:sp>
      <p:sp>
        <p:nvSpPr>
          <p:cNvPr id="636" name="Google Shape;636;p10"/>
          <p:cNvSpPr/>
          <p:nvPr/>
        </p:nvSpPr>
        <p:spPr>
          <a:xfrm>
            <a:off x="7510034" y="5318186"/>
            <a:ext cx="149940" cy="149940"/>
          </a:xfrm>
          <a:custGeom>
            <a:rect b="b" l="l" r="r" t="t"/>
            <a:pathLst>
              <a:path extrusionOk="0" h="149940" w="149940">
                <a:moveTo>
                  <a:pt x="74970" y="149940"/>
                </a:moveTo>
                <a:cubicBezTo>
                  <a:pt x="116347" y="149940"/>
                  <a:pt x="149940" y="116347"/>
                  <a:pt x="149940" y="74970"/>
                </a:cubicBezTo>
                <a:cubicBezTo>
                  <a:pt x="149940" y="33593"/>
                  <a:pt x="116347" y="0"/>
                  <a:pt x="74970" y="0"/>
                </a:cubicBezTo>
                <a:cubicBezTo>
                  <a:pt x="33593" y="0"/>
                  <a:pt x="0" y="33593"/>
                  <a:pt x="0" y="74970"/>
                </a:cubicBezTo>
                <a:cubicBezTo>
                  <a:pt x="0" y="116347"/>
                  <a:pt x="33593" y="149940"/>
                  <a:pt x="74970" y="149940"/>
                </a:cubicBezTo>
                <a:close/>
                <a:moveTo>
                  <a:pt x="99687" y="62290"/>
                </a:moveTo>
                <a:lnTo>
                  <a:pt x="76259" y="99775"/>
                </a:lnTo>
                <a:cubicBezTo>
                  <a:pt x="75029" y="101737"/>
                  <a:pt x="72920" y="102967"/>
                  <a:pt x="70607" y="103084"/>
                </a:cubicBezTo>
                <a:cubicBezTo>
                  <a:pt x="68293" y="103201"/>
                  <a:pt x="66067" y="102147"/>
                  <a:pt x="64691" y="100272"/>
                </a:cubicBezTo>
                <a:lnTo>
                  <a:pt x="50634" y="81530"/>
                </a:lnTo>
                <a:cubicBezTo>
                  <a:pt x="48291" y="78426"/>
                  <a:pt x="48936" y="74033"/>
                  <a:pt x="52040" y="71690"/>
                </a:cubicBezTo>
                <a:cubicBezTo>
                  <a:pt x="55144" y="69347"/>
                  <a:pt x="59537" y="69992"/>
                  <a:pt x="61880" y="73096"/>
                </a:cubicBezTo>
                <a:lnTo>
                  <a:pt x="69787" y="83638"/>
                </a:lnTo>
                <a:lnTo>
                  <a:pt x="87768" y="54851"/>
                </a:lnTo>
                <a:cubicBezTo>
                  <a:pt x="89818" y="51571"/>
                  <a:pt x="94152" y="50546"/>
                  <a:pt x="97461" y="52625"/>
                </a:cubicBezTo>
                <a:cubicBezTo>
                  <a:pt x="100770" y="54705"/>
                  <a:pt x="101766" y="59010"/>
                  <a:pt x="99687" y="62319"/>
                </a:cubicBezTo>
                <a:close/>
              </a:path>
            </a:pathLst>
          </a:cu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0"/>
          <p:cNvSpPr/>
          <p:nvPr/>
        </p:nvSpPr>
        <p:spPr>
          <a:xfrm>
            <a:off x="7791172" y="5280701"/>
            <a:ext cx="2061600" cy="225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181">
                <a:solidFill>
                  <a:srgbClr val="94A3B8"/>
                </a:solidFill>
                <a:latin typeface="Arial"/>
                <a:ea typeface="Arial"/>
                <a:cs typeface="Arial"/>
                <a:sym typeface="Arial"/>
              </a:rPr>
              <a:t>Hỗ trợ đa nền tảng (Zalo, FB)</a:t>
            </a:r>
            <a:endParaRPr sz="1600">
              <a:solidFill>
                <a:schemeClr val="dk1"/>
              </a:solidFill>
              <a:latin typeface="Calibri"/>
              <a:ea typeface="Calibri"/>
              <a:cs typeface="Calibri"/>
              <a:sym typeface="Calibri"/>
            </a:endParaRPr>
          </a:p>
        </p:txBody>
      </p:sp>
      <p:sp>
        <p:nvSpPr>
          <p:cNvPr id="638" name="Google Shape;638;p10"/>
          <p:cNvSpPr/>
          <p:nvPr/>
        </p:nvSpPr>
        <p:spPr>
          <a:xfrm>
            <a:off x="7510034" y="5618066"/>
            <a:ext cx="149940" cy="149940"/>
          </a:xfrm>
          <a:custGeom>
            <a:rect b="b" l="l" r="r" t="t"/>
            <a:pathLst>
              <a:path extrusionOk="0" h="149940" w="149940">
                <a:moveTo>
                  <a:pt x="74970" y="149940"/>
                </a:moveTo>
                <a:cubicBezTo>
                  <a:pt x="116347" y="149940"/>
                  <a:pt x="149940" y="116347"/>
                  <a:pt x="149940" y="74970"/>
                </a:cubicBezTo>
                <a:cubicBezTo>
                  <a:pt x="149940" y="33593"/>
                  <a:pt x="116347" y="0"/>
                  <a:pt x="74970" y="0"/>
                </a:cubicBezTo>
                <a:cubicBezTo>
                  <a:pt x="33593" y="0"/>
                  <a:pt x="0" y="33593"/>
                  <a:pt x="0" y="74970"/>
                </a:cubicBezTo>
                <a:cubicBezTo>
                  <a:pt x="0" y="116347"/>
                  <a:pt x="33593" y="149940"/>
                  <a:pt x="74970" y="149940"/>
                </a:cubicBezTo>
                <a:close/>
                <a:moveTo>
                  <a:pt x="99687" y="62290"/>
                </a:moveTo>
                <a:lnTo>
                  <a:pt x="76259" y="99775"/>
                </a:lnTo>
                <a:cubicBezTo>
                  <a:pt x="75029" y="101737"/>
                  <a:pt x="72920" y="102967"/>
                  <a:pt x="70607" y="103084"/>
                </a:cubicBezTo>
                <a:cubicBezTo>
                  <a:pt x="68293" y="103201"/>
                  <a:pt x="66067" y="102147"/>
                  <a:pt x="64691" y="100272"/>
                </a:cubicBezTo>
                <a:lnTo>
                  <a:pt x="50634" y="81530"/>
                </a:lnTo>
                <a:cubicBezTo>
                  <a:pt x="48291" y="78426"/>
                  <a:pt x="48936" y="74033"/>
                  <a:pt x="52040" y="71690"/>
                </a:cubicBezTo>
                <a:cubicBezTo>
                  <a:pt x="55144" y="69347"/>
                  <a:pt x="59537" y="69992"/>
                  <a:pt x="61880" y="73096"/>
                </a:cubicBezTo>
                <a:lnTo>
                  <a:pt x="69787" y="83638"/>
                </a:lnTo>
                <a:lnTo>
                  <a:pt x="87768" y="54851"/>
                </a:lnTo>
                <a:cubicBezTo>
                  <a:pt x="89818" y="51571"/>
                  <a:pt x="94152" y="50546"/>
                  <a:pt x="97461" y="52625"/>
                </a:cubicBezTo>
                <a:cubicBezTo>
                  <a:pt x="100770" y="54705"/>
                  <a:pt x="101766" y="59010"/>
                  <a:pt x="99687" y="62319"/>
                </a:cubicBezTo>
                <a:close/>
              </a:path>
            </a:pathLst>
          </a:cu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0"/>
          <p:cNvSpPr/>
          <p:nvPr/>
        </p:nvSpPr>
        <p:spPr>
          <a:xfrm>
            <a:off x="7791172" y="5580581"/>
            <a:ext cx="1752300" cy="225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181">
                <a:solidFill>
                  <a:srgbClr val="94A3B8"/>
                </a:solidFill>
                <a:latin typeface="Arial"/>
                <a:ea typeface="Arial"/>
                <a:cs typeface="Arial"/>
                <a:sym typeface="Arial"/>
              </a:rPr>
              <a:t>Tích hợp review &amp; rating</a:t>
            </a:r>
            <a:endParaRPr sz="1600">
              <a:solidFill>
                <a:schemeClr val="dk1"/>
              </a:solidFill>
              <a:latin typeface="Calibri"/>
              <a:ea typeface="Calibri"/>
              <a:cs typeface="Calibri"/>
              <a:sym typeface="Calibri"/>
            </a:endParaRPr>
          </a:p>
        </p:txBody>
      </p:sp>
      <p:sp>
        <p:nvSpPr>
          <p:cNvPr id="640" name="Google Shape;640;p10"/>
          <p:cNvSpPr/>
          <p:nvPr/>
        </p:nvSpPr>
        <p:spPr>
          <a:xfrm>
            <a:off x="7510034" y="5917946"/>
            <a:ext cx="149940" cy="149940"/>
          </a:xfrm>
          <a:custGeom>
            <a:rect b="b" l="l" r="r" t="t"/>
            <a:pathLst>
              <a:path extrusionOk="0" h="149940" w="149940">
                <a:moveTo>
                  <a:pt x="74970" y="149940"/>
                </a:moveTo>
                <a:cubicBezTo>
                  <a:pt x="116347" y="149940"/>
                  <a:pt x="149940" y="116347"/>
                  <a:pt x="149940" y="74970"/>
                </a:cubicBezTo>
                <a:cubicBezTo>
                  <a:pt x="149940" y="33593"/>
                  <a:pt x="116347" y="0"/>
                  <a:pt x="74970" y="0"/>
                </a:cubicBezTo>
                <a:cubicBezTo>
                  <a:pt x="33593" y="0"/>
                  <a:pt x="0" y="33593"/>
                  <a:pt x="0" y="74970"/>
                </a:cubicBezTo>
                <a:cubicBezTo>
                  <a:pt x="0" y="116347"/>
                  <a:pt x="33593" y="149940"/>
                  <a:pt x="74970" y="149940"/>
                </a:cubicBezTo>
                <a:close/>
                <a:moveTo>
                  <a:pt x="99687" y="62290"/>
                </a:moveTo>
                <a:lnTo>
                  <a:pt x="76259" y="99775"/>
                </a:lnTo>
                <a:cubicBezTo>
                  <a:pt x="75029" y="101737"/>
                  <a:pt x="72920" y="102967"/>
                  <a:pt x="70607" y="103084"/>
                </a:cubicBezTo>
                <a:cubicBezTo>
                  <a:pt x="68293" y="103201"/>
                  <a:pt x="66067" y="102147"/>
                  <a:pt x="64691" y="100272"/>
                </a:cubicBezTo>
                <a:lnTo>
                  <a:pt x="50634" y="81530"/>
                </a:lnTo>
                <a:cubicBezTo>
                  <a:pt x="48291" y="78426"/>
                  <a:pt x="48936" y="74033"/>
                  <a:pt x="52040" y="71690"/>
                </a:cubicBezTo>
                <a:cubicBezTo>
                  <a:pt x="55144" y="69347"/>
                  <a:pt x="59537" y="69992"/>
                  <a:pt x="61880" y="73096"/>
                </a:cubicBezTo>
                <a:lnTo>
                  <a:pt x="69787" y="83638"/>
                </a:lnTo>
                <a:lnTo>
                  <a:pt x="87768" y="54851"/>
                </a:lnTo>
                <a:cubicBezTo>
                  <a:pt x="89818" y="51571"/>
                  <a:pt x="94152" y="50546"/>
                  <a:pt x="97461" y="52625"/>
                </a:cubicBezTo>
                <a:cubicBezTo>
                  <a:pt x="100770" y="54705"/>
                  <a:pt x="101766" y="59010"/>
                  <a:pt x="99687" y="62319"/>
                </a:cubicBezTo>
                <a:close/>
              </a:path>
            </a:pathLst>
          </a:custGeom>
          <a:solidFill>
            <a:srgbClr val="14B8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0"/>
          <p:cNvSpPr/>
          <p:nvPr/>
        </p:nvSpPr>
        <p:spPr>
          <a:xfrm>
            <a:off x="7791172" y="5880461"/>
            <a:ext cx="1949100" cy="225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181">
                <a:solidFill>
                  <a:srgbClr val="94A3B8"/>
                </a:solidFill>
                <a:latin typeface="Arial"/>
                <a:ea typeface="Arial"/>
                <a:cs typeface="Arial"/>
                <a:sym typeface="Arial"/>
              </a:rPr>
              <a:t>Cộng đồng người dùng lớn</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646" name="Shape 646"/>
        <p:cNvGrpSpPr/>
        <p:nvPr/>
      </p:nvGrpSpPr>
      <p:grpSpPr>
        <a:xfrm>
          <a:off x="0" y="0"/>
          <a:ext cx="0" cy="0"/>
          <a:chOff x="0" y="0"/>
          <a:chExt cx="0" cy="0"/>
        </a:xfrm>
      </p:grpSpPr>
      <p:pic>
        <p:nvPicPr>
          <p:cNvPr descr="https://kimi-web-img.moonshot.cn/img/n.sinaimg.cn/e8ad899e1caacc966bc817f31fe48fa2ffddbae7.jpg" id="647" name="Google Shape;647;p11"/>
          <p:cNvPicPr preferRelativeResize="0"/>
          <p:nvPr/>
        </p:nvPicPr>
        <p:blipFill rotWithShape="1">
          <a:blip r:embed="rId3">
            <a:alphaModFix amt="20000"/>
          </a:blip>
          <a:srcRect b="0" l="5723" r="5722" t="0"/>
          <a:stretch/>
        </p:blipFill>
        <p:spPr>
          <a:xfrm>
            <a:off x="0" y="0"/>
            <a:ext cx="12192000" cy="6858000"/>
          </a:xfrm>
          <a:prstGeom prst="roundRect">
            <a:avLst>
              <a:gd fmla="val 0" name="adj"/>
            </a:avLst>
          </a:prstGeom>
          <a:noFill/>
          <a:ln>
            <a:noFill/>
          </a:ln>
        </p:spPr>
      </p:pic>
      <p:sp>
        <p:nvSpPr>
          <p:cNvPr id="648" name="Google Shape;648;p11"/>
          <p:cNvSpPr/>
          <p:nvPr/>
        </p:nvSpPr>
        <p:spPr>
          <a:xfrm>
            <a:off x="3684" y="0"/>
            <a:ext cx="12192000" cy="6858000"/>
          </a:xfrm>
          <a:custGeom>
            <a:rect b="b" l="l" r="r" t="t"/>
            <a:pathLst>
              <a:path extrusionOk="0" h="6858000" w="12192000">
                <a:moveTo>
                  <a:pt x="0" y="0"/>
                </a:moveTo>
                <a:lnTo>
                  <a:pt x="12192000" y="0"/>
                </a:lnTo>
                <a:lnTo>
                  <a:pt x="12192000" y="6858000"/>
                </a:lnTo>
                <a:lnTo>
                  <a:pt x="0" y="6858000"/>
                </a:lnTo>
                <a:lnTo>
                  <a:pt x="0" y="0"/>
                </a:lnTo>
                <a:close/>
              </a:path>
            </a:pathLst>
          </a:custGeom>
          <a:gradFill>
            <a:gsLst>
              <a:gs pos="0">
                <a:srgbClr val="0F172A">
                  <a:alpha val="94901"/>
                </a:srgbClr>
              </a:gs>
              <a:gs pos="50000">
                <a:srgbClr val="1E293B">
                  <a:alpha val="89803"/>
                </a:srgbClr>
              </a:gs>
              <a:gs pos="100000">
                <a:srgbClr val="3B82F6">
                  <a:alpha val="40000"/>
                </a:srgbClr>
              </a:gs>
            </a:gsLst>
            <a:lin ang="2700000" scaled="0"/>
          </a:gradFill>
          <a:ln>
            <a:noFill/>
          </a:ln>
        </p:spPr>
      </p:sp>
      <p:sp>
        <p:nvSpPr>
          <p:cNvPr id="649" name="Google Shape;649;p11"/>
          <p:cNvSpPr/>
          <p:nvPr/>
        </p:nvSpPr>
        <p:spPr>
          <a:xfrm>
            <a:off x="4702522" y="1257300"/>
            <a:ext cx="2790825" cy="504825"/>
          </a:xfrm>
          <a:custGeom>
            <a:rect b="b" l="l" r="r" t="t"/>
            <a:pathLst>
              <a:path extrusionOk="0" h="504825" w="2790825">
                <a:moveTo>
                  <a:pt x="252413" y="0"/>
                </a:moveTo>
                <a:lnTo>
                  <a:pt x="2538413" y="0"/>
                </a:lnTo>
                <a:cubicBezTo>
                  <a:pt x="2677723" y="0"/>
                  <a:pt x="2790825" y="113102"/>
                  <a:pt x="2790825" y="252413"/>
                </a:cubicBezTo>
                <a:lnTo>
                  <a:pt x="2790825" y="252413"/>
                </a:lnTo>
                <a:cubicBezTo>
                  <a:pt x="2790825" y="391723"/>
                  <a:pt x="2677723" y="504825"/>
                  <a:pt x="2538413" y="504825"/>
                </a:cubicBezTo>
                <a:lnTo>
                  <a:pt x="252413" y="504825"/>
                </a:lnTo>
                <a:cubicBezTo>
                  <a:pt x="113102" y="504825"/>
                  <a:pt x="0" y="391723"/>
                  <a:pt x="0" y="252413"/>
                </a:cubicBezTo>
                <a:lnTo>
                  <a:pt x="0" y="252413"/>
                </a:lnTo>
                <a:cubicBezTo>
                  <a:pt x="0" y="113102"/>
                  <a:pt x="113102" y="0"/>
                  <a:pt x="252412" y="0"/>
                </a:cubicBezTo>
                <a:close/>
              </a:path>
            </a:pathLst>
          </a:custGeom>
          <a:solidFill>
            <a:srgbClr val="3B82F6">
              <a:alpha val="20000"/>
            </a:srgbClr>
          </a:solidFill>
          <a:ln cap="flat" cmpd="sng" w="12700">
            <a:solidFill>
              <a:srgbClr val="3B82F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1"/>
          <p:cNvSpPr/>
          <p:nvPr/>
        </p:nvSpPr>
        <p:spPr>
          <a:xfrm>
            <a:off x="4935885" y="1414463"/>
            <a:ext cx="238125" cy="190500"/>
          </a:xfrm>
          <a:custGeom>
            <a:rect b="b" l="l" r="r" t="t"/>
            <a:pathLst>
              <a:path extrusionOk="0" h="190500" w="238125">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06B6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1"/>
          <p:cNvSpPr/>
          <p:nvPr/>
        </p:nvSpPr>
        <p:spPr>
          <a:xfrm>
            <a:off x="5245447" y="1376363"/>
            <a:ext cx="2057400"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350">
                <a:solidFill>
                  <a:srgbClr val="06B6D4"/>
                </a:solidFill>
                <a:latin typeface="Arial"/>
                <a:ea typeface="Arial"/>
                <a:cs typeface="Arial"/>
                <a:sym typeface="Arial"/>
              </a:rPr>
              <a:t>CHATBOT TELEGRAM</a:t>
            </a:r>
            <a:endParaRPr sz="1600">
              <a:solidFill>
                <a:schemeClr val="dk1"/>
              </a:solidFill>
              <a:latin typeface="Calibri"/>
              <a:ea typeface="Calibri"/>
              <a:cs typeface="Calibri"/>
              <a:sym typeface="Calibri"/>
            </a:endParaRPr>
          </a:p>
        </p:txBody>
      </p:sp>
      <p:sp>
        <p:nvSpPr>
          <p:cNvPr id="652" name="Google Shape;652;p11"/>
          <p:cNvSpPr/>
          <p:nvPr/>
        </p:nvSpPr>
        <p:spPr>
          <a:xfrm>
            <a:off x="2508647" y="2224088"/>
            <a:ext cx="7172325" cy="571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3600">
                <a:solidFill>
                  <a:srgbClr val="F8FAFC"/>
                </a:solidFill>
                <a:latin typeface="Arial"/>
                <a:ea typeface="Arial"/>
                <a:cs typeface="Arial"/>
                <a:sym typeface="Arial"/>
              </a:rPr>
              <a:t>Cảm ơn thầy và các bạn</a:t>
            </a:r>
            <a:endParaRPr sz="1600">
              <a:solidFill>
                <a:schemeClr val="dk1"/>
              </a:solidFill>
              <a:latin typeface="Calibri"/>
              <a:ea typeface="Calibri"/>
              <a:cs typeface="Calibri"/>
              <a:sym typeface="Calibri"/>
            </a:endParaRPr>
          </a:p>
        </p:txBody>
      </p:sp>
      <p:sp>
        <p:nvSpPr>
          <p:cNvPr id="653" name="Google Shape;653;p11"/>
          <p:cNvSpPr/>
          <p:nvPr/>
        </p:nvSpPr>
        <p:spPr>
          <a:xfrm>
            <a:off x="2298502" y="2947988"/>
            <a:ext cx="7591425" cy="295275"/>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3B82F6"/>
                </a:solidFill>
                <a:latin typeface="Arial"/>
                <a:ea typeface="Arial"/>
                <a:cs typeface="Arial"/>
                <a:sym typeface="Arial"/>
              </a:rPr>
              <a:t>Chatbot Telegram - Giải pháp thông minh cho trải nghiệm điện ảnh</a:t>
            </a:r>
            <a:endParaRPr sz="1600">
              <a:solidFill>
                <a:schemeClr val="dk1"/>
              </a:solidFill>
              <a:latin typeface="Calibri"/>
              <a:ea typeface="Calibri"/>
              <a:cs typeface="Calibri"/>
              <a:sym typeface="Calibri"/>
            </a:endParaRPr>
          </a:p>
        </p:txBody>
      </p:sp>
      <p:sp>
        <p:nvSpPr>
          <p:cNvPr id="654" name="Google Shape;654;p11"/>
          <p:cNvSpPr/>
          <p:nvPr/>
        </p:nvSpPr>
        <p:spPr>
          <a:xfrm>
            <a:off x="3351907" y="3552825"/>
            <a:ext cx="1666875" cy="1285875"/>
          </a:xfrm>
          <a:custGeom>
            <a:rect b="b" l="l" r="r" t="t"/>
            <a:pathLst>
              <a:path extrusionOk="0" h="1285875" w="1666875">
                <a:moveTo>
                  <a:pt x="114301" y="0"/>
                </a:moveTo>
                <a:lnTo>
                  <a:pt x="1552574" y="0"/>
                </a:lnTo>
                <a:cubicBezTo>
                  <a:pt x="1615701" y="0"/>
                  <a:pt x="1666875" y="51174"/>
                  <a:pt x="1666875" y="114301"/>
                </a:cubicBezTo>
                <a:lnTo>
                  <a:pt x="1666875" y="1171574"/>
                </a:lnTo>
                <a:cubicBezTo>
                  <a:pt x="1666875" y="1234701"/>
                  <a:pt x="1615701" y="1285875"/>
                  <a:pt x="1552574" y="1285875"/>
                </a:cubicBezTo>
                <a:lnTo>
                  <a:pt x="114301" y="1285875"/>
                </a:lnTo>
                <a:cubicBezTo>
                  <a:pt x="51174" y="1285875"/>
                  <a:pt x="0" y="1234701"/>
                  <a:pt x="0" y="1171574"/>
                </a:cubicBezTo>
                <a:lnTo>
                  <a:pt x="0" y="114301"/>
                </a:lnTo>
                <a:cubicBezTo>
                  <a:pt x="0" y="51174"/>
                  <a:pt x="51174" y="0"/>
                  <a:pt x="114301" y="0"/>
                </a:cubicBezTo>
                <a:close/>
              </a:path>
            </a:pathLst>
          </a:custGeom>
          <a:gradFill>
            <a:gsLst>
              <a:gs pos="0">
                <a:srgbClr val="1E293B"/>
              </a:gs>
              <a:gs pos="100000">
                <a:srgbClr val="0F172A"/>
              </a:gs>
            </a:gsLst>
            <a:lin ang="2700000" scaled="0"/>
          </a:gradFill>
          <a:ln cap="flat" cmpd="sng" w="12700">
            <a:solidFill>
              <a:srgbClr val="3B82F6">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1"/>
          <p:cNvSpPr/>
          <p:nvPr/>
        </p:nvSpPr>
        <p:spPr>
          <a:xfrm>
            <a:off x="4064496" y="3748087"/>
            <a:ext cx="250031" cy="285750"/>
          </a:xfrm>
          <a:custGeom>
            <a:rect b="b" l="l" r="r" t="t"/>
            <a:pathLst>
              <a:path extrusionOk="0" h="285750" w="250031">
                <a:moveTo>
                  <a:pt x="189086" y="-5525"/>
                </a:moveTo>
                <a:cubicBezTo>
                  <a:pt x="195728" y="-726"/>
                  <a:pt x="198183" y="7981"/>
                  <a:pt x="195169" y="15571"/>
                </a:cubicBezTo>
                <a:lnTo>
                  <a:pt x="151414" y="125016"/>
                </a:lnTo>
                <a:lnTo>
                  <a:pt x="232172" y="125016"/>
                </a:lnTo>
                <a:cubicBezTo>
                  <a:pt x="239706" y="125016"/>
                  <a:pt x="246404" y="129704"/>
                  <a:pt x="248971" y="136792"/>
                </a:cubicBezTo>
                <a:cubicBezTo>
                  <a:pt x="251538" y="143880"/>
                  <a:pt x="249362" y="151805"/>
                  <a:pt x="243613" y="156604"/>
                </a:cubicBezTo>
                <a:lnTo>
                  <a:pt x="82879" y="290550"/>
                </a:lnTo>
                <a:cubicBezTo>
                  <a:pt x="76572" y="295796"/>
                  <a:pt x="67587" y="296075"/>
                  <a:pt x="60945" y="291275"/>
                </a:cubicBezTo>
                <a:cubicBezTo>
                  <a:pt x="54304" y="286476"/>
                  <a:pt x="51848" y="277769"/>
                  <a:pt x="54862" y="270179"/>
                </a:cubicBezTo>
                <a:lnTo>
                  <a:pt x="98617" y="160734"/>
                </a:lnTo>
                <a:lnTo>
                  <a:pt x="17859" y="160734"/>
                </a:lnTo>
                <a:cubicBezTo>
                  <a:pt x="10325" y="160734"/>
                  <a:pt x="3628" y="156046"/>
                  <a:pt x="1060" y="148958"/>
                </a:cubicBezTo>
                <a:cubicBezTo>
                  <a:pt x="-1507" y="141870"/>
                  <a:pt x="670" y="133945"/>
                  <a:pt x="6418" y="129146"/>
                </a:cubicBezTo>
                <a:lnTo>
                  <a:pt x="167153" y="-4800"/>
                </a:lnTo>
                <a:cubicBezTo>
                  <a:pt x="173459" y="-10046"/>
                  <a:pt x="182445" y="-10325"/>
                  <a:pt x="189086" y="-5525"/>
                </a:cubicBez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1"/>
          <p:cNvSpPr/>
          <p:nvPr/>
        </p:nvSpPr>
        <p:spPr>
          <a:xfrm>
            <a:off x="3504307" y="4148137"/>
            <a:ext cx="136207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350">
                <a:solidFill>
                  <a:srgbClr val="F8FAFC"/>
                </a:solidFill>
                <a:latin typeface="Arial"/>
                <a:ea typeface="Arial"/>
                <a:cs typeface="Arial"/>
                <a:sym typeface="Arial"/>
              </a:rPr>
              <a:t>Nhanh chóng</a:t>
            </a:r>
            <a:endParaRPr sz="1600">
              <a:solidFill>
                <a:schemeClr val="dk1"/>
              </a:solidFill>
              <a:latin typeface="Calibri"/>
              <a:ea typeface="Calibri"/>
              <a:cs typeface="Calibri"/>
              <a:sym typeface="Calibri"/>
            </a:endParaRPr>
          </a:p>
        </p:txBody>
      </p:sp>
      <p:sp>
        <p:nvSpPr>
          <p:cNvPr id="657" name="Google Shape;657;p11"/>
          <p:cNvSpPr/>
          <p:nvPr/>
        </p:nvSpPr>
        <p:spPr>
          <a:xfrm>
            <a:off x="3513832" y="4452938"/>
            <a:ext cx="1343025" cy="190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lang="en-US" sz="1050">
                <a:solidFill>
                  <a:srgbClr val="94A3B8"/>
                </a:solidFill>
                <a:latin typeface="Arial"/>
                <a:ea typeface="Arial"/>
                <a:cs typeface="Arial"/>
                <a:sym typeface="Arial"/>
              </a:rPr>
              <a:t>Tra cứu tức thời</a:t>
            </a:r>
            <a:endParaRPr sz="1600">
              <a:solidFill>
                <a:schemeClr val="dk1"/>
              </a:solidFill>
              <a:latin typeface="Calibri"/>
              <a:ea typeface="Calibri"/>
              <a:cs typeface="Calibri"/>
              <a:sym typeface="Calibri"/>
            </a:endParaRPr>
          </a:p>
        </p:txBody>
      </p:sp>
      <p:sp>
        <p:nvSpPr>
          <p:cNvPr id="658" name="Google Shape;658;p11"/>
          <p:cNvSpPr/>
          <p:nvPr/>
        </p:nvSpPr>
        <p:spPr>
          <a:xfrm>
            <a:off x="5260628" y="3552825"/>
            <a:ext cx="1666875" cy="1285875"/>
          </a:xfrm>
          <a:custGeom>
            <a:rect b="b" l="l" r="r" t="t"/>
            <a:pathLst>
              <a:path extrusionOk="0" h="1285875" w="1666875">
                <a:moveTo>
                  <a:pt x="114301" y="0"/>
                </a:moveTo>
                <a:lnTo>
                  <a:pt x="1552574" y="0"/>
                </a:lnTo>
                <a:cubicBezTo>
                  <a:pt x="1615701" y="0"/>
                  <a:pt x="1666875" y="51174"/>
                  <a:pt x="1666875" y="114301"/>
                </a:cubicBezTo>
                <a:lnTo>
                  <a:pt x="1666875" y="1171574"/>
                </a:lnTo>
                <a:cubicBezTo>
                  <a:pt x="1666875" y="1234701"/>
                  <a:pt x="1615701" y="1285875"/>
                  <a:pt x="1552574" y="1285875"/>
                </a:cubicBezTo>
                <a:lnTo>
                  <a:pt x="114301" y="1285875"/>
                </a:lnTo>
                <a:cubicBezTo>
                  <a:pt x="51174" y="1285875"/>
                  <a:pt x="0" y="1234701"/>
                  <a:pt x="0" y="1171574"/>
                </a:cubicBezTo>
                <a:lnTo>
                  <a:pt x="0" y="114301"/>
                </a:lnTo>
                <a:cubicBezTo>
                  <a:pt x="0" y="51174"/>
                  <a:pt x="51174" y="0"/>
                  <a:pt x="114301" y="0"/>
                </a:cubicBezTo>
                <a:close/>
              </a:path>
            </a:pathLst>
          </a:custGeom>
          <a:gradFill>
            <a:gsLst>
              <a:gs pos="0">
                <a:srgbClr val="1E293B"/>
              </a:gs>
              <a:gs pos="100000">
                <a:srgbClr val="0F172A"/>
              </a:gs>
            </a:gsLst>
            <a:lin ang="2700000" scaled="0"/>
          </a:gradFill>
          <a:ln cap="flat" cmpd="sng" w="12700">
            <a:solidFill>
              <a:srgbClr val="8B5CF6">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1"/>
          <p:cNvSpPr/>
          <p:nvPr/>
        </p:nvSpPr>
        <p:spPr>
          <a:xfrm>
            <a:off x="5955357" y="3748087"/>
            <a:ext cx="285750" cy="285750"/>
          </a:xfrm>
          <a:custGeom>
            <a:rect b="b" l="l" r="r" t="t"/>
            <a:pathLst>
              <a:path extrusionOk="0" h="285750" w="285750">
                <a:moveTo>
                  <a:pt x="66973" y="31254"/>
                </a:moveTo>
                <a:cubicBezTo>
                  <a:pt x="66973" y="14008"/>
                  <a:pt x="80981" y="0"/>
                  <a:pt x="98227" y="0"/>
                </a:cubicBezTo>
                <a:lnTo>
                  <a:pt x="111621" y="0"/>
                </a:lnTo>
                <a:cubicBezTo>
                  <a:pt x="121500" y="0"/>
                  <a:pt x="129480" y="7981"/>
                  <a:pt x="129480" y="17859"/>
                </a:cubicBezTo>
                <a:lnTo>
                  <a:pt x="129480" y="267891"/>
                </a:lnTo>
                <a:cubicBezTo>
                  <a:pt x="129480" y="277769"/>
                  <a:pt x="121500" y="285750"/>
                  <a:pt x="111621" y="285750"/>
                </a:cubicBezTo>
                <a:lnTo>
                  <a:pt x="93762" y="285750"/>
                </a:lnTo>
                <a:cubicBezTo>
                  <a:pt x="77130" y="285750"/>
                  <a:pt x="63122" y="274365"/>
                  <a:pt x="59159" y="258961"/>
                </a:cubicBezTo>
                <a:cubicBezTo>
                  <a:pt x="58769" y="258961"/>
                  <a:pt x="58434" y="258961"/>
                  <a:pt x="58043" y="258961"/>
                </a:cubicBezTo>
                <a:cubicBezTo>
                  <a:pt x="33375" y="258961"/>
                  <a:pt x="13395" y="238981"/>
                  <a:pt x="13395" y="214313"/>
                </a:cubicBezTo>
                <a:cubicBezTo>
                  <a:pt x="13395" y="204267"/>
                  <a:pt x="16743" y="195002"/>
                  <a:pt x="22324" y="187523"/>
                </a:cubicBezTo>
                <a:cubicBezTo>
                  <a:pt x="11497" y="179375"/>
                  <a:pt x="4465" y="166427"/>
                  <a:pt x="4465" y="151805"/>
                </a:cubicBezTo>
                <a:cubicBezTo>
                  <a:pt x="4465" y="134559"/>
                  <a:pt x="14288" y="119546"/>
                  <a:pt x="28575" y="112123"/>
                </a:cubicBezTo>
                <a:cubicBezTo>
                  <a:pt x="24612" y="105426"/>
                  <a:pt x="22324" y="97613"/>
                  <a:pt x="22324" y="89297"/>
                </a:cubicBezTo>
                <a:cubicBezTo>
                  <a:pt x="22324" y="64629"/>
                  <a:pt x="42304" y="44648"/>
                  <a:pt x="66973" y="44648"/>
                </a:cubicBezTo>
                <a:lnTo>
                  <a:pt x="66973" y="31254"/>
                </a:lnTo>
                <a:close/>
                <a:moveTo>
                  <a:pt x="218777" y="31254"/>
                </a:moveTo>
                <a:lnTo>
                  <a:pt x="218777" y="44648"/>
                </a:lnTo>
                <a:cubicBezTo>
                  <a:pt x="243446" y="44648"/>
                  <a:pt x="263426" y="64629"/>
                  <a:pt x="263426" y="89297"/>
                </a:cubicBezTo>
                <a:cubicBezTo>
                  <a:pt x="263426" y="97668"/>
                  <a:pt x="261138" y="105482"/>
                  <a:pt x="257175" y="112123"/>
                </a:cubicBezTo>
                <a:cubicBezTo>
                  <a:pt x="271518" y="119546"/>
                  <a:pt x="281285" y="134503"/>
                  <a:pt x="281285" y="151805"/>
                </a:cubicBezTo>
                <a:cubicBezTo>
                  <a:pt x="281285" y="166427"/>
                  <a:pt x="274253" y="179375"/>
                  <a:pt x="263426" y="187523"/>
                </a:cubicBezTo>
                <a:cubicBezTo>
                  <a:pt x="269007" y="195002"/>
                  <a:pt x="272355" y="204267"/>
                  <a:pt x="272355" y="214313"/>
                </a:cubicBezTo>
                <a:cubicBezTo>
                  <a:pt x="272355" y="238981"/>
                  <a:pt x="252375" y="258961"/>
                  <a:pt x="227707" y="258961"/>
                </a:cubicBezTo>
                <a:cubicBezTo>
                  <a:pt x="227316" y="258961"/>
                  <a:pt x="226981" y="258961"/>
                  <a:pt x="226591" y="258961"/>
                </a:cubicBezTo>
                <a:cubicBezTo>
                  <a:pt x="222628" y="274365"/>
                  <a:pt x="208620" y="285750"/>
                  <a:pt x="191988" y="285750"/>
                </a:cubicBezTo>
                <a:lnTo>
                  <a:pt x="174129" y="285750"/>
                </a:lnTo>
                <a:cubicBezTo>
                  <a:pt x="164250" y="285750"/>
                  <a:pt x="156270" y="277769"/>
                  <a:pt x="156270" y="267891"/>
                </a:cubicBezTo>
                <a:lnTo>
                  <a:pt x="156270" y="17859"/>
                </a:lnTo>
                <a:cubicBezTo>
                  <a:pt x="156270" y="7981"/>
                  <a:pt x="164250" y="0"/>
                  <a:pt x="174129" y="0"/>
                </a:cubicBezTo>
                <a:lnTo>
                  <a:pt x="187523" y="0"/>
                </a:lnTo>
                <a:cubicBezTo>
                  <a:pt x="204769" y="0"/>
                  <a:pt x="218777" y="14008"/>
                  <a:pt x="218777" y="31254"/>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1"/>
          <p:cNvSpPr/>
          <p:nvPr/>
        </p:nvSpPr>
        <p:spPr>
          <a:xfrm>
            <a:off x="5413028" y="4148137"/>
            <a:ext cx="136207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350">
                <a:solidFill>
                  <a:srgbClr val="F8FAFC"/>
                </a:solidFill>
                <a:latin typeface="Arial"/>
                <a:ea typeface="Arial"/>
                <a:cs typeface="Arial"/>
                <a:sym typeface="Arial"/>
              </a:rPr>
              <a:t>Thông minh</a:t>
            </a:r>
            <a:endParaRPr sz="1600">
              <a:solidFill>
                <a:schemeClr val="dk1"/>
              </a:solidFill>
              <a:latin typeface="Calibri"/>
              <a:ea typeface="Calibri"/>
              <a:cs typeface="Calibri"/>
              <a:sym typeface="Calibri"/>
            </a:endParaRPr>
          </a:p>
        </p:txBody>
      </p:sp>
      <p:sp>
        <p:nvSpPr>
          <p:cNvPr id="661" name="Google Shape;661;p11"/>
          <p:cNvSpPr/>
          <p:nvPr/>
        </p:nvSpPr>
        <p:spPr>
          <a:xfrm>
            <a:off x="5422553" y="4452938"/>
            <a:ext cx="1343025" cy="190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lang="en-US" sz="1050">
                <a:solidFill>
                  <a:srgbClr val="94A3B8"/>
                </a:solidFill>
                <a:latin typeface="Arial"/>
                <a:ea typeface="Arial"/>
                <a:cs typeface="Arial"/>
                <a:sym typeface="Arial"/>
              </a:rPr>
              <a:t>AI hiểu ngữ cảnh</a:t>
            </a:r>
            <a:endParaRPr sz="1600">
              <a:solidFill>
                <a:schemeClr val="dk1"/>
              </a:solidFill>
              <a:latin typeface="Calibri"/>
              <a:ea typeface="Calibri"/>
              <a:cs typeface="Calibri"/>
              <a:sym typeface="Calibri"/>
            </a:endParaRPr>
          </a:p>
        </p:txBody>
      </p:sp>
      <p:sp>
        <p:nvSpPr>
          <p:cNvPr id="662" name="Google Shape;662;p11"/>
          <p:cNvSpPr/>
          <p:nvPr/>
        </p:nvSpPr>
        <p:spPr>
          <a:xfrm>
            <a:off x="7169348" y="3552825"/>
            <a:ext cx="1666875" cy="1285875"/>
          </a:xfrm>
          <a:custGeom>
            <a:rect b="b" l="l" r="r" t="t"/>
            <a:pathLst>
              <a:path extrusionOk="0" h="1285875" w="1666875">
                <a:moveTo>
                  <a:pt x="114301" y="0"/>
                </a:moveTo>
                <a:lnTo>
                  <a:pt x="1552574" y="0"/>
                </a:lnTo>
                <a:cubicBezTo>
                  <a:pt x="1615701" y="0"/>
                  <a:pt x="1666875" y="51174"/>
                  <a:pt x="1666875" y="114301"/>
                </a:cubicBezTo>
                <a:lnTo>
                  <a:pt x="1666875" y="1171574"/>
                </a:lnTo>
                <a:cubicBezTo>
                  <a:pt x="1666875" y="1234701"/>
                  <a:pt x="1615701" y="1285875"/>
                  <a:pt x="1552574" y="1285875"/>
                </a:cubicBezTo>
                <a:lnTo>
                  <a:pt x="114301" y="1285875"/>
                </a:lnTo>
                <a:cubicBezTo>
                  <a:pt x="51174" y="1285875"/>
                  <a:pt x="0" y="1234701"/>
                  <a:pt x="0" y="1171574"/>
                </a:cubicBezTo>
                <a:lnTo>
                  <a:pt x="0" y="114301"/>
                </a:lnTo>
                <a:cubicBezTo>
                  <a:pt x="0" y="51174"/>
                  <a:pt x="51174" y="0"/>
                  <a:pt x="114301" y="0"/>
                </a:cubicBezTo>
                <a:close/>
              </a:path>
            </a:pathLst>
          </a:custGeom>
          <a:gradFill>
            <a:gsLst>
              <a:gs pos="0">
                <a:srgbClr val="1E293B"/>
              </a:gs>
              <a:gs pos="100000">
                <a:srgbClr val="0F172A"/>
              </a:gs>
            </a:gsLst>
            <a:lin ang="2700000" scaled="0"/>
          </a:gradFill>
          <a:ln cap="flat" cmpd="sng" w="12700">
            <a:solidFill>
              <a:srgbClr val="10B981">
                <a:alpha val="2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1"/>
          <p:cNvSpPr/>
          <p:nvPr/>
        </p:nvSpPr>
        <p:spPr>
          <a:xfrm>
            <a:off x="7899797" y="3748087"/>
            <a:ext cx="214313" cy="285750"/>
          </a:xfrm>
          <a:custGeom>
            <a:rect b="b" l="l" r="r" t="t"/>
            <a:pathLst>
              <a:path extrusionOk="0" h="285750" w="214313">
                <a:moveTo>
                  <a:pt x="8930" y="35719"/>
                </a:moveTo>
                <a:cubicBezTo>
                  <a:pt x="8930" y="16018"/>
                  <a:pt x="24947" y="0"/>
                  <a:pt x="44648" y="0"/>
                </a:cubicBezTo>
                <a:lnTo>
                  <a:pt x="169664" y="0"/>
                </a:lnTo>
                <a:cubicBezTo>
                  <a:pt x="189365" y="0"/>
                  <a:pt x="205383" y="16018"/>
                  <a:pt x="205383" y="35719"/>
                </a:cubicBezTo>
                <a:lnTo>
                  <a:pt x="205383" y="250031"/>
                </a:lnTo>
                <a:cubicBezTo>
                  <a:pt x="205383" y="269732"/>
                  <a:pt x="189365" y="285750"/>
                  <a:pt x="169664" y="285750"/>
                </a:cubicBezTo>
                <a:lnTo>
                  <a:pt x="44648" y="285750"/>
                </a:lnTo>
                <a:cubicBezTo>
                  <a:pt x="24947" y="285750"/>
                  <a:pt x="8930" y="269732"/>
                  <a:pt x="8930" y="250031"/>
                </a:cubicBezTo>
                <a:lnTo>
                  <a:pt x="8930" y="35719"/>
                </a:lnTo>
                <a:close/>
                <a:moveTo>
                  <a:pt x="44648" y="35719"/>
                </a:moveTo>
                <a:lnTo>
                  <a:pt x="44648" y="205383"/>
                </a:lnTo>
                <a:lnTo>
                  <a:pt x="169664" y="205383"/>
                </a:lnTo>
                <a:lnTo>
                  <a:pt x="169664" y="35719"/>
                </a:lnTo>
                <a:lnTo>
                  <a:pt x="44648" y="35719"/>
                </a:lnTo>
                <a:close/>
                <a:moveTo>
                  <a:pt x="107156" y="263426"/>
                </a:moveTo>
                <a:cubicBezTo>
                  <a:pt x="117035" y="263426"/>
                  <a:pt x="125016" y="255445"/>
                  <a:pt x="125016" y="245566"/>
                </a:cubicBezTo>
                <a:cubicBezTo>
                  <a:pt x="125016" y="235688"/>
                  <a:pt x="117035" y="227707"/>
                  <a:pt x="107156" y="227707"/>
                </a:cubicBezTo>
                <a:cubicBezTo>
                  <a:pt x="97278" y="227707"/>
                  <a:pt x="89297" y="235688"/>
                  <a:pt x="89297" y="245566"/>
                </a:cubicBezTo>
                <a:cubicBezTo>
                  <a:pt x="89297" y="255445"/>
                  <a:pt x="97278" y="263426"/>
                  <a:pt x="107156" y="263426"/>
                </a:cubicBez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1"/>
          <p:cNvSpPr/>
          <p:nvPr/>
        </p:nvSpPr>
        <p:spPr>
          <a:xfrm>
            <a:off x="7321748" y="4148137"/>
            <a:ext cx="136207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lang="en-US" sz="1350">
                <a:solidFill>
                  <a:srgbClr val="F8FAFC"/>
                </a:solidFill>
                <a:latin typeface="Arial"/>
                <a:ea typeface="Arial"/>
                <a:cs typeface="Arial"/>
                <a:sym typeface="Arial"/>
              </a:rPr>
              <a:t>Tiện lợi</a:t>
            </a:r>
            <a:endParaRPr sz="1600">
              <a:solidFill>
                <a:schemeClr val="dk1"/>
              </a:solidFill>
              <a:latin typeface="Calibri"/>
              <a:ea typeface="Calibri"/>
              <a:cs typeface="Calibri"/>
              <a:sym typeface="Calibri"/>
            </a:endParaRPr>
          </a:p>
        </p:txBody>
      </p:sp>
      <p:sp>
        <p:nvSpPr>
          <p:cNvPr id="665" name="Google Shape;665;p11"/>
          <p:cNvSpPr/>
          <p:nvPr/>
        </p:nvSpPr>
        <p:spPr>
          <a:xfrm>
            <a:off x="7331273" y="4452938"/>
            <a:ext cx="1343025" cy="1905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lang="en-US" sz="1050">
                <a:solidFill>
                  <a:srgbClr val="94A3B8"/>
                </a:solidFill>
                <a:latin typeface="Arial"/>
                <a:ea typeface="Arial"/>
                <a:cs typeface="Arial"/>
                <a:sym typeface="Arial"/>
              </a:rPr>
              <a:t>Ngay trong Telegram</a:t>
            </a:r>
            <a:endParaRPr sz="1600">
              <a:solidFill>
                <a:schemeClr val="dk1"/>
              </a:solidFill>
              <a:latin typeface="Calibri"/>
              <a:ea typeface="Calibri"/>
              <a:cs typeface="Calibri"/>
              <a:sym typeface="Calibri"/>
            </a:endParaRPr>
          </a:p>
        </p:txBody>
      </p:sp>
      <p:sp>
        <p:nvSpPr>
          <p:cNvPr id="666" name="Google Shape;666;p11"/>
          <p:cNvSpPr/>
          <p:nvPr/>
        </p:nvSpPr>
        <p:spPr>
          <a:xfrm>
            <a:off x="3433316" y="5148263"/>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B82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1"/>
          <p:cNvSpPr/>
          <p:nvPr/>
        </p:nvSpPr>
        <p:spPr>
          <a:xfrm>
            <a:off x="3578572" y="5281613"/>
            <a:ext cx="166688" cy="190500"/>
          </a:xfrm>
          <a:custGeom>
            <a:rect b="b" l="l" r="r" t="t"/>
            <a:pathLst>
              <a:path extrusionOk="0" h="190500" w="166688">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1"/>
          <p:cNvSpPr/>
          <p:nvPr/>
        </p:nvSpPr>
        <p:spPr>
          <a:xfrm>
            <a:off x="3961954" y="5243513"/>
            <a:ext cx="48577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350">
                <a:solidFill>
                  <a:srgbClr val="94A3B8"/>
                </a:solidFill>
                <a:latin typeface="Arial"/>
                <a:ea typeface="Arial"/>
                <a:cs typeface="Arial"/>
                <a:sym typeface="Arial"/>
              </a:rPr>
              <a:t>2025</a:t>
            </a:r>
            <a:endParaRPr sz="1600">
              <a:solidFill>
                <a:schemeClr val="dk1"/>
              </a:solidFill>
              <a:latin typeface="Calibri"/>
              <a:ea typeface="Calibri"/>
              <a:cs typeface="Calibri"/>
              <a:sym typeface="Calibri"/>
            </a:endParaRPr>
          </a:p>
        </p:txBody>
      </p:sp>
      <p:sp>
        <p:nvSpPr>
          <p:cNvPr id="669" name="Google Shape;669;p11"/>
          <p:cNvSpPr/>
          <p:nvPr/>
        </p:nvSpPr>
        <p:spPr>
          <a:xfrm>
            <a:off x="4712196" y="5186363"/>
            <a:ext cx="9525" cy="381000"/>
          </a:xfrm>
          <a:custGeom>
            <a:rect b="b" l="l" r="r" t="t"/>
            <a:pathLst>
              <a:path extrusionOk="0" h="381000" w="9525">
                <a:moveTo>
                  <a:pt x="0" y="0"/>
                </a:moveTo>
                <a:lnTo>
                  <a:pt x="9525" y="0"/>
                </a:lnTo>
                <a:lnTo>
                  <a:pt x="9525" y="381000"/>
                </a:lnTo>
                <a:lnTo>
                  <a:pt x="0" y="381000"/>
                </a:lnTo>
                <a:lnTo>
                  <a:pt x="0" y="0"/>
                </a:lnTo>
                <a:close/>
              </a:path>
            </a:pathLst>
          </a:custGeom>
          <a:solidFill>
            <a:srgbClr val="3B82F6">
              <a:alpha val="29803"/>
            </a:srgbClr>
          </a:solidFill>
          <a:ln>
            <a:noFill/>
          </a:ln>
        </p:spPr>
      </p:sp>
      <p:sp>
        <p:nvSpPr>
          <p:cNvPr id="670" name="Google Shape;670;p11"/>
          <p:cNvSpPr/>
          <p:nvPr/>
        </p:nvSpPr>
        <p:spPr>
          <a:xfrm>
            <a:off x="5026521" y="5148263"/>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5CF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1"/>
          <p:cNvSpPr/>
          <p:nvPr/>
        </p:nvSpPr>
        <p:spPr>
          <a:xfrm>
            <a:off x="5183684" y="5281613"/>
            <a:ext cx="142875" cy="190500"/>
          </a:xfrm>
          <a:custGeom>
            <a:rect b="b" l="l" r="r" t="t"/>
            <a:pathLst>
              <a:path extrusionOk="0" h="190500" w="142875">
                <a:moveTo>
                  <a:pt x="0" y="70172"/>
                </a:moveTo>
                <a:cubicBezTo>
                  <a:pt x="0" y="31403"/>
                  <a:pt x="31998" y="0"/>
                  <a:pt x="71438" y="0"/>
                </a:cubicBezTo>
                <a:cubicBezTo>
                  <a:pt x="110877" y="0"/>
                  <a:pt x="142875" y="31403"/>
                  <a:pt x="142875" y="70172"/>
                </a:cubicBezTo>
                <a:cubicBezTo>
                  <a:pt x="142875" y="114560"/>
                  <a:pt x="98152" y="167767"/>
                  <a:pt x="79474" y="188044"/>
                </a:cubicBezTo>
                <a:cubicBezTo>
                  <a:pt x="75084" y="192807"/>
                  <a:pt x="67754" y="192807"/>
                  <a:pt x="63364" y="188044"/>
                </a:cubicBezTo>
                <a:cubicBezTo>
                  <a:pt x="44686" y="167767"/>
                  <a:pt x="-37" y="114560"/>
                  <a:pt x="-37" y="70172"/>
                </a:cubicBezTo>
                <a:close/>
                <a:moveTo>
                  <a:pt x="71438" y="95250"/>
                </a:moveTo>
                <a:cubicBezTo>
                  <a:pt x="84580" y="95250"/>
                  <a:pt x="95250" y="84580"/>
                  <a:pt x="95250" y="71438"/>
                </a:cubicBezTo>
                <a:cubicBezTo>
                  <a:pt x="95250" y="58295"/>
                  <a:pt x="84580" y="47625"/>
                  <a:pt x="71438" y="47625"/>
                </a:cubicBezTo>
                <a:cubicBezTo>
                  <a:pt x="58295" y="47625"/>
                  <a:pt x="47625" y="58295"/>
                  <a:pt x="47625" y="71438"/>
                </a:cubicBezTo>
                <a:cubicBezTo>
                  <a:pt x="47625" y="84580"/>
                  <a:pt x="58295" y="95250"/>
                  <a:pt x="71438" y="95250"/>
                </a:cubicBezTo>
                <a:close/>
              </a:path>
            </a:pathLst>
          </a:cu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1"/>
          <p:cNvSpPr/>
          <p:nvPr/>
        </p:nvSpPr>
        <p:spPr>
          <a:xfrm>
            <a:off x="5555159" y="5243513"/>
            <a:ext cx="73342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350">
                <a:solidFill>
                  <a:srgbClr val="94A3B8"/>
                </a:solidFill>
                <a:latin typeface="Arial"/>
                <a:ea typeface="Arial"/>
                <a:cs typeface="Arial"/>
                <a:sym typeface="Arial"/>
              </a:rPr>
              <a:t>TP.HCM</a:t>
            </a:r>
            <a:endParaRPr sz="1600">
              <a:solidFill>
                <a:schemeClr val="dk1"/>
              </a:solidFill>
              <a:latin typeface="Calibri"/>
              <a:ea typeface="Calibri"/>
              <a:cs typeface="Calibri"/>
              <a:sym typeface="Calibri"/>
            </a:endParaRPr>
          </a:p>
        </p:txBody>
      </p:sp>
      <p:sp>
        <p:nvSpPr>
          <p:cNvPr id="673" name="Google Shape;673;p11"/>
          <p:cNvSpPr/>
          <p:nvPr/>
        </p:nvSpPr>
        <p:spPr>
          <a:xfrm>
            <a:off x="6547842" y="5186363"/>
            <a:ext cx="9525" cy="381000"/>
          </a:xfrm>
          <a:custGeom>
            <a:rect b="b" l="l" r="r" t="t"/>
            <a:pathLst>
              <a:path extrusionOk="0" h="381000" w="9525">
                <a:moveTo>
                  <a:pt x="0" y="0"/>
                </a:moveTo>
                <a:lnTo>
                  <a:pt x="9525" y="0"/>
                </a:lnTo>
                <a:lnTo>
                  <a:pt x="9525" y="381000"/>
                </a:lnTo>
                <a:lnTo>
                  <a:pt x="0" y="381000"/>
                </a:lnTo>
                <a:lnTo>
                  <a:pt x="0" y="0"/>
                </a:lnTo>
                <a:close/>
              </a:path>
            </a:pathLst>
          </a:custGeom>
          <a:solidFill>
            <a:srgbClr val="3B82F6">
              <a:alpha val="29803"/>
            </a:srgbClr>
          </a:solidFill>
          <a:ln>
            <a:noFill/>
          </a:ln>
        </p:spPr>
      </p:sp>
      <p:sp>
        <p:nvSpPr>
          <p:cNvPr id="674" name="Google Shape;674;p11"/>
          <p:cNvSpPr/>
          <p:nvPr/>
        </p:nvSpPr>
        <p:spPr>
          <a:xfrm>
            <a:off x="6862167" y="5148263"/>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0B981">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1"/>
          <p:cNvSpPr/>
          <p:nvPr/>
        </p:nvSpPr>
        <p:spPr>
          <a:xfrm>
            <a:off x="6983611" y="5281613"/>
            <a:ext cx="214313" cy="190500"/>
          </a:xfrm>
          <a:custGeom>
            <a:rect b="b" l="l" r="r" t="t"/>
            <a:pathLst>
              <a:path extrusionOk="0" h="190500" w="214313">
                <a:moveTo>
                  <a:pt x="17859" y="72851"/>
                </a:moveTo>
                <a:lnTo>
                  <a:pt x="95696" y="104887"/>
                </a:lnTo>
                <a:cubicBezTo>
                  <a:pt x="99343" y="106375"/>
                  <a:pt x="103212" y="107156"/>
                  <a:pt x="107156" y="107156"/>
                </a:cubicBezTo>
                <a:cubicBezTo>
                  <a:pt x="111100" y="107156"/>
                  <a:pt x="114970" y="106375"/>
                  <a:pt x="118616" y="104887"/>
                </a:cubicBezTo>
                <a:lnTo>
                  <a:pt x="208806" y="67754"/>
                </a:lnTo>
                <a:cubicBezTo>
                  <a:pt x="212154" y="66377"/>
                  <a:pt x="214313" y="63140"/>
                  <a:pt x="214313" y="59531"/>
                </a:cubicBezTo>
                <a:cubicBezTo>
                  <a:pt x="214313" y="55922"/>
                  <a:pt x="212154" y="52685"/>
                  <a:pt x="208806" y="51308"/>
                </a:cubicBezTo>
                <a:lnTo>
                  <a:pt x="118616" y="14176"/>
                </a:lnTo>
                <a:cubicBezTo>
                  <a:pt x="114970" y="12688"/>
                  <a:pt x="111100" y="11906"/>
                  <a:pt x="107156" y="11906"/>
                </a:cubicBezTo>
                <a:cubicBezTo>
                  <a:pt x="103212" y="11906"/>
                  <a:pt x="99343" y="12688"/>
                  <a:pt x="95696" y="14176"/>
                </a:cubicBezTo>
                <a:lnTo>
                  <a:pt x="5507" y="51308"/>
                </a:lnTo>
                <a:cubicBezTo>
                  <a:pt x="2158" y="52685"/>
                  <a:pt x="0" y="55922"/>
                  <a:pt x="0" y="59531"/>
                </a:cubicBezTo>
                <a:lnTo>
                  <a:pt x="0" y="169664"/>
                </a:lnTo>
                <a:cubicBezTo>
                  <a:pt x="0" y="174613"/>
                  <a:pt x="3981" y="178594"/>
                  <a:pt x="8930" y="178594"/>
                </a:cubicBezTo>
                <a:cubicBezTo>
                  <a:pt x="13878" y="178594"/>
                  <a:pt x="17859" y="174613"/>
                  <a:pt x="17859" y="169664"/>
                </a:cubicBezTo>
                <a:lnTo>
                  <a:pt x="17859" y="72851"/>
                </a:lnTo>
                <a:close/>
                <a:moveTo>
                  <a:pt x="35719" y="99529"/>
                </a:moveTo>
                <a:lnTo>
                  <a:pt x="35719" y="142875"/>
                </a:lnTo>
                <a:cubicBezTo>
                  <a:pt x="35719" y="162595"/>
                  <a:pt x="67717" y="178594"/>
                  <a:pt x="107156" y="178594"/>
                </a:cubicBezTo>
                <a:cubicBezTo>
                  <a:pt x="146596" y="178594"/>
                  <a:pt x="178594" y="162595"/>
                  <a:pt x="178594" y="142875"/>
                </a:cubicBezTo>
                <a:lnTo>
                  <a:pt x="178594" y="99492"/>
                </a:lnTo>
                <a:lnTo>
                  <a:pt x="125425" y="121407"/>
                </a:lnTo>
                <a:cubicBezTo>
                  <a:pt x="119621" y="123788"/>
                  <a:pt x="113444" y="125016"/>
                  <a:pt x="107156" y="125016"/>
                </a:cubicBezTo>
                <a:cubicBezTo>
                  <a:pt x="100868" y="125016"/>
                  <a:pt x="94692" y="123788"/>
                  <a:pt x="88888" y="121407"/>
                </a:cubicBezTo>
                <a:lnTo>
                  <a:pt x="35719" y="99492"/>
                </a:lnTo>
                <a:close/>
              </a:path>
            </a:pathLst>
          </a:cu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1"/>
          <p:cNvSpPr/>
          <p:nvPr/>
        </p:nvSpPr>
        <p:spPr>
          <a:xfrm>
            <a:off x="7390804" y="5243513"/>
            <a:ext cx="166687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350">
                <a:solidFill>
                  <a:srgbClr val="94A3B8"/>
                </a:solidFill>
                <a:latin typeface="Arial"/>
                <a:ea typeface="Arial"/>
                <a:cs typeface="Arial"/>
                <a:sym typeface="Arial"/>
              </a:rPr>
              <a:t>BÁO CÁO BÀI TẬP</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2026-02-05T14:05:05Z</dcterms:created>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{"Label":"Chatbot Telegram Tích hợp n8n - Tra cứu Phim và Rạp Chiếu","ContentProducer":"001191110108MACG2KBH8F10000","ProduceID":"19c2e1e0-f4c2-804c-8000-000006a51b7a","ReservedCode1":"","ContentPropagator":"001191110108MACG2KBH8F20000","PropagateID":"19c2e1e0-f4c2-804c-8000-000006a51b7a","ReservedCode2":""}</vt:lpwstr>
  </property>
</Properties>
</file>