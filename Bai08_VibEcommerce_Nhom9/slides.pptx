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Poppins"/>
      <p:regular r:id="rId26"/>
      <p:bold r:id="rId27"/>
      <p:italic r:id="rId28"/>
      <p:boldItalic r:id="rId29"/>
    </p:embeddedFont>
    <p:embeddedFont>
      <p:font typeface="Lato"/>
      <p:regular r:id="rId30"/>
      <p:bold r:id="rId31"/>
      <p:italic r:id="rId32"/>
      <p:boldItalic r:id="rId33"/>
    </p:embeddedFont>
    <p:embeddedFont>
      <p:font typeface="Fira Sans Extra Condensed Medium"/>
      <p:regular r:id="rId34"/>
      <p:bold r:id="rId35"/>
      <p:italic r:id="rId36"/>
      <p:boldItalic r:id="rId37"/>
    </p:embeddedFont>
    <p:embeddedFont>
      <p:font typeface="Fira Sans Extra Condense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Rm9sfTf8JnJpUzfrijgV5JCvG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FiraSansExtraCondensed-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FiraSansExtraCondensed-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regular.fntdata"/><Relationship Id="rId25" Type="http://schemas.openxmlformats.org/officeDocument/2006/relationships/slide" Target="slides/slide21.xml"/><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7.xml"/><Relationship Id="rId33" Type="http://schemas.openxmlformats.org/officeDocument/2006/relationships/font" Target="fonts/Lato-boldItalic.fntdata"/><Relationship Id="rId10" Type="http://schemas.openxmlformats.org/officeDocument/2006/relationships/slide" Target="slides/slide6.xml"/><Relationship Id="rId32" Type="http://schemas.openxmlformats.org/officeDocument/2006/relationships/font" Target="fonts/Lato-italic.fntdata"/><Relationship Id="rId13" Type="http://schemas.openxmlformats.org/officeDocument/2006/relationships/slide" Target="slides/slide9.xml"/><Relationship Id="rId35" Type="http://schemas.openxmlformats.org/officeDocument/2006/relationships/font" Target="fonts/FiraSansExtraCondensedMedium-bold.fntdata"/><Relationship Id="rId12" Type="http://schemas.openxmlformats.org/officeDocument/2006/relationships/slide" Target="slides/slide8.xml"/><Relationship Id="rId34" Type="http://schemas.openxmlformats.org/officeDocument/2006/relationships/font" Target="fonts/FiraSansExtraCondensedMedium-regular.fntdata"/><Relationship Id="rId15" Type="http://schemas.openxmlformats.org/officeDocument/2006/relationships/slide" Target="slides/slide11.xml"/><Relationship Id="rId37" Type="http://schemas.openxmlformats.org/officeDocument/2006/relationships/font" Target="fonts/FiraSansExtraCondensedMedium-boldItalic.fntdata"/><Relationship Id="rId14" Type="http://schemas.openxmlformats.org/officeDocument/2006/relationships/slide" Target="slides/slide10.xml"/><Relationship Id="rId36" Type="http://schemas.openxmlformats.org/officeDocument/2006/relationships/font" Target="fonts/FiraSansExtraCondensedMedium-italic.fntdata"/><Relationship Id="rId17" Type="http://schemas.openxmlformats.org/officeDocument/2006/relationships/slide" Target="slides/slide13.xml"/><Relationship Id="rId39" Type="http://schemas.openxmlformats.org/officeDocument/2006/relationships/font" Target="fonts/FiraSansExtraCondensed-bold.fntdata"/><Relationship Id="rId16" Type="http://schemas.openxmlformats.org/officeDocument/2006/relationships/slide" Target="slides/slide12.xml"/><Relationship Id="rId38" Type="http://schemas.openxmlformats.org/officeDocument/2006/relationships/font" Target="fonts/FiraSansExtraCondensed-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e1a43aa0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3de1a43aa05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e19b8b1e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3de19b8b1e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e1a43aa0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de1a43aa05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e1a43aa0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de1a43aa0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e1a43aa0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de1a43aa05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e1a43aa0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de1a43aa05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1a43aa0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de1a43aa05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e1a43aa05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de1a43aa05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e1a43aa0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de1a43aa05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e1a43aa0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3de1a43aa05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b6a83bb94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g38b6a83bb94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b6a83bb94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8b6a83bb94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b6a83bb94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8b6a83bb94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b6a83bb94_0_1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8b6a83bb94_0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b6a83bb94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8b6a83bb94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b6a83bb94_0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8b6a83bb94_0_2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b6a83bb94_0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8b6a83bb94_0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b6a83bb94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8b6a83bb94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b6a83bb94_0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38b6a83bb94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b6a83bb94_0_4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g38b6a83bb94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Timeline Infographics" type="title">
  <p:cSld name="TITLE">
    <p:spTree>
      <p:nvGrpSpPr>
        <p:cNvPr id="9" name="Shape 9"/>
        <p:cNvGrpSpPr/>
        <p:nvPr/>
      </p:nvGrpSpPr>
      <p:grpSpPr>
        <a:xfrm>
          <a:off x="0" y="0"/>
          <a:ext cx="0" cy="0"/>
          <a:chOff x="0" y="0"/>
          <a:chExt cx="0" cy="0"/>
        </a:xfrm>
      </p:grpSpPr>
      <p:sp>
        <p:nvSpPr>
          <p:cNvPr id="10" name="Google Shape;10;p35"/>
          <p:cNvSpPr txBox="1"/>
          <p:nvPr>
            <p:ph type="ctrTitle"/>
          </p:nvPr>
        </p:nvSpPr>
        <p:spPr>
          <a:xfrm>
            <a:off x="414900" y="457200"/>
            <a:ext cx="4615500" cy="2453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200">
                <a:solidFill>
                  <a:schemeClr val="accent4"/>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5"/>
          <p:cNvSpPr txBox="1"/>
          <p:nvPr>
            <p:ph idx="1" type="subTitle"/>
          </p:nvPr>
        </p:nvSpPr>
        <p:spPr>
          <a:xfrm>
            <a:off x="414900" y="2947325"/>
            <a:ext cx="4013700" cy="1213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2800">
                <a:solidFill>
                  <a:srgbClr val="B7B7B7"/>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36"/>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a:lvl1pPr>
            <a:lvl2pPr lvl="1" algn="ctr">
              <a:lnSpc>
                <a:spcPct val="100000"/>
              </a:lnSpc>
              <a:spcBef>
                <a:spcPts val="0"/>
              </a:spcBef>
              <a:spcAft>
                <a:spcPts val="0"/>
              </a:spcAft>
              <a:buClr>
                <a:schemeClr val="accent4"/>
              </a:buClr>
              <a:buSzPts val="2800"/>
              <a:buNone/>
              <a:defRPr>
                <a:solidFill>
                  <a:schemeClr val="accent4"/>
                </a:solidFill>
              </a:defRPr>
            </a:lvl2pPr>
            <a:lvl3pPr lvl="2" algn="ctr">
              <a:lnSpc>
                <a:spcPct val="100000"/>
              </a:lnSpc>
              <a:spcBef>
                <a:spcPts val="0"/>
              </a:spcBef>
              <a:spcAft>
                <a:spcPts val="0"/>
              </a:spcAft>
              <a:buClr>
                <a:schemeClr val="accent4"/>
              </a:buClr>
              <a:buSzPts val="2800"/>
              <a:buNone/>
              <a:defRPr>
                <a:solidFill>
                  <a:schemeClr val="accent4"/>
                </a:solidFill>
              </a:defRPr>
            </a:lvl3pPr>
            <a:lvl4pPr lvl="3" algn="ctr">
              <a:lnSpc>
                <a:spcPct val="100000"/>
              </a:lnSpc>
              <a:spcBef>
                <a:spcPts val="0"/>
              </a:spcBef>
              <a:spcAft>
                <a:spcPts val="0"/>
              </a:spcAft>
              <a:buClr>
                <a:schemeClr val="accent4"/>
              </a:buClr>
              <a:buSzPts val="2800"/>
              <a:buNone/>
              <a:defRPr>
                <a:solidFill>
                  <a:schemeClr val="accent4"/>
                </a:solidFill>
              </a:defRPr>
            </a:lvl4pPr>
            <a:lvl5pPr lvl="4" algn="ctr">
              <a:lnSpc>
                <a:spcPct val="100000"/>
              </a:lnSpc>
              <a:spcBef>
                <a:spcPts val="0"/>
              </a:spcBef>
              <a:spcAft>
                <a:spcPts val="0"/>
              </a:spcAft>
              <a:buClr>
                <a:schemeClr val="accent4"/>
              </a:buClr>
              <a:buSzPts val="2800"/>
              <a:buNone/>
              <a:defRPr>
                <a:solidFill>
                  <a:schemeClr val="accent4"/>
                </a:solidFill>
              </a:defRPr>
            </a:lvl5pPr>
            <a:lvl6pPr lvl="5" algn="ctr">
              <a:lnSpc>
                <a:spcPct val="100000"/>
              </a:lnSpc>
              <a:spcBef>
                <a:spcPts val="0"/>
              </a:spcBef>
              <a:spcAft>
                <a:spcPts val="0"/>
              </a:spcAft>
              <a:buClr>
                <a:schemeClr val="accent4"/>
              </a:buClr>
              <a:buSzPts val="2800"/>
              <a:buNone/>
              <a:defRPr>
                <a:solidFill>
                  <a:schemeClr val="accent4"/>
                </a:solidFill>
              </a:defRPr>
            </a:lvl6pPr>
            <a:lvl7pPr lvl="6" algn="ctr">
              <a:lnSpc>
                <a:spcPct val="100000"/>
              </a:lnSpc>
              <a:spcBef>
                <a:spcPts val="0"/>
              </a:spcBef>
              <a:spcAft>
                <a:spcPts val="0"/>
              </a:spcAft>
              <a:buClr>
                <a:schemeClr val="accent4"/>
              </a:buClr>
              <a:buSzPts val="2800"/>
              <a:buNone/>
              <a:defRPr>
                <a:solidFill>
                  <a:schemeClr val="accent4"/>
                </a:solidFill>
              </a:defRPr>
            </a:lvl7pPr>
            <a:lvl8pPr lvl="7" algn="ctr">
              <a:lnSpc>
                <a:spcPct val="100000"/>
              </a:lnSpc>
              <a:spcBef>
                <a:spcPts val="0"/>
              </a:spcBef>
              <a:spcAft>
                <a:spcPts val="0"/>
              </a:spcAft>
              <a:buClr>
                <a:schemeClr val="accent4"/>
              </a:buClr>
              <a:buSzPts val="2800"/>
              <a:buNone/>
              <a:defRPr>
                <a:solidFill>
                  <a:schemeClr val="accent4"/>
                </a:solidFill>
              </a:defRPr>
            </a:lvl8pPr>
            <a:lvl9pPr lvl="8" algn="ctr">
              <a:lnSpc>
                <a:spcPct val="100000"/>
              </a:lnSpc>
              <a:spcBef>
                <a:spcPts val="0"/>
              </a:spcBef>
              <a:spcAft>
                <a:spcPts val="0"/>
              </a:spcAft>
              <a:buClr>
                <a:schemeClr val="accent4"/>
              </a:buClr>
              <a:buSzPts val="2800"/>
              <a:buNone/>
              <a:defRPr>
                <a:solidFill>
                  <a:schemeClr val="accent4"/>
                </a:solidFill>
              </a:defRPr>
            </a:lvl9pPr>
          </a:lstStyle>
          <a:p/>
        </p:txBody>
      </p:sp>
      <p:sp>
        <p:nvSpPr>
          <p:cNvPr id="15" name="Google Shape;15;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0"/>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411250" y="1152475"/>
            <a:ext cx="83214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4" name="Google Shape;24;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41"/>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400"/>
              <a:buNone/>
              <a:defRPr/>
            </a:lvl1pPr>
          </a:lstStyle>
          <a:p/>
        </p:txBody>
      </p:sp>
      <p:sp>
        <p:nvSpPr>
          <p:cNvPr id="45" name="Google Shape;4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17500" lvl="0" marL="457200" algn="ctr">
              <a:lnSpc>
                <a:spcPct val="115000"/>
              </a:lnSpc>
              <a:spcBef>
                <a:spcPts val="0"/>
              </a:spcBef>
              <a:spcAft>
                <a:spcPts val="0"/>
              </a:spcAft>
              <a:buSzPts val="14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500"/>
              <a:buFont typeface="Fira Sans Extra Condensed Medium"/>
              <a:buNone/>
              <a:defRPr b="0" i="0" sz="2500" u="none" cap="none" strike="noStrike">
                <a:solidFill>
                  <a:schemeClr val="dk1"/>
                </a:solidFill>
                <a:latin typeface="Fira Sans Extra Condensed Medium"/>
                <a:ea typeface="Fira Sans Extra Condensed Medium"/>
                <a:cs typeface="Fira Sans Extra Condensed Medium"/>
                <a:sym typeface="Fira Sans Extra Condensed Medium"/>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411250" y="1152475"/>
            <a:ext cx="83214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1pPr>
            <a:lvl2pPr indent="-317500" lvl="1" marL="9144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2pPr>
            <a:lvl3pPr indent="-317500" lvl="2" marL="13716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3pPr>
            <a:lvl4pPr indent="-317500" lvl="3" marL="18288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4pPr>
            <a:lvl5pPr indent="-317500" lvl="4" marL="22860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5pPr>
            <a:lvl6pPr indent="-317500" lvl="5" marL="27432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6pPr>
            <a:lvl7pPr indent="-317500" lvl="6" marL="32004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7pPr>
            <a:lvl8pPr indent="-317500" lvl="7" marL="3657600" marR="0" rtl="0" algn="l">
              <a:lnSpc>
                <a:spcPct val="115000"/>
              </a:lnSpc>
              <a:spcBef>
                <a:spcPts val="1600"/>
              </a:spcBef>
              <a:spcAft>
                <a:spcPts val="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8pPr>
            <a:lvl9pPr indent="-317500" lvl="8" marL="4114800" marR="0" rtl="0" algn="l">
              <a:lnSpc>
                <a:spcPct val="115000"/>
              </a:lnSpc>
              <a:spcBef>
                <a:spcPts val="1600"/>
              </a:spcBef>
              <a:spcAft>
                <a:spcPts val="1600"/>
              </a:spcAft>
              <a:buClr>
                <a:schemeClr val="dk1"/>
              </a:buClr>
              <a:buSzPts val="1400"/>
              <a:buFont typeface="Fira Sans Extra Condensed"/>
              <a:buChar char="■"/>
              <a:defRPr b="0" i="0" sz="1400" u="none" cap="none" strike="noStrike">
                <a:solidFill>
                  <a:schemeClr val="dk1"/>
                </a:solidFill>
                <a:latin typeface="Fira Sans Extra Condensed"/>
                <a:ea typeface="Fira Sans Extra Condensed"/>
                <a:cs typeface="Fira Sans Extra Condensed"/>
                <a:sym typeface="Fira Sans Extra Condensed"/>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27.png"/><Relationship Id="rId7" Type="http://schemas.openxmlformats.org/officeDocument/2006/relationships/image" Target="../media/image1.png"/><Relationship Id="rId8"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8.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8.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20.png"/><Relationship Id="rId7" Type="http://schemas.openxmlformats.org/officeDocument/2006/relationships/image" Target="../media/image40.png"/><Relationship Id="rId8"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6.png"/><Relationship Id="rId9" Type="http://schemas.openxmlformats.org/officeDocument/2006/relationships/image" Target="../media/image37.png"/><Relationship Id="rId5" Type="http://schemas.openxmlformats.org/officeDocument/2006/relationships/image" Target="../media/image31.png"/><Relationship Id="rId6" Type="http://schemas.openxmlformats.org/officeDocument/2006/relationships/image" Target="../media/image20.png"/><Relationship Id="rId7" Type="http://schemas.openxmlformats.org/officeDocument/2006/relationships/image" Target="../media/image38.png"/><Relationship Id="rId8"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414900" y="457200"/>
            <a:ext cx="5731200" cy="2453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a:t>XÂY DỰNG</a:t>
            </a:r>
            <a:r>
              <a:rPr lang="en"/>
              <a:t> DỰ ÁN MICROSERVICE </a:t>
            </a:r>
            <a:r>
              <a:rPr lang="en"/>
              <a:t>DỰA TRÊN GENAI</a:t>
            </a:r>
            <a:endParaRPr/>
          </a:p>
        </p:txBody>
      </p:sp>
      <p:sp>
        <p:nvSpPr>
          <p:cNvPr id="55" name="Google Shape;55;p1"/>
          <p:cNvSpPr txBox="1"/>
          <p:nvPr>
            <p:ph idx="1" type="subTitle"/>
          </p:nvPr>
        </p:nvSpPr>
        <p:spPr>
          <a:xfrm>
            <a:off x="414900" y="2947325"/>
            <a:ext cx="3802500" cy="121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rgbClr val="000000"/>
                </a:solidFill>
              </a:rPr>
              <a:t>Nguyễn Võ Minh Hiếu</a:t>
            </a:r>
            <a:endParaRPr>
              <a:solidFill>
                <a:srgbClr val="000000"/>
              </a:solidFill>
            </a:endParaRPr>
          </a:p>
          <a:p>
            <a:pPr indent="0" lvl="0" marL="0" rtl="0" algn="l">
              <a:lnSpc>
                <a:spcPct val="100000"/>
              </a:lnSpc>
              <a:spcBef>
                <a:spcPts val="0"/>
              </a:spcBef>
              <a:spcAft>
                <a:spcPts val="0"/>
              </a:spcAft>
              <a:buSzPts val="2800"/>
              <a:buNone/>
            </a:pPr>
            <a:r>
              <a:rPr lang="en">
                <a:solidFill>
                  <a:srgbClr val="000000"/>
                </a:solidFill>
              </a:rPr>
              <a:t>Trần Đoàn Minh Trí</a:t>
            </a:r>
            <a:endParaRPr>
              <a:solidFill>
                <a:srgbClr val="000000"/>
              </a:solidFill>
            </a:endParaRPr>
          </a:p>
        </p:txBody>
      </p:sp>
      <p:grpSp>
        <p:nvGrpSpPr>
          <p:cNvPr id="56" name="Google Shape;56;p1"/>
          <p:cNvGrpSpPr/>
          <p:nvPr/>
        </p:nvGrpSpPr>
        <p:grpSpPr>
          <a:xfrm>
            <a:off x="4428477" y="633346"/>
            <a:ext cx="5731318" cy="4126966"/>
            <a:chOff x="2762076" y="1880751"/>
            <a:chExt cx="3683367" cy="2652291"/>
          </a:xfrm>
        </p:grpSpPr>
        <p:sp>
          <p:nvSpPr>
            <p:cNvPr id="57" name="Google Shape;57;p1"/>
            <p:cNvSpPr/>
            <p:nvPr/>
          </p:nvSpPr>
          <p:spPr>
            <a:xfrm>
              <a:off x="4043719" y="3233810"/>
              <a:ext cx="990440" cy="899173"/>
            </a:xfrm>
            <a:custGeom>
              <a:rect b="b" l="l" r="r" t="t"/>
              <a:pathLst>
                <a:path extrusionOk="0" h="26847" w="29572">
                  <a:moveTo>
                    <a:pt x="3886" y="1"/>
                  </a:moveTo>
                  <a:cubicBezTo>
                    <a:pt x="3625" y="3262"/>
                    <a:pt x="2248" y="6321"/>
                    <a:pt x="1" y="8698"/>
                  </a:cubicBezTo>
                  <a:lnTo>
                    <a:pt x="18135" y="26847"/>
                  </a:lnTo>
                  <a:cubicBezTo>
                    <a:pt x="25209" y="19657"/>
                    <a:pt x="29296" y="10075"/>
                    <a:pt x="29572" y="1"/>
                  </a:cubicBezTo>
                  <a:close/>
                </a:path>
              </a:pathLst>
            </a:custGeom>
            <a:gradFill>
              <a:gsLst>
                <a:gs pos="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2762076" y="3543540"/>
              <a:ext cx="890901" cy="989000"/>
            </a:xfrm>
            <a:custGeom>
              <a:rect b="b" l="l" r="r" t="t"/>
              <a:pathLst>
                <a:path extrusionOk="0" h="29529" w="26600">
                  <a:moveTo>
                    <a:pt x="18149" y="1"/>
                  </a:moveTo>
                  <a:lnTo>
                    <a:pt x="0" y="18164"/>
                  </a:lnTo>
                  <a:cubicBezTo>
                    <a:pt x="7132" y="25151"/>
                    <a:pt x="16627" y="29210"/>
                    <a:pt x="26600" y="29529"/>
                  </a:cubicBezTo>
                  <a:lnTo>
                    <a:pt x="26600" y="3828"/>
                  </a:lnTo>
                  <a:cubicBezTo>
                    <a:pt x="23440" y="3538"/>
                    <a:pt x="20454" y="2190"/>
                    <a:pt x="18149" y="1"/>
                  </a:cubicBezTo>
                  <a:close/>
                </a:path>
              </a:pathLst>
            </a:custGeom>
            <a:gradFill>
              <a:gsLst>
                <a:gs pos="0">
                  <a:schemeClr val="accent1"/>
                </a:gs>
                <a:gs pos="100000">
                  <a:schemeClr val="accent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3707768" y="3562965"/>
              <a:ext cx="904030" cy="970077"/>
            </a:xfrm>
            <a:custGeom>
              <a:rect b="b" l="l" r="r" t="t"/>
              <a:pathLst>
                <a:path extrusionOk="0" h="28964" w="26992">
                  <a:moveTo>
                    <a:pt x="8829" y="1"/>
                  </a:moveTo>
                  <a:cubicBezTo>
                    <a:pt x="6350" y="2074"/>
                    <a:pt x="3233" y="3233"/>
                    <a:pt x="1" y="3306"/>
                  </a:cubicBezTo>
                  <a:lnTo>
                    <a:pt x="1" y="28963"/>
                  </a:lnTo>
                  <a:cubicBezTo>
                    <a:pt x="10046" y="28905"/>
                    <a:pt x="19686" y="25049"/>
                    <a:pt x="26992" y="18164"/>
                  </a:cubicBezTo>
                  <a:lnTo>
                    <a:pt x="8829" y="1"/>
                  </a:lnTo>
                  <a:close/>
                </a:path>
              </a:pathLst>
            </a:custGeom>
            <a:gradFill>
              <a:gsLst>
                <a:gs pos="0">
                  <a:schemeClr val="accent2"/>
                </a:gs>
                <a:gs pos="100000">
                  <a:schemeClr val="accent3"/>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4173364" y="2280808"/>
              <a:ext cx="990440" cy="899676"/>
            </a:xfrm>
            <a:custGeom>
              <a:rect b="b" l="l" r="r" t="t"/>
              <a:pathLst>
                <a:path extrusionOk="0" h="26862" w="29572">
                  <a:moveTo>
                    <a:pt x="11423" y="0"/>
                  </a:moveTo>
                  <a:cubicBezTo>
                    <a:pt x="4349" y="7190"/>
                    <a:pt x="261" y="16786"/>
                    <a:pt x="0" y="26861"/>
                  </a:cubicBezTo>
                  <a:lnTo>
                    <a:pt x="25686" y="26861"/>
                  </a:lnTo>
                  <a:cubicBezTo>
                    <a:pt x="25933" y="23599"/>
                    <a:pt x="27310" y="20526"/>
                    <a:pt x="29571" y="18149"/>
                  </a:cubicBezTo>
                  <a:lnTo>
                    <a:pt x="11423" y="0"/>
                  </a:lnTo>
                  <a:close/>
                </a:path>
              </a:pathLst>
            </a:custGeom>
            <a:gradFill>
              <a:gsLst>
                <a:gs pos="0">
                  <a:schemeClr val="accent4"/>
                </a:gs>
                <a:gs pos="100000">
                  <a:schemeClr val="accent5"/>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5554040" y="1881723"/>
              <a:ext cx="891403" cy="988531"/>
            </a:xfrm>
            <a:custGeom>
              <a:rect b="b" l="l" r="r" t="t"/>
              <a:pathLst>
                <a:path extrusionOk="0" h="29515" w="26615">
                  <a:moveTo>
                    <a:pt x="1" y="1"/>
                  </a:moveTo>
                  <a:lnTo>
                    <a:pt x="15" y="25687"/>
                  </a:lnTo>
                  <a:cubicBezTo>
                    <a:pt x="3175" y="25992"/>
                    <a:pt x="6147" y="27340"/>
                    <a:pt x="8466" y="29514"/>
                  </a:cubicBezTo>
                  <a:lnTo>
                    <a:pt x="26615" y="11366"/>
                  </a:lnTo>
                  <a:cubicBezTo>
                    <a:pt x="19483" y="4379"/>
                    <a:pt x="9988" y="320"/>
                    <a:pt x="1" y="1"/>
                  </a:cubicBezTo>
                  <a:close/>
                </a:path>
              </a:pathLst>
            </a:custGeom>
            <a:gradFill>
              <a:gsLst>
                <a:gs pos="0">
                  <a:schemeClr val="accent6"/>
                </a:gs>
                <a:gs pos="100000">
                  <a:srgbClr val="A2E4E8"/>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4595219" y="1880751"/>
              <a:ext cx="904030" cy="970077"/>
            </a:xfrm>
            <a:custGeom>
              <a:rect b="b" l="l" r="r" t="t"/>
              <a:pathLst>
                <a:path extrusionOk="0" h="28964" w="26992">
                  <a:moveTo>
                    <a:pt x="26992" y="1"/>
                  </a:moveTo>
                  <a:cubicBezTo>
                    <a:pt x="16961" y="73"/>
                    <a:pt x="7321" y="3929"/>
                    <a:pt x="1" y="10800"/>
                  </a:cubicBezTo>
                  <a:lnTo>
                    <a:pt x="18178" y="28963"/>
                  </a:lnTo>
                  <a:cubicBezTo>
                    <a:pt x="20657" y="26905"/>
                    <a:pt x="23774" y="25745"/>
                    <a:pt x="26992" y="25673"/>
                  </a:cubicBezTo>
                  <a:lnTo>
                    <a:pt x="26992" y="1"/>
                  </a:lnTo>
                  <a:close/>
                </a:path>
              </a:pathLst>
            </a:custGeom>
            <a:gradFill>
              <a:gsLst>
                <a:gs pos="0">
                  <a:schemeClr val="accent4"/>
                </a:gs>
                <a:gs pos="100000">
                  <a:schemeClr val="accent6"/>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de1a43aa05_0_94"/>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Kiến trúc tổng quan hệ thống</a:t>
            </a:r>
            <a:endParaRPr/>
          </a:p>
        </p:txBody>
      </p:sp>
      <p:pic>
        <p:nvPicPr>
          <p:cNvPr id="68" name="Google Shape;68;g3de1a43aa05_0_94"/>
          <p:cNvPicPr preferRelativeResize="0"/>
          <p:nvPr/>
        </p:nvPicPr>
        <p:blipFill rotWithShape="1">
          <a:blip r:embed="rId3">
            <a:alphaModFix/>
          </a:blip>
          <a:srcRect b="0" l="0" r="0" t="0"/>
          <a:stretch/>
        </p:blipFill>
        <p:spPr>
          <a:xfrm>
            <a:off x="660175" y="831150"/>
            <a:ext cx="7823645" cy="4312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de19b8b1e6_0_3"/>
          <p:cNvSpPr txBox="1"/>
          <p:nvPr>
            <p:ph type="title"/>
          </p:nvPr>
        </p:nvSpPr>
        <p:spPr>
          <a:xfrm>
            <a:off x="411250" y="445025"/>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2500"/>
              <a:buFont typeface="Arial"/>
              <a:buNone/>
            </a:pPr>
            <a:r>
              <a:rPr lang="en"/>
              <a:t>Spring Cloud Gateway</a:t>
            </a:r>
            <a:endParaRPr/>
          </a:p>
        </p:txBody>
      </p:sp>
      <p:pic>
        <p:nvPicPr>
          <p:cNvPr id="74" name="Google Shape;74;g3de19b8b1e6_0_3"/>
          <p:cNvPicPr preferRelativeResize="0"/>
          <p:nvPr/>
        </p:nvPicPr>
        <p:blipFill rotWithShape="1">
          <a:blip r:embed="rId3">
            <a:alphaModFix/>
          </a:blip>
          <a:srcRect b="0" l="0" r="0" t="0"/>
          <a:stretch/>
        </p:blipFill>
        <p:spPr>
          <a:xfrm>
            <a:off x="411250" y="1240950"/>
            <a:ext cx="4744526" cy="1651675"/>
          </a:xfrm>
          <a:prstGeom prst="rect">
            <a:avLst/>
          </a:prstGeom>
          <a:noFill/>
          <a:ln>
            <a:noFill/>
          </a:ln>
        </p:spPr>
      </p:pic>
      <p:sp>
        <p:nvSpPr>
          <p:cNvPr id="75" name="Google Shape;75;g3de19b8b1e6_0_3"/>
          <p:cNvSpPr txBox="1"/>
          <p:nvPr/>
        </p:nvSpPr>
        <p:spPr>
          <a:xfrm>
            <a:off x="5357325" y="1240950"/>
            <a:ext cx="3375300" cy="7533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chemeClr val="dk1"/>
              </a:buClr>
              <a:buSzPts val="11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Client gửi một yêu cầu (request) đến hệ thống thông qua API Gateway:</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cxnSp>
        <p:nvCxnSpPr>
          <p:cNvPr id="76" name="Google Shape;76;g3de19b8b1e6_0_3"/>
          <p:cNvCxnSpPr/>
          <p:nvPr/>
        </p:nvCxnSpPr>
        <p:spPr>
          <a:xfrm rot="10800000">
            <a:off x="5251825" y="1241000"/>
            <a:ext cx="3300" cy="3028200"/>
          </a:xfrm>
          <a:prstGeom prst="straightConnector1">
            <a:avLst/>
          </a:prstGeom>
          <a:noFill/>
          <a:ln cap="flat" cmpd="sng" w="9525">
            <a:solidFill>
              <a:schemeClr val="dk2"/>
            </a:solidFill>
            <a:prstDash val="solid"/>
            <a:round/>
            <a:headEnd len="sm" w="sm" type="none"/>
            <a:tailEnd len="sm" w="sm" type="none"/>
          </a:ln>
        </p:spPr>
      </p:cxnSp>
      <p:sp>
        <p:nvSpPr>
          <p:cNvPr id="77" name="Google Shape;77;g3de19b8b1e6_0_3"/>
          <p:cNvSpPr txBox="1"/>
          <p:nvPr/>
        </p:nvSpPr>
        <p:spPr>
          <a:xfrm>
            <a:off x="5360475" y="1994250"/>
            <a:ext cx="3372300" cy="2147100"/>
          </a:xfrm>
          <a:prstGeom prst="rect">
            <a:avLst/>
          </a:prstGeom>
          <a:noFill/>
          <a:ln>
            <a:noFill/>
          </a:ln>
        </p:spPr>
        <p:txBody>
          <a:bodyPr anchorCtr="0" anchor="t" bIns="91425" lIns="91425" spcFirstLastPara="1" rIns="91425" wrap="square" tIns="91425">
            <a:spAutoFit/>
          </a:bodyPr>
          <a:lstStyle/>
          <a:p>
            <a:pPr indent="-323850" lvl="0" marL="457200" marR="0" rtl="0" algn="just">
              <a:lnSpc>
                <a:spcPct val="150000"/>
              </a:lnSpc>
              <a:spcBef>
                <a:spcPts val="0"/>
              </a:spcBef>
              <a:spcAft>
                <a:spcPts val="0"/>
              </a:spcAft>
              <a:buClr>
                <a:schemeClr val="dk1"/>
              </a:buClr>
              <a:buSzPts val="1500"/>
              <a:buFont typeface="Fira Sans Extra Condensed"/>
              <a:buAutoNum type="arabicPeriod"/>
            </a:pPr>
            <a:r>
              <a:rPr b="0" i="0" lang="en" sz="1500" u="none" cap="none" strike="noStrike">
                <a:solidFill>
                  <a:schemeClr val="dk1"/>
                </a:solidFill>
                <a:latin typeface="Fira Sans Extra Condensed"/>
                <a:ea typeface="Fira Sans Extra Condensed"/>
                <a:cs typeface="Fira Sans Extra Condensed"/>
                <a:sym typeface="Fira Sans Extra Condensed"/>
              </a:rPr>
              <a:t>Gateway Handler Mapping tiếp nhận Request</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just">
              <a:lnSpc>
                <a:spcPct val="150000"/>
              </a:lnSpc>
              <a:spcBef>
                <a:spcPts val="0"/>
              </a:spcBef>
              <a:spcAft>
                <a:spcPts val="0"/>
              </a:spcAft>
              <a:buClr>
                <a:schemeClr val="dk1"/>
              </a:buClr>
              <a:buSzPts val="1500"/>
              <a:buFont typeface="Fira Sans Extra Condensed"/>
              <a:buAutoNum type="arabicPeriod"/>
            </a:pPr>
            <a:r>
              <a:rPr b="0" i="0" lang="en" sz="1500" u="none" cap="none" strike="noStrike">
                <a:solidFill>
                  <a:schemeClr val="dk1"/>
                </a:solidFill>
                <a:latin typeface="Fira Sans Extra Condensed"/>
                <a:ea typeface="Fira Sans Extra Condensed"/>
                <a:cs typeface="Fira Sans Extra Condensed"/>
                <a:sym typeface="Fira Sans Extra Condensed"/>
              </a:rPr>
              <a:t>Predicate kiểm tra Request</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just">
              <a:lnSpc>
                <a:spcPct val="150000"/>
              </a:lnSpc>
              <a:spcBef>
                <a:spcPts val="0"/>
              </a:spcBef>
              <a:spcAft>
                <a:spcPts val="0"/>
              </a:spcAft>
              <a:buClr>
                <a:schemeClr val="dk1"/>
              </a:buClr>
              <a:buSzPts val="1500"/>
              <a:buFont typeface="Fira Sans Extra Condensed"/>
              <a:buAutoNum type="arabicPeriod"/>
            </a:pPr>
            <a:r>
              <a:rPr b="0" i="0" lang="en" sz="1500" u="none" cap="none" strike="noStrike">
                <a:solidFill>
                  <a:schemeClr val="dk1"/>
                </a:solidFill>
                <a:latin typeface="Fira Sans Extra Condensed"/>
                <a:ea typeface="Fira Sans Extra Condensed"/>
                <a:cs typeface="Fira Sans Extra Condensed"/>
                <a:sym typeface="Fira Sans Extra Condensed"/>
              </a:rPr>
              <a:t>Pre-Filter xử lý Request</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just">
              <a:lnSpc>
                <a:spcPct val="150000"/>
              </a:lnSpc>
              <a:spcBef>
                <a:spcPts val="0"/>
              </a:spcBef>
              <a:spcAft>
                <a:spcPts val="0"/>
              </a:spcAft>
              <a:buClr>
                <a:schemeClr val="dk1"/>
              </a:buClr>
              <a:buSzPts val="1500"/>
              <a:buFont typeface="Fira Sans Extra Condensed"/>
              <a:buAutoNum type="arabicPeriod"/>
            </a:pPr>
            <a:r>
              <a:rPr b="0" i="0" lang="en" sz="1500" u="none" cap="none" strike="noStrike">
                <a:solidFill>
                  <a:schemeClr val="dk1"/>
                </a:solidFill>
                <a:latin typeface="Fira Sans Extra Condensed"/>
                <a:ea typeface="Fira Sans Extra Condensed"/>
                <a:cs typeface="Fira Sans Extra Condensed"/>
                <a:sym typeface="Fira Sans Extra Condensed"/>
              </a:rPr>
              <a:t>Post-Filter xử lý sau khi nhận phản hồi</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de1a43aa05_0_8"/>
          <p:cNvSpPr txBox="1"/>
          <p:nvPr>
            <p:ph type="title"/>
          </p:nvPr>
        </p:nvSpPr>
        <p:spPr>
          <a:xfrm>
            <a:off x="411300" y="445025"/>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lang="en"/>
              <a:t>Netflix Eureka</a:t>
            </a:r>
            <a:endParaRPr/>
          </a:p>
        </p:txBody>
      </p:sp>
      <p:sp>
        <p:nvSpPr>
          <p:cNvPr id="83" name="Google Shape;83;g3de1a43aa05_0_8"/>
          <p:cNvSpPr txBox="1"/>
          <p:nvPr/>
        </p:nvSpPr>
        <p:spPr>
          <a:xfrm>
            <a:off x="4873800" y="1017725"/>
            <a:ext cx="3858900" cy="3681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Eureka Server là trung tâm lưu trữ thông tin</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cxnSp>
        <p:nvCxnSpPr>
          <p:cNvPr id="84" name="Google Shape;84;g3de1a43aa05_0_8"/>
          <p:cNvCxnSpPr/>
          <p:nvPr/>
        </p:nvCxnSpPr>
        <p:spPr>
          <a:xfrm rot="10800000">
            <a:off x="4817950" y="1073675"/>
            <a:ext cx="0" cy="3800100"/>
          </a:xfrm>
          <a:prstGeom prst="straightConnector1">
            <a:avLst/>
          </a:prstGeom>
          <a:noFill/>
          <a:ln cap="flat" cmpd="sng" w="9525">
            <a:solidFill>
              <a:schemeClr val="dk2"/>
            </a:solidFill>
            <a:prstDash val="solid"/>
            <a:round/>
            <a:headEnd len="sm" w="sm" type="none"/>
            <a:tailEnd len="sm" w="sm" type="none"/>
          </a:ln>
        </p:spPr>
      </p:cxnSp>
      <p:pic>
        <p:nvPicPr>
          <p:cNvPr id="85" name="Google Shape;85;g3de1a43aa05_0_8"/>
          <p:cNvPicPr preferRelativeResize="0"/>
          <p:nvPr/>
        </p:nvPicPr>
        <p:blipFill rotWithShape="1">
          <a:blip r:embed="rId3">
            <a:alphaModFix/>
          </a:blip>
          <a:srcRect b="0" l="0" r="0" t="0"/>
          <a:stretch/>
        </p:blipFill>
        <p:spPr>
          <a:xfrm>
            <a:off x="143050" y="1073600"/>
            <a:ext cx="4619050" cy="3028200"/>
          </a:xfrm>
          <a:prstGeom prst="rect">
            <a:avLst/>
          </a:prstGeom>
          <a:noFill/>
          <a:ln>
            <a:noFill/>
          </a:ln>
        </p:spPr>
      </p:pic>
      <p:sp>
        <p:nvSpPr>
          <p:cNvPr id="86" name="Google Shape;86;g3de1a43aa05_0_8"/>
          <p:cNvSpPr txBox="1"/>
          <p:nvPr/>
        </p:nvSpPr>
        <p:spPr>
          <a:xfrm>
            <a:off x="4873800" y="1383125"/>
            <a:ext cx="3858900" cy="14046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Eureka Client (Service A, B, C)</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Tự động đăng ký khi khởi động</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Gửi thông tin: IP, port, tên service</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Duy trì kết nối bằng heartbeat</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just">
              <a:lnSpc>
                <a:spcPct val="150000"/>
              </a:lnSpc>
              <a:spcBef>
                <a:spcPts val="0"/>
              </a:spcBef>
              <a:spcAft>
                <a:spcPts val="0"/>
              </a:spcAft>
              <a:buClr>
                <a:srgbClr val="000000"/>
              </a:buClr>
              <a:buSzPts val="1500"/>
              <a:buFont typeface="Arial"/>
              <a:buNone/>
            </a:pPr>
            <a:r>
              <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
        <p:nvSpPr>
          <p:cNvPr id="87" name="Google Shape;87;g3de1a43aa05_0_8"/>
          <p:cNvSpPr txBox="1"/>
          <p:nvPr/>
        </p:nvSpPr>
        <p:spPr>
          <a:xfrm>
            <a:off x="4873800" y="2787725"/>
            <a:ext cx="3858900" cy="1060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Service Discovery</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Client hỏi Eureka Server để tìm service</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Không gọi trực tiếp địa chỉ cố định</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just">
              <a:lnSpc>
                <a:spcPct val="150000"/>
              </a:lnSpc>
              <a:spcBef>
                <a:spcPts val="0"/>
              </a:spcBef>
              <a:spcAft>
                <a:spcPts val="0"/>
              </a:spcAft>
              <a:buClr>
                <a:srgbClr val="000000"/>
              </a:buClr>
              <a:buSzPts val="1500"/>
              <a:buFont typeface="Arial"/>
              <a:buNone/>
            </a:pPr>
            <a:r>
              <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
        <p:nvSpPr>
          <p:cNvPr id="88" name="Google Shape;88;g3de1a43aa05_0_8"/>
          <p:cNvSpPr txBox="1"/>
          <p:nvPr/>
        </p:nvSpPr>
        <p:spPr>
          <a:xfrm>
            <a:off x="4873800" y="3847925"/>
            <a:ext cx="3858900" cy="1060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dynamic URL</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Client nhận danh sách instance động</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Gọi API qua địa chỉ được cấp</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just">
              <a:lnSpc>
                <a:spcPct val="150000"/>
              </a:lnSpc>
              <a:spcBef>
                <a:spcPts val="0"/>
              </a:spcBef>
              <a:spcAft>
                <a:spcPts val="0"/>
              </a:spcAft>
              <a:buClr>
                <a:srgbClr val="000000"/>
              </a:buClr>
              <a:buSzPts val="1500"/>
              <a:buFont typeface="Arial"/>
              <a:buNone/>
            </a:pPr>
            <a:r>
              <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de1a43aa05_0_25"/>
          <p:cNvSpPr txBox="1"/>
          <p:nvPr>
            <p:ph type="title"/>
          </p:nvPr>
        </p:nvSpPr>
        <p:spPr>
          <a:xfrm>
            <a:off x="411300" y="3075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Message Broker và Apache Kafka</a:t>
            </a:r>
            <a:endParaRPr/>
          </a:p>
        </p:txBody>
      </p:sp>
      <p:sp>
        <p:nvSpPr>
          <p:cNvPr id="94" name="Google Shape;94;g3de1a43aa05_0_25"/>
          <p:cNvSpPr txBox="1"/>
          <p:nvPr/>
        </p:nvSpPr>
        <p:spPr>
          <a:xfrm>
            <a:off x="4734300" y="1017725"/>
            <a:ext cx="3858900" cy="31212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Producer gửi (publish) dữ liệu sự kiện vào hệ thống</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just">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Topic &amp; Partition</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Topic: kênh phân loại dữ liệu</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Partition: chia nhỏ dữ liệu → xử lý song song, tăng scalability</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Broker (Kafka Cluster)</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Lưu trữ dữ liệu</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Xử lý request đọc/ghi</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Nhiều Broker → tăng chịu lỗi &amp; mở rộng</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cxnSp>
        <p:nvCxnSpPr>
          <p:cNvPr id="95" name="Google Shape;95;g3de1a43aa05_0_25"/>
          <p:cNvCxnSpPr/>
          <p:nvPr/>
        </p:nvCxnSpPr>
        <p:spPr>
          <a:xfrm rot="10800000">
            <a:off x="4631950" y="1073675"/>
            <a:ext cx="0" cy="3800100"/>
          </a:xfrm>
          <a:prstGeom prst="straightConnector1">
            <a:avLst/>
          </a:prstGeom>
          <a:noFill/>
          <a:ln cap="flat" cmpd="sng" w="9525">
            <a:solidFill>
              <a:schemeClr val="dk2"/>
            </a:solidFill>
            <a:prstDash val="solid"/>
            <a:round/>
            <a:headEnd len="sm" w="sm" type="none"/>
            <a:tailEnd len="sm" w="sm" type="none"/>
          </a:ln>
        </p:spPr>
      </p:cxnSp>
      <p:pic>
        <p:nvPicPr>
          <p:cNvPr id="96" name="Google Shape;96;g3de1a43aa05_0_25"/>
          <p:cNvPicPr preferRelativeResize="0"/>
          <p:nvPr/>
        </p:nvPicPr>
        <p:blipFill rotWithShape="1">
          <a:blip r:embed="rId3">
            <a:alphaModFix/>
          </a:blip>
          <a:srcRect b="0" l="0" r="0" t="0"/>
          <a:stretch/>
        </p:blipFill>
        <p:spPr>
          <a:xfrm>
            <a:off x="236125" y="1073675"/>
            <a:ext cx="4200499" cy="2516000"/>
          </a:xfrm>
          <a:prstGeom prst="rect">
            <a:avLst/>
          </a:prstGeom>
          <a:noFill/>
          <a:ln>
            <a:noFill/>
          </a:ln>
        </p:spPr>
      </p:pic>
      <p:sp>
        <p:nvSpPr>
          <p:cNvPr id="97" name="Google Shape;97;g3de1a43aa05_0_25"/>
          <p:cNvSpPr txBox="1"/>
          <p:nvPr/>
        </p:nvSpPr>
        <p:spPr>
          <a:xfrm>
            <a:off x="236075" y="3645625"/>
            <a:ext cx="42006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Consumer / Consumer Group</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Đọc dữ liệu từ Topic</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Xử lý nghiệp vụ</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de1a43aa05_0_40"/>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Cơ chế Publish/Subscribe</a:t>
            </a:r>
            <a:endParaRPr/>
          </a:p>
        </p:txBody>
      </p:sp>
      <p:cxnSp>
        <p:nvCxnSpPr>
          <p:cNvPr id="103" name="Google Shape;103;g3de1a43aa05_0_40"/>
          <p:cNvCxnSpPr/>
          <p:nvPr/>
        </p:nvCxnSpPr>
        <p:spPr>
          <a:xfrm flipH="1" rot="10800000">
            <a:off x="5047275" y="1031150"/>
            <a:ext cx="9900" cy="3250200"/>
          </a:xfrm>
          <a:prstGeom prst="straightConnector1">
            <a:avLst/>
          </a:prstGeom>
          <a:noFill/>
          <a:ln cap="flat" cmpd="sng" w="9525">
            <a:solidFill>
              <a:schemeClr val="dk2"/>
            </a:solidFill>
            <a:prstDash val="solid"/>
            <a:round/>
            <a:headEnd len="sm" w="sm" type="none"/>
            <a:tailEnd len="sm" w="sm" type="none"/>
          </a:ln>
        </p:spPr>
      </p:cxnSp>
      <p:pic>
        <p:nvPicPr>
          <p:cNvPr id="104" name="Google Shape;104;g3de1a43aa05_0_40"/>
          <p:cNvPicPr preferRelativeResize="0"/>
          <p:nvPr/>
        </p:nvPicPr>
        <p:blipFill rotWithShape="1">
          <a:blip r:embed="rId3">
            <a:alphaModFix/>
          </a:blip>
          <a:srcRect b="0" l="0" r="0" t="0"/>
          <a:stretch/>
        </p:blipFill>
        <p:spPr>
          <a:xfrm>
            <a:off x="51250" y="1359388"/>
            <a:ext cx="4905125" cy="1699225"/>
          </a:xfrm>
          <a:prstGeom prst="rect">
            <a:avLst/>
          </a:prstGeom>
          <a:noFill/>
          <a:ln>
            <a:noFill/>
          </a:ln>
        </p:spPr>
      </p:pic>
      <p:sp>
        <p:nvSpPr>
          <p:cNvPr id="105" name="Google Shape;105;g3de1a43aa05_0_40"/>
          <p:cNvSpPr txBox="1"/>
          <p:nvPr/>
        </p:nvSpPr>
        <p:spPr>
          <a:xfrm>
            <a:off x="5047275" y="1192475"/>
            <a:ext cx="4036800" cy="28398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Producer (Publisher) gửi message vào Topic</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Broker lưu trữ message (không xóa ngay sau khi đọc)</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Consumer (Subscriber) đăng ký Topic để nhận dữ liệu</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Consumer Group</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Nhiều consumer cùng xử lý → tăng hiệu năng</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Trong 1 group: mỗi message chỉ được xử lý 1 lần</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Khác group: vẫn nhận đầy đủ dữ liệu</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e1a43aa05_0_56"/>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Luồng dữ liệu trong Kafka</a:t>
            </a:r>
            <a:endParaRPr/>
          </a:p>
        </p:txBody>
      </p:sp>
      <p:cxnSp>
        <p:nvCxnSpPr>
          <p:cNvPr id="111" name="Google Shape;111;g3de1a43aa05_0_56"/>
          <p:cNvCxnSpPr/>
          <p:nvPr/>
        </p:nvCxnSpPr>
        <p:spPr>
          <a:xfrm flipH="1" rot="10800000">
            <a:off x="5372525" y="1034950"/>
            <a:ext cx="9600" cy="3010500"/>
          </a:xfrm>
          <a:prstGeom prst="straightConnector1">
            <a:avLst/>
          </a:prstGeom>
          <a:noFill/>
          <a:ln cap="flat" cmpd="sng" w="9525">
            <a:solidFill>
              <a:schemeClr val="dk2"/>
            </a:solidFill>
            <a:prstDash val="solid"/>
            <a:round/>
            <a:headEnd len="sm" w="sm" type="none"/>
            <a:tailEnd len="sm" w="sm" type="none"/>
          </a:ln>
        </p:spPr>
      </p:cxnSp>
      <p:pic>
        <p:nvPicPr>
          <p:cNvPr id="112" name="Google Shape;112;g3de1a43aa05_0_56"/>
          <p:cNvPicPr preferRelativeResize="0"/>
          <p:nvPr/>
        </p:nvPicPr>
        <p:blipFill rotWithShape="1">
          <a:blip r:embed="rId3">
            <a:alphaModFix/>
          </a:blip>
          <a:srcRect b="0" l="0" r="0" t="0"/>
          <a:stretch/>
        </p:blipFill>
        <p:spPr>
          <a:xfrm>
            <a:off x="162200" y="1035150"/>
            <a:ext cx="5086675" cy="2881875"/>
          </a:xfrm>
          <a:prstGeom prst="rect">
            <a:avLst/>
          </a:prstGeom>
          <a:noFill/>
          <a:ln>
            <a:noFill/>
          </a:ln>
        </p:spPr>
      </p:pic>
      <p:sp>
        <p:nvSpPr>
          <p:cNvPr id="113" name="Google Shape;113;g3de1a43aa05_0_56"/>
          <p:cNvSpPr txBox="1"/>
          <p:nvPr/>
        </p:nvSpPr>
        <p:spPr>
          <a:xfrm>
            <a:off x="5505775" y="1324100"/>
            <a:ext cx="3396000" cy="1454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Producer gửi dữ liệu → Kafka Broker</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Broker lưu trữ dữ liệu vào Topic/Partition</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Consumer hoặc Consumer Group đọc dữ liệu từ Broker</a:t>
            </a:r>
            <a:endParaRPr b="0" i="0" sz="1500" u="none" cap="none" strike="noStrike">
              <a:solidFill>
                <a:srgbClr val="000000"/>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de1a43aa05_0_70"/>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SzPts val="1100"/>
              <a:buNone/>
            </a:pPr>
            <a:r>
              <a:rPr lang="en"/>
              <a:t>Container hóa và Docker Engine</a:t>
            </a:r>
            <a:endParaRPr/>
          </a:p>
        </p:txBody>
      </p:sp>
      <p:cxnSp>
        <p:nvCxnSpPr>
          <p:cNvPr id="119" name="Google Shape;119;g3de1a43aa05_0_70"/>
          <p:cNvCxnSpPr/>
          <p:nvPr/>
        </p:nvCxnSpPr>
        <p:spPr>
          <a:xfrm rot="10800000">
            <a:off x="5382025" y="1035250"/>
            <a:ext cx="1200" cy="3534600"/>
          </a:xfrm>
          <a:prstGeom prst="straightConnector1">
            <a:avLst/>
          </a:prstGeom>
          <a:noFill/>
          <a:ln cap="flat" cmpd="sng" w="9525">
            <a:solidFill>
              <a:schemeClr val="dk2"/>
            </a:solidFill>
            <a:prstDash val="solid"/>
            <a:round/>
            <a:headEnd len="sm" w="sm" type="none"/>
            <a:tailEnd len="sm" w="sm" type="none"/>
          </a:ln>
        </p:spPr>
      </p:cxnSp>
      <p:sp>
        <p:nvSpPr>
          <p:cNvPr id="120" name="Google Shape;120;g3de1a43aa05_0_70"/>
          <p:cNvSpPr txBox="1"/>
          <p:nvPr/>
        </p:nvSpPr>
        <p:spPr>
          <a:xfrm>
            <a:off x="5495075" y="1034950"/>
            <a:ext cx="3396000" cy="3532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500"/>
              <a:buFont typeface="Arial"/>
              <a:buNone/>
            </a:pPr>
            <a:r>
              <a:rPr b="1" i="0" lang="en" sz="1500" u="none" cap="none" strike="noStrike">
                <a:solidFill>
                  <a:schemeClr val="dk1"/>
                </a:solidFill>
                <a:latin typeface="Fira Sans Extra Condensed"/>
                <a:ea typeface="Fira Sans Extra Condensed"/>
                <a:cs typeface="Fira Sans Extra Condensed"/>
                <a:sym typeface="Fira Sans Extra Condensed"/>
              </a:rPr>
              <a:t>Docker Engine</a:t>
            </a:r>
            <a:br>
              <a:rPr b="0" i="0" lang="en" sz="1500" u="none" cap="none" strike="noStrike">
                <a:solidFill>
                  <a:schemeClr val="dk1"/>
                </a:solidFill>
                <a:latin typeface="Fira Sans Extra Condensed"/>
                <a:ea typeface="Fira Sans Extra Condensed"/>
                <a:cs typeface="Fira Sans Extra Condensed"/>
                <a:sym typeface="Fira Sans Extra Condensed"/>
              </a:rPr>
            </a:br>
            <a:r>
              <a:rPr b="0" i="0" lang="en" sz="1500" u="none" cap="none" strike="noStrike">
                <a:solidFill>
                  <a:schemeClr val="dk1"/>
                </a:solidFill>
                <a:latin typeface="Fira Sans Extra Condensed"/>
                <a:ea typeface="Fira Sans Extra Condensed"/>
                <a:cs typeface="Fira Sans Extra Condensed"/>
                <a:sym typeface="Fira Sans Extra Condensed"/>
              </a:rPr>
              <a:t>Gồm: Docker Daemon, CLI, REST API</a:t>
            </a:r>
            <a:br>
              <a:rPr b="0" i="0" lang="en" sz="1500" u="none" cap="none" strike="noStrike">
                <a:solidFill>
                  <a:schemeClr val="dk1"/>
                </a:solidFill>
                <a:latin typeface="Fira Sans Extra Condensed"/>
                <a:ea typeface="Fira Sans Extra Condensed"/>
                <a:cs typeface="Fira Sans Extra Condensed"/>
                <a:sym typeface="Fira Sans Extra Condensed"/>
              </a:rPr>
            </a:br>
            <a:r>
              <a:rPr b="0" i="0" lang="en" sz="1500" u="none" cap="none" strike="noStrike">
                <a:solidFill>
                  <a:schemeClr val="dk1"/>
                </a:solidFill>
                <a:latin typeface="Fira Sans Extra Condensed"/>
                <a:ea typeface="Fira Sans Extra Condensed"/>
                <a:cs typeface="Fira Sans Extra Condensed"/>
                <a:sym typeface="Fira Sans Extra Condensed"/>
              </a:rPr>
              <a:t>→ Quản lý &amp; vận hành container</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1" i="0" lang="en" sz="1500" u="none" cap="none" strike="noStrike">
                <a:solidFill>
                  <a:schemeClr val="dk1"/>
                </a:solidFill>
                <a:latin typeface="Fira Sans Extra Condensed"/>
                <a:ea typeface="Fira Sans Extra Condensed"/>
                <a:cs typeface="Fira Sans Extra Condensed"/>
                <a:sym typeface="Fira Sans Extra Condensed"/>
              </a:rPr>
              <a:t>Container</a:t>
            </a:r>
            <a:endParaRPr b="1"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Đóng gói ứng dụng + thư viện + dependencies</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Chạy độc lập, chia sẻ OS host</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0" lvl="0" marL="0" marR="0" rtl="0" algn="l">
              <a:lnSpc>
                <a:spcPct val="150000"/>
              </a:lnSpc>
              <a:spcBef>
                <a:spcPts val="0"/>
              </a:spcBef>
              <a:spcAft>
                <a:spcPts val="0"/>
              </a:spcAft>
              <a:buClr>
                <a:srgbClr val="000000"/>
              </a:buClr>
              <a:buSzPts val="1500"/>
              <a:buFont typeface="Arial"/>
              <a:buNone/>
            </a:pPr>
            <a:r>
              <a:rPr b="1" i="0" lang="en" sz="1500" u="none" cap="none" strike="noStrike">
                <a:solidFill>
                  <a:schemeClr val="dk1"/>
                </a:solidFill>
                <a:latin typeface="Fira Sans Extra Condensed"/>
                <a:ea typeface="Fira Sans Extra Condensed"/>
                <a:cs typeface="Fira Sans Extra Condensed"/>
                <a:sym typeface="Fira Sans Extra Condensed"/>
              </a:rPr>
              <a:t>Docker Network</a:t>
            </a:r>
            <a:endParaRPr b="1"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Kết nối các container</a:t>
            </a:r>
            <a:endParaRPr b="0" i="0" sz="1500" u="none" cap="none" strike="noStrike">
              <a:solidFill>
                <a:schemeClr val="dk1"/>
              </a:solidFill>
              <a:latin typeface="Fira Sans Extra Condensed"/>
              <a:ea typeface="Fira Sans Extra Condensed"/>
              <a:cs typeface="Fira Sans Extra Condensed"/>
              <a:sym typeface="Fira Sans Extra Condensed"/>
            </a:endParaRPr>
          </a:p>
          <a:p>
            <a:pPr indent="-323850" lvl="0" marL="457200" marR="0" rtl="0" algn="l">
              <a:lnSpc>
                <a:spcPct val="150000"/>
              </a:lnSpc>
              <a:spcBef>
                <a:spcPts val="0"/>
              </a:spcBef>
              <a:spcAft>
                <a:spcPts val="0"/>
              </a:spcAft>
              <a:buClr>
                <a:schemeClr val="dk1"/>
              </a:buClr>
              <a:buSzPts val="1500"/>
              <a:buFont typeface="Fira Sans Extra Condensed"/>
              <a:buChar char="●"/>
            </a:pPr>
            <a:r>
              <a:rPr b="0" i="0" lang="en" sz="1500" u="none" cap="none" strike="noStrike">
                <a:solidFill>
                  <a:schemeClr val="dk1"/>
                </a:solidFill>
                <a:latin typeface="Fira Sans Extra Condensed"/>
                <a:ea typeface="Fira Sans Extra Condensed"/>
                <a:cs typeface="Fira Sans Extra Condensed"/>
                <a:sym typeface="Fira Sans Extra Condensed"/>
              </a:rPr>
              <a:t>Hỗ trợ giao tiếp giữa các service</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pic>
        <p:nvPicPr>
          <p:cNvPr id="121" name="Google Shape;121;g3de1a43aa05_0_70"/>
          <p:cNvPicPr preferRelativeResize="0"/>
          <p:nvPr/>
        </p:nvPicPr>
        <p:blipFill rotWithShape="1">
          <a:blip r:embed="rId3">
            <a:alphaModFix/>
          </a:blip>
          <a:srcRect b="0" l="0" r="0" t="0"/>
          <a:stretch/>
        </p:blipFill>
        <p:spPr>
          <a:xfrm>
            <a:off x="312950" y="1129075"/>
            <a:ext cx="4850824" cy="3344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e1a43aa05_0_85"/>
          <p:cNvSpPr txBox="1"/>
          <p:nvPr>
            <p:ph type="title"/>
          </p:nvPr>
        </p:nvSpPr>
        <p:spPr>
          <a:xfrm>
            <a:off x="411300" y="258450"/>
            <a:ext cx="8321400" cy="5727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lang="en"/>
              <a:t>Docker trong môi trường Microservices</a:t>
            </a:r>
            <a:endParaRPr/>
          </a:p>
        </p:txBody>
      </p:sp>
      <p:pic>
        <p:nvPicPr>
          <p:cNvPr id="127" name="Google Shape;127;g3de1a43aa05_0_85"/>
          <p:cNvPicPr preferRelativeResize="0"/>
          <p:nvPr/>
        </p:nvPicPr>
        <p:blipFill rotWithShape="1">
          <a:blip r:embed="rId3">
            <a:alphaModFix/>
          </a:blip>
          <a:srcRect b="0" l="0" r="0" t="0"/>
          <a:stretch/>
        </p:blipFill>
        <p:spPr>
          <a:xfrm>
            <a:off x="411302" y="836999"/>
            <a:ext cx="8321401" cy="38766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g3de1a43aa05_0_103"/>
          <p:cNvPicPr preferRelativeResize="0"/>
          <p:nvPr/>
        </p:nvPicPr>
        <p:blipFill rotWithShape="1">
          <a:blip r:embed="rId3">
            <a:alphaModFix/>
          </a:blip>
          <a:srcRect b="0" l="0" r="0" t="0"/>
          <a:stretch/>
        </p:blipFill>
        <p:spPr>
          <a:xfrm>
            <a:off x="1412575" y="0"/>
            <a:ext cx="6318847"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3de1a43aa05_0_110"/>
          <p:cNvPicPr preferRelativeResize="0"/>
          <p:nvPr/>
        </p:nvPicPr>
        <p:blipFill rotWithShape="1">
          <a:blip r:embed="rId3">
            <a:alphaModFix/>
          </a:blip>
          <a:srcRect b="0" l="0" r="0" t="0"/>
          <a:stretch/>
        </p:blipFill>
        <p:spPr>
          <a:xfrm>
            <a:off x="-12" y="0"/>
            <a:ext cx="5992228" cy="5143499"/>
          </a:xfrm>
          <a:prstGeom prst="rect">
            <a:avLst/>
          </a:prstGeom>
          <a:noFill/>
          <a:ln>
            <a:noFill/>
          </a:ln>
        </p:spPr>
      </p:pic>
      <p:sp>
        <p:nvSpPr>
          <p:cNvPr id="138" name="Google Shape;138;g3de1a43aa05_0_110"/>
          <p:cNvSpPr txBox="1"/>
          <p:nvPr/>
        </p:nvSpPr>
        <p:spPr>
          <a:xfrm>
            <a:off x="6131350" y="831425"/>
            <a:ext cx="2644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Mỗi service dùng collection riêng</a:t>
            </a:r>
            <a:br>
              <a:rPr b="0" i="0" lang="en" sz="1500" u="none" cap="none" strike="noStrike">
                <a:solidFill>
                  <a:schemeClr val="dk1"/>
                </a:solidFill>
                <a:latin typeface="Fira Sans Extra Condensed"/>
                <a:ea typeface="Fira Sans Extra Condensed"/>
                <a:cs typeface="Fira Sans Extra Condensed"/>
                <a:sym typeface="Fira Sans Extra Condensed"/>
              </a:rPr>
            </a:br>
            <a:r>
              <a:rPr b="0" i="0" lang="en" sz="1500" u="none" cap="none" strike="noStrike">
                <a:solidFill>
                  <a:schemeClr val="dk1"/>
                </a:solidFill>
                <a:latin typeface="Fira Sans Extra Condensed"/>
                <a:ea typeface="Fira Sans Extra Condensed"/>
                <a:cs typeface="Fira Sans Extra Condensed"/>
                <a:sym typeface="Fira Sans Extra Condensed"/>
              </a:rPr>
              <a:t>→ Sở hữu dữ liệu độc lập</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
        <p:nvSpPr>
          <p:cNvPr id="139" name="Google Shape;139;g3de1a43aa05_0_110"/>
          <p:cNvSpPr txBox="1"/>
          <p:nvPr/>
        </p:nvSpPr>
        <p:spPr>
          <a:xfrm>
            <a:off x="6131350" y="1477925"/>
            <a:ext cx="2644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Giảm phụ thuộc chéo</a:t>
            </a:r>
            <a:br>
              <a:rPr b="0" i="0" lang="en" sz="1500" u="none" cap="none" strike="noStrike">
                <a:solidFill>
                  <a:schemeClr val="dk1"/>
                </a:solidFill>
                <a:latin typeface="Fira Sans Extra Condensed"/>
                <a:ea typeface="Fira Sans Extra Condensed"/>
                <a:cs typeface="Fira Sans Extra Condensed"/>
                <a:sym typeface="Fira Sans Extra Condensed"/>
              </a:rPr>
            </a:br>
            <a:r>
              <a:rPr b="0" i="0" lang="en" sz="1500" u="none" cap="none" strike="noStrike">
                <a:solidFill>
                  <a:schemeClr val="dk1"/>
                </a:solidFill>
                <a:latin typeface="Fira Sans Extra Condensed"/>
                <a:ea typeface="Fira Sans Extra Condensed"/>
                <a:cs typeface="Fira Sans Extra Condensed"/>
                <a:sym typeface="Fira Sans Extra Condensed"/>
              </a:rPr>
              <a:t>→ Dễ phát triển &amp; bảo trì</a:t>
            </a:r>
            <a:endParaRPr b="0" i="0" sz="1500" u="none" cap="none" strike="noStrike">
              <a:solidFill>
                <a:schemeClr val="dk1"/>
              </a:solidFill>
              <a:latin typeface="Fira Sans Extra Condensed"/>
              <a:ea typeface="Fira Sans Extra Condensed"/>
              <a:cs typeface="Fira Sans Extra Condensed"/>
              <a:sym typeface="Fira Sans Extra Condensed"/>
            </a:endParaRPr>
          </a:p>
        </p:txBody>
      </p:sp>
      <p:sp>
        <p:nvSpPr>
          <p:cNvPr id="140" name="Google Shape;140;g3de1a43aa05_0_110"/>
          <p:cNvSpPr txBox="1"/>
          <p:nvPr/>
        </p:nvSpPr>
        <p:spPr>
          <a:xfrm>
            <a:off x="6131350" y="2124425"/>
            <a:ext cx="2644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Fira Sans Extra Condensed"/>
                <a:ea typeface="Fira Sans Extra Condensed"/>
                <a:cs typeface="Fira Sans Extra Condensed"/>
                <a:sym typeface="Fira Sans Extra Condensed"/>
              </a:rPr>
              <a:t>Thiết kế theo domain</a:t>
            </a:r>
            <a:br>
              <a:rPr b="0" i="0" lang="en" sz="1500" u="none" cap="none" strike="noStrike">
                <a:solidFill>
                  <a:schemeClr val="dk1"/>
                </a:solidFill>
                <a:latin typeface="Fira Sans Extra Condensed"/>
                <a:ea typeface="Fira Sans Extra Condensed"/>
                <a:cs typeface="Fira Sans Extra Condensed"/>
                <a:sym typeface="Fira Sans Extra Condensed"/>
              </a:rPr>
            </a:br>
            <a:r>
              <a:rPr b="0" i="0" lang="en" sz="1500" u="none" cap="none" strike="noStrike">
                <a:solidFill>
                  <a:schemeClr val="dk1"/>
                </a:solidFill>
                <a:latin typeface="Fira Sans Extra Condensed"/>
                <a:ea typeface="Fira Sans Extra Condensed"/>
                <a:cs typeface="Fira Sans Extra Condensed"/>
                <a:sym typeface="Fira Sans Extra Condensed"/>
              </a:rPr>
              <a:t>→ Đảm bảo nhất quán dữ liệu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pic>
        <p:nvPicPr>
          <p:cNvPr descr="image.png" id="145" name="Google Shape;145;g38b6a83bb94_0_13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46" name="Google Shape;146;g38b6a83bb94_0_134"/>
          <p:cNvPicPr preferRelativeResize="0"/>
          <p:nvPr/>
        </p:nvPicPr>
        <p:blipFill rotWithShape="1">
          <a:blip r:embed="rId4">
            <a:alphaModFix/>
          </a:blip>
          <a:srcRect b="0" l="0" r="0" t="0"/>
          <a:stretch/>
        </p:blipFill>
        <p:spPr>
          <a:xfrm>
            <a:off x="428625" y="1614488"/>
            <a:ext cx="2571750" cy="2628900"/>
          </a:xfrm>
          <a:prstGeom prst="rect">
            <a:avLst/>
          </a:prstGeom>
          <a:noFill/>
          <a:ln>
            <a:noFill/>
          </a:ln>
        </p:spPr>
      </p:pic>
      <p:pic>
        <p:nvPicPr>
          <p:cNvPr descr="image.png" id="147" name="Google Shape;147;g38b6a83bb94_0_134"/>
          <p:cNvPicPr preferRelativeResize="0"/>
          <p:nvPr/>
        </p:nvPicPr>
        <p:blipFill rotWithShape="1">
          <a:blip r:embed="rId5">
            <a:alphaModFix/>
          </a:blip>
          <a:srcRect b="0" l="0" r="0" t="0"/>
          <a:stretch/>
        </p:blipFill>
        <p:spPr>
          <a:xfrm>
            <a:off x="3286125" y="1614488"/>
            <a:ext cx="2571750" cy="2628900"/>
          </a:xfrm>
          <a:prstGeom prst="rect">
            <a:avLst/>
          </a:prstGeom>
          <a:noFill/>
          <a:ln>
            <a:noFill/>
          </a:ln>
        </p:spPr>
      </p:pic>
      <p:pic>
        <p:nvPicPr>
          <p:cNvPr descr="image.png" id="148" name="Google Shape;148;g38b6a83bb94_0_134"/>
          <p:cNvPicPr preferRelativeResize="0"/>
          <p:nvPr/>
        </p:nvPicPr>
        <p:blipFill rotWithShape="1">
          <a:blip r:embed="rId6">
            <a:alphaModFix/>
          </a:blip>
          <a:srcRect b="0" l="0" r="0" t="0"/>
          <a:stretch/>
        </p:blipFill>
        <p:spPr>
          <a:xfrm>
            <a:off x="6143625" y="1614488"/>
            <a:ext cx="2571750" cy="2628900"/>
          </a:xfrm>
          <a:prstGeom prst="rect">
            <a:avLst/>
          </a:prstGeom>
          <a:noFill/>
          <a:ln>
            <a:noFill/>
          </a:ln>
        </p:spPr>
      </p:pic>
      <p:sp>
        <p:nvSpPr>
          <p:cNvPr id="149" name="Google Shape;149;g38b6a83bb94_0_134"/>
          <p:cNvSpPr txBox="1"/>
          <p:nvPr/>
        </p:nvSpPr>
        <p:spPr>
          <a:xfrm>
            <a:off x="596860" y="2386013"/>
            <a:ext cx="22353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rgbClr val="0F172A"/>
                </a:solidFill>
                <a:latin typeface="Poppins"/>
                <a:ea typeface="Poppins"/>
                <a:cs typeface="Poppins"/>
                <a:sym typeface="Poppins"/>
              </a:rPr>
              <a:t>Đồng Bộ Dịch Vụ</a:t>
            </a:r>
            <a:endParaRPr b="0" i="0" sz="1300" u="none" cap="none" strike="noStrike">
              <a:solidFill>
                <a:srgbClr val="000000"/>
              </a:solidFill>
              <a:latin typeface="Arial"/>
              <a:ea typeface="Arial"/>
              <a:cs typeface="Arial"/>
              <a:sym typeface="Arial"/>
            </a:endParaRPr>
          </a:p>
        </p:txBody>
      </p:sp>
      <p:sp>
        <p:nvSpPr>
          <p:cNvPr id="150" name="Google Shape;150;g38b6a83bb94_0_134"/>
          <p:cNvSpPr txBox="1"/>
          <p:nvPr/>
        </p:nvSpPr>
        <p:spPr>
          <a:xfrm>
            <a:off x="650081" y="2771775"/>
            <a:ext cx="2129100" cy="96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Đòi hỏi sự phối hợp đồng bộ giữa nhiều dịch vụ độc lập.</a:t>
            </a:r>
            <a:endParaRPr b="0" i="0" sz="1500" u="none" cap="none" strike="noStrike">
              <a:solidFill>
                <a:srgbClr val="000000"/>
              </a:solidFill>
              <a:latin typeface="Arial"/>
              <a:ea typeface="Arial"/>
              <a:cs typeface="Arial"/>
              <a:sym typeface="Arial"/>
            </a:endParaRPr>
          </a:p>
        </p:txBody>
      </p:sp>
      <p:sp>
        <p:nvSpPr>
          <p:cNvPr id="151" name="Google Shape;151;g38b6a83bb94_0_134"/>
          <p:cNvSpPr txBox="1"/>
          <p:nvPr/>
        </p:nvSpPr>
        <p:spPr>
          <a:xfrm>
            <a:off x="3286124" y="2386025"/>
            <a:ext cx="25716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rgbClr val="0F172A"/>
                </a:solidFill>
                <a:latin typeface="Poppins"/>
                <a:ea typeface="Poppins"/>
                <a:cs typeface="Poppins"/>
                <a:sym typeface="Poppins"/>
              </a:rPr>
              <a:t>Hệ Sinh Thái 3rd Party</a:t>
            </a:r>
            <a:endParaRPr b="0" i="0" sz="1300" u="none" cap="none" strike="noStrike">
              <a:solidFill>
                <a:srgbClr val="000000"/>
              </a:solidFill>
              <a:latin typeface="Arial"/>
              <a:ea typeface="Arial"/>
              <a:cs typeface="Arial"/>
              <a:sym typeface="Arial"/>
            </a:endParaRPr>
          </a:p>
        </p:txBody>
      </p:sp>
      <p:sp>
        <p:nvSpPr>
          <p:cNvPr id="152" name="Google Shape;152;g38b6a83bb94_0_134"/>
          <p:cNvSpPr txBox="1"/>
          <p:nvPr/>
        </p:nvSpPr>
        <p:spPr>
          <a:xfrm>
            <a:off x="3507581" y="2771775"/>
            <a:ext cx="2129100" cy="96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Tích hợp các hệ thống lưu trữ và message broker mạnh mẽ.</a:t>
            </a:r>
            <a:endParaRPr b="0" i="0" sz="1500" u="none" cap="none" strike="noStrike">
              <a:solidFill>
                <a:srgbClr val="000000"/>
              </a:solidFill>
              <a:latin typeface="Arial"/>
              <a:ea typeface="Arial"/>
              <a:cs typeface="Arial"/>
              <a:sym typeface="Arial"/>
            </a:endParaRPr>
          </a:p>
        </p:txBody>
      </p:sp>
      <p:sp>
        <p:nvSpPr>
          <p:cNvPr id="153" name="Google Shape;153;g38b6a83bb94_0_134"/>
          <p:cNvSpPr txBox="1"/>
          <p:nvPr/>
        </p:nvSpPr>
        <p:spPr>
          <a:xfrm>
            <a:off x="6106648" y="2386025"/>
            <a:ext cx="2645700" cy="26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700"/>
              <a:buFont typeface="Arial"/>
              <a:buNone/>
            </a:pPr>
            <a:r>
              <a:rPr b="1" i="0" lang="en" sz="1700" u="none" cap="none" strike="noStrike">
                <a:solidFill>
                  <a:srgbClr val="0F172A"/>
                </a:solidFill>
                <a:latin typeface="Poppins"/>
                <a:ea typeface="Poppins"/>
                <a:cs typeface="Poppins"/>
                <a:sym typeface="Poppins"/>
              </a:rPr>
              <a:t>Công Nghệ Container</a:t>
            </a:r>
            <a:endParaRPr b="0" i="0" sz="1300" u="none" cap="none" strike="noStrike">
              <a:solidFill>
                <a:srgbClr val="000000"/>
              </a:solidFill>
              <a:latin typeface="Arial"/>
              <a:ea typeface="Arial"/>
              <a:cs typeface="Arial"/>
              <a:sym typeface="Arial"/>
            </a:endParaRPr>
          </a:p>
        </p:txBody>
      </p:sp>
      <p:sp>
        <p:nvSpPr>
          <p:cNvPr id="154" name="Google Shape;154;g38b6a83bb94_0_134"/>
          <p:cNvSpPr txBox="1"/>
          <p:nvPr/>
        </p:nvSpPr>
        <p:spPr>
          <a:xfrm>
            <a:off x="6106952" y="2771775"/>
            <a:ext cx="2645400" cy="133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Áp dụng Container hóa để đảm bảo tính nhất quán trên các môi trường và dễ dàng tự động hóa quy trình triển khai.</a:t>
            </a:r>
            <a:endParaRPr b="0" i="0" sz="1500" u="none" cap="none" strike="noStrike">
              <a:solidFill>
                <a:srgbClr val="000000"/>
              </a:solidFill>
              <a:latin typeface="Arial"/>
              <a:ea typeface="Arial"/>
              <a:cs typeface="Arial"/>
              <a:sym typeface="Arial"/>
            </a:endParaRPr>
          </a:p>
        </p:txBody>
      </p:sp>
      <p:pic>
        <p:nvPicPr>
          <p:cNvPr descr="image.png" id="155" name="Google Shape;155;g38b6a83bb94_0_134"/>
          <p:cNvPicPr preferRelativeResize="0"/>
          <p:nvPr/>
        </p:nvPicPr>
        <p:blipFill rotWithShape="1">
          <a:blip r:embed="rId7">
            <a:alphaModFix/>
          </a:blip>
          <a:srcRect b="0" l="0" r="0" t="0"/>
          <a:stretch/>
        </p:blipFill>
        <p:spPr>
          <a:xfrm>
            <a:off x="1543050" y="1871663"/>
            <a:ext cx="342900" cy="342900"/>
          </a:xfrm>
          <a:prstGeom prst="rect">
            <a:avLst/>
          </a:prstGeom>
          <a:noFill/>
          <a:ln>
            <a:noFill/>
          </a:ln>
        </p:spPr>
      </p:pic>
      <p:pic>
        <p:nvPicPr>
          <p:cNvPr descr="image.png" id="156" name="Google Shape;156;g38b6a83bb94_0_134"/>
          <p:cNvPicPr preferRelativeResize="0"/>
          <p:nvPr/>
        </p:nvPicPr>
        <p:blipFill rotWithShape="1">
          <a:blip r:embed="rId8">
            <a:alphaModFix/>
          </a:blip>
          <a:srcRect b="0" l="0" r="0" t="0"/>
          <a:stretch/>
        </p:blipFill>
        <p:spPr>
          <a:xfrm>
            <a:off x="4421981" y="1871663"/>
            <a:ext cx="300038" cy="342900"/>
          </a:xfrm>
          <a:prstGeom prst="rect">
            <a:avLst/>
          </a:prstGeom>
          <a:noFill/>
          <a:ln>
            <a:noFill/>
          </a:ln>
        </p:spPr>
      </p:pic>
      <p:pic>
        <p:nvPicPr>
          <p:cNvPr descr="image.png" id="157" name="Google Shape;157;g38b6a83bb94_0_134"/>
          <p:cNvPicPr preferRelativeResize="0"/>
          <p:nvPr/>
        </p:nvPicPr>
        <p:blipFill rotWithShape="1">
          <a:blip r:embed="rId9">
            <a:alphaModFix/>
          </a:blip>
          <a:srcRect b="0" l="0" r="0" t="0"/>
          <a:stretch/>
        </p:blipFill>
        <p:spPr>
          <a:xfrm>
            <a:off x="7215188" y="1871663"/>
            <a:ext cx="428625" cy="342900"/>
          </a:xfrm>
          <a:prstGeom prst="rect">
            <a:avLst/>
          </a:prstGeom>
          <a:noFill/>
          <a:ln>
            <a:noFill/>
          </a:ln>
        </p:spPr>
      </p:pic>
      <p:sp>
        <p:nvSpPr>
          <p:cNvPr id="158" name="Google Shape;158;g38b6a83bb94_0_13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F172A"/>
                </a:solidFill>
                <a:latin typeface="Poppins"/>
                <a:ea typeface="Poppins"/>
                <a:cs typeface="Poppins"/>
                <a:sym typeface="Poppins"/>
              </a:rPr>
              <a:t>Triển Khai </a:t>
            </a:r>
            <a:r>
              <a:rPr b="1" i="0" lang="en" sz="2300" u="none" cap="none" strike="noStrike">
                <a:solidFill>
                  <a:schemeClr val="dk1"/>
                </a:solidFill>
                <a:latin typeface="Poppins"/>
                <a:ea typeface="Poppins"/>
                <a:cs typeface="Poppins"/>
                <a:sym typeface="Poppins"/>
              </a:rPr>
              <a:t>Hệ Thống Thực Tế</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pic>
        <p:nvPicPr>
          <p:cNvPr descr="image.png" id="163" name="Google Shape;163;g38b6a83bb94_0_15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64" name="Google Shape;164;g38b6a83bb94_0_151"/>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165" name="Google Shape;165;g38b6a83bb94_0_151"/>
          <p:cNvSpPr txBox="1"/>
          <p:nvPr/>
        </p:nvSpPr>
        <p:spPr>
          <a:xfrm>
            <a:off x="428625" y="969263"/>
            <a:ext cx="39648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Trong giai đoạn phát triển và kiểm thử, </a:t>
            </a:r>
            <a:r>
              <a:rPr b="1" i="0" lang="en" sz="1500" u="none" cap="none" strike="noStrike">
                <a:solidFill>
                  <a:schemeClr val="dk1"/>
                </a:solidFill>
                <a:latin typeface="Lato"/>
                <a:ea typeface="Lato"/>
                <a:cs typeface="Lato"/>
                <a:sym typeface="Lato"/>
              </a:rPr>
              <a:t>Docker Compose</a:t>
            </a:r>
            <a:r>
              <a:rPr b="0" i="0" lang="en" sz="1500" u="none" cap="none" strike="noStrike">
                <a:solidFill>
                  <a:srgbClr val="334155"/>
                </a:solidFill>
                <a:latin typeface="Lato"/>
                <a:ea typeface="Lato"/>
                <a:cs typeface="Lato"/>
                <a:sym typeface="Lato"/>
              </a:rPr>
              <a:t> được chọn làm công cụ quản lý và điều phối chính.</a:t>
            </a:r>
            <a:endParaRPr b="0" i="0" sz="1500" u="none" cap="none" strike="noStrike">
              <a:solidFill>
                <a:srgbClr val="000000"/>
              </a:solidFill>
              <a:latin typeface="Arial"/>
              <a:ea typeface="Arial"/>
              <a:cs typeface="Arial"/>
              <a:sym typeface="Arial"/>
            </a:endParaRPr>
          </a:p>
        </p:txBody>
      </p:sp>
      <p:sp>
        <p:nvSpPr>
          <p:cNvPr id="166" name="Google Shape;166;g38b6a83bb94_0_151"/>
          <p:cNvSpPr txBox="1"/>
          <p:nvPr/>
        </p:nvSpPr>
        <p:spPr>
          <a:xfrm>
            <a:off x="428625" y="1991544"/>
            <a:ext cx="3964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Thay vì cài đặt thủ công, mọi thứ được định nghĩa trong file docker-compose.yml.</a:t>
            </a:r>
            <a:endParaRPr b="0" i="0" sz="1500" u="none" cap="none" strike="noStrike">
              <a:solidFill>
                <a:srgbClr val="000000"/>
              </a:solidFill>
              <a:latin typeface="Arial"/>
              <a:ea typeface="Arial"/>
              <a:cs typeface="Arial"/>
              <a:sym typeface="Arial"/>
            </a:endParaRPr>
          </a:p>
        </p:txBody>
      </p:sp>
      <p:sp>
        <p:nvSpPr>
          <p:cNvPr id="167" name="Google Shape;167;g38b6a83bb94_0_151"/>
          <p:cNvSpPr txBox="1"/>
          <p:nvPr/>
        </p:nvSpPr>
        <p:spPr>
          <a:xfrm>
            <a:off x="607219" y="2748963"/>
            <a:ext cx="3786300" cy="9696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334155"/>
                </a:solidFill>
                <a:latin typeface="Lato"/>
                <a:ea typeface="Lato"/>
                <a:cs typeface="Lato"/>
                <a:sym typeface="Lato"/>
              </a:rPr>
              <a:t>Dịch vụ hạ tầng (Infra):</a:t>
            </a:r>
            <a:r>
              <a:rPr b="0" i="0" lang="en" sz="1500" u="none" cap="none" strike="noStrike">
                <a:solidFill>
                  <a:srgbClr val="334155"/>
                </a:solidFill>
                <a:latin typeface="Lato"/>
                <a:ea typeface="Lato"/>
                <a:cs typeface="Lato"/>
                <a:sym typeface="Lato"/>
              </a:rPr>
              <a:t> Zookeeper, Kafka, PostgreSQL, MongoDB, Redis phải chạy trước.</a:t>
            </a:r>
            <a:endParaRPr b="0" i="0" sz="1500" u="none" cap="none" strike="noStrike">
              <a:solidFill>
                <a:srgbClr val="000000"/>
              </a:solidFill>
              <a:latin typeface="Arial"/>
              <a:ea typeface="Arial"/>
              <a:cs typeface="Arial"/>
              <a:sym typeface="Arial"/>
            </a:endParaRPr>
          </a:p>
        </p:txBody>
      </p:sp>
      <p:sp>
        <p:nvSpPr>
          <p:cNvPr id="168" name="Google Shape;168;g38b6a83bb94_0_151"/>
          <p:cNvSpPr txBox="1"/>
          <p:nvPr/>
        </p:nvSpPr>
        <p:spPr>
          <a:xfrm>
            <a:off x="521494" y="3207544"/>
            <a:ext cx="85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9" name="Google Shape;169;g38b6a83bb94_0_151"/>
          <p:cNvSpPr txBox="1"/>
          <p:nvPr/>
        </p:nvSpPr>
        <p:spPr>
          <a:xfrm>
            <a:off x="607219" y="3718569"/>
            <a:ext cx="3786300" cy="9696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334155"/>
                </a:solidFill>
                <a:latin typeface="Lato"/>
                <a:ea typeface="Lato"/>
                <a:cs typeface="Lato"/>
                <a:sym typeface="Lato"/>
              </a:rPr>
              <a:t>Dịch vụ ứng dụng (Business):</a:t>
            </a:r>
            <a:r>
              <a:rPr b="0" i="0" lang="en" sz="1500" u="none" cap="none" strike="noStrike">
                <a:solidFill>
                  <a:srgbClr val="334155"/>
                </a:solidFill>
                <a:latin typeface="Lato"/>
                <a:ea typeface="Lato"/>
                <a:cs typeface="Lato"/>
                <a:sym typeface="Lato"/>
              </a:rPr>
              <a:t> Các Microservices khởi động sau khi hạ tầng đã sẵn sàng.</a:t>
            </a:r>
            <a:endParaRPr b="0" i="0" sz="1500" u="none" cap="none" strike="noStrike">
              <a:solidFill>
                <a:srgbClr val="000000"/>
              </a:solidFill>
              <a:latin typeface="Arial"/>
              <a:ea typeface="Arial"/>
              <a:cs typeface="Arial"/>
              <a:sym typeface="Arial"/>
            </a:endParaRPr>
          </a:p>
        </p:txBody>
      </p:sp>
      <p:pic>
        <p:nvPicPr>
          <p:cNvPr descr="image.png" id="170" name="Google Shape;170;g38b6a83bb94_0_151"/>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171" name="Google Shape;171;g38b6a83bb94_0_151"/>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F172A"/>
                </a:solidFill>
                <a:latin typeface="Poppins"/>
                <a:ea typeface="Poppins"/>
                <a:cs typeface="Poppins"/>
                <a:sym typeface="Poppins"/>
              </a:rPr>
              <a:t>Điều Phối Với </a:t>
            </a:r>
            <a:r>
              <a:rPr b="1" i="0" lang="en" sz="2300" u="none" cap="none" strike="noStrike">
                <a:solidFill>
                  <a:schemeClr val="dk1"/>
                </a:solidFill>
                <a:latin typeface="Poppins"/>
                <a:ea typeface="Poppins"/>
                <a:cs typeface="Poppins"/>
                <a:sym typeface="Poppins"/>
              </a:rPr>
              <a:t>Docker Compose</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pic>
        <p:nvPicPr>
          <p:cNvPr descr="image.png" id="176" name="Google Shape;176;g38b6a83bb94_0_16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77" name="Google Shape;177;g38b6a83bb94_0_164"/>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178" name="Google Shape;178;g38b6a83bb94_0_164"/>
          <p:cNvSpPr txBox="1"/>
          <p:nvPr/>
        </p:nvSpPr>
        <p:spPr>
          <a:xfrm>
            <a:off x="428625" y="1261263"/>
            <a:ext cx="3964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Quá trình </a:t>
            </a:r>
            <a:r>
              <a:rPr b="1" i="0" lang="en" sz="1500" u="none" cap="none" strike="noStrike">
                <a:solidFill>
                  <a:srgbClr val="334155"/>
                </a:solidFill>
                <a:latin typeface="Lato"/>
                <a:ea typeface="Lato"/>
                <a:cs typeface="Lato"/>
                <a:sym typeface="Lato"/>
              </a:rPr>
              <a:t>Dockerizing</a:t>
            </a:r>
            <a:r>
              <a:rPr b="0" i="0" lang="en" sz="1500" u="none" cap="none" strike="noStrike">
                <a:solidFill>
                  <a:srgbClr val="334155"/>
                </a:solidFill>
                <a:latin typeface="Lato"/>
                <a:ea typeface="Lato"/>
                <a:cs typeface="Lato"/>
                <a:sym typeface="Lato"/>
              </a:rPr>
              <a:t> đảm bảo mỗi dịch vụ có một môi trường chạy biệt lập và đồng nhất.</a:t>
            </a:r>
            <a:endParaRPr b="0" i="0" sz="1500" u="none" cap="none" strike="noStrike">
              <a:solidFill>
                <a:srgbClr val="000000"/>
              </a:solidFill>
              <a:latin typeface="Arial"/>
              <a:ea typeface="Arial"/>
              <a:cs typeface="Arial"/>
              <a:sym typeface="Arial"/>
            </a:endParaRPr>
          </a:p>
        </p:txBody>
      </p:sp>
      <p:sp>
        <p:nvSpPr>
          <p:cNvPr id="179" name="Google Shape;179;g38b6a83bb94_0_164"/>
          <p:cNvSpPr txBox="1"/>
          <p:nvPr/>
        </p:nvSpPr>
        <p:spPr>
          <a:xfrm>
            <a:off x="521494" y="1957456"/>
            <a:ext cx="85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34155"/>
                </a:solidFill>
                <a:latin typeface="Lato"/>
                <a:ea typeface="Lato"/>
                <a:cs typeface="Lato"/>
                <a:sym typeface="Lato"/>
              </a:rPr>
              <a:t>•</a:t>
            </a:r>
            <a:endParaRPr b="0" i="0" sz="1100" u="none" cap="none" strike="noStrike">
              <a:solidFill>
                <a:srgbClr val="000000"/>
              </a:solidFill>
              <a:latin typeface="Arial"/>
              <a:ea typeface="Arial"/>
              <a:cs typeface="Arial"/>
              <a:sym typeface="Arial"/>
            </a:endParaRPr>
          </a:p>
        </p:txBody>
      </p:sp>
      <p:sp>
        <p:nvSpPr>
          <p:cNvPr id="180" name="Google Shape;180;g38b6a83bb94_0_164"/>
          <p:cNvSpPr txBox="1"/>
          <p:nvPr/>
        </p:nvSpPr>
        <p:spPr>
          <a:xfrm>
            <a:off x="607219" y="1917631"/>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Mỗi service (product, order) sở hữu một Dockerfile riêng biệt.</a:t>
            </a:r>
            <a:endParaRPr b="0" i="0" sz="1500" u="none" cap="none" strike="noStrike">
              <a:solidFill>
                <a:srgbClr val="000000"/>
              </a:solidFill>
              <a:latin typeface="Arial"/>
              <a:ea typeface="Arial"/>
              <a:cs typeface="Arial"/>
              <a:sym typeface="Arial"/>
            </a:endParaRPr>
          </a:p>
        </p:txBody>
      </p:sp>
      <p:sp>
        <p:nvSpPr>
          <p:cNvPr id="181" name="Google Shape;181;g38b6a83bb94_0_164"/>
          <p:cNvSpPr txBox="1"/>
          <p:nvPr/>
        </p:nvSpPr>
        <p:spPr>
          <a:xfrm>
            <a:off x="521494" y="2643188"/>
            <a:ext cx="85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34155"/>
                </a:solidFill>
                <a:latin typeface="Lato"/>
                <a:ea typeface="Lato"/>
                <a:cs typeface="Lato"/>
                <a:sym typeface="Lato"/>
              </a:rPr>
              <a:t>•</a:t>
            </a:r>
            <a:endParaRPr b="0" i="0" sz="1100" u="none" cap="none" strike="noStrike">
              <a:solidFill>
                <a:srgbClr val="000000"/>
              </a:solidFill>
              <a:latin typeface="Arial"/>
              <a:ea typeface="Arial"/>
              <a:cs typeface="Arial"/>
              <a:sym typeface="Arial"/>
            </a:endParaRPr>
          </a:p>
        </p:txBody>
      </p:sp>
      <p:sp>
        <p:nvSpPr>
          <p:cNvPr id="182" name="Google Shape;182;g38b6a83bb94_0_164"/>
          <p:cNvSpPr txBox="1"/>
          <p:nvPr/>
        </p:nvSpPr>
        <p:spPr>
          <a:xfrm>
            <a:off x="607219" y="2643188"/>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Đóng gói mã nguồn Java đã biên dịch (file .jar).</a:t>
            </a:r>
            <a:endParaRPr b="0" i="0" sz="1500" u="none" cap="none" strike="noStrike">
              <a:solidFill>
                <a:srgbClr val="000000"/>
              </a:solidFill>
              <a:latin typeface="Arial"/>
              <a:ea typeface="Arial"/>
              <a:cs typeface="Arial"/>
              <a:sym typeface="Arial"/>
            </a:endParaRPr>
          </a:p>
        </p:txBody>
      </p:sp>
      <p:sp>
        <p:nvSpPr>
          <p:cNvPr id="183" name="Google Shape;183;g38b6a83bb94_0_164"/>
          <p:cNvSpPr txBox="1"/>
          <p:nvPr/>
        </p:nvSpPr>
        <p:spPr>
          <a:xfrm>
            <a:off x="521494" y="3290869"/>
            <a:ext cx="85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34155"/>
                </a:solidFill>
                <a:latin typeface="Lato"/>
                <a:ea typeface="Lato"/>
                <a:cs typeface="Lato"/>
                <a:sym typeface="Lato"/>
              </a:rPr>
              <a:t>•</a:t>
            </a:r>
            <a:endParaRPr b="0" i="0" sz="1100" u="none" cap="none" strike="noStrike">
              <a:solidFill>
                <a:srgbClr val="000000"/>
              </a:solidFill>
              <a:latin typeface="Arial"/>
              <a:ea typeface="Arial"/>
              <a:cs typeface="Arial"/>
              <a:sym typeface="Arial"/>
            </a:endParaRPr>
          </a:p>
        </p:txBody>
      </p:sp>
      <p:sp>
        <p:nvSpPr>
          <p:cNvPr id="184" name="Google Shape;184;g38b6a83bb94_0_164"/>
          <p:cNvSpPr txBox="1"/>
          <p:nvPr/>
        </p:nvSpPr>
        <p:spPr>
          <a:xfrm>
            <a:off x="607219" y="3290869"/>
            <a:ext cx="3786300" cy="2310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Tích hợp cùng môi trường JRE cần thiết.</a:t>
            </a:r>
            <a:endParaRPr b="0" i="0" sz="1500" u="none" cap="none" strike="noStrike">
              <a:solidFill>
                <a:srgbClr val="000000"/>
              </a:solidFill>
              <a:latin typeface="Arial"/>
              <a:ea typeface="Arial"/>
              <a:cs typeface="Arial"/>
              <a:sym typeface="Arial"/>
            </a:endParaRPr>
          </a:p>
        </p:txBody>
      </p:sp>
      <p:sp>
        <p:nvSpPr>
          <p:cNvPr id="185" name="Google Shape;185;g38b6a83bb94_0_164"/>
          <p:cNvSpPr txBox="1"/>
          <p:nvPr/>
        </p:nvSpPr>
        <p:spPr>
          <a:xfrm>
            <a:off x="521494" y="3652950"/>
            <a:ext cx="858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34155"/>
                </a:solidFill>
                <a:latin typeface="Lato"/>
                <a:ea typeface="Lato"/>
                <a:cs typeface="Lato"/>
                <a:sym typeface="Lato"/>
              </a:rPr>
              <a:t>•</a:t>
            </a:r>
            <a:endParaRPr b="0" i="0" sz="1100" u="none" cap="none" strike="noStrike">
              <a:solidFill>
                <a:srgbClr val="000000"/>
              </a:solidFill>
              <a:latin typeface="Arial"/>
              <a:ea typeface="Arial"/>
              <a:cs typeface="Arial"/>
              <a:sym typeface="Arial"/>
            </a:endParaRPr>
          </a:p>
        </p:txBody>
      </p:sp>
      <p:sp>
        <p:nvSpPr>
          <p:cNvPr id="186" name="Google Shape;186;g38b6a83bb94_0_164"/>
          <p:cNvSpPr txBox="1"/>
          <p:nvPr/>
        </p:nvSpPr>
        <p:spPr>
          <a:xfrm>
            <a:off x="607219" y="3652950"/>
            <a:ext cx="3786300" cy="60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Tạo thành một </a:t>
            </a:r>
            <a:r>
              <a:rPr b="1" i="0" lang="en" sz="1500" u="none" cap="none" strike="noStrike">
                <a:solidFill>
                  <a:schemeClr val="dk1"/>
                </a:solidFill>
                <a:latin typeface="Lato"/>
                <a:ea typeface="Lato"/>
                <a:cs typeface="Lato"/>
                <a:sym typeface="Lato"/>
              </a:rPr>
              <a:t>Docker Image siêu nhẹ</a:t>
            </a:r>
            <a:r>
              <a:rPr b="0" i="0" lang="en" sz="1500" u="none" cap="none" strike="noStrike">
                <a:solidFill>
                  <a:srgbClr val="334155"/>
                </a:solidFill>
                <a:latin typeface="Lato"/>
                <a:ea typeface="Lato"/>
                <a:cs typeface="Lato"/>
                <a:sym typeface="Lato"/>
              </a:rPr>
              <a:t>, dễ dàng di chuyển và khởi chạy ở bất cứ đâu.</a:t>
            </a:r>
            <a:endParaRPr b="0" i="0" sz="1500" u="none" cap="none" strike="noStrike">
              <a:solidFill>
                <a:srgbClr val="000000"/>
              </a:solidFill>
              <a:latin typeface="Arial"/>
              <a:ea typeface="Arial"/>
              <a:cs typeface="Arial"/>
              <a:sym typeface="Arial"/>
            </a:endParaRPr>
          </a:p>
        </p:txBody>
      </p:sp>
      <p:pic>
        <p:nvPicPr>
          <p:cNvPr descr="image.png" id="187" name="Google Shape;187;g38b6a83bb94_0_164"/>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188" name="Google Shape;188;g38b6a83bb94_0_16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F172A"/>
                </a:solidFill>
                <a:latin typeface="Poppins"/>
                <a:ea typeface="Poppins"/>
                <a:cs typeface="Poppins"/>
                <a:sym typeface="Poppins"/>
              </a:rPr>
              <a:t>Đóng Gói </a:t>
            </a:r>
            <a:r>
              <a:rPr b="1" i="0" lang="en" sz="2300" u="none" cap="none" strike="noStrike">
                <a:solidFill>
                  <a:schemeClr val="dk1"/>
                </a:solidFill>
                <a:latin typeface="Poppins"/>
                <a:ea typeface="Poppins"/>
                <a:cs typeface="Poppins"/>
                <a:sym typeface="Poppins"/>
              </a:rPr>
              <a:t>Microservices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pic>
        <p:nvPicPr>
          <p:cNvPr descr="image.png" id="193" name="Google Shape;193;g38b6a83bb94_0_18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4" name="Google Shape;194;g38b6a83bb94_0_180"/>
          <p:cNvSpPr txBox="1"/>
          <p:nvPr/>
        </p:nvSpPr>
        <p:spPr>
          <a:xfrm>
            <a:off x="1357313" y="1128713"/>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0F172A"/>
                </a:solidFill>
                <a:latin typeface="Lato"/>
                <a:ea typeface="Lato"/>
                <a:cs typeface="Lato"/>
                <a:sym typeface="Lato"/>
              </a:rPr>
              <a:t>Mạng nội bộ Docker (Bridge Network)</a:t>
            </a:r>
            <a:r>
              <a:rPr b="0" i="0" lang="en" sz="1500" u="none" cap="none" strike="noStrike">
                <a:solidFill>
                  <a:srgbClr val="334155"/>
                </a:solidFill>
                <a:latin typeface="Lato"/>
                <a:ea typeface="Lato"/>
                <a:cs typeface="Lato"/>
                <a:sym typeface="Lato"/>
              </a:rPr>
              <a:t>Tạo network chung để các container phân giải tên nhau (DNS Resolution) bằng `container_name` thay vì dùng IP tĩnh.</a:t>
            </a:r>
            <a:endParaRPr b="0" i="0" sz="1500" u="none" cap="none" strike="noStrike">
              <a:solidFill>
                <a:srgbClr val="000000"/>
              </a:solidFill>
              <a:latin typeface="Arial"/>
              <a:ea typeface="Arial"/>
              <a:cs typeface="Arial"/>
              <a:sym typeface="Arial"/>
            </a:endParaRPr>
          </a:p>
        </p:txBody>
      </p:sp>
      <p:sp>
        <p:nvSpPr>
          <p:cNvPr id="195" name="Google Shape;195;g38b6a83bb94_0_180"/>
          <p:cNvSpPr txBox="1"/>
          <p:nvPr/>
        </p:nvSpPr>
        <p:spPr>
          <a:xfrm>
            <a:off x="1357313" y="2028825"/>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0F172A"/>
                </a:solidFill>
                <a:latin typeface="Lato"/>
                <a:ea typeface="Lato"/>
                <a:cs typeface="Lato"/>
                <a:sym typeface="Lato"/>
              </a:rPr>
              <a:t>Thứ tự khởi động (Startup Sequence)</a:t>
            </a:r>
            <a:r>
              <a:rPr b="0" i="0" lang="en" sz="1500" u="none" cap="none" strike="noStrike">
                <a:solidFill>
                  <a:srgbClr val="334155"/>
                </a:solidFill>
                <a:latin typeface="Lato"/>
                <a:ea typeface="Lato"/>
                <a:cs typeface="Lato"/>
                <a:sym typeface="Lato"/>
              </a:rPr>
              <a:t>Giải quyết sự phụ thuộc chéo bằng thuộc tính `depends_on` kết hợp `healthcheck` (VD: Gateway đợi Eureka, Order đợi Kafka).</a:t>
            </a:r>
            <a:endParaRPr b="0" i="0" sz="1500" u="none" cap="none" strike="noStrike">
              <a:solidFill>
                <a:srgbClr val="000000"/>
              </a:solidFill>
              <a:latin typeface="Arial"/>
              <a:ea typeface="Arial"/>
              <a:cs typeface="Arial"/>
              <a:sym typeface="Arial"/>
            </a:endParaRPr>
          </a:p>
        </p:txBody>
      </p:sp>
      <p:sp>
        <p:nvSpPr>
          <p:cNvPr id="196" name="Google Shape;196;g38b6a83bb94_0_180"/>
          <p:cNvSpPr txBox="1"/>
          <p:nvPr/>
        </p:nvSpPr>
        <p:spPr>
          <a:xfrm>
            <a:off x="1357313" y="2928938"/>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0F172A"/>
                </a:solidFill>
                <a:latin typeface="Lato"/>
                <a:ea typeface="Lato"/>
                <a:cs typeface="Lato"/>
                <a:sym typeface="Lato"/>
              </a:rPr>
              <a:t>Khám phá dịch vụ (Service Discovery)</a:t>
            </a:r>
            <a:r>
              <a:rPr b="0" i="0" lang="en" sz="1500" u="none" cap="none" strike="noStrike">
                <a:solidFill>
                  <a:srgbClr val="334155"/>
                </a:solidFill>
                <a:latin typeface="Lato"/>
                <a:ea typeface="Lato"/>
                <a:cs typeface="Lato"/>
                <a:sym typeface="Lato"/>
              </a:rPr>
              <a:t>Sử dụng Eureka Server làm trung tâm bản đồ mạng. Các service tự động đăng ký cấu hình khi khởi chạy dù IP thay đổi liên tục.</a:t>
            </a:r>
            <a:endParaRPr b="0" i="0" sz="1500" u="none" cap="none" strike="noStrike">
              <a:solidFill>
                <a:srgbClr val="000000"/>
              </a:solidFill>
              <a:latin typeface="Arial"/>
              <a:ea typeface="Arial"/>
              <a:cs typeface="Arial"/>
              <a:sym typeface="Arial"/>
            </a:endParaRPr>
          </a:p>
        </p:txBody>
      </p:sp>
      <p:sp>
        <p:nvSpPr>
          <p:cNvPr id="197" name="Google Shape;197;g38b6a83bb94_0_180"/>
          <p:cNvSpPr txBox="1"/>
          <p:nvPr/>
        </p:nvSpPr>
        <p:spPr>
          <a:xfrm>
            <a:off x="1357313" y="3829050"/>
            <a:ext cx="67866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 sz="1500" u="none" cap="none" strike="noStrike">
                <a:solidFill>
                  <a:srgbClr val="0F172A"/>
                </a:solidFill>
                <a:latin typeface="Lato"/>
                <a:ea typeface="Lato"/>
                <a:cs typeface="Lato"/>
                <a:sym typeface="Lato"/>
              </a:rPr>
              <a:t>Định tuyến qua API Gateway</a:t>
            </a:r>
            <a:r>
              <a:rPr b="0" i="0" lang="en" sz="1500" u="none" cap="none" strike="noStrike">
                <a:solidFill>
                  <a:srgbClr val="334155"/>
                </a:solidFill>
                <a:latin typeface="Lato"/>
                <a:ea typeface="Lato"/>
                <a:cs typeface="Lato"/>
                <a:sym typeface="Lato"/>
              </a:rPr>
              <a:t>Spring Cloud Gateway làm điểm vào duy nhất (Single Entry Point). Nhận request từ React, hỏi Eureka, và định tuyến chuẩn xác.</a:t>
            </a:r>
            <a:endParaRPr b="0" i="0" sz="1500" u="none" cap="none" strike="noStrike">
              <a:solidFill>
                <a:srgbClr val="000000"/>
              </a:solidFill>
              <a:latin typeface="Arial"/>
              <a:ea typeface="Arial"/>
              <a:cs typeface="Arial"/>
              <a:sym typeface="Arial"/>
            </a:endParaRPr>
          </a:p>
        </p:txBody>
      </p:sp>
      <p:pic>
        <p:nvPicPr>
          <p:cNvPr descr="image.png" id="198" name="Google Shape;198;g38b6a83bb94_0_180"/>
          <p:cNvPicPr preferRelativeResize="0"/>
          <p:nvPr/>
        </p:nvPicPr>
        <p:blipFill rotWithShape="1">
          <a:blip r:embed="rId4">
            <a:alphaModFix/>
          </a:blip>
          <a:srcRect b="0" l="0" r="0" t="0"/>
          <a:stretch/>
        </p:blipFill>
        <p:spPr>
          <a:xfrm>
            <a:off x="1000125" y="1146572"/>
            <a:ext cx="250031" cy="207169"/>
          </a:xfrm>
          <a:prstGeom prst="rect">
            <a:avLst/>
          </a:prstGeom>
          <a:noFill/>
          <a:ln>
            <a:noFill/>
          </a:ln>
        </p:spPr>
      </p:pic>
      <p:pic>
        <p:nvPicPr>
          <p:cNvPr descr="image.png" id="199" name="Google Shape;199;g38b6a83bb94_0_180"/>
          <p:cNvPicPr preferRelativeResize="0"/>
          <p:nvPr/>
        </p:nvPicPr>
        <p:blipFill rotWithShape="1">
          <a:blip r:embed="rId5">
            <a:alphaModFix/>
          </a:blip>
          <a:srcRect b="0" l="0" r="0" t="0"/>
          <a:stretch/>
        </p:blipFill>
        <p:spPr>
          <a:xfrm>
            <a:off x="1000125" y="2046684"/>
            <a:ext cx="228600" cy="207169"/>
          </a:xfrm>
          <a:prstGeom prst="rect">
            <a:avLst/>
          </a:prstGeom>
          <a:noFill/>
          <a:ln>
            <a:noFill/>
          </a:ln>
        </p:spPr>
      </p:pic>
      <p:pic>
        <p:nvPicPr>
          <p:cNvPr descr="image.png" id="200" name="Google Shape;200;g38b6a83bb94_0_180"/>
          <p:cNvPicPr preferRelativeResize="0"/>
          <p:nvPr/>
        </p:nvPicPr>
        <p:blipFill rotWithShape="1">
          <a:blip r:embed="rId6">
            <a:alphaModFix/>
          </a:blip>
          <a:srcRect b="0" l="0" r="0" t="0"/>
          <a:stretch/>
        </p:blipFill>
        <p:spPr>
          <a:xfrm>
            <a:off x="1000125" y="2946797"/>
            <a:ext cx="228600" cy="207169"/>
          </a:xfrm>
          <a:prstGeom prst="rect">
            <a:avLst/>
          </a:prstGeom>
          <a:noFill/>
          <a:ln>
            <a:noFill/>
          </a:ln>
        </p:spPr>
      </p:pic>
      <p:pic>
        <p:nvPicPr>
          <p:cNvPr descr="image.png" id="201" name="Google Shape;201;g38b6a83bb94_0_180"/>
          <p:cNvPicPr preferRelativeResize="0"/>
          <p:nvPr/>
        </p:nvPicPr>
        <p:blipFill rotWithShape="1">
          <a:blip r:embed="rId7">
            <a:alphaModFix/>
          </a:blip>
          <a:srcRect b="0" l="0" r="0" t="0"/>
          <a:stretch/>
        </p:blipFill>
        <p:spPr>
          <a:xfrm>
            <a:off x="1000125" y="3846909"/>
            <a:ext cx="228600" cy="207169"/>
          </a:xfrm>
          <a:prstGeom prst="rect">
            <a:avLst/>
          </a:prstGeom>
          <a:noFill/>
          <a:ln>
            <a:noFill/>
          </a:ln>
        </p:spPr>
      </p:pic>
      <p:sp>
        <p:nvSpPr>
          <p:cNvPr id="202" name="Google Shape;202;g38b6a83bb94_0_180"/>
          <p:cNvSpPr txBox="1"/>
          <p:nvPr/>
        </p:nvSpPr>
        <p:spPr>
          <a:xfrm>
            <a:off x="428625" y="414338"/>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0F172A"/>
                </a:solidFill>
                <a:latin typeface="Poppins"/>
                <a:ea typeface="Poppins"/>
                <a:cs typeface="Poppins"/>
                <a:sym typeface="Poppins"/>
              </a:rPr>
              <a:t>Mạng &amp; </a:t>
            </a:r>
            <a:r>
              <a:rPr b="1" i="0" lang="en" sz="2300" u="none" cap="none" strike="noStrike">
                <a:solidFill>
                  <a:schemeClr val="dk1"/>
                </a:solidFill>
                <a:latin typeface="Poppins"/>
                <a:ea typeface="Poppins"/>
                <a:cs typeface="Poppins"/>
                <a:sym typeface="Poppins"/>
              </a:rPr>
              <a:t>Routing </a:t>
            </a:r>
            <a:r>
              <a:rPr b="1" i="0" lang="en" sz="2300" u="none" cap="none" strike="noStrike">
                <a:solidFill>
                  <a:srgbClr val="0F172A"/>
                </a:solidFill>
                <a:latin typeface="Poppins"/>
                <a:ea typeface="Poppins"/>
                <a:cs typeface="Poppins"/>
                <a:sym typeface="Poppins"/>
              </a:rPr>
              <a:t>Trong Docker</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pic>
        <p:nvPicPr>
          <p:cNvPr descr="image.png" id="207" name="Google Shape;207;g38b6a83bb94_0_27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08" name="Google Shape;208;g38b6a83bb94_0_271"/>
          <p:cNvPicPr preferRelativeResize="0"/>
          <p:nvPr/>
        </p:nvPicPr>
        <p:blipFill rotWithShape="1">
          <a:blip r:embed="rId4">
            <a:alphaModFix/>
          </a:blip>
          <a:srcRect b="0" l="0" r="0" t="0"/>
          <a:stretch/>
        </p:blipFill>
        <p:spPr>
          <a:xfrm>
            <a:off x="428625" y="1323500"/>
            <a:ext cx="3964774" cy="3264850"/>
          </a:xfrm>
          <a:prstGeom prst="rect">
            <a:avLst/>
          </a:prstGeom>
          <a:noFill/>
          <a:ln>
            <a:noFill/>
          </a:ln>
        </p:spPr>
      </p:pic>
      <p:pic>
        <p:nvPicPr>
          <p:cNvPr descr="image.png" id="209" name="Google Shape;209;g38b6a83bb94_0_271"/>
          <p:cNvPicPr preferRelativeResize="0"/>
          <p:nvPr/>
        </p:nvPicPr>
        <p:blipFill rotWithShape="1">
          <a:blip r:embed="rId5">
            <a:alphaModFix/>
          </a:blip>
          <a:srcRect b="0" l="0" r="0" t="0"/>
          <a:stretch/>
        </p:blipFill>
        <p:spPr>
          <a:xfrm>
            <a:off x="4750600" y="1323500"/>
            <a:ext cx="3964774" cy="3264850"/>
          </a:xfrm>
          <a:prstGeom prst="rect">
            <a:avLst/>
          </a:prstGeom>
          <a:noFill/>
          <a:ln>
            <a:noFill/>
          </a:ln>
        </p:spPr>
      </p:pic>
      <p:sp>
        <p:nvSpPr>
          <p:cNvPr id="210" name="Google Shape;210;g38b6a83bb94_0_271"/>
          <p:cNvSpPr txBox="1"/>
          <p:nvPr/>
        </p:nvSpPr>
        <p:spPr>
          <a:xfrm>
            <a:off x="721394" y="1569919"/>
            <a:ext cx="354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F97316"/>
                </a:solidFill>
                <a:latin typeface="Poppins"/>
                <a:ea typeface="Poppins"/>
                <a:cs typeface="Poppins"/>
                <a:sym typeface="Poppins"/>
              </a:rPr>
              <a:t>Sự cố: Kafka Broker Crash</a:t>
            </a:r>
            <a:endParaRPr b="0" i="0" sz="1100" u="none" cap="none" strike="noStrike">
              <a:solidFill>
                <a:srgbClr val="000000"/>
              </a:solidFill>
              <a:latin typeface="Arial"/>
              <a:ea typeface="Arial"/>
              <a:cs typeface="Arial"/>
              <a:sym typeface="Arial"/>
            </a:endParaRPr>
          </a:p>
        </p:txBody>
      </p:sp>
      <p:sp>
        <p:nvSpPr>
          <p:cNvPr id="211" name="Google Shape;211;g38b6a83bb94_0_271"/>
          <p:cNvSpPr txBox="1"/>
          <p:nvPr/>
        </p:nvSpPr>
        <p:spPr>
          <a:xfrm>
            <a:off x="721394" y="1921681"/>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Vấn đề:</a:t>
            </a:r>
            <a:r>
              <a:rPr b="0" i="0" lang="en" sz="1300" u="none" cap="none" strike="noStrike">
                <a:solidFill>
                  <a:srgbClr val="334155"/>
                </a:solidFill>
                <a:latin typeface="Lato"/>
                <a:ea typeface="Lato"/>
                <a:cs typeface="Lato"/>
                <a:sym typeface="Lato"/>
              </a:rPr>
              <a:t> Async Startup Race Condition. Order-service khởi động nhanh hơn Kafka và cố kết nối khi cổng 9092 chưa mở, dẫn đến Connection Refused và Crash.</a:t>
            </a:r>
            <a:endParaRPr b="0" i="0" sz="1300" u="none" cap="none" strike="noStrike">
              <a:solidFill>
                <a:srgbClr val="000000"/>
              </a:solidFill>
              <a:latin typeface="Arial"/>
              <a:ea typeface="Arial"/>
              <a:cs typeface="Arial"/>
              <a:sym typeface="Arial"/>
            </a:endParaRPr>
          </a:p>
        </p:txBody>
      </p:sp>
      <p:sp>
        <p:nvSpPr>
          <p:cNvPr id="212" name="Google Shape;212;g38b6a83bb94_0_271"/>
          <p:cNvSpPr txBox="1"/>
          <p:nvPr/>
        </p:nvSpPr>
        <p:spPr>
          <a:xfrm>
            <a:off x="721406" y="3332663"/>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Khắc phục:</a:t>
            </a:r>
            <a:r>
              <a:rPr b="0" i="0" lang="en" sz="1300" u="none" cap="none" strike="noStrike">
                <a:solidFill>
                  <a:srgbClr val="334155"/>
                </a:solidFill>
                <a:latin typeface="Lato"/>
                <a:ea typeface="Lato"/>
                <a:cs typeface="Lato"/>
                <a:sym typeface="Lato"/>
              </a:rPr>
              <a:t> Bổ sung healthcheck cho Kafka container. Chuyển depends_on thành condition: service_healthy. Cấu hình Spring Retry/Backoff.</a:t>
            </a:r>
            <a:endParaRPr b="0" i="0" sz="1300" u="none" cap="none" strike="noStrike">
              <a:solidFill>
                <a:srgbClr val="000000"/>
              </a:solidFill>
              <a:latin typeface="Arial"/>
              <a:ea typeface="Arial"/>
              <a:cs typeface="Arial"/>
              <a:sym typeface="Arial"/>
            </a:endParaRPr>
          </a:p>
        </p:txBody>
      </p:sp>
      <p:sp>
        <p:nvSpPr>
          <p:cNvPr id="213" name="Google Shape;213;g38b6a83bb94_0_271"/>
          <p:cNvSpPr txBox="1"/>
          <p:nvPr/>
        </p:nvSpPr>
        <p:spPr>
          <a:xfrm>
            <a:off x="4959038" y="1569919"/>
            <a:ext cx="354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F97316"/>
                </a:solidFill>
                <a:latin typeface="Poppins"/>
                <a:ea typeface="Poppins"/>
                <a:cs typeface="Poppins"/>
                <a:sym typeface="Poppins"/>
              </a:rPr>
              <a:t>Sự cố: Eureka 401 Unauthorized</a:t>
            </a:r>
            <a:endParaRPr b="0" i="0" sz="1100" u="none" cap="none" strike="noStrike">
              <a:solidFill>
                <a:srgbClr val="000000"/>
              </a:solidFill>
              <a:latin typeface="Arial"/>
              <a:ea typeface="Arial"/>
              <a:cs typeface="Arial"/>
              <a:sym typeface="Arial"/>
            </a:endParaRPr>
          </a:p>
        </p:txBody>
      </p:sp>
      <p:sp>
        <p:nvSpPr>
          <p:cNvPr id="214" name="Google Shape;214;g38b6a83bb94_0_271"/>
          <p:cNvSpPr txBox="1"/>
          <p:nvPr/>
        </p:nvSpPr>
        <p:spPr>
          <a:xfrm>
            <a:off x="5043375" y="1921681"/>
            <a:ext cx="3379200" cy="8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Vấn đề:</a:t>
            </a:r>
            <a:r>
              <a:rPr b="0" i="0" lang="en" sz="1300" u="none" cap="none" strike="noStrike">
                <a:solidFill>
                  <a:srgbClr val="334155"/>
                </a:solidFill>
                <a:latin typeface="Lato"/>
                <a:ea typeface="Lato"/>
                <a:cs typeface="Lato"/>
                <a:sym typeface="Lato"/>
              </a:rPr>
              <a:t> Áp dụng Spring Security (Basic Auth) cho Eureka, chặn các request ẩn danh từ các microservices muốn đăng ký.</a:t>
            </a:r>
            <a:endParaRPr b="0" i="0" sz="1300" u="none" cap="none" strike="noStrike">
              <a:solidFill>
                <a:srgbClr val="000000"/>
              </a:solidFill>
              <a:latin typeface="Arial"/>
              <a:ea typeface="Arial"/>
              <a:cs typeface="Arial"/>
              <a:sym typeface="Arial"/>
            </a:endParaRPr>
          </a:p>
        </p:txBody>
      </p:sp>
      <p:sp>
        <p:nvSpPr>
          <p:cNvPr id="215" name="Google Shape;215;g38b6a83bb94_0_271"/>
          <p:cNvSpPr txBox="1"/>
          <p:nvPr/>
        </p:nvSpPr>
        <p:spPr>
          <a:xfrm>
            <a:off x="5043488" y="3332663"/>
            <a:ext cx="3379200" cy="116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Khắc phục:</a:t>
            </a:r>
            <a:r>
              <a:rPr b="0" i="0" lang="en" sz="1300" u="none" cap="none" strike="noStrike">
                <a:solidFill>
                  <a:srgbClr val="334155"/>
                </a:solidFill>
                <a:latin typeface="Lato"/>
                <a:ea typeface="Lato"/>
                <a:cs typeface="Lato"/>
                <a:sym typeface="Lato"/>
              </a:rPr>
              <a:t> Cập nhật URL kết nối trong application.properties của mọi service, nhúng trực tiếp username/password theo chuẩn Basic Auth URL.</a:t>
            </a:r>
            <a:endParaRPr b="0" i="0" sz="1300" u="none" cap="none" strike="noStrike">
              <a:solidFill>
                <a:srgbClr val="000000"/>
              </a:solidFill>
              <a:latin typeface="Arial"/>
              <a:ea typeface="Arial"/>
              <a:cs typeface="Arial"/>
              <a:sym typeface="Arial"/>
            </a:endParaRPr>
          </a:p>
        </p:txBody>
      </p:sp>
      <p:sp>
        <p:nvSpPr>
          <p:cNvPr id="216" name="Google Shape;216;g38b6a83bb94_0_271"/>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Lỗi Kafka Crash &amp; Eureka 401</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pic>
        <p:nvPicPr>
          <p:cNvPr descr="image.png" id="221" name="Google Shape;221;g38b6a83bb94_0_28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22" name="Google Shape;222;g38b6a83bb94_0_284"/>
          <p:cNvPicPr preferRelativeResize="0"/>
          <p:nvPr/>
        </p:nvPicPr>
        <p:blipFill rotWithShape="1">
          <a:blip r:embed="rId4">
            <a:alphaModFix/>
          </a:blip>
          <a:srcRect b="0" l="0" r="0" t="0"/>
          <a:stretch/>
        </p:blipFill>
        <p:spPr>
          <a:xfrm>
            <a:off x="4750594" y="1500188"/>
            <a:ext cx="3964781" cy="2857500"/>
          </a:xfrm>
          <a:prstGeom prst="rect">
            <a:avLst/>
          </a:prstGeom>
          <a:noFill/>
          <a:ln>
            <a:noFill/>
          </a:ln>
        </p:spPr>
      </p:pic>
      <p:sp>
        <p:nvSpPr>
          <p:cNvPr id="223" name="Google Shape;223;g38b6a83bb94_0_284"/>
          <p:cNvSpPr txBox="1"/>
          <p:nvPr/>
        </p:nvSpPr>
        <p:spPr>
          <a:xfrm>
            <a:off x="428625" y="1082063"/>
            <a:ext cx="4163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F97316"/>
                </a:solidFill>
                <a:latin typeface="Poppins"/>
                <a:ea typeface="Poppins"/>
                <a:cs typeface="Poppins"/>
                <a:sym typeface="Poppins"/>
              </a:rPr>
              <a:t>Connection Refused (Cổng 6379)</a:t>
            </a:r>
            <a:endParaRPr b="0" i="0" sz="1500" u="none" cap="none" strike="noStrike">
              <a:solidFill>
                <a:srgbClr val="000000"/>
              </a:solidFill>
              <a:latin typeface="Arial"/>
              <a:ea typeface="Arial"/>
              <a:cs typeface="Arial"/>
              <a:sym typeface="Arial"/>
            </a:endParaRPr>
          </a:p>
        </p:txBody>
      </p:sp>
      <p:sp>
        <p:nvSpPr>
          <p:cNvPr id="224" name="Google Shape;224;g38b6a83bb94_0_284"/>
          <p:cNvSpPr txBox="1"/>
          <p:nvPr/>
        </p:nvSpPr>
        <p:spPr>
          <a:xfrm>
            <a:off x="428625" y="1423456"/>
            <a:ext cx="3964800" cy="1249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00"/>
              <a:buFont typeface="Arial"/>
              <a:buNone/>
            </a:pPr>
            <a:r>
              <a:rPr b="1" i="0" lang="en" sz="1400" u="none" cap="none" strike="noStrike">
                <a:solidFill>
                  <a:srgbClr val="334155"/>
                </a:solidFill>
                <a:latin typeface="Lato"/>
                <a:ea typeface="Lato"/>
                <a:cs typeface="Lato"/>
                <a:sym typeface="Lato"/>
              </a:rPr>
              <a:t>Vấn đề:</a:t>
            </a:r>
            <a:r>
              <a:rPr b="0" i="0" lang="en" sz="1400" u="none" cap="none" strike="noStrike">
                <a:solidFill>
                  <a:srgbClr val="334155"/>
                </a:solidFill>
                <a:latin typeface="Lato"/>
                <a:ea typeface="Lato"/>
                <a:cs typeface="Lato"/>
                <a:sym typeface="Lato"/>
              </a:rPr>
              <a:t> Nhầm lẫn Network Namespace. Từ khóa localhost chạy trên IDE trỏ đúng máy vật lý. Nhưng khi đưa lên Docker, localhost trỏ vào chính container của service, nơi không có Redis.</a:t>
            </a:r>
            <a:endParaRPr b="0" i="0" sz="1400" u="none" cap="none" strike="noStrike">
              <a:solidFill>
                <a:srgbClr val="000000"/>
              </a:solidFill>
              <a:latin typeface="Arial"/>
              <a:ea typeface="Arial"/>
              <a:cs typeface="Arial"/>
              <a:sym typeface="Arial"/>
            </a:endParaRPr>
          </a:p>
        </p:txBody>
      </p:sp>
      <p:sp>
        <p:nvSpPr>
          <p:cNvPr id="225" name="Google Shape;225;g38b6a83bb94_0_284"/>
          <p:cNvSpPr txBox="1"/>
          <p:nvPr/>
        </p:nvSpPr>
        <p:spPr>
          <a:xfrm>
            <a:off x="428625" y="2871788"/>
            <a:ext cx="3964800" cy="1249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00"/>
              <a:buFont typeface="Arial"/>
              <a:buNone/>
            </a:pPr>
            <a:r>
              <a:rPr b="1" i="0" lang="en" sz="1400" u="none" cap="none" strike="noStrike">
                <a:solidFill>
                  <a:srgbClr val="334155"/>
                </a:solidFill>
                <a:latin typeface="Lato"/>
                <a:ea typeface="Lato"/>
                <a:cs typeface="Lato"/>
                <a:sym typeface="Lato"/>
              </a:rPr>
              <a:t>Khắc phục:</a:t>
            </a:r>
            <a:r>
              <a:rPr b="0" i="0" lang="en" sz="1400" u="none" cap="none" strike="noStrike">
                <a:solidFill>
                  <a:srgbClr val="334155"/>
                </a:solidFill>
                <a:latin typeface="Lato"/>
                <a:ea typeface="Lato"/>
                <a:cs typeface="Lato"/>
                <a:sym typeface="Lato"/>
              </a:rPr>
              <a:t> KHÔNG hardcode địa chỉ host. Sử dụng </a:t>
            </a:r>
            <a:r>
              <a:rPr b="1" i="0" lang="en" sz="1400" u="none" cap="none" strike="noStrike">
                <a:solidFill>
                  <a:srgbClr val="0EA5E9"/>
                </a:solidFill>
                <a:latin typeface="Lato"/>
                <a:ea typeface="Lato"/>
                <a:cs typeface="Lato"/>
                <a:sym typeface="Lato"/>
              </a:rPr>
              <a:t>Environment Variables</a:t>
            </a:r>
            <a:r>
              <a:rPr b="0" i="0" lang="en" sz="1400" u="none" cap="none" strike="noStrike">
                <a:solidFill>
                  <a:srgbClr val="334155"/>
                </a:solidFill>
                <a:latin typeface="Lato"/>
                <a:ea typeface="Lato"/>
                <a:cs typeface="Lato"/>
                <a:sym typeface="Lato"/>
              </a:rPr>
              <a:t> (Biến môi trường) để tiêm địa chỉ (tên container Redis) vào lúc khởi chạy thông qua docker-compose.</a:t>
            </a:r>
            <a:endParaRPr b="0" i="0" sz="1400" u="none" cap="none" strike="noStrike">
              <a:solidFill>
                <a:srgbClr val="000000"/>
              </a:solidFill>
              <a:latin typeface="Arial"/>
              <a:ea typeface="Arial"/>
              <a:cs typeface="Arial"/>
              <a:sym typeface="Arial"/>
            </a:endParaRPr>
          </a:p>
        </p:txBody>
      </p:sp>
      <p:pic>
        <p:nvPicPr>
          <p:cNvPr descr="image.png" id="226" name="Google Shape;226;g38b6a83bb94_0_284"/>
          <p:cNvPicPr preferRelativeResize="0"/>
          <p:nvPr/>
        </p:nvPicPr>
        <p:blipFill rotWithShape="1">
          <a:blip r:embed="rId5">
            <a:alphaModFix/>
          </a:blip>
          <a:srcRect b="0" l="0" r="0" t="0"/>
          <a:stretch/>
        </p:blipFill>
        <p:spPr>
          <a:xfrm>
            <a:off x="4757738" y="1507331"/>
            <a:ext cx="3950494" cy="2843213"/>
          </a:xfrm>
          <a:prstGeom prst="rect">
            <a:avLst/>
          </a:prstGeom>
          <a:noFill/>
          <a:ln>
            <a:noFill/>
          </a:ln>
        </p:spPr>
      </p:pic>
      <p:sp>
        <p:nvSpPr>
          <p:cNvPr id="227" name="Google Shape;227;g38b6a83bb94_0_284"/>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Lỗi Kết Nối Redis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pic>
        <p:nvPicPr>
          <p:cNvPr descr="image.png" id="232" name="Google Shape;232;g38b6a83bb94_0_36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33" name="Google Shape;233;g38b6a83bb94_0_369"/>
          <p:cNvPicPr preferRelativeResize="0"/>
          <p:nvPr/>
        </p:nvPicPr>
        <p:blipFill rotWithShape="1">
          <a:blip r:embed="rId4">
            <a:alphaModFix/>
          </a:blip>
          <a:srcRect b="0" l="0" r="0" t="0"/>
          <a:stretch/>
        </p:blipFill>
        <p:spPr>
          <a:xfrm>
            <a:off x="428625" y="1256673"/>
            <a:ext cx="2571750" cy="2872400"/>
          </a:xfrm>
          <a:prstGeom prst="rect">
            <a:avLst/>
          </a:prstGeom>
          <a:noFill/>
          <a:ln>
            <a:noFill/>
          </a:ln>
        </p:spPr>
      </p:pic>
      <p:pic>
        <p:nvPicPr>
          <p:cNvPr descr="image.png" id="234" name="Google Shape;234;g38b6a83bb94_0_369"/>
          <p:cNvPicPr preferRelativeResize="0"/>
          <p:nvPr/>
        </p:nvPicPr>
        <p:blipFill rotWithShape="1">
          <a:blip r:embed="rId5">
            <a:alphaModFix/>
          </a:blip>
          <a:srcRect b="0" l="0" r="0" t="0"/>
          <a:stretch/>
        </p:blipFill>
        <p:spPr>
          <a:xfrm>
            <a:off x="3286125" y="1289877"/>
            <a:ext cx="2571750" cy="2839225"/>
          </a:xfrm>
          <a:prstGeom prst="rect">
            <a:avLst/>
          </a:prstGeom>
          <a:noFill/>
          <a:ln>
            <a:noFill/>
          </a:ln>
        </p:spPr>
      </p:pic>
      <p:pic>
        <p:nvPicPr>
          <p:cNvPr descr="image.png" id="235" name="Google Shape;235;g38b6a83bb94_0_369"/>
          <p:cNvPicPr preferRelativeResize="0"/>
          <p:nvPr/>
        </p:nvPicPr>
        <p:blipFill rotWithShape="1">
          <a:blip r:embed="rId6">
            <a:alphaModFix/>
          </a:blip>
          <a:srcRect b="0" l="0" r="0" t="0"/>
          <a:stretch/>
        </p:blipFill>
        <p:spPr>
          <a:xfrm>
            <a:off x="6143625" y="1256703"/>
            <a:ext cx="2571750" cy="2872400"/>
          </a:xfrm>
          <a:prstGeom prst="rect">
            <a:avLst/>
          </a:prstGeom>
          <a:noFill/>
          <a:ln>
            <a:noFill/>
          </a:ln>
        </p:spPr>
      </p:pic>
      <p:sp>
        <p:nvSpPr>
          <p:cNvPr id="236" name="Google Shape;236;g38b6a83bb94_0_369"/>
          <p:cNvSpPr txBox="1"/>
          <p:nvPr/>
        </p:nvSpPr>
        <p:spPr>
          <a:xfrm>
            <a:off x="596860" y="192953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Postman Client</a:t>
            </a:r>
            <a:endParaRPr b="0" i="0" sz="1100" u="none" cap="none" strike="noStrike">
              <a:solidFill>
                <a:srgbClr val="000000"/>
              </a:solidFill>
              <a:latin typeface="Arial"/>
              <a:ea typeface="Arial"/>
              <a:cs typeface="Arial"/>
              <a:sym typeface="Arial"/>
            </a:endParaRPr>
          </a:p>
        </p:txBody>
      </p:sp>
      <p:sp>
        <p:nvSpPr>
          <p:cNvPr id="237" name="Google Shape;237;g38b6a83bb94_0_369"/>
          <p:cNvSpPr txBox="1"/>
          <p:nvPr/>
        </p:nvSpPr>
        <p:spPr>
          <a:xfrm>
            <a:off x="6500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Sử dụng Postman gửi HTTP Request đi qua API Gateway tới các service đích để kiểm tra tính toàn vẹn.</a:t>
            </a:r>
            <a:endParaRPr b="0" i="0" sz="1500" u="none" cap="none" strike="noStrike">
              <a:solidFill>
                <a:srgbClr val="000000"/>
              </a:solidFill>
              <a:latin typeface="Arial"/>
              <a:ea typeface="Arial"/>
              <a:cs typeface="Arial"/>
              <a:sym typeface="Arial"/>
            </a:endParaRPr>
          </a:p>
        </p:txBody>
      </p:sp>
      <p:sp>
        <p:nvSpPr>
          <p:cNvPr id="238" name="Google Shape;238;g38b6a83bb94_0_369"/>
          <p:cNvSpPr txBox="1"/>
          <p:nvPr/>
        </p:nvSpPr>
        <p:spPr>
          <a:xfrm>
            <a:off x="3454360" y="192953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Product Service</a:t>
            </a:r>
            <a:endParaRPr b="0" i="0" sz="1100" u="none" cap="none" strike="noStrike">
              <a:solidFill>
                <a:srgbClr val="000000"/>
              </a:solidFill>
              <a:latin typeface="Arial"/>
              <a:ea typeface="Arial"/>
              <a:cs typeface="Arial"/>
              <a:sym typeface="Arial"/>
            </a:endParaRPr>
          </a:p>
        </p:txBody>
      </p:sp>
      <p:sp>
        <p:nvSpPr>
          <p:cNvPr id="239" name="Google Shape;239;g38b6a83bb94_0_369"/>
          <p:cNvSpPr txBox="1"/>
          <p:nvPr/>
        </p:nvSpPr>
        <p:spPr>
          <a:xfrm>
            <a:off x="35075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Gọi POST /api/product chứa JSON. Hệ thống trả về 201 Created và lưu chính xác dữ liệu vào MongoDB.</a:t>
            </a:r>
            <a:endParaRPr b="0" i="0" sz="1500" u="none" cap="none" strike="noStrike">
              <a:solidFill>
                <a:srgbClr val="000000"/>
              </a:solidFill>
              <a:latin typeface="Arial"/>
              <a:ea typeface="Arial"/>
              <a:cs typeface="Arial"/>
              <a:sym typeface="Arial"/>
            </a:endParaRPr>
          </a:p>
        </p:txBody>
      </p:sp>
      <p:sp>
        <p:nvSpPr>
          <p:cNvPr id="240" name="Google Shape;240;g38b6a83bb94_0_369"/>
          <p:cNvSpPr txBox="1"/>
          <p:nvPr/>
        </p:nvSpPr>
        <p:spPr>
          <a:xfrm>
            <a:off x="6311860" y="192953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Order Service</a:t>
            </a:r>
            <a:endParaRPr b="0" i="0" sz="1100" u="none" cap="none" strike="noStrike">
              <a:solidFill>
                <a:srgbClr val="000000"/>
              </a:solidFill>
              <a:latin typeface="Arial"/>
              <a:ea typeface="Arial"/>
              <a:cs typeface="Arial"/>
              <a:sym typeface="Arial"/>
            </a:endParaRPr>
          </a:p>
        </p:txBody>
      </p:sp>
      <p:sp>
        <p:nvSpPr>
          <p:cNvPr id="241" name="Google Shape;241;g38b6a83bb94_0_369"/>
          <p:cNvSpPr txBox="1"/>
          <p:nvPr/>
        </p:nvSpPr>
        <p:spPr>
          <a:xfrm>
            <a:off x="6365081" y="2347550"/>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Gửi request đặt hàng với danh sách SKU. Hệ thống ghi nhận vào PostgreSQL, trả 201 Order Placed Successfully.</a:t>
            </a:r>
            <a:endParaRPr b="0" i="0" sz="1500" u="none" cap="none" strike="noStrike">
              <a:solidFill>
                <a:srgbClr val="000000"/>
              </a:solidFill>
              <a:latin typeface="Arial"/>
              <a:ea typeface="Arial"/>
              <a:cs typeface="Arial"/>
              <a:sym typeface="Arial"/>
            </a:endParaRPr>
          </a:p>
        </p:txBody>
      </p:sp>
      <p:pic>
        <p:nvPicPr>
          <p:cNvPr descr="image.png" id="242" name="Google Shape;242;g38b6a83bb94_0_369"/>
          <p:cNvPicPr preferRelativeResize="0"/>
          <p:nvPr/>
        </p:nvPicPr>
        <p:blipFill rotWithShape="1">
          <a:blip r:embed="rId7">
            <a:alphaModFix/>
          </a:blip>
          <a:srcRect b="0" l="0" r="0" t="0"/>
          <a:stretch/>
        </p:blipFill>
        <p:spPr>
          <a:xfrm>
            <a:off x="1564481" y="1470013"/>
            <a:ext cx="300037" cy="342900"/>
          </a:xfrm>
          <a:prstGeom prst="rect">
            <a:avLst/>
          </a:prstGeom>
          <a:noFill/>
          <a:ln>
            <a:noFill/>
          </a:ln>
        </p:spPr>
      </p:pic>
      <p:pic>
        <p:nvPicPr>
          <p:cNvPr descr="image.png" id="243" name="Google Shape;243;g38b6a83bb94_0_369"/>
          <p:cNvPicPr preferRelativeResize="0"/>
          <p:nvPr/>
        </p:nvPicPr>
        <p:blipFill rotWithShape="1">
          <a:blip r:embed="rId8">
            <a:alphaModFix/>
          </a:blip>
          <a:srcRect b="0" l="0" r="0" t="0"/>
          <a:stretch/>
        </p:blipFill>
        <p:spPr>
          <a:xfrm>
            <a:off x="4357688" y="1470013"/>
            <a:ext cx="428625" cy="342900"/>
          </a:xfrm>
          <a:prstGeom prst="rect">
            <a:avLst/>
          </a:prstGeom>
          <a:noFill/>
          <a:ln>
            <a:noFill/>
          </a:ln>
        </p:spPr>
      </p:pic>
      <p:pic>
        <p:nvPicPr>
          <p:cNvPr descr="image.png" id="244" name="Google Shape;244;g38b6a83bb94_0_369"/>
          <p:cNvPicPr preferRelativeResize="0"/>
          <p:nvPr/>
        </p:nvPicPr>
        <p:blipFill rotWithShape="1">
          <a:blip r:embed="rId9">
            <a:alphaModFix/>
          </a:blip>
          <a:srcRect b="0" l="0" r="0" t="0"/>
          <a:stretch/>
        </p:blipFill>
        <p:spPr>
          <a:xfrm>
            <a:off x="7236619" y="1470013"/>
            <a:ext cx="385762" cy="342900"/>
          </a:xfrm>
          <a:prstGeom prst="rect">
            <a:avLst/>
          </a:prstGeom>
          <a:noFill/>
          <a:ln>
            <a:noFill/>
          </a:ln>
        </p:spPr>
      </p:pic>
      <p:sp>
        <p:nvSpPr>
          <p:cNvPr id="245" name="Google Shape;245;g38b6a83bb94_0_369"/>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Kiểm Thử Chức Năng API</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descr="image.png" id="250" name="Google Shape;250;g38b6a83bb94_0_38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1" name="Google Shape;251;g38b6a83bb94_0_386"/>
          <p:cNvSpPr/>
          <p:nvPr/>
        </p:nvSpPr>
        <p:spPr>
          <a:xfrm>
            <a:off x="842963" y="2914650"/>
            <a:ext cx="7458000" cy="28500"/>
          </a:xfrm>
          <a:prstGeom prst="rect">
            <a:avLst/>
          </a:prstGeom>
          <a:solidFill>
            <a:srgbClr val="CBD5E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2" name="Google Shape;252;g38b6a83bb94_0_386"/>
          <p:cNvSpPr txBox="1"/>
          <p:nvPr/>
        </p:nvSpPr>
        <p:spPr>
          <a:xfrm>
            <a:off x="391335" y="3286125"/>
            <a:ext cx="15663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F172A"/>
                </a:solidFill>
                <a:latin typeface="Poppins"/>
                <a:ea typeface="Poppins"/>
                <a:cs typeface="Poppins"/>
                <a:sym typeface="Poppins"/>
              </a:rPr>
              <a:t>1. React FE</a:t>
            </a:r>
            <a:endParaRPr b="0" i="0" sz="1300" u="none" cap="none" strike="noStrike">
              <a:solidFill>
                <a:srgbClr val="000000"/>
              </a:solidFill>
              <a:latin typeface="Arial"/>
              <a:ea typeface="Arial"/>
              <a:cs typeface="Arial"/>
              <a:sym typeface="Arial"/>
            </a:endParaRPr>
          </a:p>
        </p:txBody>
      </p:sp>
      <p:sp>
        <p:nvSpPr>
          <p:cNvPr id="253" name="Google Shape;253;g38b6a83bb94_0_386"/>
          <p:cNvSpPr txBox="1"/>
          <p:nvPr/>
        </p:nvSpPr>
        <p:spPr>
          <a:xfrm>
            <a:off x="428625" y="3557588"/>
            <a:ext cx="14916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400"/>
              <a:buFont typeface="Arial"/>
              <a:buNone/>
            </a:pPr>
            <a:r>
              <a:rPr b="0" i="0" lang="en" sz="1400" u="none" cap="none" strike="noStrike">
                <a:solidFill>
                  <a:srgbClr val="334155"/>
                </a:solidFill>
                <a:latin typeface="Lato"/>
                <a:ea typeface="Lato"/>
                <a:cs typeface="Lato"/>
                <a:sym typeface="Lato"/>
              </a:rPr>
              <a:t>Người dùng nhấn "Đặt hàng", trình duyệt gửi request tới Gateway.</a:t>
            </a:r>
            <a:endParaRPr b="0" i="0" sz="1400" u="none" cap="none" strike="noStrike">
              <a:solidFill>
                <a:srgbClr val="000000"/>
              </a:solidFill>
              <a:latin typeface="Arial"/>
              <a:ea typeface="Arial"/>
              <a:cs typeface="Arial"/>
              <a:sym typeface="Arial"/>
            </a:endParaRPr>
          </a:p>
        </p:txBody>
      </p:sp>
      <p:sp>
        <p:nvSpPr>
          <p:cNvPr id="254" name="Google Shape;254;g38b6a83bb94_0_386"/>
          <p:cNvSpPr txBox="1"/>
          <p:nvPr/>
        </p:nvSpPr>
        <p:spPr>
          <a:xfrm>
            <a:off x="2090096" y="1393784"/>
            <a:ext cx="15663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F172A"/>
                </a:solidFill>
                <a:latin typeface="Poppins"/>
                <a:ea typeface="Poppins"/>
                <a:cs typeface="Poppins"/>
                <a:sym typeface="Poppins"/>
              </a:rPr>
              <a:t>2. API Gateway</a:t>
            </a:r>
            <a:endParaRPr b="0" i="0" sz="1300" u="none" cap="none" strike="noStrike">
              <a:solidFill>
                <a:srgbClr val="000000"/>
              </a:solidFill>
              <a:latin typeface="Arial"/>
              <a:ea typeface="Arial"/>
              <a:cs typeface="Arial"/>
              <a:sym typeface="Arial"/>
            </a:endParaRPr>
          </a:p>
        </p:txBody>
      </p:sp>
      <p:sp>
        <p:nvSpPr>
          <p:cNvPr id="255" name="Google Shape;255;g38b6a83bb94_0_386"/>
          <p:cNvSpPr txBox="1"/>
          <p:nvPr/>
        </p:nvSpPr>
        <p:spPr>
          <a:xfrm>
            <a:off x="1957497" y="1665250"/>
            <a:ext cx="1831200" cy="818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400"/>
              <a:buFont typeface="Arial"/>
              <a:buNone/>
            </a:pPr>
            <a:r>
              <a:rPr b="0" i="0" lang="en" sz="1400" u="none" cap="none" strike="noStrike">
                <a:solidFill>
                  <a:srgbClr val="334155"/>
                </a:solidFill>
                <a:latin typeface="Lato"/>
                <a:ea typeface="Lato"/>
                <a:cs typeface="Lato"/>
                <a:sym typeface="Lato"/>
              </a:rPr>
              <a:t>Xác thực JWT Token và định tuyến tới Order Service qua Eureka.</a:t>
            </a:r>
            <a:endParaRPr b="0" i="0" sz="1400" u="none" cap="none" strike="noStrike">
              <a:solidFill>
                <a:srgbClr val="000000"/>
              </a:solidFill>
              <a:latin typeface="Arial"/>
              <a:ea typeface="Arial"/>
              <a:cs typeface="Arial"/>
              <a:sym typeface="Arial"/>
            </a:endParaRPr>
          </a:p>
        </p:txBody>
      </p:sp>
      <p:sp>
        <p:nvSpPr>
          <p:cNvPr id="256" name="Google Shape;256;g38b6a83bb94_0_386"/>
          <p:cNvSpPr txBox="1"/>
          <p:nvPr/>
        </p:nvSpPr>
        <p:spPr>
          <a:xfrm>
            <a:off x="3788858" y="3286125"/>
            <a:ext cx="15663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F172A"/>
                </a:solidFill>
                <a:latin typeface="Poppins"/>
                <a:ea typeface="Poppins"/>
                <a:cs typeface="Poppins"/>
                <a:sym typeface="Poppins"/>
              </a:rPr>
              <a:t>3. Order Service</a:t>
            </a:r>
            <a:endParaRPr b="0" i="0" sz="1300" u="none" cap="none" strike="noStrike">
              <a:solidFill>
                <a:srgbClr val="000000"/>
              </a:solidFill>
              <a:latin typeface="Arial"/>
              <a:ea typeface="Arial"/>
              <a:cs typeface="Arial"/>
              <a:sym typeface="Arial"/>
            </a:endParaRPr>
          </a:p>
        </p:txBody>
      </p:sp>
      <p:sp>
        <p:nvSpPr>
          <p:cNvPr id="257" name="Google Shape;257;g38b6a83bb94_0_386"/>
          <p:cNvSpPr txBox="1"/>
          <p:nvPr/>
        </p:nvSpPr>
        <p:spPr>
          <a:xfrm>
            <a:off x="3607726" y="3557600"/>
            <a:ext cx="19284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400"/>
              <a:buFont typeface="Arial"/>
              <a:buNone/>
            </a:pPr>
            <a:r>
              <a:rPr b="0" i="0" lang="en" sz="1400" u="none" cap="none" strike="noStrike">
                <a:solidFill>
                  <a:srgbClr val="334155"/>
                </a:solidFill>
                <a:latin typeface="Lato"/>
                <a:ea typeface="Lato"/>
                <a:cs typeface="Lato"/>
                <a:sym typeface="Lato"/>
              </a:rPr>
              <a:t>Xử lý ĐỒNG BỘ: Validate và lưu đơn hàng vào DB PostgreSQL, phản hồi User.</a:t>
            </a:r>
            <a:endParaRPr b="0" i="0" sz="1400" u="none" cap="none" strike="noStrike">
              <a:solidFill>
                <a:srgbClr val="000000"/>
              </a:solidFill>
              <a:latin typeface="Arial"/>
              <a:ea typeface="Arial"/>
              <a:cs typeface="Arial"/>
              <a:sym typeface="Arial"/>
            </a:endParaRPr>
          </a:p>
        </p:txBody>
      </p:sp>
      <p:sp>
        <p:nvSpPr>
          <p:cNvPr id="258" name="Google Shape;258;g38b6a83bb94_0_386"/>
          <p:cNvSpPr txBox="1"/>
          <p:nvPr/>
        </p:nvSpPr>
        <p:spPr>
          <a:xfrm>
            <a:off x="5487619" y="1393784"/>
            <a:ext cx="15663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F172A"/>
                </a:solidFill>
                <a:latin typeface="Poppins"/>
                <a:ea typeface="Poppins"/>
                <a:cs typeface="Poppins"/>
                <a:sym typeface="Poppins"/>
              </a:rPr>
              <a:t>4. Kafka Broker</a:t>
            </a:r>
            <a:endParaRPr b="0" i="0" sz="1300" u="none" cap="none" strike="noStrike">
              <a:solidFill>
                <a:srgbClr val="000000"/>
              </a:solidFill>
              <a:latin typeface="Arial"/>
              <a:ea typeface="Arial"/>
              <a:cs typeface="Arial"/>
              <a:sym typeface="Arial"/>
            </a:endParaRPr>
          </a:p>
        </p:txBody>
      </p:sp>
      <p:sp>
        <p:nvSpPr>
          <p:cNvPr id="259" name="Google Shape;259;g38b6a83bb94_0_386"/>
          <p:cNvSpPr txBox="1"/>
          <p:nvPr/>
        </p:nvSpPr>
        <p:spPr>
          <a:xfrm>
            <a:off x="5270701" y="1665250"/>
            <a:ext cx="2000100" cy="818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400"/>
              <a:buFont typeface="Arial"/>
              <a:buNone/>
            </a:pPr>
            <a:r>
              <a:rPr b="0" i="0" lang="en" sz="1400" u="none" cap="none" strike="noStrike">
                <a:solidFill>
                  <a:srgbClr val="334155"/>
                </a:solidFill>
                <a:latin typeface="Lato"/>
                <a:ea typeface="Lato"/>
                <a:cs typeface="Lato"/>
                <a:sym typeface="Lato"/>
              </a:rPr>
              <a:t>Xử lý BẤT ĐỒNG BỘ: Order phát sinh Event đẩy vào notificationTopic.</a:t>
            </a:r>
            <a:endParaRPr b="0" i="0" sz="1400" u="none" cap="none" strike="noStrike">
              <a:solidFill>
                <a:srgbClr val="000000"/>
              </a:solidFill>
              <a:latin typeface="Arial"/>
              <a:ea typeface="Arial"/>
              <a:cs typeface="Arial"/>
              <a:sym typeface="Arial"/>
            </a:endParaRPr>
          </a:p>
        </p:txBody>
      </p:sp>
      <p:sp>
        <p:nvSpPr>
          <p:cNvPr id="260" name="Google Shape;260;g38b6a83bb94_0_386"/>
          <p:cNvSpPr txBox="1"/>
          <p:nvPr/>
        </p:nvSpPr>
        <p:spPr>
          <a:xfrm>
            <a:off x="7186381" y="3286125"/>
            <a:ext cx="1566300" cy="200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none" cap="none" strike="noStrike">
                <a:solidFill>
                  <a:srgbClr val="0F172A"/>
                </a:solidFill>
                <a:latin typeface="Poppins"/>
                <a:ea typeface="Poppins"/>
                <a:cs typeface="Poppins"/>
                <a:sym typeface="Poppins"/>
              </a:rPr>
              <a:t>5. Notification</a:t>
            </a:r>
            <a:endParaRPr b="0" i="0" sz="1300" u="none" cap="none" strike="noStrike">
              <a:solidFill>
                <a:srgbClr val="000000"/>
              </a:solidFill>
              <a:latin typeface="Arial"/>
              <a:ea typeface="Arial"/>
              <a:cs typeface="Arial"/>
              <a:sym typeface="Arial"/>
            </a:endParaRPr>
          </a:p>
        </p:txBody>
      </p:sp>
      <p:sp>
        <p:nvSpPr>
          <p:cNvPr id="261" name="Google Shape;261;g38b6a83bb94_0_386"/>
          <p:cNvSpPr txBox="1"/>
          <p:nvPr/>
        </p:nvSpPr>
        <p:spPr>
          <a:xfrm>
            <a:off x="7223670" y="3557588"/>
            <a:ext cx="1491600" cy="11199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Clr>
                <a:srgbClr val="000000"/>
              </a:buClr>
              <a:buSzPts val="1400"/>
              <a:buFont typeface="Arial"/>
              <a:buNone/>
            </a:pPr>
            <a:r>
              <a:rPr b="0" i="0" lang="en" sz="1400" u="none" cap="none" strike="noStrike">
                <a:solidFill>
                  <a:srgbClr val="334155"/>
                </a:solidFill>
                <a:latin typeface="Lato"/>
                <a:ea typeface="Lato"/>
                <a:cs typeface="Lato"/>
                <a:sym typeface="Lato"/>
              </a:rPr>
              <a:t>Lắng nghe Event và gửi Email xác nhận mà không chặn luồng chính.</a:t>
            </a:r>
            <a:endParaRPr b="0" i="0" sz="1400" u="none" cap="none" strike="noStrike">
              <a:solidFill>
                <a:srgbClr val="000000"/>
              </a:solidFill>
              <a:latin typeface="Arial"/>
              <a:ea typeface="Arial"/>
              <a:cs typeface="Arial"/>
              <a:sym typeface="Arial"/>
            </a:endParaRPr>
          </a:p>
        </p:txBody>
      </p:sp>
      <p:sp>
        <p:nvSpPr>
          <p:cNvPr id="262" name="Google Shape;262;g38b6a83bb94_0_386"/>
          <p:cNvSpPr/>
          <p:nvPr/>
        </p:nvSpPr>
        <p:spPr>
          <a:xfrm>
            <a:off x="1088696"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3" name="Google Shape;263;g38b6a83bb94_0_386"/>
          <p:cNvSpPr/>
          <p:nvPr/>
        </p:nvSpPr>
        <p:spPr>
          <a:xfrm>
            <a:off x="2787458" y="2700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4" name="Google Shape;264;g38b6a83bb94_0_386"/>
          <p:cNvSpPr/>
          <p:nvPr/>
        </p:nvSpPr>
        <p:spPr>
          <a:xfrm>
            <a:off x="4486219"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5" name="Google Shape;265;g38b6a83bb94_0_386"/>
          <p:cNvSpPr/>
          <p:nvPr/>
        </p:nvSpPr>
        <p:spPr>
          <a:xfrm>
            <a:off x="6184980" y="2700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6" name="Google Shape;266;g38b6a83bb94_0_386"/>
          <p:cNvSpPr/>
          <p:nvPr/>
        </p:nvSpPr>
        <p:spPr>
          <a:xfrm>
            <a:off x="7883742" y="2986088"/>
            <a:ext cx="171600" cy="171600"/>
          </a:xfrm>
          <a:prstGeom prst="roundRect">
            <a:avLst>
              <a:gd fmla="val 50000" name="adj"/>
            </a:avLst>
          </a:prstGeom>
          <a:solidFill>
            <a:srgbClr val="FFFFFF"/>
          </a:solidFill>
          <a:ln cap="flat" cmpd="sng" w="28575">
            <a:solidFill>
              <a:srgbClr val="0EA5E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67" name="Google Shape;267;g38b6a83bb94_0_386"/>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Luồng Dữ Liệu End-to-End (Event-Driven)</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pic>
        <p:nvPicPr>
          <p:cNvPr descr="image.png" id="272" name="Google Shape;272;g38b6a83bb94_0_40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73" name="Google Shape;273;g38b6a83bb94_0_407"/>
          <p:cNvPicPr preferRelativeResize="0"/>
          <p:nvPr/>
        </p:nvPicPr>
        <p:blipFill rotWithShape="1">
          <a:blip r:embed="rId4">
            <a:alphaModFix/>
          </a:blip>
          <a:srcRect b="0" l="0" r="0" t="0"/>
          <a:stretch/>
        </p:blipFill>
        <p:spPr>
          <a:xfrm>
            <a:off x="428625" y="1143850"/>
            <a:ext cx="3964781" cy="3451125"/>
          </a:xfrm>
          <a:prstGeom prst="rect">
            <a:avLst/>
          </a:prstGeom>
          <a:noFill/>
          <a:ln>
            <a:noFill/>
          </a:ln>
        </p:spPr>
      </p:pic>
      <p:pic>
        <p:nvPicPr>
          <p:cNvPr descr="image.png" id="274" name="Google Shape;274;g38b6a83bb94_0_407"/>
          <p:cNvPicPr preferRelativeResize="0"/>
          <p:nvPr/>
        </p:nvPicPr>
        <p:blipFill rotWithShape="1">
          <a:blip r:embed="rId5">
            <a:alphaModFix/>
          </a:blip>
          <a:srcRect b="0" l="0" r="0" t="0"/>
          <a:stretch/>
        </p:blipFill>
        <p:spPr>
          <a:xfrm>
            <a:off x="4750594" y="1143850"/>
            <a:ext cx="3964781" cy="3451125"/>
          </a:xfrm>
          <a:prstGeom prst="rect">
            <a:avLst/>
          </a:prstGeom>
          <a:noFill/>
          <a:ln>
            <a:noFill/>
          </a:ln>
        </p:spPr>
      </p:pic>
      <p:sp>
        <p:nvSpPr>
          <p:cNvPr id="275" name="Google Shape;275;g38b6a83bb94_0_407"/>
          <p:cNvSpPr txBox="1"/>
          <p:nvPr/>
        </p:nvSpPr>
        <p:spPr>
          <a:xfrm>
            <a:off x="721519" y="1356297"/>
            <a:ext cx="3548100" cy="231000"/>
          </a:xfrm>
          <a:prstGeom prst="rect">
            <a:avLst/>
          </a:prstGeom>
          <a:noFill/>
          <a:ln>
            <a:noFill/>
          </a:ln>
        </p:spPr>
        <p:txBody>
          <a:bodyPr anchorCtr="0" anchor="t" bIns="0" lIns="257175"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EA5E9"/>
                </a:solidFill>
                <a:latin typeface="Poppins"/>
                <a:ea typeface="Poppins"/>
                <a:cs typeface="Poppins"/>
                <a:sym typeface="Poppins"/>
              </a:rPr>
              <a:t>Ưu Điểm Nổi Bật</a:t>
            </a:r>
            <a:endParaRPr b="0" i="0" sz="1100" u="none" cap="none" strike="noStrike">
              <a:solidFill>
                <a:srgbClr val="000000"/>
              </a:solidFill>
              <a:latin typeface="Arial"/>
              <a:ea typeface="Arial"/>
              <a:cs typeface="Arial"/>
              <a:sym typeface="Arial"/>
            </a:endParaRPr>
          </a:p>
        </p:txBody>
      </p:sp>
      <p:sp>
        <p:nvSpPr>
          <p:cNvPr id="276" name="Google Shape;276;g38b6a83bb94_0_407"/>
          <p:cNvSpPr txBox="1"/>
          <p:nvPr/>
        </p:nvSpPr>
        <p:spPr>
          <a:xfrm>
            <a:off x="5043488" y="1356297"/>
            <a:ext cx="3548100" cy="231000"/>
          </a:xfrm>
          <a:prstGeom prst="rect">
            <a:avLst/>
          </a:prstGeom>
          <a:noFill/>
          <a:ln>
            <a:noFill/>
          </a:ln>
        </p:spPr>
        <p:txBody>
          <a:bodyPr anchorCtr="0" anchor="t" bIns="0" lIns="257175"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F97316"/>
                </a:solidFill>
                <a:latin typeface="Poppins"/>
                <a:ea typeface="Poppins"/>
                <a:cs typeface="Poppins"/>
                <a:sym typeface="Poppins"/>
              </a:rPr>
              <a:t>Rào Cản Hiện Tại</a:t>
            </a:r>
            <a:endParaRPr b="0" i="0" sz="1100" u="none" cap="none" strike="noStrike">
              <a:solidFill>
                <a:srgbClr val="000000"/>
              </a:solidFill>
              <a:latin typeface="Arial"/>
              <a:ea typeface="Arial"/>
              <a:cs typeface="Arial"/>
              <a:sym typeface="Arial"/>
            </a:endParaRPr>
          </a:p>
        </p:txBody>
      </p:sp>
      <p:pic>
        <p:nvPicPr>
          <p:cNvPr descr="image.png" id="277" name="Google Shape;277;g38b6a83bb94_0_407"/>
          <p:cNvPicPr preferRelativeResize="0"/>
          <p:nvPr/>
        </p:nvPicPr>
        <p:blipFill rotWithShape="1">
          <a:blip r:embed="rId6">
            <a:alphaModFix/>
          </a:blip>
          <a:srcRect b="0" l="0" r="0" t="0"/>
          <a:stretch/>
        </p:blipFill>
        <p:spPr>
          <a:xfrm>
            <a:off x="721519" y="1399159"/>
            <a:ext cx="185738" cy="185738"/>
          </a:xfrm>
          <a:prstGeom prst="rect">
            <a:avLst/>
          </a:prstGeom>
          <a:noFill/>
          <a:ln>
            <a:noFill/>
          </a:ln>
        </p:spPr>
      </p:pic>
      <p:sp>
        <p:nvSpPr>
          <p:cNvPr id="278" name="Google Shape;278;g38b6a83bb94_0_407"/>
          <p:cNvSpPr txBox="1"/>
          <p:nvPr/>
        </p:nvSpPr>
        <p:spPr>
          <a:xfrm>
            <a:off x="814388" y="1782684"/>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79" name="Google Shape;279;g38b6a83bb94_0_407"/>
          <p:cNvSpPr txBox="1"/>
          <p:nvPr/>
        </p:nvSpPr>
        <p:spPr>
          <a:xfrm>
            <a:off x="900113" y="1782684"/>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Trải nghiệm mượt mà:</a:t>
            </a:r>
            <a:r>
              <a:rPr b="0" i="0" lang="en" sz="1300" u="none" cap="none" strike="noStrike">
                <a:solidFill>
                  <a:srgbClr val="334155"/>
                </a:solidFill>
                <a:latin typeface="Lato"/>
                <a:ea typeface="Lato"/>
                <a:cs typeface="Lato"/>
                <a:sym typeface="Lato"/>
              </a:rPr>
              <a:t> Kiến trúc Event-Driven (Kafka) giảm thời gian API phản hồi vì không phải đợi dịch vụ tiện ích.</a:t>
            </a:r>
            <a:endParaRPr b="0" i="0" sz="1300" u="none" cap="none" strike="noStrike">
              <a:solidFill>
                <a:srgbClr val="000000"/>
              </a:solidFill>
              <a:latin typeface="Arial"/>
              <a:ea typeface="Arial"/>
              <a:cs typeface="Arial"/>
              <a:sym typeface="Arial"/>
            </a:endParaRPr>
          </a:p>
        </p:txBody>
      </p:sp>
      <p:sp>
        <p:nvSpPr>
          <p:cNvPr id="280" name="Google Shape;280;g38b6a83bb94_0_407"/>
          <p:cNvSpPr txBox="1"/>
          <p:nvPr/>
        </p:nvSpPr>
        <p:spPr>
          <a:xfrm>
            <a:off x="814388" y="2768090"/>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81" name="Google Shape;281;g38b6a83bb94_0_407"/>
          <p:cNvSpPr txBox="1"/>
          <p:nvPr/>
        </p:nvSpPr>
        <p:spPr>
          <a:xfrm>
            <a:off x="900113" y="2768090"/>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Chịu tải linh hoạt:</a:t>
            </a:r>
            <a:r>
              <a:rPr b="0" i="0" lang="en" sz="1300" u="none" cap="none" strike="noStrike">
                <a:solidFill>
                  <a:srgbClr val="334155"/>
                </a:solidFill>
                <a:latin typeface="Lato"/>
                <a:ea typeface="Lato"/>
                <a:cs typeface="Lato"/>
                <a:sym typeface="Lato"/>
              </a:rPr>
              <a:t> Scale độc lập từng service (VD: chỉ nhân bản Product-service khi lượt xem tăng).</a:t>
            </a:r>
            <a:endParaRPr b="0" i="0" sz="1300" u="none" cap="none" strike="noStrike">
              <a:solidFill>
                <a:srgbClr val="000000"/>
              </a:solidFill>
              <a:latin typeface="Arial"/>
              <a:ea typeface="Arial"/>
              <a:cs typeface="Arial"/>
              <a:sym typeface="Arial"/>
            </a:endParaRPr>
          </a:p>
        </p:txBody>
      </p:sp>
      <p:sp>
        <p:nvSpPr>
          <p:cNvPr id="282" name="Google Shape;282;g38b6a83bb94_0_407"/>
          <p:cNvSpPr txBox="1"/>
          <p:nvPr/>
        </p:nvSpPr>
        <p:spPr>
          <a:xfrm>
            <a:off x="814388" y="3717396"/>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83" name="Google Shape;283;g38b6a83bb94_0_407"/>
          <p:cNvSpPr txBox="1"/>
          <p:nvPr/>
        </p:nvSpPr>
        <p:spPr>
          <a:xfrm>
            <a:off x="900113" y="3717396"/>
            <a:ext cx="3200400" cy="5202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Truy xuất nhanh:</a:t>
            </a:r>
            <a:r>
              <a:rPr b="0" i="0" lang="en" sz="1300" u="none" cap="none" strike="noStrike">
                <a:solidFill>
                  <a:srgbClr val="334155"/>
                </a:solidFill>
                <a:latin typeface="Lato"/>
                <a:ea typeface="Lato"/>
                <a:cs typeface="Lato"/>
                <a:sym typeface="Lato"/>
              </a:rPr>
              <a:t> Bộ đệm Redis giải quyết điểm nghẽn cổ chai dữ liệu.</a:t>
            </a:r>
            <a:endParaRPr b="0" i="0" sz="1300" u="none" cap="none" strike="noStrike">
              <a:solidFill>
                <a:srgbClr val="000000"/>
              </a:solidFill>
              <a:latin typeface="Arial"/>
              <a:ea typeface="Arial"/>
              <a:cs typeface="Arial"/>
              <a:sym typeface="Arial"/>
            </a:endParaRPr>
          </a:p>
        </p:txBody>
      </p:sp>
      <p:pic>
        <p:nvPicPr>
          <p:cNvPr descr="image.png" id="284" name="Google Shape;284;g38b6a83bb94_0_407"/>
          <p:cNvPicPr preferRelativeResize="0"/>
          <p:nvPr/>
        </p:nvPicPr>
        <p:blipFill rotWithShape="1">
          <a:blip r:embed="rId7">
            <a:alphaModFix/>
          </a:blip>
          <a:srcRect b="0" l="0" r="0" t="0"/>
          <a:stretch/>
        </p:blipFill>
        <p:spPr>
          <a:xfrm>
            <a:off x="5043488" y="1399159"/>
            <a:ext cx="185738" cy="185738"/>
          </a:xfrm>
          <a:prstGeom prst="rect">
            <a:avLst/>
          </a:prstGeom>
          <a:noFill/>
          <a:ln>
            <a:noFill/>
          </a:ln>
        </p:spPr>
      </p:pic>
      <p:sp>
        <p:nvSpPr>
          <p:cNvPr id="285" name="Google Shape;285;g38b6a83bb94_0_407"/>
          <p:cNvSpPr txBox="1"/>
          <p:nvPr/>
        </p:nvSpPr>
        <p:spPr>
          <a:xfrm>
            <a:off x="5136356" y="1782684"/>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86" name="Google Shape;286;g38b6a83bb94_0_407"/>
          <p:cNvSpPr txBox="1"/>
          <p:nvPr/>
        </p:nvSpPr>
        <p:spPr>
          <a:xfrm>
            <a:off x="5222081" y="1782684"/>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Giao dịch phân tán:</a:t>
            </a:r>
            <a:r>
              <a:rPr b="0" i="0" lang="en" sz="1300" u="none" cap="none" strike="noStrike">
                <a:solidFill>
                  <a:srgbClr val="334155"/>
                </a:solidFill>
                <a:latin typeface="Lato"/>
                <a:ea typeface="Lato"/>
                <a:cs typeface="Lato"/>
                <a:sym typeface="Lato"/>
              </a:rPr>
              <a:t> Thiếu cơ chế Rollback/Saga Pattern khi một phần giao dịch thất bại.</a:t>
            </a:r>
            <a:endParaRPr b="0" i="0" sz="1300" u="none" cap="none" strike="noStrike">
              <a:solidFill>
                <a:srgbClr val="000000"/>
              </a:solidFill>
              <a:latin typeface="Arial"/>
              <a:ea typeface="Arial"/>
              <a:cs typeface="Arial"/>
              <a:sym typeface="Arial"/>
            </a:endParaRPr>
          </a:p>
        </p:txBody>
      </p:sp>
      <p:sp>
        <p:nvSpPr>
          <p:cNvPr id="287" name="Google Shape;287;g38b6a83bb94_0_407"/>
          <p:cNvSpPr txBox="1"/>
          <p:nvPr/>
        </p:nvSpPr>
        <p:spPr>
          <a:xfrm>
            <a:off x="5136356" y="2696228"/>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88" name="Google Shape;288;g38b6a83bb94_0_407"/>
          <p:cNvSpPr txBox="1"/>
          <p:nvPr/>
        </p:nvSpPr>
        <p:spPr>
          <a:xfrm>
            <a:off x="5222081" y="2696228"/>
            <a:ext cx="3200400" cy="5202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Truy vết Log:</a:t>
            </a:r>
            <a:r>
              <a:rPr b="0" i="0" lang="en" sz="1300" u="none" cap="none" strike="noStrike">
                <a:solidFill>
                  <a:srgbClr val="334155"/>
                </a:solidFill>
                <a:latin typeface="Lato"/>
                <a:ea typeface="Lato"/>
                <a:cs typeface="Lato"/>
                <a:sym typeface="Lato"/>
              </a:rPr>
              <a:t> Logs nằm rải rác ở nhiều container, khó tìm kiếm luồng lỗi thủ công.</a:t>
            </a:r>
            <a:endParaRPr b="0" i="0" sz="1300" u="none" cap="none" strike="noStrike">
              <a:solidFill>
                <a:srgbClr val="000000"/>
              </a:solidFill>
              <a:latin typeface="Arial"/>
              <a:ea typeface="Arial"/>
              <a:cs typeface="Arial"/>
              <a:sym typeface="Arial"/>
            </a:endParaRPr>
          </a:p>
        </p:txBody>
      </p:sp>
      <p:sp>
        <p:nvSpPr>
          <p:cNvPr id="289" name="Google Shape;289;g38b6a83bb94_0_407"/>
          <p:cNvSpPr txBox="1"/>
          <p:nvPr/>
        </p:nvSpPr>
        <p:spPr>
          <a:xfrm>
            <a:off x="5136356" y="3488796"/>
            <a:ext cx="85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334155"/>
                </a:solidFill>
                <a:latin typeface="Lato"/>
                <a:ea typeface="Lato"/>
                <a:cs typeface="Lato"/>
                <a:sym typeface="Lato"/>
              </a:rPr>
              <a:t>•</a:t>
            </a:r>
            <a:endParaRPr b="0" i="0" sz="1300" u="none" cap="none" strike="noStrike">
              <a:solidFill>
                <a:srgbClr val="000000"/>
              </a:solidFill>
              <a:latin typeface="Arial"/>
              <a:ea typeface="Arial"/>
              <a:cs typeface="Arial"/>
              <a:sym typeface="Arial"/>
            </a:endParaRPr>
          </a:p>
        </p:txBody>
      </p:sp>
      <p:sp>
        <p:nvSpPr>
          <p:cNvPr id="290" name="Google Shape;290;g38b6a83bb94_0_407"/>
          <p:cNvSpPr txBox="1"/>
          <p:nvPr/>
        </p:nvSpPr>
        <p:spPr>
          <a:xfrm>
            <a:off x="5222081" y="3488796"/>
            <a:ext cx="3200400" cy="840300"/>
          </a:xfrm>
          <a:prstGeom prst="rect">
            <a:avLst/>
          </a:prstGeom>
          <a:noFill/>
          <a:ln>
            <a:noFill/>
          </a:ln>
        </p:spPr>
        <p:txBody>
          <a:bodyPr anchorCtr="0" anchor="t" bIns="0" lIns="85725" spcFirstLastPara="1" rIns="0" wrap="square" tIns="0">
            <a:spAutoFit/>
          </a:bodyPr>
          <a:lstStyle/>
          <a:p>
            <a:pPr indent="0" lvl="0" marL="0" marR="0" rtl="0" algn="l">
              <a:lnSpc>
                <a:spcPct val="160000"/>
              </a:lnSpc>
              <a:spcBef>
                <a:spcPts val="0"/>
              </a:spcBef>
              <a:spcAft>
                <a:spcPts val="0"/>
              </a:spcAft>
              <a:buClr>
                <a:srgbClr val="000000"/>
              </a:buClr>
              <a:buSzPts val="1300"/>
              <a:buFont typeface="Arial"/>
              <a:buNone/>
            </a:pPr>
            <a:r>
              <a:rPr b="1" i="0" lang="en" sz="1300" u="none" cap="none" strike="noStrike">
                <a:solidFill>
                  <a:srgbClr val="334155"/>
                </a:solidFill>
                <a:latin typeface="Lato"/>
                <a:ea typeface="Lato"/>
                <a:cs typeface="Lato"/>
                <a:sym typeface="Lato"/>
              </a:rPr>
              <a:t>Hạ tầng tĩnh:</a:t>
            </a:r>
            <a:r>
              <a:rPr b="0" i="0" lang="en" sz="1300" u="none" cap="none" strike="noStrike">
                <a:solidFill>
                  <a:srgbClr val="334155"/>
                </a:solidFill>
                <a:latin typeface="Lato"/>
                <a:ea typeface="Lato"/>
                <a:cs typeface="Lato"/>
                <a:sym typeface="Lato"/>
              </a:rPr>
              <a:t> Docker Compose không có Auto-scaling và Self-healing như hệ thống chuyên nghiệp.</a:t>
            </a:r>
            <a:endParaRPr b="0" i="0" sz="1300" u="none" cap="none" strike="noStrike">
              <a:solidFill>
                <a:srgbClr val="000000"/>
              </a:solidFill>
              <a:latin typeface="Arial"/>
              <a:ea typeface="Arial"/>
              <a:cs typeface="Arial"/>
              <a:sym typeface="Arial"/>
            </a:endParaRPr>
          </a:p>
        </p:txBody>
      </p:sp>
      <p:sp>
        <p:nvSpPr>
          <p:cNvPr id="291" name="Google Shape;291;g38b6a83bb94_0_407"/>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Đánh Giá: Hiệu Năng &amp; Hạn Chế</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pic>
        <p:nvPicPr>
          <p:cNvPr descr="image.png" id="296" name="Google Shape;296;g38b6a83bb94_0_430"/>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97" name="Google Shape;297;g38b6a83bb94_0_430"/>
          <p:cNvPicPr preferRelativeResize="0"/>
          <p:nvPr/>
        </p:nvPicPr>
        <p:blipFill rotWithShape="1">
          <a:blip r:embed="rId4">
            <a:alphaModFix/>
          </a:blip>
          <a:srcRect b="0" l="0" r="0" t="0"/>
          <a:stretch/>
        </p:blipFill>
        <p:spPr>
          <a:xfrm>
            <a:off x="428625" y="1203600"/>
            <a:ext cx="2571750" cy="3450675"/>
          </a:xfrm>
          <a:prstGeom prst="rect">
            <a:avLst/>
          </a:prstGeom>
          <a:noFill/>
          <a:ln>
            <a:noFill/>
          </a:ln>
        </p:spPr>
      </p:pic>
      <p:pic>
        <p:nvPicPr>
          <p:cNvPr descr="image.png" id="298" name="Google Shape;298;g38b6a83bb94_0_430"/>
          <p:cNvPicPr preferRelativeResize="0"/>
          <p:nvPr/>
        </p:nvPicPr>
        <p:blipFill rotWithShape="1">
          <a:blip r:embed="rId5">
            <a:alphaModFix/>
          </a:blip>
          <a:srcRect b="0" l="0" r="0" t="0"/>
          <a:stretch/>
        </p:blipFill>
        <p:spPr>
          <a:xfrm>
            <a:off x="3286125" y="1203600"/>
            <a:ext cx="2571750" cy="3450675"/>
          </a:xfrm>
          <a:prstGeom prst="rect">
            <a:avLst/>
          </a:prstGeom>
          <a:noFill/>
          <a:ln>
            <a:noFill/>
          </a:ln>
        </p:spPr>
      </p:pic>
      <p:pic>
        <p:nvPicPr>
          <p:cNvPr descr="image.png" id="299" name="Google Shape;299;g38b6a83bb94_0_430"/>
          <p:cNvPicPr preferRelativeResize="0"/>
          <p:nvPr/>
        </p:nvPicPr>
        <p:blipFill rotWithShape="1">
          <a:blip r:embed="rId6">
            <a:alphaModFix/>
          </a:blip>
          <a:srcRect b="0" l="0" r="0" t="0"/>
          <a:stretch/>
        </p:blipFill>
        <p:spPr>
          <a:xfrm>
            <a:off x="6143625" y="1203600"/>
            <a:ext cx="2571750" cy="3450675"/>
          </a:xfrm>
          <a:prstGeom prst="rect">
            <a:avLst/>
          </a:prstGeom>
          <a:noFill/>
          <a:ln>
            <a:noFill/>
          </a:ln>
        </p:spPr>
      </p:pic>
      <p:sp>
        <p:nvSpPr>
          <p:cNvPr id="300" name="Google Shape;300;g38b6a83bb94_0_430"/>
          <p:cNvSpPr txBox="1"/>
          <p:nvPr/>
        </p:nvSpPr>
        <p:spPr>
          <a:xfrm>
            <a:off x="596860" y="193618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Kubernetes (K8s)</a:t>
            </a:r>
            <a:endParaRPr b="0" i="0" sz="1100" u="none" cap="none" strike="noStrike">
              <a:solidFill>
                <a:srgbClr val="000000"/>
              </a:solidFill>
              <a:latin typeface="Arial"/>
              <a:ea typeface="Arial"/>
              <a:cs typeface="Arial"/>
              <a:sym typeface="Arial"/>
            </a:endParaRPr>
          </a:p>
        </p:txBody>
      </p:sp>
      <p:sp>
        <p:nvSpPr>
          <p:cNvPr id="301" name="Google Shape;301;g38b6a83bb94_0_430"/>
          <p:cNvSpPr txBox="1"/>
          <p:nvPr/>
        </p:nvSpPr>
        <p:spPr>
          <a:xfrm>
            <a:off x="650081" y="2376775"/>
            <a:ext cx="2129100" cy="2078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Chuyển đổi từ Docker Compose lên K8s để giải quyết bài toán Self-healing (tự phục hồi Pod) và Auto-scaling dựa trên tải CPU.</a:t>
            </a:r>
            <a:endParaRPr b="0" i="0" sz="1500" u="none" cap="none" strike="noStrike">
              <a:solidFill>
                <a:srgbClr val="000000"/>
              </a:solidFill>
              <a:latin typeface="Arial"/>
              <a:ea typeface="Arial"/>
              <a:cs typeface="Arial"/>
              <a:sym typeface="Arial"/>
            </a:endParaRPr>
          </a:p>
        </p:txBody>
      </p:sp>
      <p:sp>
        <p:nvSpPr>
          <p:cNvPr id="302" name="Google Shape;302;g38b6a83bb94_0_430"/>
          <p:cNvSpPr txBox="1"/>
          <p:nvPr/>
        </p:nvSpPr>
        <p:spPr>
          <a:xfrm>
            <a:off x="3454360" y="193618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CI/CD Pipeline</a:t>
            </a:r>
            <a:endParaRPr b="0" i="0" sz="1100" u="none" cap="none" strike="noStrike">
              <a:solidFill>
                <a:srgbClr val="000000"/>
              </a:solidFill>
              <a:latin typeface="Arial"/>
              <a:ea typeface="Arial"/>
              <a:cs typeface="Arial"/>
              <a:sym typeface="Arial"/>
            </a:endParaRPr>
          </a:p>
        </p:txBody>
      </p:sp>
      <p:sp>
        <p:nvSpPr>
          <p:cNvPr id="303" name="Google Shape;303;g38b6a83bb94_0_430"/>
          <p:cNvSpPr txBox="1"/>
          <p:nvPr/>
        </p:nvSpPr>
        <p:spPr>
          <a:xfrm>
            <a:off x="3507581" y="2376775"/>
            <a:ext cx="2129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Tự động hóa toàn bộ quy trình Test -&gt; Build Image -&gt; Push Docker Hub -&gt; Deploy lên K8s bằng công cụ GitHub Actions.</a:t>
            </a:r>
            <a:endParaRPr b="0" i="0" sz="1500" u="none" cap="none" strike="noStrike">
              <a:solidFill>
                <a:srgbClr val="000000"/>
              </a:solidFill>
              <a:latin typeface="Arial"/>
              <a:ea typeface="Arial"/>
              <a:cs typeface="Arial"/>
              <a:sym typeface="Arial"/>
            </a:endParaRPr>
          </a:p>
        </p:txBody>
      </p:sp>
      <p:sp>
        <p:nvSpPr>
          <p:cNvPr id="304" name="Google Shape;304;g38b6a83bb94_0_430"/>
          <p:cNvSpPr txBox="1"/>
          <p:nvPr/>
        </p:nvSpPr>
        <p:spPr>
          <a:xfrm>
            <a:off x="6311860" y="1936188"/>
            <a:ext cx="22353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n" sz="1500" u="none" cap="none" strike="noStrike">
                <a:solidFill>
                  <a:srgbClr val="0F172A"/>
                </a:solidFill>
                <a:latin typeface="Poppins"/>
                <a:ea typeface="Poppins"/>
                <a:cs typeface="Poppins"/>
                <a:sym typeface="Poppins"/>
              </a:rPr>
              <a:t>Giám Sát Toàn Diện</a:t>
            </a:r>
            <a:endParaRPr b="0" i="0" sz="1100" u="none" cap="none" strike="noStrike">
              <a:solidFill>
                <a:srgbClr val="000000"/>
              </a:solidFill>
              <a:latin typeface="Arial"/>
              <a:ea typeface="Arial"/>
              <a:cs typeface="Arial"/>
              <a:sym typeface="Arial"/>
            </a:endParaRPr>
          </a:p>
        </p:txBody>
      </p:sp>
      <p:sp>
        <p:nvSpPr>
          <p:cNvPr id="305" name="Google Shape;305;g38b6a83bb94_0_430"/>
          <p:cNvSpPr txBox="1"/>
          <p:nvPr/>
        </p:nvSpPr>
        <p:spPr>
          <a:xfrm>
            <a:off x="6365081" y="2376775"/>
            <a:ext cx="2129100" cy="2078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00"/>
              <a:buFont typeface="Arial"/>
              <a:buNone/>
            </a:pPr>
            <a:r>
              <a:rPr b="0" i="0" lang="en" sz="1500" u="none" cap="none" strike="noStrike">
                <a:solidFill>
                  <a:srgbClr val="334155"/>
                </a:solidFill>
                <a:latin typeface="Lato"/>
                <a:ea typeface="Lato"/>
                <a:cs typeface="Lato"/>
                <a:sym typeface="Lato"/>
              </a:rPr>
              <a:t>Áp dụng Prometheus &amp; Grafana khai thác các endpoint /actuator để xây dựng Dashboard theo dõi sức khỏe hệ thống Real-time.</a:t>
            </a:r>
            <a:endParaRPr b="0" i="0" sz="1500" u="none" cap="none" strike="noStrike">
              <a:solidFill>
                <a:srgbClr val="000000"/>
              </a:solidFill>
              <a:latin typeface="Arial"/>
              <a:ea typeface="Arial"/>
              <a:cs typeface="Arial"/>
              <a:sym typeface="Arial"/>
            </a:endParaRPr>
          </a:p>
        </p:txBody>
      </p:sp>
      <p:pic>
        <p:nvPicPr>
          <p:cNvPr descr="image.png" id="306" name="Google Shape;306;g38b6a83bb94_0_430"/>
          <p:cNvPicPr preferRelativeResize="0"/>
          <p:nvPr/>
        </p:nvPicPr>
        <p:blipFill rotWithShape="1">
          <a:blip r:embed="rId7">
            <a:alphaModFix/>
          </a:blip>
          <a:srcRect b="0" l="0" r="0" t="0"/>
          <a:stretch/>
        </p:blipFill>
        <p:spPr>
          <a:xfrm>
            <a:off x="1543050" y="1470013"/>
            <a:ext cx="342900" cy="342900"/>
          </a:xfrm>
          <a:prstGeom prst="rect">
            <a:avLst/>
          </a:prstGeom>
          <a:noFill/>
          <a:ln>
            <a:noFill/>
          </a:ln>
        </p:spPr>
      </p:pic>
      <p:pic>
        <p:nvPicPr>
          <p:cNvPr descr="image.png" id="307" name="Google Shape;307;g38b6a83bb94_0_430"/>
          <p:cNvPicPr preferRelativeResize="0"/>
          <p:nvPr/>
        </p:nvPicPr>
        <p:blipFill rotWithShape="1">
          <a:blip r:embed="rId8">
            <a:alphaModFix/>
          </a:blip>
          <a:srcRect b="0" l="0" r="0" t="0"/>
          <a:stretch/>
        </p:blipFill>
        <p:spPr>
          <a:xfrm>
            <a:off x="4400550" y="1470013"/>
            <a:ext cx="342900" cy="342900"/>
          </a:xfrm>
          <a:prstGeom prst="rect">
            <a:avLst/>
          </a:prstGeom>
          <a:noFill/>
          <a:ln>
            <a:noFill/>
          </a:ln>
        </p:spPr>
      </p:pic>
      <p:pic>
        <p:nvPicPr>
          <p:cNvPr descr="image.png" id="308" name="Google Shape;308;g38b6a83bb94_0_430"/>
          <p:cNvPicPr preferRelativeResize="0"/>
          <p:nvPr/>
        </p:nvPicPr>
        <p:blipFill rotWithShape="1">
          <a:blip r:embed="rId9">
            <a:alphaModFix/>
          </a:blip>
          <a:srcRect b="0" l="0" r="0" t="0"/>
          <a:stretch/>
        </p:blipFill>
        <p:spPr>
          <a:xfrm>
            <a:off x="7258050" y="1470013"/>
            <a:ext cx="342900" cy="342900"/>
          </a:xfrm>
          <a:prstGeom prst="rect">
            <a:avLst/>
          </a:prstGeom>
          <a:noFill/>
          <a:ln>
            <a:noFill/>
          </a:ln>
        </p:spPr>
      </p:pic>
      <p:sp>
        <p:nvSpPr>
          <p:cNvPr id="309" name="Google Shape;309;g38b6a83bb94_0_430"/>
          <p:cNvSpPr txBox="1"/>
          <p:nvPr/>
        </p:nvSpPr>
        <p:spPr>
          <a:xfrm>
            <a:off x="428625" y="428625"/>
            <a:ext cx="87012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chemeClr val="dk1"/>
                </a:solidFill>
                <a:latin typeface="Poppins"/>
                <a:ea typeface="Poppins"/>
                <a:cs typeface="Poppins"/>
                <a:sym typeface="Poppins"/>
              </a:rPr>
              <a:t>Định Hướng Phát Triển (Future Works)</a:t>
            </a:r>
            <a:endParaRPr b="0" i="0" sz="11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adient Timeline Infographics by Slidesgo">
  <a:themeElements>
    <a:clrScheme name="Simple Light">
      <a:dk1>
        <a:srgbClr val="000000"/>
      </a:dk1>
      <a:lt1>
        <a:srgbClr val="FFFFFF"/>
      </a:lt1>
      <a:dk2>
        <a:srgbClr val="000000"/>
      </a:dk2>
      <a:lt2>
        <a:srgbClr val="EEEEEE"/>
      </a:lt2>
      <a:accent1>
        <a:srgbClr val="B6E080"/>
      </a:accent1>
      <a:accent2>
        <a:srgbClr val="A3D798"/>
      </a:accent2>
      <a:accent3>
        <a:srgbClr val="70C08D"/>
      </a:accent3>
      <a:accent4>
        <a:srgbClr val="36857B"/>
      </a:accent4>
      <a:accent5>
        <a:srgbClr val="00A0A9"/>
      </a:accent5>
      <a:accent6>
        <a:srgbClr val="33C5C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