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5143500" cx="9144000"/>
  <p:notesSz cx="6858000" cy="9144000"/>
  <p:embeddedFontLst>
    <p:embeddedFont>
      <p:font typeface="Poppins"/>
      <p:regular r:id="rId27"/>
      <p:bold r:id="rId28"/>
      <p:italic r:id="rId29"/>
      <p:boldItalic r:id="rId30"/>
    </p:embeddedFont>
    <p:embeddedFont>
      <p:font typeface="Lato"/>
      <p:regular r:id="rId31"/>
      <p:bold r:id="rId32"/>
      <p:italic r:id="rId33"/>
      <p:boldItalic r:id="rId34"/>
    </p:embeddedFont>
    <p:embeddedFont>
      <p:font typeface="Fira Sans Extra Condensed Medium"/>
      <p:regular r:id="rId35"/>
      <p:bold r:id="rId36"/>
      <p:italic r:id="rId37"/>
      <p:boldItalic r:id="rId38"/>
    </p:embeddedFont>
    <p:embeddedFont>
      <p:font typeface="Fira Sans Extra Condensed"/>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gR8pz4wSl4PZVSrokVpNXr2kLb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FiraSansExtraCondensed-bold.fntdata"/><Relationship Id="rId20" Type="http://schemas.openxmlformats.org/officeDocument/2006/relationships/slide" Target="slides/slide16.xml"/><Relationship Id="rId42" Type="http://schemas.openxmlformats.org/officeDocument/2006/relationships/font" Target="fonts/FiraSansExtraCondensed-boldItalic.fntdata"/><Relationship Id="rId41" Type="http://schemas.openxmlformats.org/officeDocument/2006/relationships/font" Target="fonts/FiraSansExtraCondensed-italic.fntdata"/><Relationship Id="rId22" Type="http://schemas.openxmlformats.org/officeDocument/2006/relationships/slide" Target="slides/slide18.xml"/><Relationship Id="rId21" Type="http://schemas.openxmlformats.org/officeDocument/2006/relationships/slide" Target="slides/slide17.xml"/><Relationship Id="rId43" Type="http://customschemas.google.com/relationships/presentationmetadata" Target="meta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Poppins-bold.fntdata"/><Relationship Id="rId27" Type="http://schemas.openxmlformats.org/officeDocument/2006/relationships/font" Target="fonts/Poppins-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oppins-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ato-regular.fntdata"/><Relationship Id="rId30" Type="http://schemas.openxmlformats.org/officeDocument/2006/relationships/font" Target="fonts/Poppins-boldItalic.fntdata"/><Relationship Id="rId11" Type="http://schemas.openxmlformats.org/officeDocument/2006/relationships/slide" Target="slides/slide7.xml"/><Relationship Id="rId33" Type="http://schemas.openxmlformats.org/officeDocument/2006/relationships/font" Target="fonts/Lato-italic.fntdata"/><Relationship Id="rId10" Type="http://schemas.openxmlformats.org/officeDocument/2006/relationships/slide" Target="slides/slide6.xml"/><Relationship Id="rId32" Type="http://schemas.openxmlformats.org/officeDocument/2006/relationships/font" Target="fonts/Lato-bold.fntdata"/><Relationship Id="rId13" Type="http://schemas.openxmlformats.org/officeDocument/2006/relationships/slide" Target="slides/slide9.xml"/><Relationship Id="rId35" Type="http://schemas.openxmlformats.org/officeDocument/2006/relationships/font" Target="fonts/FiraSansExtraCondensedMedium-regular.fntdata"/><Relationship Id="rId12" Type="http://schemas.openxmlformats.org/officeDocument/2006/relationships/slide" Target="slides/slide8.xml"/><Relationship Id="rId34" Type="http://schemas.openxmlformats.org/officeDocument/2006/relationships/font" Target="fonts/Lato-boldItalic.fntdata"/><Relationship Id="rId15" Type="http://schemas.openxmlformats.org/officeDocument/2006/relationships/slide" Target="slides/slide11.xml"/><Relationship Id="rId37" Type="http://schemas.openxmlformats.org/officeDocument/2006/relationships/font" Target="fonts/FiraSansExtraCondensedMedium-italic.fntdata"/><Relationship Id="rId14" Type="http://schemas.openxmlformats.org/officeDocument/2006/relationships/slide" Target="slides/slide10.xml"/><Relationship Id="rId36" Type="http://schemas.openxmlformats.org/officeDocument/2006/relationships/font" Target="fonts/FiraSansExtraCondensedMedium-bold.fntdata"/><Relationship Id="rId17" Type="http://schemas.openxmlformats.org/officeDocument/2006/relationships/slide" Target="slides/slide13.xml"/><Relationship Id="rId39" Type="http://schemas.openxmlformats.org/officeDocument/2006/relationships/font" Target="fonts/FiraSansExtraCondensed-regular.fntdata"/><Relationship Id="rId16" Type="http://schemas.openxmlformats.org/officeDocument/2006/relationships/slide" Target="slides/slide12.xml"/><Relationship Id="rId38" Type="http://schemas.openxmlformats.org/officeDocument/2006/relationships/font" Target="fonts/FiraSansExtraCondensedMedium-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e19b8b1e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g3de19b8b1e6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de1a43aa0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3de1a43aa05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e1a43aa0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3de1a43aa05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e1a43aa0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3de1a43aa05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e1a43aa05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3de1a43aa05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e1a43aa0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g3de1a43aa05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e1a43aa05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de1a43aa05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e1a43aa0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3de1a43aa05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e1a43aa05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3de1a43aa05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e1a43aa05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3de1a43aa05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8b6a83bb94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8b6a83bb94_0_1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8b6a83bb94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8b6a83bb94_0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8b6a83bb94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38b6a83bb94_0_1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8b6a83bb94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8b6a83bb94_0_1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8b6a83bb94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38b6a83bb94_0_2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8b6a83bb94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g38b6a83bb94_0_2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8b6a83bb94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8b6a83bb94_0_3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8b6a83bb94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8b6a83bb94_0_3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8b6a83bb94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8b6a83bb94_0_4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8b6a83bb94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38b6a83bb94_0_4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Timeline Infographics" type="title">
  <p:cSld name="TITLE">
    <p:spTree>
      <p:nvGrpSpPr>
        <p:cNvPr id="9" name="Shape 9"/>
        <p:cNvGrpSpPr/>
        <p:nvPr/>
      </p:nvGrpSpPr>
      <p:grpSpPr>
        <a:xfrm>
          <a:off x="0" y="0"/>
          <a:ext cx="0" cy="0"/>
          <a:chOff x="0" y="0"/>
          <a:chExt cx="0" cy="0"/>
        </a:xfrm>
      </p:grpSpPr>
      <p:sp>
        <p:nvSpPr>
          <p:cNvPr id="10" name="Google Shape;10;p35"/>
          <p:cNvSpPr txBox="1"/>
          <p:nvPr>
            <p:ph type="ctrTitle"/>
          </p:nvPr>
        </p:nvSpPr>
        <p:spPr>
          <a:xfrm>
            <a:off x="414900" y="457200"/>
            <a:ext cx="4615500" cy="2453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200"/>
              <a:buNone/>
              <a:defRPr sz="5200">
                <a:solidFill>
                  <a:schemeClr val="accent4"/>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5"/>
          <p:cNvSpPr txBox="1"/>
          <p:nvPr>
            <p:ph idx="1" type="subTitle"/>
          </p:nvPr>
        </p:nvSpPr>
        <p:spPr>
          <a:xfrm>
            <a:off x="414900" y="2947325"/>
            <a:ext cx="4013700" cy="1213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sz="2800">
                <a:solidFill>
                  <a:srgbClr val="B7B7B7"/>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36"/>
          <p:cNvSpPr txBox="1"/>
          <p:nvPr>
            <p:ph type="title"/>
          </p:nvPr>
        </p:nvSpPr>
        <p:spPr>
          <a:xfrm>
            <a:off x="411250" y="445025"/>
            <a:ext cx="83214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a:lvl1pPr>
            <a:lvl2pPr lvl="1" algn="ctr">
              <a:lnSpc>
                <a:spcPct val="100000"/>
              </a:lnSpc>
              <a:spcBef>
                <a:spcPts val="0"/>
              </a:spcBef>
              <a:spcAft>
                <a:spcPts val="0"/>
              </a:spcAft>
              <a:buClr>
                <a:schemeClr val="accent4"/>
              </a:buClr>
              <a:buSzPts val="2800"/>
              <a:buNone/>
              <a:defRPr>
                <a:solidFill>
                  <a:schemeClr val="accent4"/>
                </a:solidFill>
              </a:defRPr>
            </a:lvl2pPr>
            <a:lvl3pPr lvl="2" algn="ctr">
              <a:lnSpc>
                <a:spcPct val="100000"/>
              </a:lnSpc>
              <a:spcBef>
                <a:spcPts val="0"/>
              </a:spcBef>
              <a:spcAft>
                <a:spcPts val="0"/>
              </a:spcAft>
              <a:buClr>
                <a:schemeClr val="accent4"/>
              </a:buClr>
              <a:buSzPts val="2800"/>
              <a:buNone/>
              <a:defRPr>
                <a:solidFill>
                  <a:schemeClr val="accent4"/>
                </a:solidFill>
              </a:defRPr>
            </a:lvl3pPr>
            <a:lvl4pPr lvl="3" algn="ctr">
              <a:lnSpc>
                <a:spcPct val="100000"/>
              </a:lnSpc>
              <a:spcBef>
                <a:spcPts val="0"/>
              </a:spcBef>
              <a:spcAft>
                <a:spcPts val="0"/>
              </a:spcAft>
              <a:buClr>
                <a:schemeClr val="accent4"/>
              </a:buClr>
              <a:buSzPts val="2800"/>
              <a:buNone/>
              <a:defRPr>
                <a:solidFill>
                  <a:schemeClr val="accent4"/>
                </a:solidFill>
              </a:defRPr>
            </a:lvl4pPr>
            <a:lvl5pPr lvl="4" algn="ctr">
              <a:lnSpc>
                <a:spcPct val="100000"/>
              </a:lnSpc>
              <a:spcBef>
                <a:spcPts val="0"/>
              </a:spcBef>
              <a:spcAft>
                <a:spcPts val="0"/>
              </a:spcAft>
              <a:buClr>
                <a:schemeClr val="accent4"/>
              </a:buClr>
              <a:buSzPts val="2800"/>
              <a:buNone/>
              <a:defRPr>
                <a:solidFill>
                  <a:schemeClr val="accent4"/>
                </a:solidFill>
              </a:defRPr>
            </a:lvl5pPr>
            <a:lvl6pPr lvl="5" algn="ctr">
              <a:lnSpc>
                <a:spcPct val="100000"/>
              </a:lnSpc>
              <a:spcBef>
                <a:spcPts val="0"/>
              </a:spcBef>
              <a:spcAft>
                <a:spcPts val="0"/>
              </a:spcAft>
              <a:buClr>
                <a:schemeClr val="accent4"/>
              </a:buClr>
              <a:buSzPts val="2800"/>
              <a:buNone/>
              <a:defRPr>
                <a:solidFill>
                  <a:schemeClr val="accent4"/>
                </a:solidFill>
              </a:defRPr>
            </a:lvl6pPr>
            <a:lvl7pPr lvl="6" algn="ctr">
              <a:lnSpc>
                <a:spcPct val="100000"/>
              </a:lnSpc>
              <a:spcBef>
                <a:spcPts val="0"/>
              </a:spcBef>
              <a:spcAft>
                <a:spcPts val="0"/>
              </a:spcAft>
              <a:buClr>
                <a:schemeClr val="accent4"/>
              </a:buClr>
              <a:buSzPts val="2800"/>
              <a:buNone/>
              <a:defRPr>
                <a:solidFill>
                  <a:schemeClr val="accent4"/>
                </a:solidFill>
              </a:defRPr>
            </a:lvl7pPr>
            <a:lvl8pPr lvl="7" algn="ctr">
              <a:lnSpc>
                <a:spcPct val="100000"/>
              </a:lnSpc>
              <a:spcBef>
                <a:spcPts val="0"/>
              </a:spcBef>
              <a:spcAft>
                <a:spcPts val="0"/>
              </a:spcAft>
              <a:buClr>
                <a:schemeClr val="accent4"/>
              </a:buClr>
              <a:buSzPts val="2800"/>
              <a:buNone/>
              <a:defRPr>
                <a:solidFill>
                  <a:schemeClr val="accent4"/>
                </a:solidFill>
              </a:defRPr>
            </a:lvl8pPr>
            <a:lvl9pPr lvl="8" algn="ctr">
              <a:lnSpc>
                <a:spcPct val="100000"/>
              </a:lnSpc>
              <a:spcBef>
                <a:spcPts val="0"/>
              </a:spcBef>
              <a:spcAft>
                <a:spcPts val="0"/>
              </a:spcAft>
              <a:buClr>
                <a:schemeClr val="accent4"/>
              </a:buClr>
              <a:buSzPts val="2800"/>
              <a:buNone/>
              <a:defRPr>
                <a:solidFill>
                  <a:schemeClr val="accent4"/>
                </a:solidFill>
              </a:defRPr>
            </a:lvl9pPr>
          </a:lstStyle>
          <a:p/>
        </p:txBody>
      </p:sp>
      <p:sp>
        <p:nvSpPr>
          <p:cNvPr id="15" name="Google Shape;15;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8" name="Google Shape;18;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0"/>
          <p:cNvSpPr txBox="1"/>
          <p:nvPr>
            <p:ph type="title"/>
          </p:nvPr>
        </p:nvSpPr>
        <p:spPr>
          <a:xfrm>
            <a:off x="411250" y="445025"/>
            <a:ext cx="83214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40"/>
          <p:cNvSpPr txBox="1"/>
          <p:nvPr>
            <p:ph idx="1" type="body"/>
          </p:nvPr>
        </p:nvSpPr>
        <p:spPr>
          <a:xfrm>
            <a:off x="411250" y="1152475"/>
            <a:ext cx="83214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2" name="Google Shape;22;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41"/>
          <p:cNvSpPr txBox="1"/>
          <p:nvPr>
            <p:ph type="title"/>
          </p:nvPr>
        </p:nvSpPr>
        <p:spPr>
          <a:xfrm>
            <a:off x="411250" y="445025"/>
            <a:ext cx="83214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4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4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7" name="Google Shape;27;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4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400"/>
              <a:buNone/>
              <a:defRPr/>
            </a:lvl1pPr>
          </a:lstStyle>
          <a:p/>
        </p:txBody>
      </p:sp>
      <p:sp>
        <p:nvSpPr>
          <p:cNvPr id="43" name="Google Shape;43;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17500" lvl="0" marL="457200" algn="ctr">
              <a:lnSpc>
                <a:spcPct val="115000"/>
              </a:lnSpc>
              <a:spcBef>
                <a:spcPts val="0"/>
              </a:spcBef>
              <a:spcAft>
                <a:spcPts val="0"/>
              </a:spcAft>
              <a:buSzPts val="14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4"/>
          <p:cNvSpPr txBox="1"/>
          <p:nvPr>
            <p:ph type="title"/>
          </p:nvPr>
        </p:nvSpPr>
        <p:spPr>
          <a:xfrm>
            <a:off x="411250" y="445025"/>
            <a:ext cx="83214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500"/>
              <a:buFont typeface="Fira Sans Extra Condensed Medium"/>
              <a:buNone/>
              <a:defRPr b="0" i="0" sz="2500" u="none" cap="none" strike="noStrike">
                <a:solidFill>
                  <a:schemeClr val="dk1"/>
                </a:solidFill>
                <a:latin typeface="Fira Sans Extra Condensed Medium"/>
                <a:ea typeface="Fira Sans Extra Condensed Medium"/>
                <a:cs typeface="Fira Sans Extra Condensed Medium"/>
                <a:sym typeface="Fira Sans Extra Condensed Medium"/>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4"/>
          <p:cNvSpPr txBox="1"/>
          <p:nvPr>
            <p:ph idx="1" type="body"/>
          </p:nvPr>
        </p:nvSpPr>
        <p:spPr>
          <a:xfrm>
            <a:off x="411250" y="1152475"/>
            <a:ext cx="83214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1pPr>
            <a:lvl2pPr indent="-317500" lvl="1" marL="914400" marR="0" rtl="0" algn="l">
              <a:lnSpc>
                <a:spcPct val="115000"/>
              </a:lnSpc>
              <a:spcBef>
                <a:spcPts val="160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2pPr>
            <a:lvl3pPr indent="-317500" lvl="2" marL="1371600" marR="0" rtl="0" algn="l">
              <a:lnSpc>
                <a:spcPct val="115000"/>
              </a:lnSpc>
              <a:spcBef>
                <a:spcPts val="160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3pPr>
            <a:lvl4pPr indent="-317500" lvl="3" marL="1828800" marR="0" rtl="0" algn="l">
              <a:lnSpc>
                <a:spcPct val="115000"/>
              </a:lnSpc>
              <a:spcBef>
                <a:spcPts val="160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4pPr>
            <a:lvl5pPr indent="-317500" lvl="4" marL="2286000" marR="0" rtl="0" algn="l">
              <a:lnSpc>
                <a:spcPct val="115000"/>
              </a:lnSpc>
              <a:spcBef>
                <a:spcPts val="160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5pPr>
            <a:lvl6pPr indent="-317500" lvl="5" marL="2743200" marR="0" rtl="0" algn="l">
              <a:lnSpc>
                <a:spcPct val="115000"/>
              </a:lnSpc>
              <a:spcBef>
                <a:spcPts val="160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6pPr>
            <a:lvl7pPr indent="-317500" lvl="6" marL="3200400" marR="0" rtl="0" algn="l">
              <a:lnSpc>
                <a:spcPct val="115000"/>
              </a:lnSpc>
              <a:spcBef>
                <a:spcPts val="160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7pPr>
            <a:lvl8pPr indent="-317500" lvl="7" marL="3657600" marR="0" rtl="0" algn="l">
              <a:lnSpc>
                <a:spcPct val="115000"/>
              </a:lnSpc>
              <a:spcBef>
                <a:spcPts val="160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8pPr>
            <a:lvl9pPr indent="-317500" lvl="8" marL="4114800" marR="0" rtl="0" algn="l">
              <a:lnSpc>
                <a:spcPct val="115000"/>
              </a:lnSpc>
              <a:spcBef>
                <a:spcPts val="1600"/>
              </a:spcBef>
              <a:spcAft>
                <a:spcPts val="160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9pPr>
          </a:lstStyle>
          <a:p/>
        </p:txBody>
      </p:sp>
      <p:sp>
        <p:nvSpPr>
          <p:cNvPr id="8" name="Google Shape;8;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26.png"/><Relationship Id="rId9"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2.pn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2.png"/><Relationship Id="rId5"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16.png"/><Relationship Id="rId5" Type="http://schemas.openxmlformats.org/officeDocument/2006/relationships/image" Target="../media/image25.png"/><Relationship Id="rId6" Type="http://schemas.openxmlformats.org/officeDocument/2006/relationships/image" Target="../media/image17.png"/><Relationship Id="rId7"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2.png"/><Relationship Id="rId5"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32.png"/><Relationship Id="rId9" Type="http://schemas.openxmlformats.org/officeDocument/2006/relationships/image" Target="../media/image33.png"/><Relationship Id="rId5" Type="http://schemas.openxmlformats.org/officeDocument/2006/relationships/image" Target="../media/image36.png"/><Relationship Id="rId6" Type="http://schemas.openxmlformats.org/officeDocument/2006/relationships/image" Target="../media/image35.png"/><Relationship Id="rId7" Type="http://schemas.openxmlformats.org/officeDocument/2006/relationships/image" Target="../media/image29.png"/><Relationship Id="rId8"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41.png"/><Relationship Id="rId5" Type="http://schemas.openxmlformats.org/officeDocument/2006/relationships/image" Target="../media/image39.png"/><Relationship Id="rId6" Type="http://schemas.openxmlformats.org/officeDocument/2006/relationships/image" Target="../media/image31.png"/><Relationship Id="rId7"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20.png"/><Relationship Id="rId4" Type="http://schemas.openxmlformats.org/officeDocument/2006/relationships/image" Target="../media/image32.png"/><Relationship Id="rId9"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35.png"/><Relationship Id="rId7" Type="http://schemas.openxmlformats.org/officeDocument/2006/relationships/image" Target="../media/image38.png"/><Relationship Id="rId8"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414900" y="457200"/>
            <a:ext cx="5731200" cy="245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a:t>PHÂN TÍCH DỰ ÁN MICROSERVICE</a:t>
            </a:r>
            <a:endParaRPr/>
          </a:p>
        </p:txBody>
      </p:sp>
      <p:sp>
        <p:nvSpPr>
          <p:cNvPr id="55" name="Google Shape;55;p1"/>
          <p:cNvSpPr txBox="1"/>
          <p:nvPr>
            <p:ph idx="1" type="subTitle"/>
          </p:nvPr>
        </p:nvSpPr>
        <p:spPr>
          <a:xfrm>
            <a:off x="414900" y="2947325"/>
            <a:ext cx="3802500" cy="121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rgbClr val="000000"/>
                </a:solidFill>
              </a:rPr>
              <a:t>Nguyễn Võ Minh Hiếu</a:t>
            </a:r>
            <a:endParaRPr>
              <a:solidFill>
                <a:srgbClr val="000000"/>
              </a:solidFill>
            </a:endParaRPr>
          </a:p>
          <a:p>
            <a:pPr indent="0" lvl="0" marL="0" rtl="0" algn="l">
              <a:lnSpc>
                <a:spcPct val="100000"/>
              </a:lnSpc>
              <a:spcBef>
                <a:spcPts val="0"/>
              </a:spcBef>
              <a:spcAft>
                <a:spcPts val="0"/>
              </a:spcAft>
              <a:buSzPts val="2800"/>
              <a:buNone/>
            </a:pPr>
            <a:r>
              <a:rPr lang="en">
                <a:solidFill>
                  <a:srgbClr val="000000"/>
                </a:solidFill>
              </a:rPr>
              <a:t>Trần Đoàn Minh Trí</a:t>
            </a:r>
            <a:endParaRPr>
              <a:solidFill>
                <a:srgbClr val="000000"/>
              </a:solidFill>
            </a:endParaRPr>
          </a:p>
        </p:txBody>
      </p:sp>
      <p:grpSp>
        <p:nvGrpSpPr>
          <p:cNvPr id="56" name="Google Shape;56;p1"/>
          <p:cNvGrpSpPr/>
          <p:nvPr/>
        </p:nvGrpSpPr>
        <p:grpSpPr>
          <a:xfrm>
            <a:off x="4428477" y="633346"/>
            <a:ext cx="5731318" cy="4126966"/>
            <a:chOff x="2762076" y="1880751"/>
            <a:chExt cx="3683367" cy="2652291"/>
          </a:xfrm>
        </p:grpSpPr>
        <p:sp>
          <p:nvSpPr>
            <p:cNvPr id="57" name="Google Shape;57;p1"/>
            <p:cNvSpPr/>
            <p:nvPr/>
          </p:nvSpPr>
          <p:spPr>
            <a:xfrm>
              <a:off x="4043719" y="3233810"/>
              <a:ext cx="990440" cy="899173"/>
            </a:xfrm>
            <a:custGeom>
              <a:rect b="b" l="l" r="r" t="t"/>
              <a:pathLst>
                <a:path extrusionOk="0" h="26847" w="29572">
                  <a:moveTo>
                    <a:pt x="3886" y="1"/>
                  </a:moveTo>
                  <a:cubicBezTo>
                    <a:pt x="3625" y="3262"/>
                    <a:pt x="2248" y="6321"/>
                    <a:pt x="1" y="8698"/>
                  </a:cubicBezTo>
                  <a:lnTo>
                    <a:pt x="18135" y="26847"/>
                  </a:lnTo>
                  <a:cubicBezTo>
                    <a:pt x="25209" y="19657"/>
                    <a:pt x="29296" y="10075"/>
                    <a:pt x="29572" y="1"/>
                  </a:cubicBezTo>
                  <a:close/>
                </a:path>
              </a:pathLst>
            </a:custGeom>
            <a:gradFill>
              <a:gsLst>
                <a:gs pos="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2762076" y="3543540"/>
              <a:ext cx="890901" cy="989000"/>
            </a:xfrm>
            <a:custGeom>
              <a:rect b="b" l="l" r="r" t="t"/>
              <a:pathLst>
                <a:path extrusionOk="0" h="29529" w="26600">
                  <a:moveTo>
                    <a:pt x="18149" y="1"/>
                  </a:moveTo>
                  <a:lnTo>
                    <a:pt x="0" y="18164"/>
                  </a:lnTo>
                  <a:cubicBezTo>
                    <a:pt x="7132" y="25151"/>
                    <a:pt x="16627" y="29210"/>
                    <a:pt x="26600" y="29529"/>
                  </a:cubicBezTo>
                  <a:lnTo>
                    <a:pt x="26600" y="3828"/>
                  </a:lnTo>
                  <a:cubicBezTo>
                    <a:pt x="23440" y="3538"/>
                    <a:pt x="20454" y="2190"/>
                    <a:pt x="18149" y="1"/>
                  </a:cubicBezTo>
                  <a:close/>
                </a:path>
              </a:pathLst>
            </a:custGeom>
            <a:gradFill>
              <a:gsLst>
                <a:gs pos="0">
                  <a:schemeClr val="accent1"/>
                </a:gs>
                <a:gs pos="100000">
                  <a:schemeClr val="accent2"/>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
            <p:cNvSpPr/>
            <p:nvPr/>
          </p:nvSpPr>
          <p:spPr>
            <a:xfrm>
              <a:off x="3707768" y="3562965"/>
              <a:ext cx="904030" cy="970077"/>
            </a:xfrm>
            <a:custGeom>
              <a:rect b="b" l="l" r="r" t="t"/>
              <a:pathLst>
                <a:path extrusionOk="0" h="28964" w="26992">
                  <a:moveTo>
                    <a:pt x="8829" y="1"/>
                  </a:moveTo>
                  <a:cubicBezTo>
                    <a:pt x="6350" y="2074"/>
                    <a:pt x="3233" y="3233"/>
                    <a:pt x="1" y="3306"/>
                  </a:cubicBezTo>
                  <a:lnTo>
                    <a:pt x="1" y="28963"/>
                  </a:lnTo>
                  <a:cubicBezTo>
                    <a:pt x="10046" y="28905"/>
                    <a:pt x="19686" y="25049"/>
                    <a:pt x="26992" y="18164"/>
                  </a:cubicBezTo>
                  <a:lnTo>
                    <a:pt x="8829" y="1"/>
                  </a:lnTo>
                  <a:close/>
                </a:path>
              </a:pathLst>
            </a:custGeom>
            <a:gradFill>
              <a:gsLst>
                <a:gs pos="0">
                  <a:schemeClr val="accent2"/>
                </a:gs>
                <a:gs pos="100000">
                  <a:schemeClr val="accent3"/>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
            <p:cNvSpPr/>
            <p:nvPr/>
          </p:nvSpPr>
          <p:spPr>
            <a:xfrm>
              <a:off x="4173364" y="2280808"/>
              <a:ext cx="990440" cy="899676"/>
            </a:xfrm>
            <a:custGeom>
              <a:rect b="b" l="l" r="r" t="t"/>
              <a:pathLst>
                <a:path extrusionOk="0" h="26862" w="29572">
                  <a:moveTo>
                    <a:pt x="11423" y="0"/>
                  </a:moveTo>
                  <a:cubicBezTo>
                    <a:pt x="4349" y="7190"/>
                    <a:pt x="261" y="16786"/>
                    <a:pt x="0" y="26861"/>
                  </a:cubicBezTo>
                  <a:lnTo>
                    <a:pt x="25686" y="26861"/>
                  </a:lnTo>
                  <a:cubicBezTo>
                    <a:pt x="25933" y="23599"/>
                    <a:pt x="27310" y="20526"/>
                    <a:pt x="29571" y="18149"/>
                  </a:cubicBezTo>
                  <a:lnTo>
                    <a:pt x="11423" y="0"/>
                  </a:lnTo>
                  <a:close/>
                </a:path>
              </a:pathLst>
            </a:custGeom>
            <a:gradFill>
              <a:gsLst>
                <a:gs pos="0">
                  <a:schemeClr val="accent4"/>
                </a:gs>
                <a:gs pos="100000">
                  <a:schemeClr val="accent5"/>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
            <p:cNvSpPr/>
            <p:nvPr/>
          </p:nvSpPr>
          <p:spPr>
            <a:xfrm>
              <a:off x="5554040" y="1881723"/>
              <a:ext cx="891403" cy="988531"/>
            </a:xfrm>
            <a:custGeom>
              <a:rect b="b" l="l" r="r" t="t"/>
              <a:pathLst>
                <a:path extrusionOk="0" h="29515" w="26615">
                  <a:moveTo>
                    <a:pt x="1" y="1"/>
                  </a:moveTo>
                  <a:lnTo>
                    <a:pt x="15" y="25687"/>
                  </a:lnTo>
                  <a:cubicBezTo>
                    <a:pt x="3175" y="25992"/>
                    <a:pt x="6147" y="27340"/>
                    <a:pt x="8466" y="29514"/>
                  </a:cubicBezTo>
                  <a:lnTo>
                    <a:pt x="26615" y="11366"/>
                  </a:lnTo>
                  <a:cubicBezTo>
                    <a:pt x="19483" y="4379"/>
                    <a:pt x="9988" y="320"/>
                    <a:pt x="1" y="1"/>
                  </a:cubicBezTo>
                  <a:close/>
                </a:path>
              </a:pathLst>
            </a:custGeom>
            <a:gradFill>
              <a:gsLst>
                <a:gs pos="0">
                  <a:schemeClr val="accent6"/>
                </a:gs>
                <a:gs pos="100000">
                  <a:srgbClr val="A2E4E8"/>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
            <p:cNvSpPr/>
            <p:nvPr/>
          </p:nvSpPr>
          <p:spPr>
            <a:xfrm>
              <a:off x="4595219" y="1880751"/>
              <a:ext cx="904030" cy="970077"/>
            </a:xfrm>
            <a:custGeom>
              <a:rect b="b" l="l" r="r" t="t"/>
              <a:pathLst>
                <a:path extrusionOk="0" h="28964" w="26992">
                  <a:moveTo>
                    <a:pt x="26992" y="1"/>
                  </a:moveTo>
                  <a:cubicBezTo>
                    <a:pt x="16961" y="73"/>
                    <a:pt x="7321" y="3929"/>
                    <a:pt x="1" y="10800"/>
                  </a:cubicBezTo>
                  <a:lnTo>
                    <a:pt x="18178" y="28963"/>
                  </a:lnTo>
                  <a:cubicBezTo>
                    <a:pt x="20657" y="26905"/>
                    <a:pt x="23774" y="25745"/>
                    <a:pt x="26992" y="25673"/>
                  </a:cubicBezTo>
                  <a:lnTo>
                    <a:pt x="26992" y="1"/>
                  </a:lnTo>
                  <a:close/>
                </a:path>
              </a:pathLst>
            </a:custGeom>
            <a:gradFill>
              <a:gsLst>
                <a:gs pos="0">
                  <a:schemeClr val="accent4"/>
                </a:gs>
                <a:gs pos="100000">
                  <a:schemeClr val="accent6"/>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2"/>
          <p:cNvSpPr txBox="1"/>
          <p:nvPr>
            <p:ph type="title"/>
          </p:nvPr>
        </p:nvSpPr>
        <p:spPr>
          <a:xfrm>
            <a:off x="411250" y="445025"/>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500"/>
              <a:buNone/>
            </a:pPr>
            <a:r>
              <a:rPr lang="en"/>
              <a:t>Monolithic &amp; </a:t>
            </a:r>
            <a:r>
              <a:rPr lang="en"/>
              <a:t>Microservice </a:t>
            </a:r>
            <a:endParaRPr/>
          </a:p>
        </p:txBody>
      </p:sp>
      <p:pic>
        <p:nvPicPr>
          <p:cNvPr id="68" name="Google Shape;68;p2"/>
          <p:cNvPicPr preferRelativeResize="0"/>
          <p:nvPr/>
        </p:nvPicPr>
        <p:blipFill>
          <a:blip r:embed="rId3">
            <a:alphaModFix/>
          </a:blip>
          <a:stretch>
            <a:fillRect/>
          </a:stretch>
        </p:blipFill>
        <p:spPr>
          <a:xfrm>
            <a:off x="696487" y="1017725"/>
            <a:ext cx="7750925" cy="382811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g3de19b8b1e6_0_3"/>
          <p:cNvSpPr txBox="1"/>
          <p:nvPr>
            <p:ph type="title"/>
          </p:nvPr>
        </p:nvSpPr>
        <p:spPr>
          <a:xfrm>
            <a:off x="411250" y="445025"/>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2500"/>
              <a:buFont typeface="Arial"/>
              <a:buNone/>
            </a:pPr>
            <a:r>
              <a:rPr lang="en"/>
              <a:t>Spring Cloud Gateway</a:t>
            </a:r>
            <a:endParaRPr/>
          </a:p>
        </p:txBody>
      </p:sp>
      <p:pic>
        <p:nvPicPr>
          <p:cNvPr id="74" name="Google Shape;74;g3de19b8b1e6_0_3"/>
          <p:cNvPicPr preferRelativeResize="0"/>
          <p:nvPr/>
        </p:nvPicPr>
        <p:blipFill>
          <a:blip r:embed="rId3">
            <a:alphaModFix/>
          </a:blip>
          <a:stretch>
            <a:fillRect/>
          </a:stretch>
        </p:blipFill>
        <p:spPr>
          <a:xfrm>
            <a:off x="411250" y="1240950"/>
            <a:ext cx="4744526" cy="1651675"/>
          </a:xfrm>
          <a:prstGeom prst="rect">
            <a:avLst/>
          </a:prstGeom>
          <a:noFill/>
          <a:ln>
            <a:noFill/>
          </a:ln>
        </p:spPr>
      </p:pic>
      <p:sp>
        <p:nvSpPr>
          <p:cNvPr id="75" name="Google Shape;75;g3de19b8b1e6_0_3"/>
          <p:cNvSpPr txBox="1"/>
          <p:nvPr/>
        </p:nvSpPr>
        <p:spPr>
          <a:xfrm>
            <a:off x="5357325" y="1240950"/>
            <a:ext cx="3375300" cy="7533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sz="1500">
                <a:solidFill>
                  <a:schemeClr val="dk1"/>
                </a:solidFill>
                <a:latin typeface="Fira Sans Extra Condensed"/>
                <a:ea typeface="Fira Sans Extra Condensed"/>
                <a:cs typeface="Fira Sans Extra Condensed"/>
                <a:sym typeface="Fira Sans Extra Condensed"/>
              </a:rPr>
              <a:t>Client gửi một yêu cầu (request) đến hệ thống thông qua API Gateway:</a:t>
            </a:r>
            <a:endParaRPr sz="1500">
              <a:solidFill>
                <a:schemeClr val="dk1"/>
              </a:solidFill>
              <a:latin typeface="Fira Sans Extra Condensed"/>
              <a:ea typeface="Fira Sans Extra Condensed"/>
              <a:cs typeface="Fira Sans Extra Condensed"/>
              <a:sym typeface="Fira Sans Extra Condensed"/>
            </a:endParaRPr>
          </a:p>
        </p:txBody>
      </p:sp>
      <p:cxnSp>
        <p:nvCxnSpPr>
          <p:cNvPr id="76" name="Google Shape;76;g3de19b8b1e6_0_3"/>
          <p:cNvCxnSpPr/>
          <p:nvPr/>
        </p:nvCxnSpPr>
        <p:spPr>
          <a:xfrm rot="10800000">
            <a:off x="5251825" y="1241000"/>
            <a:ext cx="3300" cy="3028200"/>
          </a:xfrm>
          <a:prstGeom prst="straightConnector1">
            <a:avLst/>
          </a:prstGeom>
          <a:noFill/>
          <a:ln cap="flat" cmpd="sng" w="9525">
            <a:solidFill>
              <a:schemeClr val="dk2"/>
            </a:solidFill>
            <a:prstDash val="solid"/>
            <a:round/>
            <a:headEnd len="med" w="med" type="none"/>
            <a:tailEnd len="med" w="med" type="none"/>
          </a:ln>
        </p:spPr>
      </p:cxnSp>
      <p:sp>
        <p:nvSpPr>
          <p:cNvPr id="77" name="Google Shape;77;g3de19b8b1e6_0_3"/>
          <p:cNvSpPr txBox="1"/>
          <p:nvPr/>
        </p:nvSpPr>
        <p:spPr>
          <a:xfrm>
            <a:off x="5360475" y="1994250"/>
            <a:ext cx="3372300" cy="2147100"/>
          </a:xfrm>
          <a:prstGeom prst="rect">
            <a:avLst/>
          </a:prstGeom>
          <a:noFill/>
          <a:ln>
            <a:noFill/>
          </a:ln>
        </p:spPr>
        <p:txBody>
          <a:bodyPr anchorCtr="0" anchor="t" bIns="91425" lIns="91425" spcFirstLastPara="1" rIns="91425" wrap="square" tIns="91425">
            <a:spAutoFit/>
          </a:bodyPr>
          <a:lstStyle/>
          <a:p>
            <a:pPr indent="-323850" lvl="0" marL="457200" rtl="0" algn="just">
              <a:lnSpc>
                <a:spcPct val="150000"/>
              </a:lnSpc>
              <a:spcBef>
                <a:spcPts val="0"/>
              </a:spcBef>
              <a:spcAft>
                <a:spcPts val="0"/>
              </a:spcAft>
              <a:buClr>
                <a:schemeClr val="dk1"/>
              </a:buClr>
              <a:buSzPts val="1500"/>
              <a:buFont typeface="Fira Sans Extra Condensed"/>
              <a:buAutoNum type="arabicPeriod"/>
            </a:pPr>
            <a:r>
              <a:rPr lang="en" sz="1500">
                <a:solidFill>
                  <a:schemeClr val="dk1"/>
                </a:solidFill>
                <a:latin typeface="Fira Sans Extra Condensed"/>
                <a:ea typeface="Fira Sans Extra Condensed"/>
                <a:cs typeface="Fira Sans Extra Condensed"/>
                <a:sym typeface="Fira Sans Extra Condensed"/>
              </a:rPr>
              <a:t>Gateway Handler Mapping tiếp nhận Request</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just">
              <a:lnSpc>
                <a:spcPct val="150000"/>
              </a:lnSpc>
              <a:spcBef>
                <a:spcPts val="0"/>
              </a:spcBef>
              <a:spcAft>
                <a:spcPts val="0"/>
              </a:spcAft>
              <a:buClr>
                <a:schemeClr val="dk1"/>
              </a:buClr>
              <a:buSzPts val="1500"/>
              <a:buFont typeface="Fira Sans Extra Condensed"/>
              <a:buAutoNum type="arabicPeriod"/>
            </a:pPr>
            <a:r>
              <a:rPr lang="en" sz="1500">
                <a:solidFill>
                  <a:schemeClr val="dk1"/>
                </a:solidFill>
                <a:latin typeface="Fira Sans Extra Condensed"/>
                <a:ea typeface="Fira Sans Extra Condensed"/>
                <a:cs typeface="Fira Sans Extra Condensed"/>
                <a:sym typeface="Fira Sans Extra Condensed"/>
              </a:rPr>
              <a:t>Predicate kiểm tra Request</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just">
              <a:lnSpc>
                <a:spcPct val="150000"/>
              </a:lnSpc>
              <a:spcBef>
                <a:spcPts val="0"/>
              </a:spcBef>
              <a:spcAft>
                <a:spcPts val="0"/>
              </a:spcAft>
              <a:buClr>
                <a:schemeClr val="dk1"/>
              </a:buClr>
              <a:buSzPts val="1500"/>
              <a:buFont typeface="Fira Sans Extra Condensed"/>
              <a:buAutoNum type="arabicPeriod"/>
            </a:pPr>
            <a:r>
              <a:rPr lang="en" sz="1500">
                <a:solidFill>
                  <a:schemeClr val="dk1"/>
                </a:solidFill>
                <a:latin typeface="Fira Sans Extra Condensed"/>
                <a:ea typeface="Fira Sans Extra Condensed"/>
                <a:cs typeface="Fira Sans Extra Condensed"/>
                <a:sym typeface="Fira Sans Extra Condensed"/>
              </a:rPr>
              <a:t>Pre-Filter xử lý Request</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just">
              <a:lnSpc>
                <a:spcPct val="150000"/>
              </a:lnSpc>
              <a:spcBef>
                <a:spcPts val="0"/>
              </a:spcBef>
              <a:spcAft>
                <a:spcPts val="0"/>
              </a:spcAft>
              <a:buClr>
                <a:schemeClr val="dk1"/>
              </a:buClr>
              <a:buSzPts val="1500"/>
              <a:buFont typeface="Fira Sans Extra Condensed"/>
              <a:buAutoNum type="arabicPeriod"/>
            </a:pPr>
            <a:r>
              <a:rPr lang="en" sz="1500">
                <a:solidFill>
                  <a:schemeClr val="dk1"/>
                </a:solidFill>
                <a:latin typeface="Fira Sans Extra Condensed"/>
                <a:ea typeface="Fira Sans Extra Condensed"/>
                <a:cs typeface="Fira Sans Extra Condensed"/>
                <a:sym typeface="Fira Sans Extra Condensed"/>
              </a:rPr>
              <a:t>Post-Filter xử lý sau khi nhận phản hồi</a:t>
            </a:r>
            <a:endParaRPr sz="1500">
              <a:solidFill>
                <a:schemeClr val="dk1"/>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de1a43aa05_0_8"/>
          <p:cNvSpPr txBox="1"/>
          <p:nvPr>
            <p:ph type="title"/>
          </p:nvPr>
        </p:nvSpPr>
        <p:spPr>
          <a:xfrm>
            <a:off x="411300" y="445025"/>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lang="en"/>
              <a:t>Netflix Eureka</a:t>
            </a:r>
            <a:endParaRPr/>
          </a:p>
        </p:txBody>
      </p:sp>
      <p:sp>
        <p:nvSpPr>
          <p:cNvPr id="83" name="Google Shape;83;g3de1a43aa05_0_8"/>
          <p:cNvSpPr txBox="1"/>
          <p:nvPr/>
        </p:nvSpPr>
        <p:spPr>
          <a:xfrm>
            <a:off x="4873800" y="1017725"/>
            <a:ext cx="3858900" cy="3681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Eureka Server là trung tâm lưu trữ thông tin</a:t>
            </a:r>
            <a:endParaRPr sz="1500">
              <a:solidFill>
                <a:schemeClr val="dk1"/>
              </a:solidFill>
              <a:latin typeface="Fira Sans Extra Condensed"/>
              <a:ea typeface="Fira Sans Extra Condensed"/>
              <a:cs typeface="Fira Sans Extra Condensed"/>
              <a:sym typeface="Fira Sans Extra Condensed"/>
            </a:endParaRPr>
          </a:p>
        </p:txBody>
      </p:sp>
      <p:cxnSp>
        <p:nvCxnSpPr>
          <p:cNvPr id="84" name="Google Shape;84;g3de1a43aa05_0_8"/>
          <p:cNvCxnSpPr/>
          <p:nvPr/>
        </p:nvCxnSpPr>
        <p:spPr>
          <a:xfrm rot="10800000">
            <a:off x="4817950" y="1073675"/>
            <a:ext cx="0" cy="3800100"/>
          </a:xfrm>
          <a:prstGeom prst="straightConnector1">
            <a:avLst/>
          </a:prstGeom>
          <a:noFill/>
          <a:ln cap="flat" cmpd="sng" w="9525">
            <a:solidFill>
              <a:schemeClr val="dk2"/>
            </a:solidFill>
            <a:prstDash val="solid"/>
            <a:round/>
            <a:headEnd len="med" w="med" type="none"/>
            <a:tailEnd len="med" w="med" type="none"/>
          </a:ln>
        </p:spPr>
      </p:cxnSp>
      <p:pic>
        <p:nvPicPr>
          <p:cNvPr id="85" name="Google Shape;85;g3de1a43aa05_0_8"/>
          <p:cNvPicPr preferRelativeResize="0"/>
          <p:nvPr/>
        </p:nvPicPr>
        <p:blipFill>
          <a:blip r:embed="rId3">
            <a:alphaModFix/>
          </a:blip>
          <a:stretch>
            <a:fillRect/>
          </a:stretch>
        </p:blipFill>
        <p:spPr>
          <a:xfrm>
            <a:off x="143050" y="1073600"/>
            <a:ext cx="4619050" cy="3028200"/>
          </a:xfrm>
          <a:prstGeom prst="rect">
            <a:avLst/>
          </a:prstGeom>
          <a:noFill/>
          <a:ln>
            <a:noFill/>
          </a:ln>
        </p:spPr>
      </p:pic>
      <p:sp>
        <p:nvSpPr>
          <p:cNvPr id="86" name="Google Shape;86;g3de1a43aa05_0_8"/>
          <p:cNvSpPr txBox="1"/>
          <p:nvPr/>
        </p:nvSpPr>
        <p:spPr>
          <a:xfrm>
            <a:off x="4873800" y="1383125"/>
            <a:ext cx="3858900" cy="1404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500">
                <a:solidFill>
                  <a:schemeClr val="dk1"/>
                </a:solidFill>
                <a:latin typeface="Fira Sans Extra Condensed"/>
                <a:ea typeface="Fira Sans Extra Condensed"/>
                <a:cs typeface="Fira Sans Extra Condensed"/>
                <a:sym typeface="Fira Sans Extra Condensed"/>
              </a:rPr>
              <a:t>Eureka Client (Service A, B, C)</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Tự động đăng ký khi khởi động</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Gửi thông tin: IP, port, tên service</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Duy trì kết nối bằng heartbeat</a:t>
            </a:r>
            <a:endParaRPr sz="1500">
              <a:solidFill>
                <a:schemeClr val="dk1"/>
              </a:solidFill>
              <a:latin typeface="Fira Sans Extra Condensed"/>
              <a:ea typeface="Fira Sans Extra Condensed"/>
              <a:cs typeface="Fira Sans Extra Condensed"/>
              <a:sym typeface="Fira Sans Extra Condensed"/>
            </a:endParaRPr>
          </a:p>
          <a:p>
            <a:pPr indent="0" lvl="0" marL="0" rtl="0" algn="just">
              <a:lnSpc>
                <a:spcPct val="150000"/>
              </a:lnSpc>
              <a:spcBef>
                <a:spcPts val="0"/>
              </a:spcBef>
              <a:spcAft>
                <a:spcPts val="0"/>
              </a:spcAft>
              <a:buNone/>
            </a:pPr>
            <a:r>
              <a:t/>
            </a:r>
            <a:endParaRPr sz="1500">
              <a:solidFill>
                <a:schemeClr val="dk1"/>
              </a:solidFill>
              <a:latin typeface="Fira Sans Extra Condensed"/>
              <a:ea typeface="Fira Sans Extra Condensed"/>
              <a:cs typeface="Fira Sans Extra Condensed"/>
              <a:sym typeface="Fira Sans Extra Condensed"/>
            </a:endParaRPr>
          </a:p>
        </p:txBody>
      </p:sp>
      <p:sp>
        <p:nvSpPr>
          <p:cNvPr id="87" name="Google Shape;87;g3de1a43aa05_0_8"/>
          <p:cNvSpPr txBox="1"/>
          <p:nvPr/>
        </p:nvSpPr>
        <p:spPr>
          <a:xfrm>
            <a:off x="4873800" y="2787725"/>
            <a:ext cx="3858900" cy="1060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Service Discovery</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Client hỏi Eureka Server để tìm service</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Không gọi trực tiếp địa chỉ cố định</a:t>
            </a:r>
            <a:endParaRPr sz="1500">
              <a:solidFill>
                <a:schemeClr val="dk1"/>
              </a:solidFill>
              <a:latin typeface="Fira Sans Extra Condensed"/>
              <a:ea typeface="Fira Sans Extra Condensed"/>
              <a:cs typeface="Fira Sans Extra Condensed"/>
              <a:sym typeface="Fira Sans Extra Condensed"/>
            </a:endParaRPr>
          </a:p>
          <a:p>
            <a:pPr indent="0" lvl="0" marL="0" rtl="0" algn="just">
              <a:lnSpc>
                <a:spcPct val="150000"/>
              </a:lnSpc>
              <a:spcBef>
                <a:spcPts val="0"/>
              </a:spcBef>
              <a:spcAft>
                <a:spcPts val="0"/>
              </a:spcAft>
              <a:buNone/>
            </a:pPr>
            <a:r>
              <a:t/>
            </a:r>
            <a:endParaRPr sz="1500">
              <a:solidFill>
                <a:schemeClr val="dk1"/>
              </a:solidFill>
              <a:latin typeface="Fira Sans Extra Condensed"/>
              <a:ea typeface="Fira Sans Extra Condensed"/>
              <a:cs typeface="Fira Sans Extra Condensed"/>
              <a:sym typeface="Fira Sans Extra Condensed"/>
            </a:endParaRPr>
          </a:p>
        </p:txBody>
      </p:sp>
      <p:sp>
        <p:nvSpPr>
          <p:cNvPr id="88" name="Google Shape;88;g3de1a43aa05_0_8"/>
          <p:cNvSpPr txBox="1"/>
          <p:nvPr/>
        </p:nvSpPr>
        <p:spPr>
          <a:xfrm>
            <a:off x="4873800" y="3847925"/>
            <a:ext cx="3858900" cy="1060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dynamic URL</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Client nhận danh sách instance động</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Gọi API qua địa chỉ được cấp</a:t>
            </a:r>
            <a:endParaRPr sz="1500">
              <a:solidFill>
                <a:schemeClr val="dk1"/>
              </a:solidFill>
              <a:latin typeface="Fira Sans Extra Condensed"/>
              <a:ea typeface="Fira Sans Extra Condensed"/>
              <a:cs typeface="Fira Sans Extra Condensed"/>
              <a:sym typeface="Fira Sans Extra Condensed"/>
            </a:endParaRPr>
          </a:p>
          <a:p>
            <a:pPr indent="0" lvl="0" marL="0" rtl="0" algn="just">
              <a:lnSpc>
                <a:spcPct val="150000"/>
              </a:lnSpc>
              <a:spcBef>
                <a:spcPts val="0"/>
              </a:spcBef>
              <a:spcAft>
                <a:spcPts val="0"/>
              </a:spcAft>
              <a:buNone/>
            </a:pPr>
            <a:r>
              <a:t/>
            </a:r>
            <a:endParaRPr sz="1500">
              <a:solidFill>
                <a:schemeClr val="dk1"/>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3de1a43aa05_0_25"/>
          <p:cNvSpPr txBox="1"/>
          <p:nvPr>
            <p:ph type="title"/>
          </p:nvPr>
        </p:nvSpPr>
        <p:spPr>
          <a:xfrm>
            <a:off x="411300" y="307550"/>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SzPts val="1100"/>
              <a:buNone/>
            </a:pPr>
            <a:r>
              <a:rPr lang="en"/>
              <a:t>Message Broker và Apache Kafka</a:t>
            </a:r>
            <a:endParaRPr/>
          </a:p>
        </p:txBody>
      </p:sp>
      <p:sp>
        <p:nvSpPr>
          <p:cNvPr id="94" name="Google Shape;94;g3de1a43aa05_0_25"/>
          <p:cNvSpPr txBox="1"/>
          <p:nvPr/>
        </p:nvSpPr>
        <p:spPr>
          <a:xfrm>
            <a:off x="4734300" y="1017725"/>
            <a:ext cx="3858900" cy="31212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Producer gửi (publish) dữ liệu sự kiện vào hệ thống</a:t>
            </a:r>
            <a:endParaRPr sz="1500">
              <a:solidFill>
                <a:schemeClr val="dk1"/>
              </a:solidFill>
              <a:latin typeface="Fira Sans Extra Condensed"/>
              <a:ea typeface="Fira Sans Extra Condensed"/>
              <a:cs typeface="Fira Sans Extra Condensed"/>
              <a:sym typeface="Fira Sans Extra Condensed"/>
            </a:endParaRPr>
          </a:p>
          <a:p>
            <a:pPr indent="0" lvl="0" marL="0" rtl="0" algn="just">
              <a:lnSpc>
                <a:spcPct val="150000"/>
              </a:lnSpc>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Topic &amp; Partition</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Topic: kênh phân loại dữ liệu</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Partition: chia nhỏ dữ liệu → xử lý song song, tăng scalability</a:t>
            </a:r>
            <a:endParaRPr sz="1500">
              <a:solidFill>
                <a:schemeClr val="dk1"/>
              </a:solidFill>
              <a:latin typeface="Fira Sans Extra Condensed"/>
              <a:ea typeface="Fira Sans Extra Condensed"/>
              <a:cs typeface="Fira Sans Extra Condensed"/>
              <a:sym typeface="Fira Sans Extra Condensed"/>
            </a:endParaRPr>
          </a:p>
          <a:p>
            <a:pPr indent="0" lvl="0" marL="0" rtl="0" algn="l">
              <a:lnSpc>
                <a:spcPct val="150000"/>
              </a:lnSpc>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Broker (Kafka Cluster)</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Lưu trữ dữ liệu</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Xử lý request đọc/ghi</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Nhiều Broker → tăng chịu lỗi &amp; mở rộng</a:t>
            </a:r>
            <a:endParaRPr sz="1500">
              <a:solidFill>
                <a:schemeClr val="dk1"/>
              </a:solidFill>
              <a:latin typeface="Fira Sans Extra Condensed"/>
              <a:ea typeface="Fira Sans Extra Condensed"/>
              <a:cs typeface="Fira Sans Extra Condensed"/>
              <a:sym typeface="Fira Sans Extra Condensed"/>
            </a:endParaRPr>
          </a:p>
        </p:txBody>
      </p:sp>
      <p:cxnSp>
        <p:nvCxnSpPr>
          <p:cNvPr id="95" name="Google Shape;95;g3de1a43aa05_0_25"/>
          <p:cNvCxnSpPr/>
          <p:nvPr/>
        </p:nvCxnSpPr>
        <p:spPr>
          <a:xfrm rot="10800000">
            <a:off x="4631950" y="1073675"/>
            <a:ext cx="0" cy="3800100"/>
          </a:xfrm>
          <a:prstGeom prst="straightConnector1">
            <a:avLst/>
          </a:prstGeom>
          <a:noFill/>
          <a:ln cap="flat" cmpd="sng" w="9525">
            <a:solidFill>
              <a:schemeClr val="dk2"/>
            </a:solidFill>
            <a:prstDash val="solid"/>
            <a:round/>
            <a:headEnd len="med" w="med" type="none"/>
            <a:tailEnd len="med" w="med" type="none"/>
          </a:ln>
        </p:spPr>
      </p:cxnSp>
      <p:pic>
        <p:nvPicPr>
          <p:cNvPr id="96" name="Google Shape;96;g3de1a43aa05_0_25"/>
          <p:cNvPicPr preferRelativeResize="0"/>
          <p:nvPr/>
        </p:nvPicPr>
        <p:blipFill>
          <a:blip r:embed="rId3">
            <a:alphaModFix/>
          </a:blip>
          <a:stretch>
            <a:fillRect/>
          </a:stretch>
        </p:blipFill>
        <p:spPr>
          <a:xfrm>
            <a:off x="236125" y="1073675"/>
            <a:ext cx="4200499" cy="2516000"/>
          </a:xfrm>
          <a:prstGeom prst="rect">
            <a:avLst/>
          </a:prstGeom>
          <a:noFill/>
          <a:ln>
            <a:noFill/>
          </a:ln>
        </p:spPr>
      </p:pic>
      <p:sp>
        <p:nvSpPr>
          <p:cNvPr id="97" name="Google Shape;97;g3de1a43aa05_0_25"/>
          <p:cNvSpPr txBox="1"/>
          <p:nvPr/>
        </p:nvSpPr>
        <p:spPr>
          <a:xfrm>
            <a:off x="236075" y="3645625"/>
            <a:ext cx="4200600" cy="1108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Consumer / Consumer Group</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Đọc dữ liệu từ Topic</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Xử lý nghiệp vụ</a:t>
            </a:r>
            <a:endParaRPr sz="1500">
              <a:solidFill>
                <a:schemeClr val="dk1"/>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de1a43aa05_0_40"/>
          <p:cNvSpPr txBox="1"/>
          <p:nvPr>
            <p:ph type="title"/>
          </p:nvPr>
        </p:nvSpPr>
        <p:spPr>
          <a:xfrm>
            <a:off x="411300" y="258450"/>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SzPts val="1100"/>
              <a:buNone/>
            </a:pPr>
            <a:r>
              <a:rPr lang="en"/>
              <a:t>Cơ chế Publish/Subscribe</a:t>
            </a:r>
            <a:endParaRPr/>
          </a:p>
        </p:txBody>
      </p:sp>
      <p:cxnSp>
        <p:nvCxnSpPr>
          <p:cNvPr id="103" name="Google Shape;103;g3de1a43aa05_0_40"/>
          <p:cNvCxnSpPr/>
          <p:nvPr/>
        </p:nvCxnSpPr>
        <p:spPr>
          <a:xfrm flipH="1" rot="10800000">
            <a:off x="5047275" y="1031150"/>
            <a:ext cx="9900" cy="3250200"/>
          </a:xfrm>
          <a:prstGeom prst="straightConnector1">
            <a:avLst/>
          </a:prstGeom>
          <a:noFill/>
          <a:ln cap="flat" cmpd="sng" w="9525">
            <a:solidFill>
              <a:schemeClr val="dk2"/>
            </a:solidFill>
            <a:prstDash val="solid"/>
            <a:round/>
            <a:headEnd len="med" w="med" type="none"/>
            <a:tailEnd len="med" w="med" type="none"/>
          </a:ln>
        </p:spPr>
      </p:cxnSp>
      <p:pic>
        <p:nvPicPr>
          <p:cNvPr id="104" name="Google Shape;104;g3de1a43aa05_0_40"/>
          <p:cNvPicPr preferRelativeResize="0"/>
          <p:nvPr/>
        </p:nvPicPr>
        <p:blipFill>
          <a:blip r:embed="rId3">
            <a:alphaModFix/>
          </a:blip>
          <a:stretch>
            <a:fillRect/>
          </a:stretch>
        </p:blipFill>
        <p:spPr>
          <a:xfrm>
            <a:off x="51250" y="1359388"/>
            <a:ext cx="4905125" cy="1699225"/>
          </a:xfrm>
          <a:prstGeom prst="rect">
            <a:avLst/>
          </a:prstGeom>
          <a:noFill/>
          <a:ln>
            <a:noFill/>
          </a:ln>
        </p:spPr>
      </p:pic>
      <p:sp>
        <p:nvSpPr>
          <p:cNvPr id="105" name="Google Shape;105;g3de1a43aa05_0_40"/>
          <p:cNvSpPr txBox="1"/>
          <p:nvPr/>
        </p:nvSpPr>
        <p:spPr>
          <a:xfrm>
            <a:off x="5047275" y="1192475"/>
            <a:ext cx="4036800" cy="2839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Producer (Publisher) gửi message vào Topic</a:t>
            </a:r>
            <a:endParaRPr sz="1500">
              <a:solidFill>
                <a:schemeClr val="dk1"/>
              </a:solidFill>
              <a:latin typeface="Fira Sans Extra Condensed"/>
              <a:ea typeface="Fira Sans Extra Condensed"/>
              <a:cs typeface="Fira Sans Extra Condensed"/>
              <a:sym typeface="Fira Sans Extra Condensed"/>
            </a:endParaRPr>
          </a:p>
          <a:p>
            <a:pPr indent="0" lvl="0" marL="0" rtl="0" algn="l">
              <a:lnSpc>
                <a:spcPct val="150000"/>
              </a:lnSpc>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Broker lưu trữ message (không xóa ngay sau khi đọc)</a:t>
            </a:r>
            <a:endParaRPr sz="1500">
              <a:solidFill>
                <a:schemeClr val="dk1"/>
              </a:solidFill>
              <a:latin typeface="Fira Sans Extra Condensed"/>
              <a:ea typeface="Fira Sans Extra Condensed"/>
              <a:cs typeface="Fira Sans Extra Condensed"/>
              <a:sym typeface="Fira Sans Extra Condensed"/>
            </a:endParaRPr>
          </a:p>
          <a:p>
            <a:pPr indent="0" lvl="0" marL="0" rtl="0" algn="l">
              <a:lnSpc>
                <a:spcPct val="150000"/>
              </a:lnSpc>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Consumer (Subscriber) </a:t>
            </a:r>
            <a:r>
              <a:rPr lang="en" sz="1500">
                <a:solidFill>
                  <a:schemeClr val="dk1"/>
                </a:solidFill>
                <a:latin typeface="Fira Sans Extra Condensed"/>
                <a:ea typeface="Fira Sans Extra Condensed"/>
                <a:cs typeface="Fira Sans Extra Condensed"/>
                <a:sym typeface="Fira Sans Extra Condensed"/>
              </a:rPr>
              <a:t>đ</a:t>
            </a:r>
            <a:r>
              <a:rPr lang="en" sz="1500">
                <a:solidFill>
                  <a:schemeClr val="dk1"/>
                </a:solidFill>
                <a:latin typeface="Fira Sans Extra Condensed"/>
                <a:ea typeface="Fira Sans Extra Condensed"/>
                <a:cs typeface="Fira Sans Extra Condensed"/>
                <a:sym typeface="Fira Sans Extra Condensed"/>
              </a:rPr>
              <a:t>ăng ký Topic để nhận dữ liệu</a:t>
            </a:r>
            <a:endParaRPr sz="1500">
              <a:solidFill>
                <a:schemeClr val="dk1"/>
              </a:solidFill>
              <a:latin typeface="Fira Sans Extra Condensed"/>
              <a:ea typeface="Fira Sans Extra Condensed"/>
              <a:cs typeface="Fira Sans Extra Condensed"/>
              <a:sym typeface="Fira Sans Extra Condensed"/>
            </a:endParaRPr>
          </a:p>
          <a:p>
            <a:pPr indent="0" lvl="0" marL="0" rtl="0" algn="l">
              <a:lnSpc>
                <a:spcPct val="150000"/>
              </a:lnSpc>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Consumer Group</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Nhiều consumer cùng xử lý → tăng hiệu năng</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Trong 1 group: mỗi message chỉ được xử lý 1 lần</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Khác group: vẫn nhận đầy đủ dữ liệu</a:t>
            </a:r>
            <a:endParaRPr sz="1500">
              <a:solidFill>
                <a:schemeClr val="dk1"/>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de1a43aa05_0_56"/>
          <p:cNvSpPr txBox="1"/>
          <p:nvPr>
            <p:ph type="title"/>
          </p:nvPr>
        </p:nvSpPr>
        <p:spPr>
          <a:xfrm>
            <a:off x="411300" y="258450"/>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SzPts val="1100"/>
              <a:buNone/>
            </a:pPr>
            <a:r>
              <a:rPr lang="en"/>
              <a:t>Luồng dữ liệu trong Kafka</a:t>
            </a:r>
            <a:endParaRPr/>
          </a:p>
        </p:txBody>
      </p:sp>
      <p:cxnSp>
        <p:nvCxnSpPr>
          <p:cNvPr id="111" name="Google Shape;111;g3de1a43aa05_0_56"/>
          <p:cNvCxnSpPr/>
          <p:nvPr/>
        </p:nvCxnSpPr>
        <p:spPr>
          <a:xfrm flipH="1" rot="10800000">
            <a:off x="5372525" y="1034950"/>
            <a:ext cx="9600" cy="3010500"/>
          </a:xfrm>
          <a:prstGeom prst="straightConnector1">
            <a:avLst/>
          </a:prstGeom>
          <a:noFill/>
          <a:ln cap="flat" cmpd="sng" w="9525">
            <a:solidFill>
              <a:schemeClr val="dk2"/>
            </a:solidFill>
            <a:prstDash val="solid"/>
            <a:round/>
            <a:headEnd len="med" w="med" type="none"/>
            <a:tailEnd len="med" w="med" type="none"/>
          </a:ln>
        </p:spPr>
      </p:cxnSp>
      <p:pic>
        <p:nvPicPr>
          <p:cNvPr id="112" name="Google Shape;112;g3de1a43aa05_0_56"/>
          <p:cNvPicPr preferRelativeResize="0"/>
          <p:nvPr/>
        </p:nvPicPr>
        <p:blipFill>
          <a:blip r:embed="rId3">
            <a:alphaModFix/>
          </a:blip>
          <a:stretch>
            <a:fillRect/>
          </a:stretch>
        </p:blipFill>
        <p:spPr>
          <a:xfrm>
            <a:off x="162200" y="1035150"/>
            <a:ext cx="5086675" cy="2881875"/>
          </a:xfrm>
          <a:prstGeom prst="rect">
            <a:avLst/>
          </a:prstGeom>
          <a:noFill/>
          <a:ln>
            <a:noFill/>
          </a:ln>
        </p:spPr>
      </p:pic>
      <p:sp>
        <p:nvSpPr>
          <p:cNvPr id="113" name="Google Shape;113;g3de1a43aa05_0_56"/>
          <p:cNvSpPr txBox="1"/>
          <p:nvPr/>
        </p:nvSpPr>
        <p:spPr>
          <a:xfrm>
            <a:off x="5505775" y="1324100"/>
            <a:ext cx="3396000" cy="1454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Producer gửi dữ liệu → Kafka Broker</a:t>
            </a:r>
            <a:endParaRPr sz="1500">
              <a:solidFill>
                <a:schemeClr val="dk1"/>
              </a:solidFill>
              <a:latin typeface="Fira Sans Extra Condensed"/>
              <a:ea typeface="Fira Sans Extra Condensed"/>
              <a:cs typeface="Fira Sans Extra Condensed"/>
              <a:sym typeface="Fira Sans Extra Condensed"/>
            </a:endParaRPr>
          </a:p>
          <a:p>
            <a:pPr indent="0" lvl="0" marL="0" rtl="0" algn="l">
              <a:lnSpc>
                <a:spcPct val="150000"/>
              </a:lnSpc>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Broker lưu trữ dữ liệu vào Topic/Partition</a:t>
            </a:r>
            <a:endParaRPr sz="1500">
              <a:solidFill>
                <a:schemeClr val="dk1"/>
              </a:solidFill>
              <a:latin typeface="Fira Sans Extra Condensed"/>
              <a:ea typeface="Fira Sans Extra Condensed"/>
              <a:cs typeface="Fira Sans Extra Condensed"/>
              <a:sym typeface="Fira Sans Extra Condensed"/>
            </a:endParaRPr>
          </a:p>
          <a:p>
            <a:pPr indent="0" lvl="0" marL="0" rtl="0" algn="l">
              <a:lnSpc>
                <a:spcPct val="150000"/>
              </a:lnSpc>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Consumer hoặc Consumer Group đọc dữ liệu từ Broker</a:t>
            </a:r>
            <a:endParaRPr sz="1500">
              <a:latin typeface="Fira Sans Extra Condensed"/>
              <a:ea typeface="Fira Sans Extra Condensed"/>
              <a:cs typeface="Fira Sans Extra Condensed"/>
              <a:sym typeface="Fira Sans Extra Condense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de1a43aa05_0_70"/>
          <p:cNvSpPr txBox="1"/>
          <p:nvPr>
            <p:ph type="title"/>
          </p:nvPr>
        </p:nvSpPr>
        <p:spPr>
          <a:xfrm>
            <a:off x="411300" y="258450"/>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SzPts val="1100"/>
              <a:buNone/>
            </a:pPr>
            <a:r>
              <a:rPr lang="en"/>
              <a:t>Container hóa và Docker Engine</a:t>
            </a:r>
            <a:endParaRPr/>
          </a:p>
        </p:txBody>
      </p:sp>
      <p:cxnSp>
        <p:nvCxnSpPr>
          <p:cNvPr id="119" name="Google Shape;119;g3de1a43aa05_0_70"/>
          <p:cNvCxnSpPr/>
          <p:nvPr/>
        </p:nvCxnSpPr>
        <p:spPr>
          <a:xfrm rot="10800000">
            <a:off x="5382025" y="1035250"/>
            <a:ext cx="1200" cy="3534600"/>
          </a:xfrm>
          <a:prstGeom prst="straightConnector1">
            <a:avLst/>
          </a:prstGeom>
          <a:noFill/>
          <a:ln cap="flat" cmpd="sng" w="9525">
            <a:solidFill>
              <a:schemeClr val="dk2"/>
            </a:solidFill>
            <a:prstDash val="solid"/>
            <a:round/>
            <a:headEnd len="med" w="med" type="none"/>
            <a:tailEnd len="med" w="med" type="none"/>
          </a:ln>
        </p:spPr>
      </p:cxnSp>
      <p:sp>
        <p:nvSpPr>
          <p:cNvPr id="120" name="Google Shape;120;g3de1a43aa05_0_70"/>
          <p:cNvSpPr txBox="1"/>
          <p:nvPr/>
        </p:nvSpPr>
        <p:spPr>
          <a:xfrm>
            <a:off x="5495075" y="1034950"/>
            <a:ext cx="3396000" cy="3532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500">
                <a:solidFill>
                  <a:schemeClr val="dk1"/>
                </a:solidFill>
                <a:latin typeface="Fira Sans Extra Condensed"/>
                <a:ea typeface="Fira Sans Extra Condensed"/>
                <a:cs typeface="Fira Sans Extra Condensed"/>
                <a:sym typeface="Fira Sans Extra Condensed"/>
              </a:rPr>
              <a:t>Docker Engine</a:t>
            </a:r>
            <a:br>
              <a:rPr lang="en" sz="1500">
                <a:solidFill>
                  <a:schemeClr val="dk1"/>
                </a:solidFill>
                <a:latin typeface="Fira Sans Extra Condensed"/>
                <a:ea typeface="Fira Sans Extra Condensed"/>
                <a:cs typeface="Fira Sans Extra Condensed"/>
                <a:sym typeface="Fira Sans Extra Condensed"/>
              </a:rPr>
            </a:br>
            <a:r>
              <a:rPr lang="en" sz="1500">
                <a:solidFill>
                  <a:schemeClr val="dk1"/>
                </a:solidFill>
                <a:latin typeface="Fira Sans Extra Condensed"/>
                <a:ea typeface="Fira Sans Extra Condensed"/>
                <a:cs typeface="Fira Sans Extra Condensed"/>
                <a:sym typeface="Fira Sans Extra Condensed"/>
              </a:rPr>
              <a:t>Gồm: Docker Daemon, CLI, REST API</a:t>
            </a:r>
            <a:br>
              <a:rPr lang="en" sz="1500">
                <a:solidFill>
                  <a:schemeClr val="dk1"/>
                </a:solidFill>
                <a:latin typeface="Fira Sans Extra Condensed"/>
                <a:ea typeface="Fira Sans Extra Condensed"/>
                <a:cs typeface="Fira Sans Extra Condensed"/>
                <a:sym typeface="Fira Sans Extra Condensed"/>
              </a:rPr>
            </a:br>
            <a:r>
              <a:rPr lang="en" sz="1500">
                <a:solidFill>
                  <a:schemeClr val="dk1"/>
                </a:solidFill>
                <a:latin typeface="Fira Sans Extra Condensed"/>
                <a:ea typeface="Fira Sans Extra Condensed"/>
                <a:cs typeface="Fira Sans Extra Condensed"/>
                <a:sym typeface="Fira Sans Extra Condensed"/>
              </a:rPr>
              <a:t>→ Quản lý &amp; vận hành container</a:t>
            </a:r>
            <a:endParaRPr sz="1500">
              <a:solidFill>
                <a:schemeClr val="dk1"/>
              </a:solidFill>
              <a:latin typeface="Fira Sans Extra Condensed"/>
              <a:ea typeface="Fira Sans Extra Condensed"/>
              <a:cs typeface="Fira Sans Extra Condensed"/>
              <a:sym typeface="Fira Sans Extra Condensed"/>
            </a:endParaRPr>
          </a:p>
          <a:p>
            <a:pPr indent="0" lvl="0" marL="0" rtl="0" algn="l">
              <a:lnSpc>
                <a:spcPct val="150000"/>
              </a:lnSpc>
              <a:spcBef>
                <a:spcPts val="0"/>
              </a:spcBef>
              <a:spcAft>
                <a:spcPts val="0"/>
              </a:spcAft>
              <a:buNone/>
            </a:pPr>
            <a:r>
              <a:rPr b="1" lang="en" sz="1500">
                <a:solidFill>
                  <a:schemeClr val="dk1"/>
                </a:solidFill>
                <a:latin typeface="Fira Sans Extra Condensed"/>
                <a:ea typeface="Fira Sans Extra Condensed"/>
                <a:cs typeface="Fira Sans Extra Condensed"/>
                <a:sym typeface="Fira Sans Extra Condensed"/>
              </a:rPr>
              <a:t>Container</a:t>
            </a:r>
            <a:endParaRPr b="1"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Đóng gói ứng dụng + thư viện + dependencies</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Chạy độc lập, chia sẻ OS host</a:t>
            </a:r>
            <a:endParaRPr sz="1500">
              <a:solidFill>
                <a:schemeClr val="dk1"/>
              </a:solidFill>
              <a:latin typeface="Fira Sans Extra Condensed"/>
              <a:ea typeface="Fira Sans Extra Condensed"/>
              <a:cs typeface="Fira Sans Extra Condensed"/>
              <a:sym typeface="Fira Sans Extra Condensed"/>
            </a:endParaRPr>
          </a:p>
          <a:p>
            <a:pPr indent="0" lvl="0" marL="0" rtl="0" algn="l">
              <a:lnSpc>
                <a:spcPct val="150000"/>
              </a:lnSpc>
              <a:spcBef>
                <a:spcPts val="0"/>
              </a:spcBef>
              <a:spcAft>
                <a:spcPts val="0"/>
              </a:spcAft>
              <a:buNone/>
            </a:pPr>
            <a:r>
              <a:rPr b="1" lang="en" sz="1500">
                <a:solidFill>
                  <a:schemeClr val="dk1"/>
                </a:solidFill>
                <a:latin typeface="Fira Sans Extra Condensed"/>
                <a:ea typeface="Fira Sans Extra Condensed"/>
                <a:cs typeface="Fira Sans Extra Condensed"/>
                <a:sym typeface="Fira Sans Extra Condensed"/>
              </a:rPr>
              <a:t>Docker Network</a:t>
            </a:r>
            <a:endParaRPr b="1"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Kết nối các container</a:t>
            </a:r>
            <a:endParaRPr sz="1500">
              <a:solidFill>
                <a:schemeClr val="dk1"/>
              </a:solidFill>
              <a:latin typeface="Fira Sans Extra Condensed"/>
              <a:ea typeface="Fira Sans Extra Condensed"/>
              <a:cs typeface="Fira Sans Extra Condensed"/>
              <a:sym typeface="Fira Sans Extra Condensed"/>
            </a:endParaRPr>
          </a:p>
          <a:p>
            <a:pPr indent="-323850" lvl="0" marL="457200" rtl="0" algn="l">
              <a:lnSpc>
                <a:spcPct val="150000"/>
              </a:lnSpc>
              <a:spcBef>
                <a:spcPts val="0"/>
              </a:spcBef>
              <a:spcAft>
                <a:spcPts val="0"/>
              </a:spcAft>
              <a:buClr>
                <a:schemeClr val="dk1"/>
              </a:buClr>
              <a:buSzPts val="1500"/>
              <a:buFont typeface="Fira Sans Extra Condensed"/>
              <a:buChar char="●"/>
            </a:pPr>
            <a:r>
              <a:rPr lang="en" sz="1500">
                <a:solidFill>
                  <a:schemeClr val="dk1"/>
                </a:solidFill>
                <a:latin typeface="Fira Sans Extra Condensed"/>
                <a:ea typeface="Fira Sans Extra Condensed"/>
                <a:cs typeface="Fira Sans Extra Condensed"/>
                <a:sym typeface="Fira Sans Extra Condensed"/>
              </a:rPr>
              <a:t>Hỗ trợ giao tiếp giữa các service</a:t>
            </a:r>
            <a:endParaRPr sz="1500">
              <a:solidFill>
                <a:schemeClr val="dk1"/>
              </a:solidFill>
              <a:latin typeface="Fira Sans Extra Condensed"/>
              <a:ea typeface="Fira Sans Extra Condensed"/>
              <a:cs typeface="Fira Sans Extra Condensed"/>
              <a:sym typeface="Fira Sans Extra Condensed"/>
            </a:endParaRPr>
          </a:p>
        </p:txBody>
      </p:sp>
      <p:pic>
        <p:nvPicPr>
          <p:cNvPr id="121" name="Google Shape;121;g3de1a43aa05_0_70"/>
          <p:cNvPicPr preferRelativeResize="0"/>
          <p:nvPr/>
        </p:nvPicPr>
        <p:blipFill>
          <a:blip r:embed="rId3">
            <a:alphaModFix/>
          </a:blip>
          <a:stretch>
            <a:fillRect/>
          </a:stretch>
        </p:blipFill>
        <p:spPr>
          <a:xfrm>
            <a:off x="312950" y="1129075"/>
            <a:ext cx="4850824" cy="3344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e1a43aa05_0_85"/>
          <p:cNvSpPr txBox="1"/>
          <p:nvPr>
            <p:ph type="title"/>
          </p:nvPr>
        </p:nvSpPr>
        <p:spPr>
          <a:xfrm>
            <a:off x="411300" y="258450"/>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lang="en"/>
              <a:t>Docker trong môi trường Microservices</a:t>
            </a:r>
            <a:endParaRPr/>
          </a:p>
        </p:txBody>
      </p:sp>
      <p:pic>
        <p:nvPicPr>
          <p:cNvPr id="127" name="Google Shape;127;g3de1a43aa05_0_85"/>
          <p:cNvPicPr preferRelativeResize="0"/>
          <p:nvPr/>
        </p:nvPicPr>
        <p:blipFill>
          <a:blip r:embed="rId3">
            <a:alphaModFix/>
          </a:blip>
          <a:stretch>
            <a:fillRect/>
          </a:stretch>
        </p:blipFill>
        <p:spPr>
          <a:xfrm>
            <a:off x="411302" y="836999"/>
            <a:ext cx="8321401" cy="387669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de1a43aa05_0_94"/>
          <p:cNvSpPr txBox="1"/>
          <p:nvPr>
            <p:ph type="title"/>
          </p:nvPr>
        </p:nvSpPr>
        <p:spPr>
          <a:xfrm>
            <a:off x="411300" y="258450"/>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SzPts val="1100"/>
              <a:buNone/>
            </a:pPr>
            <a:r>
              <a:rPr lang="en"/>
              <a:t>Kiến trúc tổng quan hệ thống</a:t>
            </a:r>
            <a:endParaRPr/>
          </a:p>
        </p:txBody>
      </p:sp>
      <p:pic>
        <p:nvPicPr>
          <p:cNvPr id="133" name="Google Shape;133;g3de1a43aa05_0_94"/>
          <p:cNvPicPr preferRelativeResize="0"/>
          <p:nvPr/>
        </p:nvPicPr>
        <p:blipFill>
          <a:blip r:embed="rId3">
            <a:alphaModFix/>
          </a:blip>
          <a:stretch>
            <a:fillRect/>
          </a:stretch>
        </p:blipFill>
        <p:spPr>
          <a:xfrm>
            <a:off x="660175" y="831150"/>
            <a:ext cx="7823645" cy="4312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g3de1a43aa05_0_103"/>
          <p:cNvPicPr preferRelativeResize="0"/>
          <p:nvPr/>
        </p:nvPicPr>
        <p:blipFill>
          <a:blip r:embed="rId3">
            <a:alphaModFix/>
          </a:blip>
          <a:stretch>
            <a:fillRect/>
          </a:stretch>
        </p:blipFill>
        <p:spPr>
          <a:xfrm>
            <a:off x="1412575" y="0"/>
            <a:ext cx="6318847" cy="51435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g3de1a43aa05_0_110"/>
          <p:cNvPicPr preferRelativeResize="0"/>
          <p:nvPr/>
        </p:nvPicPr>
        <p:blipFill>
          <a:blip r:embed="rId3">
            <a:alphaModFix/>
          </a:blip>
          <a:stretch>
            <a:fillRect/>
          </a:stretch>
        </p:blipFill>
        <p:spPr>
          <a:xfrm>
            <a:off x="-12" y="0"/>
            <a:ext cx="5992228" cy="5143499"/>
          </a:xfrm>
          <a:prstGeom prst="rect">
            <a:avLst/>
          </a:prstGeom>
          <a:noFill/>
          <a:ln>
            <a:noFill/>
          </a:ln>
        </p:spPr>
      </p:pic>
      <p:sp>
        <p:nvSpPr>
          <p:cNvPr id="144" name="Google Shape;144;g3de1a43aa05_0_110"/>
          <p:cNvSpPr txBox="1"/>
          <p:nvPr/>
        </p:nvSpPr>
        <p:spPr>
          <a:xfrm>
            <a:off x="6131350" y="831425"/>
            <a:ext cx="2644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Mỗi service dùng collection riêng</a:t>
            </a:r>
            <a:br>
              <a:rPr lang="en" sz="1500">
                <a:solidFill>
                  <a:schemeClr val="dk1"/>
                </a:solidFill>
                <a:latin typeface="Fira Sans Extra Condensed"/>
                <a:ea typeface="Fira Sans Extra Condensed"/>
                <a:cs typeface="Fira Sans Extra Condensed"/>
                <a:sym typeface="Fira Sans Extra Condensed"/>
              </a:rPr>
            </a:br>
            <a:r>
              <a:rPr lang="en" sz="1500">
                <a:solidFill>
                  <a:schemeClr val="dk1"/>
                </a:solidFill>
                <a:latin typeface="Fira Sans Extra Condensed"/>
                <a:ea typeface="Fira Sans Extra Condensed"/>
                <a:cs typeface="Fira Sans Extra Condensed"/>
                <a:sym typeface="Fira Sans Extra Condensed"/>
              </a:rPr>
              <a:t>→ Sở hữu dữ liệu độc lập</a:t>
            </a:r>
            <a:endParaRPr sz="1500">
              <a:solidFill>
                <a:schemeClr val="dk1"/>
              </a:solidFill>
              <a:latin typeface="Fira Sans Extra Condensed"/>
              <a:ea typeface="Fira Sans Extra Condensed"/>
              <a:cs typeface="Fira Sans Extra Condensed"/>
              <a:sym typeface="Fira Sans Extra Condensed"/>
            </a:endParaRPr>
          </a:p>
        </p:txBody>
      </p:sp>
      <p:sp>
        <p:nvSpPr>
          <p:cNvPr id="145" name="Google Shape;145;g3de1a43aa05_0_110"/>
          <p:cNvSpPr txBox="1"/>
          <p:nvPr/>
        </p:nvSpPr>
        <p:spPr>
          <a:xfrm>
            <a:off x="6131350" y="1477925"/>
            <a:ext cx="2644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Giảm phụ thuộc chéo</a:t>
            </a:r>
            <a:br>
              <a:rPr lang="en" sz="1500">
                <a:solidFill>
                  <a:schemeClr val="dk1"/>
                </a:solidFill>
                <a:latin typeface="Fira Sans Extra Condensed"/>
                <a:ea typeface="Fira Sans Extra Condensed"/>
                <a:cs typeface="Fira Sans Extra Condensed"/>
                <a:sym typeface="Fira Sans Extra Condensed"/>
              </a:rPr>
            </a:br>
            <a:r>
              <a:rPr lang="en" sz="1500">
                <a:solidFill>
                  <a:schemeClr val="dk1"/>
                </a:solidFill>
                <a:latin typeface="Fira Sans Extra Condensed"/>
                <a:ea typeface="Fira Sans Extra Condensed"/>
                <a:cs typeface="Fira Sans Extra Condensed"/>
                <a:sym typeface="Fira Sans Extra Condensed"/>
              </a:rPr>
              <a:t>→ Dễ phát triển &amp; bảo trì</a:t>
            </a:r>
            <a:endParaRPr sz="1500">
              <a:solidFill>
                <a:schemeClr val="dk1"/>
              </a:solidFill>
              <a:latin typeface="Fira Sans Extra Condensed"/>
              <a:ea typeface="Fira Sans Extra Condensed"/>
              <a:cs typeface="Fira Sans Extra Condensed"/>
              <a:sym typeface="Fira Sans Extra Condensed"/>
            </a:endParaRPr>
          </a:p>
        </p:txBody>
      </p:sp>
      <p:sp>
        <p:nvSpPr>
          <p:cNvPr id="146" name="Google Shape;146;g3de1a43aa05_0_110"/>
          <p:cNvSpPr txBox="1"/>
          <p:nvPr/>
        </p:nvSpPr>
        <p:spPr>
          <a:xfrm>
            <a:off x="6131350" y="2124425"/>
            <a:ext cx="2644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Fira Sans Extra Condensed"/>
                <a:ea typeface="Fira Sans Extra Condensed"/>
                <a:cs typeface="Fira Sans Extra Condensed"/>
                <a:sym typeface="Fira Sans Extra Condensed"/>
              </a:rPr>
              <a:t>Thiết kế theo domain</a:t>
            </a:r>
            <a:br>
              <a:rPr lang="en" sz="1500">
                <a:solidFill>
                  <a:schemeClr val="dk1"/>
                </a:solidFill>
                <a:latin typeface="Fira Sans Extra Condensed"/>
                <a:ea typeface="Fira Sans Extra Condensed"/>
                <a:cs typeface="Fira Sans Extra Condensed"/>
                <a:sym typeface="Fira Sans Extra Condensed"/>
              </a:rPr>
            </a:br>
            <a:r>
              <a:rPr lang="en" sz="1500">
                <a:solidFill>
                  <a:schemeClr val="dk1"/>
                </a:solidFill>
                <a:latin typeface="Fira Sans Extra Condensed"/>
                <a:ea typeface="Fira Sans Extra Condensed"/>
                <a:cs typeface="Fira Sans Extra Condensed"/>
                <a:sym typeface="Fira Sans Extra Condensed"/>
              </a:rPr>
              <a:t>→ Đảm bảo nhất quán dữ liệu</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pic>
        <p:nvPicPr>
          <p:cNvPr descr="image.png" id="151" name="Google Shape;151;g38b6a83bb94_0_13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152" name="Google Shape;152;g38b6a83bb94_0_134"/>
          <p:cNvPicPr preferRelativeResize="0"/>
          <p:nvPr/>
        </p:nvPicPr>
        <p:blipFill rotWithShape="1">
          <a:blip r:embed="rId4">
            <a:alphaModFix/>
          </a:blip>
          <a:srcRect b="0" l="0" r="0" t="0"/>
          <a:stretch/>
        </p:blipFill>
        <p:spPr>
          <a:xfrm>
            <a:off x="428625" y="1614488"/>
            <a:ext cx="2571750" cy="2628900"/>
          </a:xfrm>
          <a:prstGeom prst="rect">
            <a:avLst/>
          </a:prstGeom>
          <a:noFill/>
          <a:ln>
            <a:noFill/>
          </a:ln>
        </p:spPr>
      </p:pic>
      <p:pic>
        <p:nvPicPr>
          <p:cNvPr descr="image.png" id="153" name="Google Shape;153;g38b6a83bb94_0_134"/>
          <p:cNvPicPr preferRelativeResize="0"/>
          <p:nvPr/>
        </p:nvPicPr>
        <p:blipFill rotWithShape="1">
          <a:blip r:embed="rId5">
            <a:alphaModFix/>
          </a:blip>
          <a:srcRect b="0" l="0" r="0" t="0"/>
          <a:stretch/>
        </p:blipFill>
        <p:spPr>
          <a:xfrm>
            <a:off x="3286125" y="1614488"/>
            <a:ext cx="2571750" cy="2628900"/>
          </a:xfrm>
          <a:prstGeom prst="rect">
            <a:avLst/>
          </a:prstGeom>
          <a:noFill/>
          <a:ln>
            <a:noFill/>
          </a:ln>
        </p:spPr>
      </p:pic>
      <p:pic>
        <p:nvPicPr>
          <p:cNvPr descr="image.png" id="154" name="Google Shape;154;g38b6a83bb94_0_134"/>
          <p:cNvPicPr preferRelativeResize="0"/>
          <p:nvPr/>
        </p:nvPicPr>
        <p:blipFill rotWithShape="1">
          <a:blip r:embed="rId6">
            <a:alphaModFix/>
          </a:blip>
          <a:srcRect b="0" l="0" r="0" t="0"/>
          <a:stretch/>
        </p:blipFill>
        <p:spPr>
          <a:xfrm>
            <a:off x="6143625" y="1614488"/>
            <a:ext cx="2571750" cy="2628900"/>
          </a:xfrm>
          <a:prstGeom prst="rect">
            <a:avLst/>
          </a:prstGeom>
          <a:noFill/>
          <a:ln>
            <a:noFill/>
          </a:ln>
        </p:spPr>
      </p:pic>
      <p:sp>
        <p:nvSpPr>
          <p:cNvPr id="155" name="Google Shape;155;g38b6a83bb94_0_134"/>
          <p:cNvSpPr txBox="1"/>
          <p:nvPr/>
        </p:nvSpPr>
        <p:spPr>
          <a:xfrm>
            <a:off x="596860" y="2386013"/>
            <a:ext cx="2235300" cy="261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700" u="none" cap="none" strike="noStrike">
                <a:solidFill>
                  <a:srgbClr val="0F172A"/>
                </a:solidFill>
                <a:latin typeface="Poppins"/>
                <a:ea typeface="Poppins"/>
                <a:cs typeface="Poppins"/>
                <a:sym typeface="Poppins"/>
              </a:rPr>
              <a:t>Đồng Bộ Dịch Vụ</a:t>
            </a:r>
            <a:endParaRPr sz="1300"/>
          </a:p>
        </p:txBody>
      </p:sp>
      <p:sp>
        <p:nvSpPr>
          <p:cNvPr id="156" name="Google Shape;156;g38b6a83bb94_0_134"/>
          <p:cNvSpPr txBox="1"/>
          <p:nvPr/>
        </p:nvSpPr>
        <p:spPr>
          <a:xfrm>
            <a:off x="650081" y="2771775"/>
            <a:ext cx="2129100" cy="96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Đòi hỏi sự phối hợp đồng bộ giữa nhiều dịch vụ độc lập</a:t>
            </a:r>
            <a:r>
              <a:rPr lang="en" sz="1500">
                <a:solidFill>
                  <a:srgbClr val="334155"/>
                </a:solidFill>
                <a:latin typeface="Lato"/>
                <a:ea typeface="Lato"/>
                <a:cs typeface="Lato"/>
                <a:sym typeface="Lato"/>
              </a:rPr>
              <a:t>.</a:t>
            </a:r>
            <a:endParaRPr sz="1500"/>
          </a:p>
        </p:txBody>
      </p:sp>
      <p:sp>
        <p:nvSpPr>
          <p:cNvPr id="157" name="Google Shape;157;g38b6a83bb94_0_134"/>
          <p:cNvSpPr txBox="1"/>
          <p:nvPr/>
        </p:nvSpPr>
        <p:spPr>
          <a:xfrm>
            <a:off x="3286124" y="2386025"/>
            <a:ext cx="2571600" cy="261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700" u="none" cap="none" strike="noStrike">
                <a:solidFill>
                  <a:srgbClr val="0F172A"/>
                </a:solidFill>
                <a:latin typeface="Poppins"/>
                <a:ea typeface="Poppins"/>
                <a:cs typeface="Poppins"/>
                <a:sym typeface="Poppins"/>
              </a:rPr>
              <a:t>Hệ Sinh Thái 3rd Party</a:t>
            </a:r>
            <a:endParaRPr sz="1300"/>
          </a:p>
        </p:txBody>
      </p:sp>
      <p:sp>
        <p:nvSpPr>
          <p:cNvPr id="158" name="Google Shape;158;g38b6a83bb94_0_134"/>
          <p:cNvSpPr txBox="1"/>
          <p:nvPr/>
        </p:nvSpPr>
        <p:spPr>
          <a:xfrm>
            <a:off x="3507581" y="2771775"/>
            <a:ext cx="2129100" cy="96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Tích hợp các hệ thống lưu trữ và message broker mạnh m</a:t>
            </a:r>
            <a:r>
              <a:rPr lang="en" sz="1500">
                <a:solidFill>
                  <a:srgbClr val="334155"/>
                </a:solidFill>
                <a:latin typeface="Lato"/>
                <a:ea typeface="Lato"/>
                <a:cs typeface="Lato"/>
                <a:sym typeface="Lato"/>
              </a:rPr>
              <a:t>ẽ</a:t>
            </a:r>
            <a:r>
              <a:rPr b="0" i="0" lang="en" sz="1500" u="none" cap="none" strike="noStrike">
                <a:solidFill>
                  <a:srgbClr val="334155"/>
                </a:solidFill>
                <a:latin typeface="Lato"/>
                <a:ea typeface="Lato"/>
                <a:cs typeface="Lato"/>
                <a:sym typeface="Lato"/>
              </a:rPr>
              <a:t>.</a:t>
            </a:r>
            <a:endParaRPr sz="1500"/>
          </a:p>
        </p:txBody>
      </p:sp>
      <p:sp>
        <p:nvSpPr>
          <p:cNvPr id="159" name="Google Shape;159;g38b6a83bb94_0_134"/>
          <p:cNvSpPr txBox="1"/>
          <p:nvPr/>
        </p:nvSpPr>
        <p:spPr>
          <a:xfrm>
            <a:off x="6106648" y="2386025"/>
            <a:ext cx="2645700" cy="261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700" u="none" cap="none" strike="noStrike">
                <a:solidFill>
                  <a:srgbClr val="0F172A"/>
                </a:solidFill>
                <a:latin typeface="Poppins"/>
                <a:ea typeface="Poppins"/>
                <a:cs typeface="Poppins"/>
                <a:sym typeface="Poppins"/>
              </a:rPr>
              <a:t>Công Nghệ Container</a:t>
            </a:r>
            <a:endParaRPr sz="1300"/>
          </a:p>
        </p:txBody>
      </p:sp>
      <p:sp>
        <p:nvSpPr>
          <p:cNvPr id="160" name="Google Shape;160;g38b6a83bb94_0_134"/>
          <p:cNvSpPr txBox="1"/>
          <p:nvPr/>
        </p:nvSpPr>
        <p:spPr>
          <a:xfrm>
            <a:off x="6106952" y="2771775"/>
            <a:ext cx="2645400" cy="133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Áp dụng Container hóa để đảm bảo tính nhất quán trên các môi trường và dễ dàng tự động hóa quy trình triển khai.</a:t>
            </a:r>
            <a:endParaRPr sz="1500"/>
          </a:p>
        </p:txBody>
      </p:sp>
      <p:pic>
        <p:nvPicPr>
          <p:cNvPr descr="image.png" id="161" name="Google Shape;161;g38b6a83bb94_0_134"/>
          <p:cNvPicPr preferRelativeResize="0"/>
          <p:nvPr/>
        </p:nvPicPr>
        <p:blipFill rotWithShape="1">
          <a:blip r:embed="rId7">
            <a:alphaModFix/>
          </a:blip>
          <a:srcRect b="0" l="0" r="0" t="0"/>
          <a:stretch/>
        </p:blipFill>
        <p:spPr>
          <a:xfrm>
            <a:off x="1543050" y="1871663"/>
            <a:ext cx="342900" cy="342900"/>
          </a:xfrm>
          <a:prstGeom prst="rect">
            <a:avLst/>
          </a:prstGeom>
          <a:noFill/>
          <a:ln>
            <a:noFill/>
          </a:ln>
        </p:spPr>
      </p:pic>
      <p:pic>
        <p:nvPicPr>
          <p:cNvPr descr="image.png" id="162" name="Google Shape;162;g38b6a83bb94_0_134"/>
          <p:cNvPicPr preferRelativeResize="0"/>
          <p:nvPr/>
        </p:nvPicPr>
        <p:blipFill rotWithShape="1">
          <a:blip r:embed="rId8">
            <a:alphaModFix/>
          </a:blip>
          <a:srcRect b="0" l="0" r="0" t="0"/>
          <a:stretch/>
        </p:blipFill>
        <p:spPr>
          <a:xfrm>
            <a:off x="4421981" y="1871663"/>
            <a:ext cx="300038" cy="342900"/>
          </a:xfrm>
          <a:prstGeom prst="rect">
            <a:avLst/>
          </a:prstGeom>
          <a:noFill/>
          <a:ln>
            <a:noFill/>
          </a:ln>
        </p:spPr>
      </p:pic>
      <p:pic>
        <p:nvPicPr>
          <p:cNvPr descr="image.png" id="163" name="Google Shape;163;g38b6a83bb94_0_134"/>
          <p:cNvPicPr preferRelativeResize="0"/>
          <p:nvPr/>
        </p:nvPicPr>
        <p:blipFill rotWithShape="1">
          <a:blip r:embed="rId9">
            <a:alphaModFix/>
          </a:blip>
          <a:srcRect b="0" l="0" r="0" t="0"/>
          <a:stretch/>
        </p:blipFill>
        <p:spPr>
          <a:xfrm>
            <a:off x="7215188" y="1871663"/>
            <a:ext cx="428625" cy="342900"/>
          </a:xfrm>
          <a:prstGeom prst="rect">
            <a:avLst/>
          </a:prstGeom>
          <a:noFill/>
          <a:ln>
            <a:noFill/>
          </a:ln>
        </p:spPr>
      </p:pic>
      <p:sp>
        <p:nvSpPr>
          <p:cNvPr id="164" name="Google Shape;164;g38b6a83bb94_0_134"/>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300" u="none" cap="none" strike="noStrike">
                <a:solidFill>
                  <a:srgbClr val="0F172A"/>
                </a:solidFill>
                <a:latin typeface="Poppins"/>
                <a:ea typeface="Poppins"/>
                <a:cs typeface="Poppins"/>
                <a:sym typeface="Poppins"/>
              </a:rPr>
              <a:t>Triển Khai </a:t>
            </a:r>
            <a:r>
              <a:rPr b="1" i="0" lang="en" sz="2300" u="none" cap="none" strike="noStrike">
                <a:solidFill>
                  <a:schemeClr val="dk1"/>
                </a:solidFill>
                <a:latin typeface="Poppins"/>
                <a:ea typeface="Poppins"/>
                <a:cs typeface="Poppins"/>
                <a:sym typeface="Poppins"/>
              </a:rPr>
              <a:t>Hệ Thống Thực Tế</a:t>
            </a:r>
            <a:endParaRPr sz="11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pic>
        <p:nvPicPr>
          <p:cNvPr descr="image.png" id="169" name="Google Shape;169;g38b6a83bb94_0_151"/>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170" name="Google Shape;170;g38b6a83bb94_0_151"/>
          <p:cNvPicPr preferRelativeResize="0"/>
          <p:nvPr/>
        </p:nvPicPr>
        <p:blipFill rotWithShape="1">
          <a:blip r:embed="rId4">
            <a:alphaModFix/>
          </a:blip>
          <a:srcRect b="0" l="0" r="0" t="0"/>
          <a:stretch/>
        </p:blipFill>
        <p:spPr>
          <a:xfrm>
            <a:off x="4750594" y="1500188"/>
            <a:ext cx="3964781" cy="2857500"/>
          </a:xfrm>
          <a:prstGeom prst="rect">
            <a:avLst/>
          </a:prstGeom>
          <a:noFill/>
          <a:ln>
            <a:noFill/>
          </a:ln>
        </p:spPr>
      </p:pic>
      <p:sp>
        <p:nvSpPr>
          <p:cNvPr id="171" name="Google Shape;171;g38b6a83bb94_0_151"/>
          <p:cNvSpPr txBox="1"/>
          <p:nvPr/>
        </p:nvSpPr>
        <p:spPr>
          <a:xfrm>
            <a:off x="428625" y="969263"/>
            <a:ext cx="39648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Trong giai đoạn phát triển và kiểm thử, </a:t>
            </a:r>
            <a:r>
              <a:rPr b="1" i="0" lang="en" sz="1500" u="none" cap="none" strike="noStrike">
                <a:solidFill>
                  <a:schemeClr val="dk1"/>
                </a:solidFill>
                <a:latin typeface="Lato"/>
                <a:ea typeface="Lato"/>
                <a:cs typeface="Lato"/>
                <a:sym typeface="Lato"/>
              </a:rPr>
              <a:t>Docker Compose</a:t>
            </a:r>
            <a:r>
              <a:rPr b="0" i="0" lang="en" sz="1500" u="none" cap="none" strike="noStrike">
                <a:solidFill>
                  <a:srgbClr val="334155"/>
                </a:solidFill>
                <a:latin typeface="Lato"/>
                <a:ea typeface="Lato"/>
                <a:cs typeface="Lato"/>
                <a:sym typeface="Lato"/>
              </a:rPr>
              <a:t> được chọn làm công cụ quản lý và điều phối chính.</a:t>
            </a:r>
            <a:endParaRPr sz="1500"/>
          </a:p>
        </p:txBody>
      </p:sp>
      <p:sp>
        <p:nvSpPr>
          <p:cNvPr id="172" name="Google Shape;172;g38b6a83bb94_0_151"/>
          <p:cNvSpPr txBox="1"/>
          <p:nvPr/>
        </p:nvSpPr>
        <p:spPr>
          <a:xfrm>
            <a:off x="428625" y="1991544"/>
            <a:ext cx="39648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Thay vì cài đặt thủ công, mọi thứ được định nghĩa trong file docker-compose.yml.</a:t>
            </a:r>
            <a:endParaRPr sz="1500"/>
          </a:p>
        </p:txBody>
      </p:sp>
      <p:sp>
        <p:nvSpPr>
          <p:cNvPr id="173" name="Google Shape;173;g38b6a83bb94_0_151"/>
          <p:cNvSpPr txBox="1"/>
          <p:nvPr/>
        </p:nvSpPr>
        <p:spPr>
          <a:xfrm>
            <a:off x="607219" y="2748963"/>
            <a:ext cx="3786300" cy="9696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None/>
            </a:pPr>
            <a:r>
              <a:rPr b="1" i="0" lang="en" sz="1500" u="none" cap="none" strike="noStrike">
                <a:solidFill>
                  <a:srgbClr val="334155"/>
                </a:solidFill>
                <a:latin typeface="Lato"/>
                <a:ea typeface="Lato"/>
                <a:cs typeface="Lato"/>
                <a:sym typeface="Lato"/>
              </a:rPr>
              <a:t>Dịch vụ hạ tầng (Infra):</a:t>
            </a:r>
            <a:r>
              <a:rPr b="0" i="0" lang="en" sz="1500" u="none" cap="none" strike="noStrike">
                <a:solidFill>
                  <a:srgbClr val="334155"/>
                </a:solidFill>
                <a:latin typeface="Lato"/>
                <a:ea typeface="Lato"/>
                <a:cs typeface="Lato"/>
                <a:sym typeface="Lato"/>
              </a:rPr>
              <a:t> Zookeeper, Kafka, PostgreSQL, MongoDB, Redis phải chạy trước.</a:t>
            </a:r>
            <a:endParaRPr sz="1500"/>
          </a:p>
        </p:txBody>
      </p:sp>
      <p:sp>
        <p:nvSpPr>
          <p:cNvPr id="174" name="Google Shape;174;g38b6a83bb94_0_151"/>
          <p:cNvSpPr txBox="1"/>
          <p:nvPr/>
        </p:nvSpPr>
        <p:spPr>
          <a:xfrm>
            <a:off x="521494" y="3207544"/>
            <a:ext cx="858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100"/>
          </a:p>
        </p:txBody>
      </p:sp>
      <p:sp>
        <p:nvSpPr>
          <p:cNvPr id="175" name="Google Shape;175;g38b6a83bb94_0_151"/>
          <p:cNvSpPr txBox="1"/>
          <p:nvPr/>
        </p:nvSpPr>
        <p:spPr>
          <a:xfrm>
            <a:off x="607219" y="3718569"/>
            <a:ext cx="3786300" cy="9696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None/>
            </a:pPr>
            <a:r>
              <a:rPr b="1" i="0" lang="en" sz="1500" u="none" cap="none" strike="noStrike">
                <a:solidFill>
                  <a:srgbClr val="334155"/>
                </a:solidFill>
                <a:latin typeface="Lato"/>
                <a:ea typeface="Lato"/>
                <a:cs typeface="Lato"/>
                <a:sym typeface="Lato"/>
              </a:rPr>
              <a:t>Dịch vụ ứng dụng (Business):</a:t>
            </a:r>
            <a:r>
              <a:rPr b="0" i="0" lang="en" sz="1500" u="none" cap="none" strike="noStrike">
                <a:solidFill>
                  <a:srgbClr val="334155"/>
                </a:solidFill>
                <a:latin typeface="Lato"/>
                <a:ea typeface="Lato"/>
                <a:cs typeface="Lato"/>
                <a:sym typeface="Lato"/>
              </a:rPr>
              <a:t> Các Microservices khởi động sau khi hạ tầng đã sẵn sàng.</a:t>
            </a:r>
            <a:endParaRPr sz="1500"/>
          </a:p>
        </p:txBody>
      </p:sp>
      <p:pic>
        <p:nvPicPr>
          <p:cNvPr descr="image.png" id="176" name="Google Shape;176;g38b6a83bb94_0_151"/>
          <p:cNvPicPr preferRelativeResize="0"/>
          <p:nvPr/>
        </p:nvPicPr>
        <p:blipFill rotWithShape="1">
          <a:blip r:embed="rId5">
            <a:alphaModFix/>
          </a:blip>
          <a:srcRect b="0" l="0" r="0" t="0"/>
          <a:stretch/>
        </p:blipFill>
        <p:spPr>
          <a:xfrm>
            <a:off x="4757738" y="1507331"/>
            <a:ext cx="3950494" cy="2843213"/>
          </a:xfrm>
          <a:prstGeom prst="rect">
            <a:avLst/>
          </a:prstGeom>
          <a:noFill/>
          <a:ln>
            <a:noFill/>
          </a:ln>
        </p:spPr>
      </p:pic>
      <p:sp>
        <p:nvSpPr>
          <p:cNvPr id="177" name="Google Shape;177;g38b6a83bb94_0_151"/>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300" u="none" cap="none" strike="noStrike">
                <a:solidFill>
                  <a:srgbClr val="0F172A"/>
                </a:solidFill>
                <a:latin typeface="Poppins"/>
                <a:ea typeface="Poppins"/>
                <a:cs typeface="Poppins"/>
                <a:sym typeface="Poppins"/>
              </a:rPr>
              <a:t>Điều Phối Với </a:t>
            </a:r>
            <a:r>
              <a:rPr b="1" i="0" lang="en" sz="2300" u="none" cap="none" strike="noStrike">
                <a:solidFill>
                  <a:schemeClr val="dk1"/>
                </a:solidFill>
                <a:latin typeface="Poppins"/>
                <a:ea typeface="Poppins"/>
                <a:cs typeface="Poppins"/>
                <a:sym typeface="Poppins"/>
              </a:rPr>
              <a:t>Docker Compose</a:t>
            </a:r>
            <a:endParaRPr sz="11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pic>
        <p:nvPicPr>
          <p:cNvPr descr="image.png" id="182" name="Google Shape;182;g38b6a83bb94_0_16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183" name="Google Shape;183;g38b6a83bb94_0_164"/>
          <p:cNvPicPr preferRelativeResize="0"/>
          <p:nvPr/>
        </p:nvPicPr>
        <p:blipFill rotWithShape="1">
          <a:blip r:embed="rId4">
            <a:alphaModFix/>
          </a:blip>
          <a:srcRect b="0" l="0" r="0" t="0"/>
          <a:stretch/>
        </p:blipFill>
        <p:spPr>
          <a:xfrm>
            <a:off x="4750594" y="1500188"/>
            <a:ext cx="3964781" cy="2857500"/>
          </a:xfrm>
          <a:prstGeom prst="rect">
            <a:avLst/>
          </a:prstGeom>
          <a:noFill/>
          <a:ln>
            <a:noFill/>
          </a:ln>
        </p:spPr>
      </p:pic>
      <p:sp>
        <p:nvSpPr>
          <p:cNvPr id="184" name="Google Shape;184;g38b6a83bb94_0_164"/>
          <p:cNvSpPr txBox="1"/>
          <p:nvPr/>
        </p:nvSpPr>
        <p:spPr>
          <a:xfrm>
            <a:off x="428625" y="1261263"/>
            <a:ext cx="39648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Quá trình </a:t>
            </a:r>
            <a:r>
              <a:rPr b="1" i="0" lang="en" sz="1500" u="none" cap="none" strike="noStrike">
                <a:solidFill>
                  <a:srgbClr val="334155"/>
                </a:solidFill>
                <a:latin typeface="Lato"/>
                <a:ea typeface="Lato"/>
                <a:cs typeface="Lato"/>
                <a:sym typeface="Lato"/>
              </a:rPr>
              <a:t>Dockerizing</a:t>
            </a:r>
            <a:r>
              <a:rPr b="0" i="0" lang="en" sz="1500" u="none" cap="none" strike="noStrike">
                <a:solidFill>
                  <a:srgbClr val="334155"/>
                </a:solidFill>
                <a:latin typeface="Lato"/>
                <a:ea typeface="Lato"/>
                <a:cs typeface="Lato"/>
                <a:sym typeface="Lato"/>
              </a:rPr>
              <a:t> đảm bảo mỗi dịch vụ có một môi trường chạy biệt lập và đồng nhất.</a:t>
            </a:r>
            <a:endParaRPr sz="1500"/>
          </a:p>
        </p:txBody>
      </p:sp>
      <p:sp>
        <p:nvSpPr>
          <p:cNvPr id="185" name="Google Shape;185;g38b6a83bb94_0_164"/>
          <p:cNvSpPr txBox="1"/>
          <p:nvPr/>
        </p:nvSpPr>
        <p:spPr>
          <a:xfrm>
            <a:off x="521494" y="1957456"/>
            <a:ext cx="858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334155"/>
                </a:solidFill>
                <a:latin typeface="Lato"/>
                <a:ea typeface="Lato"/>
                <a:cs typeface="Lato"/>
                <a:sym typeface="Lato"/>
              </a:rPr>
              <a:t>•</a:t>
            </a:r>
            <a:endParaRPr sz="1100"/>
          </a:p>
        </p:txBody>
      </p:sp>
      <p:sp>
        <p:nvSpPr>
          <p:cNvPr id="186" name="Google Shape;186;g38b6a83bb94_0_164"/>
          <p:cNvSpPr txBox="1"/>
          <p:nvPr/>
        </p:nvSpPr>
        <p:spPr>
          <a:xfrm>
            <a:off x="607219" y="1917631"/>
            <a:ext cx="3786300" cy="6003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Mỗi service (product, order) sở hữu một Dockerfile riêng biệt.</a:t>
            </a:r>
            <a:endParaRPr sz="1500"/>
          </a:p>
        </p:txBody>
      </p:sp>
      <p:sp>
        <p:nvSpPr>
          <p:cNvPr id="187" name="Google Shape;187;g38b6a83bb94_0_164"/>
          <p:cNvSpPr txBox="1"/>
          <p:nvPr/>
        </p:nvSpPr>
        <p:spPr>
          <a:xfrm>
            <a:off x="521494" y="2643188"/>
            <a:ext cx="858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334155"/>
                </a:solidFill>
                <a:latin typeface="Lato"/>
                <a:ea typeface="Lato"/>
                <a:cs typeface="Lato"/>
                <a:sym typeface="Lato"/>
              </a:rPr>
              <a:t>•</a:t>
            </a:r>
            <a:endParaRPr sz="1100"/>
          </a:p>
        </p:txBody>
      </p:sp>
      <p:sp>
        <p:nvSpPr>
          <p:cNvPr id="188" name="Google Shape;188;g38b6a83bb94_0_164"/>
          <p:cNvSpPr txBox="1"/>
          <p:nvPr/>
        </p:nvSpPr>
        <p:spPr>
          <a:xfrm>
            <a:off x="607219" y="2643188"/>
            <a:ext cx="3786300" cy="6003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Đóng gói mã nguồn Java đã biên dịch (file .jar).</a:t>
            </a:r>
            <a:endParaRPr sz="1500"/>
          </a:p>
        </p:txBody>
      </p:sp>
      <p:sp>
        <p:nvSpPr>
          <p:cNvPr id="189" name="Google Shape;189;g38b6a83bb94_0_164"/>
          <p:cNvSpPr txBox="1"/>
          <p:nvPr/>
        </p:nvSpPr>
        <p:spPr>
          <a:xfrm>
            <a:off x="521494" y="3290869"/>
            <a:ext cx="858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334155"/>
                </a:solidFill>
                <a:latin typeface="Lato"/>
                <a:ea typeface="Lato"/>
                <a:cs typeface="Lato"/>
                <a:sym typeface="Lato"/>
              </a:rPr>
              <a:t>•</a:t>
            </a:r>
            <a:endParaRPr sz="1100"/>
          </a:p>
        </p:txBody>
      </p:sp>
      <p:sp>
        <p:nvSpPr>
          <p:cNvPr id="190" name="Google Shape;190;g38b6a83bb94_0_164"/>
          <p:cNvSpPr txBox="1"/>
          <p:nvPr/>
        </p:nvSpPr>
        <p:spPr>
          <a:xfrm>
            <a:off x="607219" y="3290869"/>
            <a:ext cx="3786300" cy="2310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Tích hợp cùng môi trường JRE cần thiết.</a:t>
            </a:r>
            <a:endParaRPr sz="1500"/>
          </a:p>
        </p:txBody>
      </p:sp>
      <p:sp>
        <p:nvSpPr>
          <p:cNvPr id="191" name="Google Shape;191;g38b6a83bb94_0_164"/>
          <p:cNvSpPr txBox="1"/>
          <p:nvPr/>
        </p:nvSpPr>
        <p:spPr>
          <a:xfrm>
            <a:off x="521494" y="3652950"/>
            <a:ext cx="858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334155"/>
                </a:solidFill>
                <a:latin typeface="Lato"/>
                <a:ea typeface="Lato"/>
                <a:cs typeface="Lato"/>
                <a:sym typeface="Lato"/>
              </a:rPr>
              <a:t>•</a:t>
            </a:r>
            <a:endParaRPr sz="1100"/>
          </a:p>
        </p:txBody>
      </p:sp>
      <p:sp>
        <p:nvSpPr>
          <p:cNvPr id="192" name="Google Shape;192;g38b6a83bb94_0_164"/>
          <p:cNvSpPr txBox="1"/>
          <p:nvPr/>
        </p:nvSpPr>
        <p:spPr>
          <a:xfrm>
            <a:off x="607219" y="3652950"/>
            <a:ext cx="3786300" cy="6003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Tạo thành một </a:t>
            </a:r>
            <a:r>
              <a:rPr b="1" i="0" lang="en" sz="1500" u="none" cap="none" strike="noStrike">
                <a:solidFill>
                  <a:schemeClr val="dk1"/>
                </a:solidFill>
                <a:latin typeface="Lato"/>
                <a:ea typeface="Lato"/>
                <a:cs typeface="Lato"/>
                <a:sym typeface="Lato"/>
              </a:rPr>
              <a:t>Docker Image siêu nhẹ</a:t>
            </a:r>
            <a:r>
              <a:rPr b="0" i="0" lang="en" sz="1500" u="none" cap="none" strike="noStrike">
                <a:solidFill>
                  <a:srgbClr val="334155"/>
                </a:solidFill>
                <a:latin typeface="Lato"/>
                <a:ea typeface="Lato"/>
                <a:cs typeface="Lato"/>
                <a:sym typeface="Lato"/>
              </a:rPr>
              <a:t>, dễ dàng di chuyển và khởi chạy ở bất cứ đâu.</a:t>
            </a:r>
            <a:endParaRPr sz="1500"/>
          </a:p>
        </p:txBody>
      </p:sp>
      <p:pic>
        <p:nvPicPr>
          <p:cNvPr descr="image.png" id="193" name="Google Shape;193;g38b6a83bb94_0_164"/>
          <p:cNvPicPr preferRelativeResize="0"/>
          <p:nvPr/>
        </p:nvPicPr>
        <p:blipFill rotWithShape="1">
          <a:blip r:embed="rId5">
            <a:alphaModFix/>
          </a:blip>
          <a:srcRect b="0" l="0" r="0" t="0"/>
          <a:stretch/>
        </p:blipFill>
        <p:spPr>
          <a:xfrm>
            <a:off x="4757738" y="1507331"/>
            <a:ext cx="3950494" cy="2843213"/>
          </a:xfrm>
          <a:prstGeom prst="rect">
            <a:avLst/>
          </a:prstGeom>
          <a:noFill/>
          <a:ln>
            <a:noFill/>
          </a:ln>
        </p:spPr>
      </p:pic>
      <p:sp>
        <p:nvSpPr>
          <p:cNvPr id="194" name="Google Shape;194;g38b6a83bb94_0_164"/>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300" u="none" cap="none" strike="noStrike">
                <a:solidFill>
                  <a:srgbClr val="0F172A"/>
                </a:solidFill>
                <a:latin typeface="Poppins"/>
                <a:ea typeface="Poppins"/>
                <a:cs typeface="Poppins"/>
                <a:sym typeface="Poppins"/>
              </a:rPr>
              <a:t>Đóng Gói </a:t>
            </a:r>
            <a:r>
              <a:rPr b="1" i="0" lang="en" sz="2300" u="none" cap="none" strike="noStrike">
                <a:solidFill>
                  <a:schemeClr val="dk1"/>
                </a:solidFill>
                <a:latin typeface="Poppins"/>
                <a:ea typeface="Poppins"/>
                <a:cs typeface="Poppins"/>
                <a:sym typeface="Poppins"/>
              </a:rPr>
              <a:t>Microservices</a:t>
            </a:r>
            <a:endParaRPr sz="11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pic>
        <p:nvPicPr>
          <p:cNvPr descr="image.png" id="199" name="Google Shape;199;g38b6a83bb94_0_18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00" name="Google Shape;200;g38b6a83bb94_0_180"/>
          <p:cNvSpPr txBox="1"/>
          <p:nvPr/>
        </p:nvSpPr>
        <p:spPr>
          <a:xfrm>
            <a:off x="1357313" y="1128713"/>
            <a:ext cx="67866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 sz="1500" u="none" cap="none" strike="noStrike">
                <a:solidFill>
                  <a:srgbClr val="0F172A"/>
                </a:solidFill>
                <a:latin typeface="Lato"/>
                <a:ea typeface="Lato"/>
                <a:cs typeface="Lato"/>
                <a:sym typeface="Lato"/>
              </a:rPr>
              <a:t>Mạng nội bộ Docker (Bridge Network)</a:t>
            </a:r>
            <a:r>
              <a:rPr b="0" i="0" lang="en" sz="1500" u="none" cap="none" strike="noStrike">
                <a:solidFill>
                  <a:srgbClr val="334155"/>
                </a:solidFill>
                <a:latin typeface="Lato"/>
                <a:ea typeface="Lato"/>
                <a:cs typeface="Lato"/>
                <a:sym typeface="Lato"/>
              </a:rPr>
              <a:t>Tạo network chung để các container phân giải tên nhau (DNS Resolution) bằng `container_name` thay vì dùng IP tĩnh.</a:t>
            </a:r>
            <a:endParaRPr sz="1500"/>
          </a:p>
        </p:txBody>
      </p:sp>
      <p:sp>
        <p:nvSpPr>
          <p:cNvPr id="201" name="Google Shape;201;g38b6a83bb94_0_180"/>
          <p:cNvSpPr txBox="1"/>
          <p:nvPr/>
        </p:nvSpPr>
        <p:spPr>
          <a:xfrm>
            <a:off x="1357313" y="2028825"/>
            <a:ext cx="67866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 sz="1500" u="none" cap="none" strike="noStrike">
                <a:solidFill>
                  <a:srgbClr val="0F172A"/>
                </a:solidFill>
                <a:latin typeface="Lato"/>
                <a:ea typeface="Lato"/>
                <a:cs typeface="Lato"/>
                <a:sym typeface="Lato"/>
              </a:rPr>
              <a:t>Thứ tự khởi động (Startup Sequence)</a:t>
            </a:r>
            <a:r>
              <a:rPr b="0" i="0" lang="en" sz="1500" u="none" cap="none" strike="noStrike">
                <a:solidFill>
                  <a:srgbClr val="334155"/>
                </a:solidFill>
                <a:latin typeface="Lato"/>
                <a:ea typeface="Lato"/>
                <a:cs typeface="Lato"/>
                <a:sym typeface="Lato"/>
              </a:rPr>
              <a:t>Giải quyết sự phụ thuộc chéo bằng thuộc tính `depends_on` kết hợp `healthcheck` (VD: Gateway đợi Eureka, Order đợi Kafka).</a:t>
            </a:r>
            <a:endParaRPr sz="1500"/>
          </a:p>
        </p:txBody>
      </p:sp>
      <p:sp>
        <p:nvSpPr>
          <p:cNvPr id="202" name="Google Shape;202;g38b6a83bb94_0_180"/>
          <p:cNvSpPr txBox="1"/>
          <p:nvPr/>
        </p:nvSpPr>
        <p:spPr>
          <a:xfrm>
            <a:off x="1357313" y="2928938"/>
            <a:ext cx="67866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 sz="1500" u="none" cap="none" strike="noStrike">
                <a:solidFill>
                  <a:srgbClr val="0F172A"/>
                </a:solidFill>
                <a:latin typeface="Lato"/>
                <a:ea typeface="Lato"/>
                <a:cs typeface="Lato"/>
                <a:sym typeface="Lato"/>
              </a:rPr>
              <a:t>Khám phá dịch vụ (Service Discovery)</a:t>
            </a:r>
            <a:r>
              <a:rPr b="0" i="0" lang="en" sz="1500" u="none" cap="none" strike="noStrike">
                <a:solidFill>
                  <a:srgbClr val="334155"/>
                </a:solidFill>
                <a:latin typeface="Lato"/>
                <a:ea typeface="Lato"/>
                <a:cs typeface="Lato"/>
                <a:sym typeface="Lato"/>
              </a:rPr>
              <a:t>Sử dụng Eureka Server làm trung tâm bản đồ mạng. Các service tự động đăng ký cấu hình khi khởi chạy dù IP thay đổi liên tục.</a:t>
            </a:r>
            <a:endParaRPr sz="1500"/>
          </a:p>
        </p:txBody>
      </p:sp>
      <p:sp>
        <p:nvSpPr>
          <p:cNvPr id="203" name="Google Shape;203;g38b6a83bb94_0_180"/>
          <p:cNvSpPr txBox="1"/>
          <p:nvPr/>
        </p:nvSpPr>
        <p:spPr>
          <a:xfrm>
            <a:off x="1357313" y="3829050"/>
            <a:ext cx="67866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 sz="1500" u="none" cap="none" strike="noStrike">
                <a:solidFill>
                  <a:srgbClr val="0F172A"/>
                </a:solidFill>
                <a:latin typeface="Lato"/>
                <a:ea typeface="Lato"/>
                <a:cs typeface="Lato"/>
                <a:sym typeface="Lato"/>
              </a:rPr>
              <a:t>Định tuyến qua API Gateway</a:t>
            </a:r>
            <a:r>
              <a:rPr b="0" i="0" lang="en" sz="1500" u="none" cap="none" strike="noStrike">
                <a:solidFill>
                  <a:srgbClr val="334155"/>
                </a:solidFill>
                <a:latin typeface="Lato"/>
                <a:ea typeface="Lato"/>
                <a:cs typeface="Lato"/>
                <a:sym typeface="Lato"/>
              </a:rPr>
              <a:t>Spring Cloud Gateway làm điểm vào duy nhất (Single Entry Point). Nhận request từ React, hỏi Eureka, và định tuyến chuẩn xác.</a:t>
            </a:r>
            <a:endParaRPr sz="1500"/>
          </a:p>
        </p:txBody>
      </p:sp>
      <p:pic>
        <p:nvPicPr>
          <p:cNvPr descr="image.png" id="204" name="Google Shape;204;g38b6a83bb94_0_180"/>
          <p:cNvPicPr preferRelativeResize="0"/>
          <p:nvPr/>
        </p:nvPicPr>
        <p:blipFill rotWithShape="1">
          <a:blip r:embed="rId4">
            <a:alphaModFix/>
          </a:blip>
          <a:srcRect b="0" l="0" r="0" t="0"/>
          <a:stretch/>
        </p:blipFill>
        <p:spPr>
          <a:xfrm>
            <a:off x="1000125" y="1146572"/>
            <a:ext cx="250031" cy="207169"/>
          </a:xfrm>
          <a:prstGeom prst="rect">
            <a:avLst/>
          </a:prstGeom>
          <a:noFill/>
          <a:ln>
            <a:noFill/>
          </a:ln>
        </p:spPr>
      </p:pic>
      <p:pic>
        <p:nvPicPr>
          <p:cNvPr descr="image.png" id="205" name="Google Shape;205;g38b6a83bb94_0_180"/>
          <p:cNvPicPr preferRelativeResize="0"/>
          <p:nvPr/>
        </p:nvPicPr>
        <p:blipFill rotWithShape="1">
          <a:blip r:embed="rId5">
            <a:alphaModFix/>
          </a:blip>
          <a:srcRect b="0" l="0" r="0" t="0"/>
          <a:stretch/>
        </p:blipFill>
        <p:spPr>
          <a:xfrm>
            <a:off x="1000125" y="2046684"/>
            <a:ext cx="228600" cy="207169"/>
          </a:xfrm>
          <a:prstGeom prst="rect">
            <a:avLst/>
          </a:prstGeom>
          <a:noFill/>
          <a:ln>
            <a:noFill/>
          </a:ln>
        </p:spPr>
      </p:pic>
      <p:pic>
        <p:nvPicPr>
          <p:cNvPr descr="image.png" id="206" name="Google Shape;206;g38b6a83bb94_0_180"/>
          <p:cNvPicPr preferRelativeResize="0"/>
          <p:nvPr/>
        </p:nvPicPr>
        <p:blipFill rotWithShape="1">
          <a:blip r:embed="rId6">
            <a:alphaModFix/>
          </a:blip>
          <a:srcRect b="0" l="0" r="0" t="0"/>
          <a:stretch/>
        </p:blipFill>
        <p:spPr>
          <a:xfrm>
            <a:off x="1000125" y="2946797"/>
            <a:ext cx="228600" cy="207169"/>
          </a:xfrm>
          <a:prstGeom prst="rect">
            <a:avLst/>
          </a:prstGeom>
          <a:noFill/>
          <a:ln>
            <a:noFill/>
          </a:ln>
        </p:spPr>
      </p:pic>
      <p:pic>
        <p:nvPicPr>
          <p:cNvPr descr="image.png" id="207" name="Google Shape;207;g38b6a83bb94_0_180"/>
          <p:cNvPicPr preferRelativeResize="0"/>
          <p:nvPr/>
        </p:nvPicPr>
        <p:blipFill rotWithShape="1">
          <a:blip r:embed="rId7">
            <a:alphaModFix/>
          </a:blip>
          <a:srcRect b="0" l="0" r="0" t="0"/>
          <a:stretch/>
        </p:blipFill>
        <p:spPr>
          <a:xfrm>
            <a:off x="1000125" y="3846909"/>
            <a:ext cx="228600" cy="207169"/>
          </a:xfrm>
          <a:prstGeom prst="rect">
            <a:avLst/>
          </a:prstGeom>
          <a:noFill/>
          <a:ln>
            <a:noFill/>
          </a:ln>
        </p:spPr>
      </p:pic>
      <p:sp>
        <p:nvSpPr>
          <p:cNvPr id="208" name="Google Shape;208;g38b6a83bb94_0_180"/>
          <p:cNvSpPr txBox="1"/>
          <p:nvPr/>
        </p:nvSpPr>
        <p:spPr>
          <a:xfrm>
            <a:off x="428625" y="414338"/>
            <a:ext cx="87012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300" u="none" cap="none" strike="noStrike">
                <a:solidFill>
                  <a:srgbClr val="0F172A"/>
                </a:solidFill>
                <a:latin typeface="Poppins"/>
                <a:ea typeface="Poppins"/>
                <a:cs typeface="Poppins"/>
                <a:sym typeface="Poppins"/>
              </a:rPr>
              <a:t>Mạng &amp; </a:t>
            </a:r>
            <a:r>
              <a:rPr b="1" i="0" lang="en" sz="2300" u="none" cap="none" strike="noStrike">
                <a:solidFill>
                  <a:schemeClr val="dk1"/>
                </a:solidFill>
                <a:latin typeface="Poppins"/>
                <a:ea typeface="Poppins"/>
                <a:cs typeface="Poppins"/>
                <a:sym typeface="Poppins"/>
              </a:rPr>
              <a:t>Routing </a:t>
            </a:r>
            <a:r>
              <a:rPr b="1" i="0" lang="en" sz="2300" u="none" cap="none" strike="noStrike">
                <a:solidFill>
                  <a:srgbClr val="0F172A"/>
                </a:solidFill>
                <a:latin typeface="Poppins"/>
                <a:ea typeface="Poppins"/>
                <a:cs typeface="Poppins"/>
                <a:sym typeface="Poppins"/>
              </a:rPr>
              <a:t>Trong Docker</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pic>
        <p:nvPicPr>
          <p:cNvPr descr="image.png" id="213" name="Google Shape;213;g38b6a83bb94_0_271"/>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214" name="Google Shape;214;g38b6a83bb94_0_271"/>
          <p:cNvPicPr preferRelativeResize="0"/>
          <p:nvPr/>
        </p:nvPicPr>
        <p:blipFill rotWithShape="1">
          <a:blip r:embed="rId4">
            <a:alphaModFix/>
          </a:blip>
          <a:srcRect b="0" l="0" r="0" t="0"/>
          <a:stretch/>
        </p:blipFill>
        <p:spPr>
          <a:xfrm>
            <a:off x="428625" y="1323500"/>
            <a:ext cx="3964774" cy="3264850"/>
          </a:xfrm>
          <a:prstGeom prst="rect">
            <a:avLst/>
          </a:prstGeom>
          <a:noFill/>
          <a:ln>
            <a:noFill/>
          </a:ln>
        </p:spPr>
      </p:pic>
      <p:pic>
        <p:nvPicPr>
          <p:cNvPr descr="image.png" id="215" name="Google Shape;215;g38b6a83bb94_0_271"/>
          <p:cNvPicPr preferRelativeResize="0"/>
          <p:nvPr/>
        </p:nvPicPr>
        <p:blipFill rotWithShape="1">
          <a:blip r:embed="rId5">
            <a:alphaModFix/>
          </a:blip>
          <a:srcRect b="0" l="0" r="0" t="0"/>
          <a:stretch/>
        </p:blipFill>
        <p:spPr>
          <a:xfrm>
            <a:off x="4750600" y="1323500"/>
            <a:ext cx="3964774" cy="3264850"/>
          </a:xfrm>
          <a:prstGeom prst="rect">
            <a:avLst/>
          </a:prstGeom>
          <a:noFill/>
          <a:ln>
            <a:noFill/>
          </a:ln>
        </p:spPr>
      </p:pic>
      <p:sp>
        <p:nvSpPr>
          <p:cNvPr id="216" name="Google Shape;216;g38b6a83bb94_0_271"/>
          <p:cNvSpPr txBox="1"/>
          <p:nvPr/>
        </p:nvSpPr>
        <p:spPr>
          <a:xfrm>
            <a:off x="721394" y="1569919"/>
            <a:ext cx="35481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F97316"/>
                </a:solidFill>
                <a:latin typeface="Poppins"/>
                <a:ea typeface="Poppins"/>
                <a:cs typeface="Poppins"/>
                <a:sym typeface="Poppins"/>
              </a:rPr>
              <a:t>Sự cố: Kafka Broker Crash</a:t>
            </a:r>
            <a:endParaRPr sz="1100"/>
          </a:p>
        </p:txBody>
      </p:sp>
      <p:sp>
        <p:nvSpPr>
          <p:cNvPr id="217" name="Google Shape;217;g38b6a83bb94_0_271"/>
          <p:cNvSpPr txBox="1"/>
          <p:nvPr/>
        </p:nvSpPr>
        <p:spPr>
          <a:xfrm>
            <a:off x="721394" y="1921681"/>
            <a:ext cx="3379200" cy="1160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 sz="1300" u="none" cap="none" strike="noStrike">
                <a:solidFill>
                  <a:srgbClr val="334155"/>
                </a:solidFill>
                <a:latin typeface="Lato"/>
                <a:ea typeface="Lato"/>
                <a:cs typeface="Lato"/>
                <a:sym typeface="Lato"/>
              </a:rPr>
              <a:t>Vấn đề:</a:t>
            </a:r>
            <a:r>
              <a:rPr b="0" i="0" lang="en" sz="1300" u="none" cap="none" strike="noStrike">
                <a:solidFill>
                  <a:srgbClr val="334155"/>
                </a:solidFill>
                <a:latin typeface="Lato"/>
                <a:ea typeface="Lato"/>
                <a:cs typeface="Lato"/>
                <a:sym typeface="Lato"/>
              </a:rPr>
              <a:t> Async Startup Race Condition. Order-service khởi động nhanh hơn Kafka và cố kết nối khi cổng 9092 chưa mở, dẫn đến Connection Refused và Crash.</a:t>
            </a:r>
            <a:endParaRPr sz="1300"/>
          </a:p>
        </p:txBody>
      </p:sp>
      <p:sp>
        <p:nvSpPr>
          <p:cNvPr id="218" name="Google Shape;218;g38b6a83bb94_0_271"/>
          <p:cNvSpPr txBox="1"/>
          <p:nvPr/>
        </p:nvSpPr>
        <p:spPr>
          <a:xfrm>
            <a:off x="721406" y="3332663"/>
            <a:ext cx="3379200" cy="1160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 sz="1300" u="none" cap="none" strike="noStrike">
                <a:solidFill>
                  <a:srgbClr val="334155"/>
                </a:solidFill>
                <a:latin typeface="Lato"/>
                <a:ea typeface="Lato"/>
                <a:cs typeface="Lato"/>
                <a:sym typeface="Lato"/>
              </a:rPr>
              <a:t>Khắc phục:</a:t>
            </a:r>
            <a:r>
              <a:rPr b="0" i="0" lang="en" sz="1300" u="none" cap="none" strike="noStrike">
                <a:solidFill>
                  <a:srgbClr val="334155"/>
                </a:solidFill>
                <a:latin typeface="Lato"/>
                <a:ea typeface="Lato"/>
                <a:cs typeface="Lato"/>
                <a:sym typeface="Lato"/>
              </a:rPr>
              <a:t> Bổ sung healthcheck cho Kafka container. Chuyển depends_on thành condition: service_healthy. Cấu hình Spring Retry/Backoff.</a:t>
            </a:r>
            <a:endParaRPr sz="1300"/>
          </a:p>
        </p:txBody>
      </p:sp>
      <p:sp>
        <p:nvSpPr>
          <p:cNvPr id="219" name="Google Shape;219;g38b6a83bb94_0_271"/>
          <p:cNvSpPr txBox="1"/>
          <p:nvPr/>
        </p:nvSpPr>
        <p:spPr>
          <a:xfrm>
            <a:off x="4959038" y="1569919"/>
            <a:ext cx="35481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F97316"/>
                </a:solidFill>
                <a:latin typeface="Poppins"/>
                <a:ea typeface="Poppins"/>
                <a:cs typeface="Poppins"/>
                <a:sym typeface="Poppins"/>
              </a:rPr>
              <a:t>Sự cố: Eureka 401 Unauthorized</a:t>
            </a:r>
            <a:endParaRPr sz="1100"/>
          </a:p>
        </p:txBody>
      </p:sp>
      <p:sp>
        <p:nvSpPr>
          <p:cNvPr id="220" name="Google Shape;220;g38b6a83bb94_0_271"/>
          <p:cNvSpPr txBox="1"/>
          <p:nvPr/>
        </p:nvSpPr>
        <p:spPr>
          <a:xfrm>
            <a:off x="5043375" y="1921681"/>
            <a:ext cx="3379200" cy="8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 sz="1300" u="none" cap="none" strike="noStrike">
                <a:solidFill>
                  <a:srgbClr val="334155"/>
                </a:solidFill>
                <a:latin typeface="Lato"/>
                <a:ea typeface="Lato"/>
                <a:cs typeface="Lato"/>
                <a:sym typeface="Lato"/>
              </a:rPr>
              <a:t>Vấn đề:</a:t>
            </a:r>
            <a:r>
              <a:rPr b="0" i="0" lang="en" sz="1300" u="none" cap="none" strike="noStrike">
                <a:solidFill>
                  <a:srgbClr val="334155"/>
                </a:solidFill>
                <a:latin typeface="Lato"/>
                <a:ea typeface="Lato"/>
                <a:cs typeface="Lato"/>
                <a:sym typeface="Lato"/>
              </a:rPr>
              <a:t> Áp dụng Spring Security (Basic Auth) cho Eureka, chặn các request ẩn danh từ các microservices muốn đăng ký.</a:t>
            </a:r>
            <a:endParaRPr sz="1300"/>
          </a:p>
        </p:txBody>
      </p:sp>
      <p:sp>
        <p:nvSpPr>
          <p:cNvPr id="221" name="Google Shape;221;g38b6a83bb94_0_271"/>
          <p:cNvSpPr txBox="1"/>
          <p:nvPr/>
        </p:nvSpPr>
        <p:spPr>
          <a:xfrm>
            <a:off x="5043488" y="3332663"/>
            <a:ext cx="3379200" cy="1160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 sz="1300" u="none" cap="none" strike="noStrike">
                <a:solidFill>
                  <a:srgbClr val="334155"/>
                </a:solidFill>
                <a:latin typeface="Lato"/>
                <a:ea typeface="Lato"/>
                <a:cs typeface="Lato"/>
                <a:sym typeface="Lato"/>
              </a:rPr>
              <a:t>Khắc phục:</a:t>
            </a:r>
            <a:r>
              <a:rPr b="0" i="0" lang="en" sz="1300" u="none" cap="none" strike="noStrike">
                <a:solidFill>
                  <a:srgbClr val="334155"/>
                </a:solidFill>
                <a:latin typeface="Lato"/>
                <a:ea typeface="Lato"/>
                <a:cs typeface="Lato"/>
                <a:sym typeface="Lato"/>
              </a:rPr>
              <a:t> Cập nhật URL kết nối trong application.properties của mọi service, nhúng trực tiếp username/password theo chuẩn Basic Auth URL.</a:t>
            </a:r>
            <a:endParaRPr sz="1300"/>
          </a:p>
        </p:txBody>
      </p:sp>
      <p:sp>
        <p:nvSpPr>
          <p:cNvPr id="222" name="Google Shape;222;g38b6a83bb94_0_271"/>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300" u="none" cap="none" strike="noStrike">
                <a:solidFill>
                  <a:schemeClr val="dk1"/>
                </a:solidFill>
                <a:latin typeface="Poppins"/>
                <a:ea typeface="Poppins"/>
                <a:cs typeface="Poppins"/>
                <a:sym typeface="Poppins"/>
              </a:rPr>
              <a:t>Lỗi Kafka Crash &amp; Eureka 401</a:t>
            </a:r>
            <a:endParaRPr sz="1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pic>
        <p:nvPicPr>
          <p:cNvPr descr="image.png" id="227" name="Google Shape;227;g38b6a83bb94_0_28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228" name="Google Shape;228;g38b6a83bb94_0_284"/>
          <p:cNvPicPr preferRelativeResize="0"/>
          <p:nvPr/>
        </p:nvPicPr>
        <p:blipFill rotWithShape="1">
          <a:blip r:embed="rId4">
            <a:alphaModFix/>
          </a:blip>
          <a:srcRect b="0" l="0" r="0" t="0"/>
          <a:stretch/>
        </p:blipFill>
        <p:spPr>
          <a:xfrm>
            <a:off x="4750594" y="1500188"/>
            <a:ext cx="3964781" cy="2857500"/>
          </a:xfrm>
          <a:prstGeom prst="rect">
            <a:avLst/>
          </a:prstGeom>
          <a:noFill/>
          <a:ln>
            <a:noFill/>
          </a:ln>
        </p:spPr>
      </p:pic>
      <p:sp>
        <p:nvSpPr>
          <p:cNvPr id="229" name="Google Shape;229;g38b6a83bb94_0_284"/>
          <p:cNvSpPr txBox="1"/>
          <p:nvPr/>
        </p:nvSpPr>
        <p:spPr>
          <a:xfrm>
            <a:off x="428625" y="1082063"/>
            <a:ext cx="41631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F97316"/>
                </a:solidFill>
                <a:latin typeface="Poppins"/>
                <a:ea typeface="Poppins"/>
                <a:cs typeface="Poppins"/>
                <a:sym typeface="Poppins"/>
              </a:rPr>
              <a:t>Connection Refused (Cổng 6379)</a:t>
            </a:r>
            <a:endParaRPr sz="1500"/>
          </a:p>
        </p:txBody>
      </p:sp>
      <p:sp>
        <p:nvSpPr>
          <p:cNvPr id="230" name="Google Shape;230;g38b6a83bb94_0_284"/>
          <p:cNvSpPr txBox="1"/>
          <p:nvPr/>
        </p:nvSpPr>
        <p:spPr>
          <a:xfrm>
            <a:off x="428625" y="1423456"/>
            <a:ext cx="3964800" cy="1249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 u="none" cap="none" strike="noStrike">
                <a:solidFill>
                  <a:srgbClr val="334155"/>
                </a:solidFill>
                <a:latin typeface="Lato"/>
                <a:ea typeface="Lato"/>
                <a:cs typeface="Lato"/>
                <a:sym typeface="Lato"/>
              </a:rPr>
              <a:t>Vấn đề:</a:t>
            </a:r>
            <a:r>
              <a:rPr b="0" i="0" lang="en" u="none" cap="none" strike="noStrike">
                <a:solidFill>
                  <a:srgbClr val="334155"/>
                </a:solidFill>
                <a:latin typeface="Lato"/>
                <a:ea typeface="Lato"/>
                <a:cs typeface="Lato"/>
                <a:sym typeface="Lato"/>
              </a:rPr>
              <a:t> Nhầm lẫn Network Namespace. Từ khóa localhost chạy trên IDE trỏ đúng máy vật lý. Nhưng khi đưa lên Docker, localhost trỏ vào chính container của service, nơi không có Redis.</a:t>
            </a:r>
            <a:endParaRPr/>
          </a:p>
        </p:txBody>
      </p:sp>
      <p:sp>
        <p:nvSpPr>
          <p:cNvPr id="231" name="Google Shape;231;g38b6a83bb94_0_284"/>
          <p:cNvSpPr txBox="1"/>
          <p:nvPr/>
        </p:nvSpPr>
        <p:spPr>
          <a:xfrm>
            <a:off x="428625" y="2871788"/>
            <a:ext cx="3964800" cy="1249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 u="none" cap="none" strike="noStrike">
                <a:solidFill>
                  <a:srgbClr val="334155"/>
                </a:solidFill>
                <a:latin typeface="Lato"/>
                <a:ea typeface="Lato"/>
                <a:cs typeface="Lato"/>
                <a:sym typeface="Lato"/>
              </a:rPr>
              <a:t>Khắc phục:</a:t>
            </a:r>
            <a:r>
              <a:rPr b="0" i="0" lang="en" u="none" cap="none" strike="noStrike">
                <a:solidFill>
                  <a:srgbClr val="334155"/>
                </a:solidFill>
                <a:latin typeface="Lato"/>
                <a:ea typeface="Lato"/>
                <a:cs typeface="Lato"/>
                <a:sym typeface="Lato"/>
              </a:rPr>
              <a:t> KHÔNG hardcode địa chỉ host. Sử dụng </a:t>
            </a:r>
            <a:r>
              <a:rPr b="1" i="0" lang="en" u="none" cap="none" strike="noStrike">
                <a:solidFill>
                  <a:srgbClr val="0EA5E9"/>
                </a:solidFill>
                <a:latin typeface="Lato"/>
                <a:ea typeface="Lato"/>
                <a:cs typeface="Lato"/>
                <a:sym typeface="Lato"/>
              </a:rPr>
              <a:t>Environment Variables</a:t>
            </a:r>
            <a:r>
              <a:rPr b="0" i="0" lang="en" u="none" cap="none" strike="noStrike">
                <a:solidFill>
                  <a:srgbClr val="334155"/>
                </a:solidFill>
                <a:latin typeface="Lato"/>
                <a:ea typeface="Lato"/>
                <a:cs typeface="Lato"/>
                <a:sym typeface="Lato"/>
              </a:rPr>
              <a:t> (Biến môi trường) để tiêm địa chỉ (tên container Redis) vào lúc khởi chạy thông qua docker-compose.</a:t>
            </a:r>
            <a:endParaRPr/>
          </a:p>
        </p:txBody>
      </p:sp>
      <p:pic>
        <p:nvPicPr>
          <p:cNvPr descr="image.png" id="232" name="Google Shape;232;g38b6a83bb94_0_284"/>
          <p:cNvPicPr preferRelativeResize="0"/>
          <p:nvPr/>
        </p:nvPicPr>
        <p:blipFill rotWithShape="1">
          <a:blip r:embed="rId5">
            <a:alphaModFix/>
          </a:blip>
          <a:srcRect b="0" l="0" r="0" t="0"/>
          <a:stretch/>
        </p:blipFill>
        <p:spPr>
          <a:xfrm>
            <a:off x="4757738" y="1507331"/>
            <a:ext cx="3950494" cy="2843213"/>
          </a:xfrm>
          <a:prstGeom prst="rect">
            <a:avLst/>
          </a:prstGeom>
          <a:noFill/>
          <a:ln>
            <a:noFill/>
          </a:ln>
        </p:spPr>
      </p:pic>
      <p:sp>
        <p:nvSpPr>
          <p:cNvPr id="233" name="Google Shape;233;g38b6a83bb94_0_284"/>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300" u="none" cap="none" strike="noStrike">
                <a:solidFill>
                  <a:schemeClr val="dk1"/>
                </a:solidFill>
                <a:latin typeface="Poppins"/>
                <a:ea typeface="Poppins"/>
                <a:cs typeface="Poppins"/>
                <a:sym typeface="Poppins"/>
              </a:rPr>
              <a:t>Lỗi Kết Nối Redis</a:t>
            </a:r>
            <a:endParaRPr sz="11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pic>
        <p:nvPicPr>
          <p:cNvPr descr="image.png" id="238" name="Google Shape;238;g38b6a83bb94_0_369"/>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239" name="Google Shape;239;g38b6a83bb94_0_369"/>
          <p:cNvPicPr preferRelativeResize="0"/>
          <p:nvPr/>
        </p:nvPicPr>
        <p:blipFill rotWithShape="1">
          <a:blip r:embed="rId4">
            <a:alphaModFix/>
          </a:blip>
          <a:srcRect b="0" l="0" r="0" t="0"/>
          <a:stretch/>
        </p:blipFill>
        <p:spPr>
          <a:xfrm>
            <a:off x="428625" y="1256673"/>
            <a:ext cx="2571750" cy="2872400"/>
          </a:xfrm>
          <a:prstGeom prst="rect">
            <a:avLst/>
          </a:prstGeom>
          <a:noFill/>
          <a:ln>
            <a:noFill/>
          </a:ln>
        </p:spPr>
      </p:pic>
      <p:pic>
        <p:nvPicPr>
          <p:cNvPr descr="image.png" id="240" name="Google Shape;240;g38b6a83bb94_0_369"/>
          <p:cNvPicPr preferRelativeResize="0"/>
          <p:nvPr/>
        </p:nvPicPr>
        <p:blipFill rotWithShape="1">
          <a:blip r:embed="rId5">
            <a:alphaModFix/>
          </a:blip>
          <a:srcRect b="0" l="0" r="0" t="0"/>
          <a:stretch/>
        </p:blipFill>
        <p:spPr>
          <a:xfrm>
            <a:off x="3286125" y="1289877"/>
            <a:ext cx="2571750" cy="2839225"/>
          </a:xfrm>
          <a:prstGeom prst="rect">
            <a:avLst/>
          </a:prstGeom>
          <a:noFill/>
          <a:ln>
            <a:noFill/>
          </a:ln>
        </p:spPr>
      </p:pic>
      <p:pic>
        <p:nvPicPr>
          <p:cNvPr descr="image.png" id="241" name="Google Shape;241;g38b6a83bb94_0_369"/>
          <p:cNvPicPr preferRelativeResize="0"/>
          <p:nvPr/>
        </p:nvPicPr>
        <p:blipFill rotWithShape="1">
          <a:blip r:embed="rId6">
            <a:alphaModFix/>
          </a:blip>
          <a:srcRect b="0" l="0" r="0" t="0"/>
          <a:stretch/>
        </p:blipFill>
        <p:spPr>
          <a:xfrm>
            <a:off x="6143625" y="1256703"/>
            <a:ext cx="2571750" cy="2872400"/>
          </a:xfrm>
          <a:prstGeom prst="rect">
            <a:avLst/>
          </a:prstGeom>
          <a:noFill/>
          <a:ln>
            <a:noFill/>
          </a:ln>
        </p:spPr>
      </p:pic>
      <p:sp>
        <p:nvSpPr>
          <p:cNvPr id="242" name="Google Shape;242;g38b6a83bb94_0_369"/>
          <p:cNvSpPr txBox="1"/>
          <p:nvPr/>
        </p:nvSpPr>
        <p:spPr>
          <a:xfrm>
            <a:off x="596860" y="1929538"/>
            <a:ext cx="22353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0F172A"/>
                </a:solidFill>
                <a:latin typeface="Poppins"/>
                <a:ea typeface="Poppins"/>
                <a:cs typeface="Poppins"/>
                <a:sym typeface="Poppins"/>
              </a:rPr>
              <a:t>Postman Client</a:t>
            </a:r>
            <a:endParaRPr sz="1100"/>
          </a:p>
        </p:txBody>
      </p:sp>
      <p:sp>
        <p:nvSpPr>
          <p:cNvPr id="243" name="Google Shape;243;g38b6a83bb94_0_369"/>
          <p:cNvSpPr txBox="1"/>
          <p:nvPr/>
        </p:nvSpPr>
        <p:spPr>
          <a:xfrm>
            <a:off x="650081" y="2347550"/>
            <a:ext cx="2129100" cy="17085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Sử dụng Postman gửi HTTP Request đi qua API Gateway tới các service đích để kiểm tra tính toàn vẹn.</a:t>
            </a:r>
            <a:endParaRPr sz="1500"/>
          </a:p>
        </p:txBody>
      </p:sp>
      <p:sp>
        <p:nvSpPr>
          <p:cNvPr id="244" name="Google Shape;244;g38b6a83bb94_0_369"/>
          <p:cNvSpPr txBox="1"/>
          <p:nvPr/>
        </p:nvSpPr>
        <p:spPr>
          <a:xfrm>
            <a:off x="3454360" y="1929538"/>
            <a:ext cx="22353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0F172A"/>
                </a:solidFill>
                <a:latin typeface="Poppins"/>
                <a:ea typeface="Poppins"/>
                <a:cs typeface="Poppins"/>
                <a:sym typeface="Poppins"/>
              </a:rPr>
              <a:t>Product Service</a:t>
            </a:r>
            <a:endParaRPr sz="1100"/>
          </a:p>
        </p:txBody>
      </p:sp>
      <p:sp>
        <p:nvSpPr>
          <p:cNvPr id="245" name="Google Shape;245;g38b6a83bb94_0_369"/>
          <p:cNvSpPr txBox="1"/>
          <p:nvPr/>
        </p:nvSpPr>
        <p:spPr>
          <a:xfrm>
            <a:off x="3507581" y="2347550"/>
            <a:ext cx="2129100" cy="17085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Gọi POST /api/product chứa JSON. Hệ thống trả về 201 Created và lưu chính xác dữ liệu vào MongoDB.</a:t>
            </a:r>
            <a:endParaRPr sz="1500"/>
          </a:p>
        </p:txBody>
      </p:sp>
      <p:sp>
        <p:nvSpPr>
          <p:cNvPr id="246" name="Google Shape;246;g38b6a83bb94_0_369"/>
          <p:cNvSpPr txBox="1"/>
          <p:nvPr/>
        </p:nvSpPr>
        <p:spPr>
          <a:xfrm>
            <a:off x="6311860" y="1929538"/>
            <a:ext cx="22353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0F172A"/>
                </a:solidFill>
                <a:latin typeface="Poppins"/>
                <a:ea typeface="Poppins"/>
                <a:cs typeface="Poppins"/>
                <a:sym typeface="Poppins"/>
              </a:rPr>
              <a:t>Order Service</a:t>
            </a:r>
            <a:endParaRPr sz="1100"/>
          </a:p>
        </p:txBody>
      </p:sp>
      <p:sp>
        <p:nvSpPr>
          <p:cNvPr id="247" name="Google Shape;247;g38b6a83bb94_0_369"/>
          <p:cNvSpPr txBox="1"/>
          <p:nvPr/>
        </p:nvSpPr>
        <p:spPr>
          <a:xfrm>
            <a:off x="6365081" y="2347550"/>
            <a:ext cx="2129100" cy="17085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Gửi request đặt hàng với danh sách SKU. Hệ thống ghi nhận vào PostgreSQL, trả 201 Order Placed Successfully.</a:t>
            </a:r>
            <a:endParaRPr sz="1500"/>
          </a:p>
        </p:txBody>
      </p:sp>
      <p:pic>
        <p:nvPicPr>
          <p:cNvPr descr="image.png" id="248" name="Google Shape;248;g38b6a83bb94_0_369"/>
          <p:cNvPicPr preferRelativeResize="0"/>
          <p:nvPr/>
        </p:nvPicPr>
        <p:blipFill rotWithShape="1">
          <a:blip r:embed="rId7">
            <a:alphaModFix/>
          </a:blip>
          <a:srcRect b="0" l="0" r="0" t="0"/>
          <a:stretch/>
        </p:blipFill>
        <p:spPr>
          <a:xfrm>
            <a:off x="1564481" y="1470013"/>
            <a:ext cx="300037" cy="342900"/>
          </a:xfrm>
          <a:prstGeom prst="rect">
            <a:avLst/>
          </a:prstGeom>
          <a:noFill/>
          <a:ln>
            <a:noFill/>
          </a:ln>
        </p:spPr>
      </p:pic>
      <p:pic>
        <p:nvPicPr>
          <p:cNvPr descr="image.png" id="249" name="Google Shape;249;g38b6a83bb94_0_369"/>
          <p:cNvPicPr preferRelativeResize="0"/>
          <p:nvPr/>
        </p:nvPicPr>
        <p:blipFill rotWithShape="1">
          <a:blip r:embed="rId8">
            <a:alphaModFix/>
          </a:blip>
          <a:srcRect b="0" l="0" r="0" t="0"/>
          <a:stretch/>
        </p:blipFill>
        <p:spPr>
          <a:xfrm>
            <a:off x="4357688" y="1470013"/>
            <a:ext cx="428625" cy="342900"/>
          </a:xfrm>
          <a:prstGeom prst="rect">
            <a:avLst/>
          </a:prstGeom>
          <a:noFill/>
          <a:ln>
            <a:noFill/>
          </a:ln>
        </p:spPr>
      </p:pic>
      <p:pic>
        <p:nvPicPr>
          <p:cNvPr descr="image.png" id="250" name="Google Shape;250;g38b6a83bb94_0_369"/>
          <p:cNvPicPr preferRelativeResize="0"/>
          <p:nvPr/>
        </p:nvPicPr>
        <p:blipFill rotWithShape="1">
          <a:blip r:embed="rId9">
            <a:alphaModFix/>
          </a:blip>
          <a:srcRect b="0" l="0" r="0" t="0"/>
          <a:stretch/>
        </p:blipFill>
        <p:spPr>
          <a:xfrm>
            <a:off x="7236619" y="1470013"/>
            <a:ext cx="385762" cy="342900"/>
          </a:xfrm>
          <a:prstGeom prst="rect">
            <a:avLst/>
          </a:prstGeom>
          <a:noFill/>
          <a:ln>
            <a:noFill/>
          </a:ln>
        </p:spPr>
      </p:pic>
      <p:sp>
        <p:nvSpPr>
          <p:cNvPr id="251" name="Google Shape;251;g38b6a83bb94_0_369"/>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300" u="none" cap="none" strike="noStrike">
                <a:solidFill>
                  <a:schemeClr val="dk1"/>
                </a:solidFill>
                <a:latin typeface="Poppins"/>
                <a:ea typeface="Poppins"/>
                <a:cs typeface="Poppins"/>
                <a:sym typeface="Poppins"/>
              </a:rPr>
              <a:t>Kiểm Thử Chức Năng API</a:t>
            </a:r>
            <a:endParaRPr sz="11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pic>
        <p:nvPicPr>
          <p:cNvPr descr="image.png" id="256" name="Google Shape;256;g38b6a83bb94_0_38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57" name="Google Shape;257;g38b6a83bb94_0_386"/>
          <p:cNvSpPr/>
          <p:nvPr/>
        </p:nvSpPr>
        <p:spPr>
          <a:xfrm>
            <a:off x="842963" y="2914650"/>
            <a:ext cx="7458000" cy="28500"/>
          </a:xfrm>
          <a:prstGeom prst="rect">
            <a:avLst/>
          </a:prstGeom>
          <a:solidFill>
            <a:srgbClr val="CBD5E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8" name="Google Shape;258;g38b6a83bb94_0_386"/>
          <p:cNvSpPr txBox="1"/>
          <p:nvPr/>
        </p:nvSpPr>
        <p:spPr>
          <a:xfrm>
            <a:off x="391335" y="3286125"/>
            <a:ext cx="1566300" cy="2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300" u="none" cap="none" strike="noStrike">
                <a:solidFill>
                  <a:srgbClr val="0F172A"/>
                </a:solidFill>
                <a:latin typeface="Poppins"/>
                <a:ea typeface="Poppins"/>
                <a:cs typeface="Poppins"/>
                <a:sym typeface="Poppins"/>
              </a:rPr>
              <a:t>1. React FE</a:t>
            </a:r>
            <a:endParaRPr sz="1300"/>
          </a:p>
        </p:txBody>
      </p:sp>
      <p:sp>
        <p:nvSpPr>
          <p:cNvPr id="259" name="Google Shape;259;g38b6a83bb94_0_386"/>
          <p:cNvSpPr txBox="1"/>
          <p:nvPr/>
        </p:nvSpPr>
        <p:spPr>
          <a:xfrm>
            <a:off x="428625" y="3557588"/>
            <a:ext cx="1491600" cy="11199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 u="none" cap="none" strike="noStrike">
                <a:solidFill>
                  <a:srgbClr val="334155"/>
                </a:solidFill>
                <a:latin typeface="Lato"/>
                <a:ea typeface="Lato"/>
                <a:cs typeface="Lato"/>
                <a:sym typeface="Lato"/>
              </a:rPr>
              <a:t>Người dùng nhấn "Đặt hàng", trình duyệt gửi request tới Gateway.</a:t>
            </a:r>
            <a:endParaRPr/>
          </a:p>
        </p:txBody>
      </p:sp>
      <p:sp>
        <p:nvSpPr>
          <p:cNvPr id="260" name="Google Shape;260;g38b6a83bb94_0_386"/>
          <p:cNvSpPr txBox="1"/>
          <p:nvPr/>
        </p:nvSpPr>
        <p:spPr>
          <a:xfrm>
            <a:off x="2090096" y="1393784"/>
            <a:ext cx="1566300" cy="2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300" u="none" cap="none" strike="noStrike">
                <a:solidFill>
                  <a:srgbClr val="0F172A"/>
                </a:solidFill>
                <a:latin typeface="Poppins"/>
                <a:ea typeface="Poppins"/>
                <a:cs typeface="Poppins"/>
                <a:sym typeface="Poppins"/>
              </a:rPr>
              <a:t>2. API Gateway</a:t>
            </a:r>
            <a:endParaRPr sz="1300"/>
          </a:p>
        </p:txBody>
      </p:sp>
      <p:sp>
        <p:nvSpPr>
          <p:cNvPr id="261" name="Google Shape;261;g38b6a83bb94_0_386"/>
          <p:cNvSpPr txBox="1"/>
          <p:nvPr/>
        </p:nvSpPr>
        <p:spPr>
          <a:xfrm>
            <a:off x="1957497" y="1665250"/>
            <a:ext cx="1831200" cy="8184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 u="none" cap="none" strike="noStrike">
                <a:solidFill>
                  <a:srgbClr val="334155"/>
                </a:solidFill>
                <a:latin typeface="Lato"/>
                <a:ea typeface="Lato"/>
                <a:cs typeface="Lato"/>
                <a:sym typeface="Lato"/>
              </a:rPr>
              <a:t>Xác thực JWT Token và định tuyến tới Order Service qua Eureka.</a:t>
            </a:r>
            <a:endParaRPr/>
          </a:p>
        </p:txBody>
      </p:sp>
      <p:sp>
        <p:nvSpPr>
          <p:cNvPr id="262" name="Google Shape;262;g38b6a83bb94_0_386"/>
          <p:cNvSpPr txBox="1"/>
          <p:nvPr/>
        </p:nvSpPr>
        <p:spPr>
          <a:xfrm>
            <a:off x="3788858" y="3286125"/>
            <a:ext cx="1566300" cy="2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300" u="none" cap="none" strike="noStrike">
                <a:solidFill>
                  <a:srgbClr val="0F172A"/>
                </a:solidFill>
                <a:latin typeface="Poppins"/>
                <a:ea typeface="Poppins"/>
                <a:cs typeface="Poppins"/>
                <a:sym typeface="Poppins"/>
              </a:rPr>
              <a:t>3. Order Service</a:t>
            </a:r>
            <a:endParaRPr sz="1300"/>
          </a:p>
        </p:txBody>
      </p:sp>
      <p:sp>
        <p:nvSpPr>
          <p:cNvPr id="263" name="Google Shape;263;g38b6a83bb94_0_386"/>
          <p:cNvSpPr txBox="1"/>
          <p:nvPr/>
        </p:nvSpPr>
        <p:spPr>
          <a:xfrm>
            <a:off x="3607726" y="3557600"/>
            <a:ext cx="1928400" cy="11199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 u="none" cap="none" strike="noStrike">
                <a:solidFill>
                  <a:srgbClr val="334155"/>
                </a:solidFill>
                <a:latin typeface="Lato"/>
                <a:ea typeface="Lato"/>
                <a:cs typeface="Lato"/>
                <a:sym typeface="Lato"/>
              </a:rPr>
              <a:t>Xử lý ĐỒNG BỘ: Validate và lưu đơn hàng vào DB PostgreSQL, phản hồi User.</a:t>
            </a:r>
            <a:endParaRPr/>
          </a:p>
        </p:txBody>
      </p:sp>
      <p:sp>
        <p:nvSpPr>
          <p:cNvPr id="264" name="Google Shape;264;g38b6a83bb94_0_386"/>
          <p:cNvSpPr txBox="1"/>
          <p:nvPr/>
        </p:nvSpPr>
        <p:spPr>
          <a:xfrm>
            <a:off x="5487619" y="1393784"/>
            <a:ext cx="1566300" cy="2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300" u="none" cap="none" strike="noStrike">
                <a:solidFill>
                  <a:srgbClr val="0F172A"/>
                </a:solidFill>
                <a:latin typeface="Poppins"/>
                <a:ea typeface="Poppins"/>
                <a:cs typeface="Poppins"/>
                <a:sym typeface="Poppins"/>
              </a:rPr>
              <a:t>4. Kafka Broker</a:t>
            </a:r>
            <a:endParaRPr sz="1300"/>
          </a:p>
        </p:txBody>
      </p:sp>
      <p:sp>
        <p:nvSpPr>
          <p:cNvPr id="265" name="Google Shape;265;g38b6a83bb94_0_386"/>
          <p:cNvSpPr txBox="1"/>
          <p:nvPr/>
        </p:nvSpPr>
        <p:spPr>
          <a:xfrm>
            <a:off x="5270701" y="1665250"/>
            <a:ext cx="2000100" cy="8184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 u="none" cap="none" strike="noStrike">
                <a:solidFill>
                  <a:srgbClr val="334155"/>
                </a:solidFill>
                <a:latin typeface="Lato"/>
                <a:ea typeface="Lato"/>
                <a:cs typeface="Lato"/>
                <a:sym typeface="Lato"/>
              </a:rPr>
              <a:t>Xử lý BẤT ĐỒNG BỘ: Order phát sinh Event đẩy vào notificationTopic.</a:t>
            </a:r>
            <a:endParaRPr/>
          </a:p>
        </p:txBody>
      </p:sp>
      <p:sp>
        <p:nvSpPr>
          <p:cNvPr id="266" name="Google Shape;266;g38b6a83bb94_0_386"/>
          <p:cNvSpPr txBox="1"/>
          <p:nvPr/>
        </p:nvSpPr>
        <p:spPr>
          <a:xfrm>
            <a:off x="7186381" y="3286125"/>
            <a:ext cx="1566300" cy="2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300" u="none" cap="none" strike="noStrike">
                <a:solidFill>
                  <a:srgbClr val="0F172A"/>
                </a:solidFill>
                <a:latin typeface="Poppins"/>
                <a:ea typeface="Poppins"/>
                <a:cs typeface="Poppins"/>
                <a:sym typeface="Poppins"/>
              </a:rPr>
              <a:t>5. Notification</a:t>
            </a:r>
            <a:endParaRPr sz="1300"/>
          </a:p>
        </p:txBody>
      </p:sp>
      <p:sp>
        <p:nvSpPr>
          <p:cNvPr id="267" name="Google Shape;267;g38b6a83bb94_0_386"/>
          <p:cNvSpPr txBox="1"/>
          <p:nvPr/>
        </p:nvSpPr>
        <p:spPr>
          <a:xfrm>
            <a:off x="7223670" y="3557588"/>
            <a:ext cx="1491600" cy="11199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 u="none" cap="none" strike="noStrike">
                <a:solidFill>
                  <a:srgbClr val="334155"/>
                </a:solidFill>
                <a:latin typeface="Lato"/>
                <a:ea typeface="Lato"/>
                <a:cs typeface="Lato"/>
                <a:sym typeface="Lato"/>
              </a:rPr>
              <a:t>Lắng nghe Event và gửi Email xác nhận mà không chặn luồng chính.</a:t>
            </a:r>
            <a:endParaRPr/>
          </a:p>
        </p:txBody>
      </p:sp>
      <p:sp>
        <p:nvSpPr>
          <p:cNvPr id="268" name="Google Shape;268;g38b6a83bb94_0_386"/>
          <p:cNvSpPr/>
          <p:nvPr/>
        </p:nvSpPr>
        <p:spPr>
          <a:xfrm>
            <a:off x="1088696" y="2986088"/>
            <a:ext cx="171600" cy="171600"/>
          </a:xfrm>
          <a:prstGeom prst="roundRect">
            <a:avLst>
              <a:gd fmla="val 50000" name="adj"/>
            </a:avLst>
          </a:prstGeom>
          <a:solidFill>
            <a:srgbClr val="FFFFFF"/>
          </a:solidFill>
          <a:ln cap="flat" cmpd="sng" w="28575">
            <a:solidFill>
              <a:srgbClr val="0EA5E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9" name="Google Shape;269;g38b6a83bb94_0_386"/>
          <p:cNvSpPr/>
          <p:nvPr/>
        </p:nvSpPr>
        <p:spPr>
          <a:xfrm>
            <a:off x="2787458" y="2700088"/>
            <a:ext cx="171600" cy="171600"/>
          </a:xfrm>
          <a:prstGeom prst="roundRect">
            <a:avLst>
              <a:gd fmla="val 50000" name="adj"/>
            </a:avLst>
          </a:prstGeom>
          <a:solidFill>
            <a:srgbClr val="FFFFFF"/>
          </a:solidFill>
          <a:ln cap="flat" cmpd="sng" w="28575">
            <a:solidFill>
              <a:srgbClr val="0EA5E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0" name="Google Shape;270;g38b6a83bb94_0_386"/>
          <p:cNvSpPr/>
          <p:nvPr/>
        </p:nvSpPr>
        <p:spPr>
          <a:xfrm>
            <a:off x="4486219" y="2986088"/>
            <a:ext cx="171600" cy="171600"/>
          </a:xfrm>
          <a:prstGeom prst="roundRect">
            <a:avLst>
              <a:gd fmla="val 50000" name="adj"/>
            </a:avLst>
          </a:prstGeom>
          <a:solidFill>
            <a:srgbClr val="FFFFFF"/>
          </a:solidFill>
          <a:ln cap="flat" cmpd="sng" w="28575">
            <a:solidFill>
              <a:srgbClr val="0EA5E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1" name="Google Shape;271;g38b6a83bb94_0_386"/>
          <p:cNvSpPr/>
          <p:nvPr/>
        </p:nvSpPr>
        <p:spPr>
          <a:xfrm>
            <a:off x="6184980" y="2700088"/>
            <a:ext cx="171600" cy="171600"/>
          </a:xfrm>
          <a:prstGeom prst="roundRect">
            <a:avLst>
              <a:gd fmla="val 50000" name="adj"/>
            </a:avLst>
          </a:prstGeom>
          <a:solidFill>
            <a:srgbClr val="FFFFFF"/>
          </a:solidFill>
          <a:ln cap="flat" cmpd="sng" w="28575">
            <a:solidFill>
              <a:srgbClr val="0EA5E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2" name="Google Shape;272;g38b6a83bb94_0_386"/>
          <p:cNvSpPr/>
          <p:nvPr/>
        </p:nvSpPr>
        <p:spPr>
          <a:xfrm>
            <a:off x="7883742" y="2986088"/>
            <a:ext cx="171600" cy="171600"/>
          </a:xfrm>
          <a:prstGeom prst="roundRect">
            <a:avLst>
              <a:gd fmla="val 50000" name="adj"/>
            </a:avLst>
          </a:prstGeom>
          <a:solidFill>
            <a:srgbClr val="FFFFFF"/>
          </a:solidFill>
          <a:ln cap="flat" cmpd="sng" w="28575">
            <a:solidFill>
              <a:srgbClr val="0EA5E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3" name="Google Shape;273;g38b6a83bb94_0_386"/>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300" u="none" cap="none" strike="noStrike">
                <a:solidFill>
                  <a:schemeClr val="dk1"/>
                </a:solidFill>
                <a:latin typeface="Poppins"/>
                <a:ea typeface="Poppins"/>
                <a:cs typeface="Poppins"/>
                <a:sym typeface="Poppins"/>
              </a:rPr>
              <a:t>Luồng Dữ Liệu End-to-End (Event-Driven)</a:t>
            </a:r>
            <a:endParaRPr sz="11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pic>
        <p:nvPicPr>
          <p:cNvPr descr="image.png" id="278" name="Google Shape;278;g38b6a83bb94_0_407"/>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279" name="Google Shape;279;g38b6a83bb94_0_407"/>
          <p:cNvPicPr preferRelativeResize="0"/>
          <p:nvPr/>
        </p:nvPicPr>
        <p:blipFill rotWithShape="1">
          <a:blip r:embed="rId4">
            <a:alphaModFix/>
          </a:blip>
          <a:srcRect b="0" l="0" r="0" t="0"/>
          <a:stretch/>
        </p:blipFill>
        <p:spPr>
          <a:xfrm>
            <a:off x="428625" y="1143850"/>
            <a:ext cx="3964781" cy="3451125"/>
          </a:xfrm>
          <a:prstGeom prst="rect">
            <a:avLst/>
          </a:prstGeom>
          <a:noFill/>
          <a:ln>
            <a:noFill/>
          </a:ln>
        </p:spPr>
      </p:pic>
      <p:pic>
        <p:nvPicPr>
          <p:cNvPr descr="image.png" id="280" name="Google Shape;280;g38b6a83bb94_0_407"/>
          <p:cNvPicPr preferRelativeResize="0"/>
          <p:nvPr/>
        </p:nvPicPr>
        <p:blipFill rotWithShape="1">
          <a:blip r:embed="rId5">
            <a:alphaModFix/>
          </a:blip>
          <a:srcRect b="0" l="0" r="0" t="0"/>
          <a:stretch/>
        </p:blipFill>
        <p:spPr>
          <a:xfrm>
            <a:off x="4750594" y="1143850"/>
            <a:ext cx="3964781" cy="3451125"/>
          </a:xfrm>
          <a:prstGeom prst="rect">
            <a:avLst/>
          </a:prstGeom>
          <a:noFill/>
          <a:ln>
            <a:noFill/>
          </a:ln>
        </p:spPr>
      </p:pic>
      <p:sp>
        <p:nvSpPr>
          <p:cNvPr id="281" name="Google Shape;281;g38b6a83bb94_0_407"/>
          <p:cNvSpPr txBox="1"/>
          <p:nvPr/>
        </p:nvSpPr>
        <p:spPr>
          <a:xfrm>
            <a:off x="721519" y="1356297"/>
            <a:ext cx="3548100" cy="231000"/>
          </a:xfrm>
          <a:prstGeom prst="rect">
            <a:avLst/>
          </a:prstGeom>
          <a:noFill/>
          <a:ln>
            <a:noFill/>
          </a:ln>
        </p:spPr>
        <p:txBody>
          <a:bodyPr anchorCtr="0" anchor="t" bIns="0" lIns="257175" spcFirstLastPara="1" rIns="0" wrap="square" tIns="0">
            <a:spAutoFit/>
          </a:bodyPr>
          <a:lstStyle/>
          <a:p>
            <a:pPr indent="0" lvl="0" marL="0" marR="0" rtl="0" algn="l">
              <a:spcBef>
                <a:spcPts val="0"/>
              </a:spcBef>
              <a:spcAft>
                <a:spcPts val="0"/>
              </a:spcAft>
              <a:buNone/>
            </a:pPr>
            <a:r>
              <a:rPr b="1" i="0" lang="en" sz="1500" u="none" cap="none" strike="noStrike">
                <a:solidFill>
                  <a:srgbClr val="0EA5E9"/>
                </a:solidFill>
                <a:latin typeface="Poppins"/>
                <a:ea typeface="Poppins"/>
                <a:cs typeface="Poppins"/>
                <a:sym typeface="Poppins"/>
              </a:rPr>
              <a:t>Ưu Điểm Nổi Bật</a:t>
            </a:r>
            <a:endParaRPr sz="1100"/>
          </a:p>
        </p:txBody>
      </p:sp>
      <p:sp>
        <p:nvSpPr>
          <p:cNvPr id="282" name="Google Shape;282;g38b6a83bb94_0_407"/>
          <p:cNvSpPr txBox="1"/>
          <p:nvPr/>
        </p:nvSpPr>
        <p:spPr>
          <a:xfrm>
            <a:off x="5043488" y="1356297"/>
            <a:ext cx="3548100" cy="231000"/>
          </a:xfrm>
          <a:prstGeom prst="rect">
            <a:avLst/>
          </a:prstGeom>
          <a:noFill/>
          <a:ln>
            <a:noFill/>
          </a:ln>
        </p:spPr>
        <p:txBody>
          <a:bodyPr anchorCtr="0" anchor="t" bIns="0" lIns="257175" spcFirstLastPara="1" rIns="0" wrap="square" tIns="0">
            <a:spAutoFit/>
          </a:bodyPr>
          <a:lstStyle/>
          <a:p>
            <a:pPr indent="0" lvl="0" marL="0" marR="0" rtl="0" algn="l">
              <a:spcBef>
                <a:spcPts val="0"/>
              </a:spcBef>
              <a:spcAft>
                <a:spcPts val="0"/>
              </a:spcAft>
              <a:buNone/>
            </a:pPr>
            <a:r>
              <a:rPr b="1" i="0" lang="en" sz="1500" u="none" cap="none" strike="noStrike">
                <a:solidFill>
                  <a:srgbClr val="F97316"/>
                </a:solidFill>
                <a:latin typeface="Poppins"/>
                <a:ea typeface="Poppins"/>
                <a:cs typeface="Poppins"/>
                <a:sym typeface="Poppins"/>
              </a:rPr>
              <a:t>Rào Cản Hiện Tại</a:t>
            </a:r>
            <a:endParaRPr sz="1100"/>
          </a:p>
        </p:txBody>
      </p:sp>
      <p:pic>
        <p:nvPicPr>
          <p:cNvPr descr="image.png" id="283" name="Google Shape;283;g38b6a83bb94_0_407"/>
          <p:cNvPicPr preferRelativeResize="0"/>
          <p:nvPr/>
        </p:nvPicPr>
        <p:blipFill rotWithShape="1">
          <a:blip r:embed="rId6">
            <a:alphaModFix/>
          </a:blip>
          <a:srcRect b="0" l="0" r="0" t="0"/>
          <a:stretch/>
        </p:blipFill>
        <p:spPr>
          <a:xfrm>
            <a:off x="721519" y="1399159"/>
            <a:ext cx="185738" cy="185738"/>
          </a:xfrm>
          <a:prstGeom prst="rect">
            <a:avLst/>
          </a:prstGeom>
          <a:noFill/>
          <a:ln>
            <a:noFill/>
          </a:ln>
        </p:spPr>
      </p:pic>
      <p:sp>
        <p:nvSpPr>
          <p:cNvPr id="284" name="Google Shape;284;g38b6a83bb94_0_407"/>
          <p:cNvSpPr txBox="1"/>
          <p:nvPr/>
        </p:nvSpPr>
        <p:spPr>
          <a:xfrm>
            <a:off x="814388" y="1782684"/>
            <a:ext cx="858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rgbClr val="334155"/>
                </a:solidFill>
                <a:latin typeface="Lato"/>
                <a:ea typeface="Lato"/>
                <a:cs typeface="Lato"/>
                <a:sym typeface="Lato"/>
              </a:rPr>
              <a:t>•</a:t>
            </a:r>
            <a:endParaRPr sz="1300"/>
          </a:p>
        </p:txBody>
      </p:sp>
      <p:sp>
        <p:nvSpPr>
          <p:cNvPr id="285" name="Google Shape;285;g38b6a83bb94_0_407"/>
          <p:cNvSpPr txBox="1"/>
          <p:nvPr/>
        </p:nvSpPr>
        <p:spPr>
          <a:xfrm>
            <a:off x="900113" y="1782684"/>
            <a:ext cx="3200400" cy="8403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None/>
            </a:pPr>
            <a:r>
              <a:rPr b="1" i="0" lang="en" sz="1300" u="none" cap="none" strike="noStrike">
                <a:solidFill>
                  <a:srgbClr val="334155"/>
                </a:solidFill>
                <a:latin typeface="Lato"/>
                <a:ea typeface="Lato"/>
                <a:cs typeface="Lato"/>
                <a:sym typeface="Lato"/>
              </a:rPr>
              <a:t>Trải nghiệm mượt mà:</a:t>
            </a:r>
            <a:r>
              <a:rPr b="0" i="0" lang="en" sz="1300" u="none" cap="none" strike="noStrike">
                <a:solidFill>
                  <a:srgbClr val="334155"/>
                </a:solidFill>
                <a:latin typeface="Lato"/>
                <a:ea typeface="Lato"/>
                <a:cs typeface="Lato"/>
                <a:sym typeface="Lato"/>
              </a:rPr>
              <a:t> Kiến trúc Event-Driven (Kafka) giảm thời gian API phản hồi vì không phải đợi dịch vụ tiện ích.</a:t>
            </a:r>
            <a:endParaRPr sz="1300"/>
          </a:p>
        </p:txBody>
      </p:sp>
      <p:sp>
        <p:nvSpPr>
          <p:cNvPr id="286" name="Google Shape;286;g38b6a83bb94_0_407"/>
          <p:cNvSpPr txBox="1"/>
          <p:nvPr/>
        </p:nvSpPr>
        <p:spPr>
          <a:xfrm>
            <a:off x="814388" y="2768090"/>
            <a:ext cx="858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rgbClr val="334155"/>
                </a:solidFill>
                <a:latin typeface="Lato"/>
                <a:ea typeface="Lato"/>
                <a:cs typeface="Lato"/>
                <a:sym typeface="Lato"/>
              </a:rPr>
              <a:t>•</a:t>
            </a:r>
            <a:endParaRPr sz="1300"/>
          </a:p>
        </p:txBody>
      </p:sp>
      <p:sp>
        <p:nvSpPr>
          <p:cNvPr id="287" name="Google Shape;287;g38b6a83bb94_0_407"/>
          <p:cNvSpPr txBox="1"/>
          <p:nvPr/>
        </p:nvSpPr>
        <p:spPr>
          <a:xfrm>
            <a:off x="900113" y="2768090"/>
            <a:ext cx="3200400" cy="8403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None/>
            </a:pPr>
            <a:r>
              <a:rPr b="1" i="0" lang="en" sz="1300" u="none" cap="none" strike="noStrike">
                <a:solidFill>
                  <a:srgbClr val="334155"/>
                </a:solidFill>
                <a:latin typeface="Lato"/>
                <a:ea typeface="Lato"/>
                <a:cs typeface="Lato"/>
                <a:sym typeface="Lato"/>
              </a:rPr>
              <a:t>Chịu tải linh hoạt:</a:t>
            </a:r>
            <a:r>
              <a:rPr b="0" i="0" lang="en" sz="1300" u="none" cap="none" strike="noStrike">
                <a:solidFill>
                  <a:srgbClr val="334155"/>
                </a:solidFill>
                <a:latin typeface="Lato"/>
                <a:ea typeface="Lato"/>
                <a:cs typeface="Lato"/>
                <a:sym typeface="Lato"/>
              </a:rPr>
              <a:t> Scale độc lập từng service (VD: chỉ nhân bản Product-service khi lượt xem tăng).</a:t>
            </a:r>
            <a:endParaRPr sz="1300"/>
          </a:p>
        </p:txBody>
      </p:sp>
      <p:sp>
        <p:nvSpPr>
          <p:cNvPr id="288" name="Google Shape;288;g38b6a83bb94_0_407"/>
          <p:cNvSpPr txBox="1"/>
          <p:nvPr/>
        </p:nvSpPr>
        <p:spPr>
          <a:xfrm>
            <a:off x="814388" y="3717396"/>
            <a:ext cx="858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rgbClr val="334155"/>
                </a:solidFill>
                <a:latin typeface="Lato"/>
                <a:ea typeface="Lato"/>
                <a:cs typeface="Lato"/>
                <a:sym typeface="Lato"/>
              </a:rPr>
              <a:t>•</a:t>
            </a:r>
            <a:endParaRPr sz="1300"/>
          </a:p>
        </p:txBody>
      </p:sp>
      <p:sp>
        <p:nvSpPr>
          <p:cNvPr id="289" name="Google Shape;289;g38b6a83bb94_0_407"/>
          <p:cNvSpPr txBox="1"/>
          <p:nvPr/>
        </p:nvSpPr>
        <p:spPr>
          <a:xfrm>
            <a:off x="900113" y="3717396"/>
            <a:ext cx="3200400" cy="5202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None/>
            </a:pPr>
            <a:r>
              <a:rPr b="1" i="0" lang="en" sz="1300" u="none" cap="none" strike="noStrike">
                <a:solidFill>
                  <a:srgbClr val="334155"/>
                </a:solidFill>
                <a:latin typeface="Lato"/>
                <a:ea typeface="Lato"/>
                <a:cs typeface="Lato"/>
                <a:sym typeface="Lato"/>
              </a:rPr>
              <a:t>Truy xuất nhanh:</a:t>
            </a:r>
            <a:r>
              <a:rPr b="0" i="0" lang="en" sz="1300" u="none" cap="none" strike="noStrike">
                <a:solidFill>
                  <a:srgbClr val="334155"/>
                </a:solidFill>
                <a:latin typeface="Lato"/>
                <a:ea typeface="Lato"/>
                <a:cs typeface="Lato"/>
                <a:sym typeface="Lato"/>
              </a:rPr>
              <a:t> Bộ đệm Redis giải quyết điểm nghẽn cổ chai dữ liệu.</a:t>
            </a:r>
            <a:endParaRPr sz="1300"/>
          </a:p>
        </p:txBody>
      </p:sp>
      <p:pic>
        <p:nvPicPr>
          <p:cNvPr descr="image.png" id="290" name="Google Shape;290;g38b6a83bb94_0_407"/>
          <p:cNvPicPr preferRelativeResize="0"/>
          <p:nvPr/>
        </p:nvPicPr>
        <p:blipFill rotWithShape="1">
          <a:blip r:embed="rId7">
            <a:alphaModFix/>
          </a:blip>
          <a:srcRect b="0" l="0" r="0" t="0"/>
          <a:stretch/>
        </p:blipFill>
        <p:spPr>
          <a:xfrm>
            <a:off x="5043488" y="1399159"/>
            <a:ext cx="185738" cy="185738"/>
          </a:xfrm>
          <a:prstGeom prst="rect">
            <a:avLst/>
          </a:prstGeom>
          <a:noFill/>
          <a:ln>
            <a:noFill/>
          </a:ln>
        </p:spPr>
      </p:pic>
      <p:sp>
        <p:nvSpPr>
          <p:cNvPr id="291" name="Google Shape;291;g38b6a83bb94_0_407"/>
          <p:cNvSpPr txBox="1"/>
          <p:nvPr/>
        </p:nvSpPr>
        <p:spPr>
          <a:xfrm>
            <a:off x="5136356" y="1782684"/>
            <a:ext cx="858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rgbClr val="334155"/>
                </a:solidFill>
                <a:latin typeface="Lato"/>
                <a:ea typeface="Lato"/>
                <a:cs typeface="Lato"/>
                <a:sym typeface="Lato"/>
              </a:rPr>
              <a:t>•</a:t>
            </a:r>
            <a:endParaRPr sz="1300"/>
          </a:p>
        </p:txBody>
      </p:sp>
      <p:sp>
        <p:nvSpPr>
          <p:cNvPr id="292" name="Google Shape;292;g38b6a83bb94_0_407"/>
          <p:cNvSpPr txBox="1"/>
          <p:nvPr/>
        </p:nvSpPr>
        <p:spPr>
          <a:xfrm>
            <a:off x="5222081" y="1782684"/>
            <a:ext cx="3200400" cy="8403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None/>
            </a:pPr>
            <a:r>
              <a:rPr b="1" i="0" lang="en" sz="1300" u="none" cap="none" strike="noStrike">
                <a:solidFill>
                  <a:srgbClr val="334155"/>
                </a:solidFill>
                <a:latin typeface="Lato"/>
                <a:ea typeface="Lato"/>
                <a:cs typeface="Lato"/>
                <a:sym typeface="Lato"/>
              </a:rPr>
              <a:t>Giao dịch phân tán:</a:t>
            </a:r>
            <a:r>
              <a:rPr b="0" i="0" lang="en" sz="1300" u="none" cap="none" strike="noStrike">
                <a:solidFill>
                  <a:srgbClr val="334155"/>
                </a:solidFill>
                <a:latin typeface="Lato"/>
                <a:ea typeface="Lato"/>
                <a:cs typeface="Lato"/>
                <a:sym typeface="Lato"/>
              </a:rPr>
              <a:t> Thiếu cơ chế Rollback/Saga Pattern khi một phần giao dịch thất bại.</a:t>
            </a:r>
            <a:endParaRPr sz="1300"/>
          </a:p>
        </p:txBody>
      </p:sp>
      <p:sp>
        <p:nvSpPr>
          <p:cNvPr id="293" name="Google Shape;293;g38b6a83bb94_0_407"/>
          <p:cNvSpPr txBox="1"/>
          <p:nvPr/>
        </p:nvSpPr>
        <p:spPr>
          <a:xfrm>
            <a:off x="5136356" y="2696228"/>
            <a:ext cx="858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rgbClr val="334155"/>
                </a:solidFill>
                <a:latin typeface="Lato"/>
                <a:ea typeface="Lato"/>
                <a:cs typeface="Lato"/>
                <a:sym typeface="Lato"/>
              </a:rPr>
              <a:t>•</a:t>
            </a:r>
            <a:endParaRPr sz="1300"/>
          </a:p>
        </p:txBody>
      </p:sp>
      <p:sp>
        <p:nvSpPr>
          <p:cNvPr id="294" name="Google Shape;294;g38b6a83bb94_0_407"/>
          <p:cNvSpPr txBox="1"/>
          <p:nvPr/>
        </p:nvSpPr>
        <p:spPr>
          <a:xfrm>
            <a:off x="5222081" y="2696228"/>
            <a:ext cx="3200400" cy="5202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None/>
            </a:pPr>
            <a:r>
              <a:rPr b="1" i="0" lang="en" sz="1300" u="none" cap="none" strike="noStrike">
                <a:solidFill>
                  <a:srgbClr val="334155"/>
                </a:solidFill>
                <a:latin typeface="Lato"/>
                <a:ea typeface="Lato"/>
                <a:cs typeface="Lato"/>
                <a:sym typeface="Lato"/>
              </a:rPr>
              <a:t>Truy vết Log:</a:t>
            </a:r>
            <a:r>
              <a:rPr b="0" i="0" lang="en" sz="1300" u="none" cap="none" strike="noStrike">
                <a:solidFill>
                  <a:srgbClr val="334155"/>
                </a:solidFill>
                <a:latin typeface="Lato"/>
                <a:ea typeface="Lato"/>
                <a:cs typeface="Lato"/>
                <a:sym typeface="Lato"/>
              </a:rPr>
              <a:t> Logs nằm rải rác ở nhiều container, khó tìm kiếm luồng lỗi thủ công.</a:t>
            </a:r>
            <a:endParaRPr sz="1300"/>
          </a:p>
        </p:txBody>
      </p:sp>
      <p:sp>
        <p:nvSpPr>
          <p:cNvPr id="295" name="Google Shape;295;g38b6a83bb94_0_407"/>
          <p:cNvSpPr txBox="1"/>
          <p:nvPr/>
        </p:nvSpPr>
        <p:spPr>
          <a:xfrm>
            <a:off x="5136356" y="3488796"/>
            <a:ext cx="858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rgbClr val="334155"/>
                </a:solidFill>
                <a:latin typeface="Lato"/>
                <a:ea typeface="Lato"/>
                <a:cs typeface="Lato"/>
                <a:sym typeface="Lato"/>
              </a:rPr>
              <a:t>•</a:t>
            </a:r>
            <a:endParaRPr sz="1300"/>
          </a:p>
        </p:txBody>
      </p:sp>
      <p:sp>
        <p:nvSpPr>
          <p:cNvPr id="296" name="Google Shape;296;g38b6a83bb94_0_407"/>
          <p:cNvSpPr txBox="1"/>
          <p:nvPr/>
        </p:nvSpPr>
        <p:spPr>
          <a:xfrm>
            <a:off x="5222081" y="3488796"/>
            <a:ext cx="3200400" cy="8403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None/>
            </a:pPr>
            <a:r>
              <a:rPr b="1" i="0" lang="en" sz="1300" u="none" cap="none" strike="noStrike">
                <a:solidFill>
                  <a:srgbClr val="334155"/>
                </a:solidFill>
                <a:latin typeface="Lato"/>
                <a:ea typeface="Lato"/>
                <a:cs typeface="Lato"/>
                <a:sym typeface="Lato"/>
              </a:rPr>
              <a:t>Hạ tầng tĩnh:</a:t>
            </a:r>
            <a:r>
              <a:rPr b="0" i="0" lang="en" sz="1300" u="none" cap="none" strike="noStrike">
                <a:solidFill>
                  <a:srgbClr val="334155"/>
                </a:solidFill>
                <a:latin typeface="Lato"/>
                <a:ea typeface="Lato"/>
                <a:cs typeface="Lato"/>
                <a:sym typeface="Lato"/>
              </a:rPr>
              <a:t> Docker Compose không có Auto-scaling và Self-healing như hệ thống chuyên nghiệp.</a:t>
            </a:r>
            <a:endParaRPr sz="1300"/>
          </a:p>
        </p:txBody>
      </p:sp>
      <p:sp>
        <p:nvSpPr>
          <p:cNvPr id="297" name="Google Shape;297;g38b6a83bb94_0_407"/>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300" u="none" cap="none" strike="noStrike">
                <a:solidFill>
                  <a:schemeClr val="dk1"/>
                </a:solidFill>
                <a:latin typeface="Poppins"/>
                <a:ea typeface="Poppins"/>
                <a:cs typeface="Poppins"/>
                <a:sym typeface="Poppins"/>
              </a:rPr>
              <a:t>Đánh Giá: Hiệu Năng &amp; Hạn Chế</a:t>
            </a:r>
            <a:endParaRPr sz="11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pic>
        <p:nvPicPr>
          <p:cNvPr descr="image.png" id="302" name="Google Shape;302;g38b6a83bb94_0_430"/>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303" name="Google Shape;303;g38b6a83bb94_0_430"/>
          <p:cNvPicPr preferRelativeResize="0"/>
          <p:nvPr/>
        </p:nvPicPr>
        <p:blipFill rotWithShape="1">
          <a:blip r:embed="rId4">
            <a:alphaModFix/>
          </a:blip>
          <a:srcRect b="0" l="0" r="0" t="0"/>
          <a:stretch/>
        </p:blipFill>
        <p:spPr>
          <a:xfrm>
            <a:off x="428625" y="1203600"/>
            <a:ext cx="2571750" cy="3450675"/>
          </a:xfrm>
          <a:prstGeom prst="rect">
            <a:avLst/>
          </a:prstGeom>
          <a:noFill/>
          <a:ln>
            <a:noFill/>
          </a:ln>
        </p:spPr>
      </p:pic>
      <p:pic>
        <p:nvPicPr>
          <p:cNvPr descr="image.png" id="304" name="Google Shape;304;g38b6a83bb94_0_430"/>
          <p:cNvPicPr preferRelativeResize="0"/>
          <p:nvPr/>
        </p:nvPicPr>
        <p:blipFill rotWithShape="1">
          <a:blip r:embed="rId5">
            <a:alphaModFix/>
          </a:blip>
          <a:srcRect b="0" l="0" r="0" t="0"/>
          <a:stretch/>
        </p:blipFill>
        <p:spPr>
          <a:xfrm>
            <a:off x="3286125" y="1203600"/>
            <a:ext cx="2571750" cy="3450675"/>
          </a:xfrm>
          <a:prstGeom prst="rect">
            <a:avLst/>
          </a:prstGeom>
          <a:noFill/>
          <a:ln>
            <a:noFill/>
          </a:ln>
        </p:spPr>
      </p:pic>
      <p:pic>
        <p:nvPicPr>
          <p:cNvPr descr="image.png" id="305" name="Google Shape;305;g38b6a83bb94_0_430"/>
          <p:cNvPicPr preferRelativeResize="0"/>
          <p:nvPr/>
        </p:nvPicPr>
        <p:blipFill rotWithShape="1">
          <a:blip r:embed="rId6">
            <a:alphaModFix/>
          </a:blip>
          <a:srcRect b="0" l="0" r="0" t="0"/>
          <a:stretch/>
        </p:blipFill>
        <p:spPr>
          <a:xfrm>
            <a:off x="6143625" y="1203600"/>
            <a:ext cx="2571750" cy="3450675"/>
          </a:xfrm>
          <a:prstGeom prst="rect">
            <a:avLst/>
          </a:prstGeom>
          <a:noFill/>
          <a:ln>
            <a:noFill/>
          </a:ln>
        </p:spPr>
      </p:pic>
      <p:sp>
        <p:nvSpPr>
          <p:cNvPr id="306" name="Google Shape;306;g38b6a83bb94_0_430"/>
          <p:cNvSpPr txBox="1"/>
          <p:nvPr/>
        </p:nvSpPr>
        <p:spPr>
          <a:xfrm>
            <a:off x="596860" y="1936188"/>
            <a:ext cx="22353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0F172A"/>
                </a:solidFill>
                <a:latin typeface="Poppins"/>
                <a:ea typeface="Poppins"/>
                <a:cs typeface="Poppins"/>
                <a:sym typeface="Poppins"/>
              </a:rPr>
              <a:t>Kubernetes (K8s)</a:t>
            </a:r>
            <a:endParaRPr sz="1100"/>
          </a:p>
        </p:txBody>
      </p:sp>
      <p:sp>
        <p:nvSpPr>
          <p:cNvPr id="307" name="Google Shape;307;g38b6a83bb94_0_430"/>
          <p:cNvSpPr txBox="1"/>
          <p:nvPr/>
        </p:nvSpPr>
        <p:spPr>
          <a:xfrm>
            <a:off x="650081" y="2376775"/>
            <a:ext cx="2129100" cy="2078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Chuyển đổi từ Docker Compose lên K8s để giải quyết bài toán Self-healing (tự phục hồi Pod) và Auto-scaling dựa trên tải CPU.</a:t>
            </a:r>
            <a:endParaRPr sz="1500"/>
          </a:p>
        </p:txBody>
      </p:sp>
      <p:sp>
        <p:nvSpPr>
          <p:cNvPr id="308" name="Google Shape;308;g38b6a83bb94_0_430"/>
          <p:cNvSpPr txBox="1"/>
          <p:nvPr/>
        </p:nvSpPr>
        <p:spPr>
          <a:xfrm>
            <a:off x="3454360" y="1936188"/>
            <a:ext cx="22353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0F172A"/>
                </a:solidFill>
                <a:latin typeface="Poppins"/>
                <a:ea typeface="Poppins"/>
                <a:cs typeface="Poppins"/>
                <a:sym typeface="Poppins"/>
              </a:rPr>
              <a:t>CI/CD Pipeline</a:t>
            </a:r>
            <a:endParaRPr sz="1100"/>
          </a:p>
        </p:txBody>
      </p:sp>
      <p:sp>
        <p:nvSpPr>
          <p:cNvPr id="309" name="Google Shape;309;g38b6a83bb94_0_430"/>
          <p:cNvSpPr txBox="1"/>
          <p:nvPr/>
        </p:nvSpPr>
        <p:spPr>
          <a:xfrm>
            <a:off x="3507581" y="2376775"/>
            <a:ext cx="2129100" cy="17085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Tự động hóa toàn bộ quy trình Test -&gt; Build Image -&gt; Push Docker Hub -&gt; Deploy lên K8s bằng công cụ GitHub Actions.</a:t>
            </a:r>
            <a:endParaRPr sz="1500"/>
          </a:p>
        </p:txBody>
      </p:sp>
      <p:sp>
        <p:nvSpPr>
          <p:cNvPr id="310" name="Google Shape;310;g38b6a83bb94_0_430"/>
          <p:cNvSpPr txBox="1"/>
          <p:nvPr/>
        </p:nvSpPr>
        <p:spPr>
          <a:xfrm>
            <a:off x="6311860" y="1936188"/>
            <a:ext cx="22353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0F172A"/>
                </a:solidFill>
                <a:latin typeface="Poppins"/>
                <a:ea typeface="Poppins"/>
                <a:cs typeface="Poppins"/>
                <a:sym typeface="Poppins"/>
              </a:rPr>
              <a:t>Giám Sát Toàn Diện</a:t>
            </a:r>
            <a:endParaRPr sz="1100"/>
          </a:p>
        </p:txBody>
      </p:sp>
      <p:sp>
        <p:nvSpPr>
          <p:cNvPr id="311" name="Google Shape;311;g38b6a83bb94_0_430"/>
          <p:cNvSpPr txBox="1"/>
          <p:nvPr/>
        </p:nvSpPr>
        <p:spPr>
          <a:xfrm>
            <a:off x="6365081" y="2376775"/>
            <a:ext cx="2129100" cy="2078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 sz="1500" u="none" cap="none" strike="noStrike">
                <a:solidFill>
                  <a:srgbClr val="334155"/>
                </a:solidFill>
                <a:latin typeface="Lato"/>
                <a:ea typeface="Lato"/>
                <a:cs typeface="Lato"/>
                <a:sym typeface="Lato"/>
              </a:rPr>
              <a:t>Áp dụng Prometheus &amp; Grafana khai thác các endpoint /actuator để xây dựng Dashboard theo dõi sức khỏe hệ thống Real-time.</a:t>
            </a:r>
            <a:endParaRPr sz="1500"/>
          </a:p>
        </p:txBody>
      </p:sp>
      <p:pic>
        <p:nvPicPr>
          <p:cNvPr descr="image.png" id="312" name="Google Shape;312;g38b6a83bb94_0_430"/>
          <p:cNvPicPr preferRelativeResize="0"/>
          <p:nvPr/>
        </p:nvPicPr>
        <p:blipFill rotWithShape="1">
          <a:blip r:embed="rId7">
            <a:alphaModFix/>
          </a:blip>
          <a:srcRect b="0" l="0" r="0" t="0"/>
          <a:stretch/>
        </p:blipFill>
        <p:spPr>
          <a:xfrm>
            <a:off x="1543050" y="1470013"/>
            <a:ext cx="342900" cy="342900"/>
          </a:xfrm>
          <a:prstGeom prst="rect">
            <a:avLst/>
          </a:prstGeom>
          <a:noFill/>
          <a:ln>
            <a:noFill/>
          </a:ln>
        </p:spPr>
      </p:pic>
      <p:pic>
        <p:nvPicPr>
          <p:cNvPr descr="image.png" id="313" name="Google Shape;313;g38b6a83bb94_0_430"/>
          <p:cNvPicPr preferRelativeResize="0"/>
          <p:nvPr/>
        </p:nvPicPr>
        <p:blipFill rotWithShape="1">
          <a:blip r:embed="rId8">
            <a:alphaModFix/>
          </a:blip>
          <a:srcRect b="0" l="0" r="0" t="0"/>
          <a:stretch/>
        </p:blipFill>
        <p:spPr>
          <a:xfrm>
            <a:off x="4400550" y="1470013"/>
            <a:ext cx="342900" cy="342900"/>
          </a:xfrm>
          <a:prstGeom prst="rect">
            <a:avLst/>
          </a:prstGeom>
          <a:noFill/>
          <a:ln>
            <a:noFill/>
          </a:ln>
        </p:spPr>
      </p:pic>
      <p:pic>
        <p:nvPicPr>
          <p:cNvPr descr="image.png" id="314" name="Google Shape;314;g38b6a83bb94_0_430"/>
          <p:cNvPicPr preferRelativeResize="0"/>
          <p:nvPr/>
        </p:nvPicPr>
        <p:blipFill rotWithShape="1">
          <a:blip r:embed="rId9">
            <a:alphaModFix/>
          </a:blip>
          <a:srcRect b="0" l="0" r="0" t="0"/>
          <a:stretch/>
        </p:blipFill>
        <p:spPr>
          <a:xfrm>
            <a:off x="7258050" y="1470013"/>
            <a:ext cx="342900" cy="342900"/>
          </a:xfrm>
          <a:prstGeom prst="rect">
            <a:avLst/>
          </a:prstGeom>
          <a:noFill/>
          <a:ln>
            <a:noFill/>
          </a:ln>
        </p:spPr>
      </p:pic>
      <p:sp>
        <p:nvSpPr>
          <p:cNvPr id="315" name="Google Shape;315;g38b6a83bb94_0_430"/>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300" u="none" cap="none" strike="noStrike">
                <a:solidFill>
                  <a:schemeClr val="dk1"/>
                </a:solidFill>
                <a:latin typeface="Poppins"/>
                <a:ea typeface="Poppins"/>
                <a:cs typeface="Poppins"/>
                <a:sym typeface="Poppins"/>
              </a:rPr>
              <a:t>Định Hướng Phát Triển (Future Works)</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Gradient Timeline Infographics by Slidesgo">
  <a:themeElements>
    <a:clrScheme name="Simple Light">
      <a:dk1>
        <a:srgbClr val="000000"/>
      </a:dk1>
      <a:lt1>
        <a:srgbClr val="FFFFFF"/>
      </a:lt1>
      <a:dk2>
        <a:srgbClr val="000000"/>
      </a:dk2>
      <a:lt2>
        <a:srgbClr val="EEEEEE"/>
      </a:lt2>
      <a:accent1>
        <a:srgbClr val="B6E080"/>
      </a:accent1>
      <a:accent2>
        <a:srgbClr val="A3D798"/>
      </a:accent2>
      <a:accent3>
        <a:srgbClr val="70C08D"/>
      </a:accent3>
      <a:accent4>
        <a:srgbClr val="36857B"/>
      </a:accent4>
      <a:accent5>
        <a:srgbClr val="00A0A9"/>
      </a:accent5>
      <a:accent6>
        <a:srgbClr val="33C5CE"/>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